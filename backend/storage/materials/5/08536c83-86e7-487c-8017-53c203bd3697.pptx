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1.svg" ContentType="image/svg+xml"/>
  <Override PartName="/ppt/media/image23.svg" ContentType="image/svg+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32"/>
    <p:sldId id="275" r:id="rId34"/>
    <p:sldId id="276" r:id="rId35"/>
  </p:sldIdLst>
  <p:sldSz cx="18288000" cy="10287000"/>
  <p:notesSz cx="6858000" cy="9144000"/>
  <p:embeddedFontLst>
    <p:embeddedFont>
      <p:font typeface="Rosario Bold" charset="1" panose="02000503060000020004"/>
      <p:regular r:id="rId24"/>
    </p:embeddedFont>
    <p:embeddedFont>
      <p:font typeface="Rosario" charset="1" panose="02000503040000020003"/>
      <p:regular r:id="rId25"/>
    </p:embeddedFont>
    <p:embeddedFont>
      <p:font typeface="Calibri (MS) Bold" charset="1" panose="020F0702030404030204"/>
      <p:regular r:id="rId26"/>
    </p:embeddedFont>
    <p:embeddedFont>
      <p:font typeface="Calibri (MS)" charset="1" panose="020F0502020204030204"/>
      <p:regular r:id="rId27"/>
    </p:embeddedFont>
    <p:embeddedFont>
      <p:font typeface="Arial" charset="1" panose="020B0604020202020204"/>
      <p:regular r:id="rId28"/>
    </p:embeddedFont>
    <p:embeddedFont>
      <p:font typeface="Calibri (MS) Italics" charset="1" panose="020F05020202040A0204"/>
      <p:regular r:id="rId29"/>
    </p:embeddedFont>
    <p:embeddedFont>
      <p:font typeface="Arial Bold" charset="1" panose="020B0704020202020204"/>
      <p:regular r:id="rId30"/>
    </p:embeddedFont>
    <p:embeddedFont>
      <p:font typeface="Courier New" charset="1" panose="020703090202050204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font" Target="fonts/font24.fntdata"/><Relationship Id="rId25" Type="http://schemas.openxmlformats.org/officeDocument/2006/relationships/font" Target="fonts/font25.fntdata"/><Relationship Id="rId26" Type="http://schemas.openxmlformats.org/officeDocument/2006/relationships/font" Target="fonts/font26.fntdata"/><Relationship Id="rId27" Type="http://schemas.openxmlformats.org/officeDocument/2006/relationships/font" Target="fonts/font27.fntdata"/><Relationship Id="rId28" Type="http://schemas.openxmlformats.org/officeDocument/2006/relationships/font" Target="fonts/font28.fntdata"/><Relationship Id="rId29" Type="http://schemas.openxmlformats.org/officeDocument/2006/relationships/font" Target="fonts/font29.fntdata"/><Relationship Id="rId30" Type="http://schemas.openxmlformats.org/officeDocument/2006/relationships/font" Target="fonts/font30.fntdata"/><Relationship Id="rId31" Type="http://schemas.openxmlformats.org/officeDocument/2006/relationships/font" Target="fonts/font31.fntdata"/><Relationship Id="rId32" Type="http://schemas.openxmlformats.org/officeDocument/2006/relationships/slide" Target="slides/slide19.xml"/><Relationship Id="rId33" Type="http://schemas.openxmlformats.org/officeDocument/2006/relationships/notesMaster" Target="notesMasters/notesMaster1.xml"/><Relationship Id="rId34" Type="http://schemas.openxmlformats.org/officeDocument/2006/relationships/slide" Target="slides/slide20.xml"/><Relationship Id="rId35"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je rappelle rapidement DCAT.</a:t>
            </a:r>
          </a:p>
          <a:p>
            <a:r>
              <a:t>C’est un standard du W3C pour organiser les données.</a:t>
            </a:r>
          </a:p>
          <a:p>
            <a:r>
              <a:t>On a trois niveaux : catalogue, dataset et distribution.</a:t>
            </a:r>
          </a:p>
          <a:p>
            <a:r>
              <a:t>Cette chaîne est essentielle pour comprendre la suite.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relations permettent de relier les éléments.</a:t>
            </a:r>
          </a:p>
          <a:p>
            <a:r>
              <a:t>Par exemple dataset relie catalogue à dataset.</a:t>
            </a:r>
          </a:p>
          <a:p>
            <a:r>
              <a:t>DCAT utilise Dublin Core pour ajouter du sens : titre, description, etc.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on a un exemple complet.</a:t>
            </a:r>
          </a:p>
          <a:p/>
          <a:p>
            <a:r>
              <a:t>Le catalogue contient un dataset.</a:t>
            </a:r>
          </a:p>
          <a:p>
            <a:r>
              <a:t>Ce dataset décrit les horaires des bus.</a:t>
            </a:r>
          </a:p>
          <a:p>
            <a:r>
              <a:t>Ensuite, il a une distribution, ici un fichier CSV.</a:t>
            </a:r>
          </a:p>
          <a:p/>
          <a:p>
            <a:r>
              <a:t>Grâce aux métadonnées comme le titre et la date,</a:t>
            </a:r>
          </a:p>
          <a:p>
            <a:r>
              <a:t>les machines comprennent le contenu.</a:t>
            </a:r>
          </a:p>
          <a:p/>
          <a:p>
            <a:r>
              <a:t>Donc DCAT permet de rendre les données découvrables automatiquement.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4.png"/><Relationship Id="rId4" Type="http://schemas.openxmlformats.org/officeDocument/2006/relationships/image" Target="../media/image5.svg"/><Relationship Id="rId5" Type="http://schemas.openxmlformats.org/officeDocument/2006/relationships/image" Target="../media/image6.png"/><Relationship Id="rId6" Type="http://schemas.openxmlformats.org/officeDocument/2006/relationships/image" Target="../media/image7.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14.png"/><Relationship Id="rId6" Type="http://schemas.openxmlformats.org/officeDocument/2006/relationships/image" Target="../media/image22.png"/><Relationship Id="rId7" Type="http://schemas.openxmlformats.org/officeDocument/2006/relationships/image" Target="../media/image23.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60756" y="4038991"/>
            <a:ext cx="17766497" cy="1508103"/>
            <a:chOff x="0" y="0"/>
            <a:chExt cx="23688662" cy="2010804"/>
          </a:xfrm>
        </p:grpSpPr>
        <p:sp>
          <p:nvSpPr>
            <p:cNvPr name="Freeform 3" id="3"/>
            <p:cNvSpPr/>
            <p:nvPr/>
          </p:nvSpPr>
          <p:spPr>
            <a:xfrm flipH="false" flipV="false" rot="0">
              <a:off x="0" y="0"/>
              <a:ext cx="23688661" cy="2010808"/>
            </a:xfrm>
            <a:custGeom>
              <a:avLst/>
              <a:gdLst/>
              <a:ahLst/>
              <a:cxnLst/>
              <a:rect r="r" b="b" t="t" l="l"/>
              <a:pathLst>
                <a:path h="2010808" w="23688661">
                  <a:moveTo>
                    <a:pt x="0" y="0"/>
                  </a:moveTo>
                  <a:lnTo>
                    <a:pt x="23688661" y="0"/>
                  </a:lnTo>
                  <a:lnTo>
                    <a:pt x="23688661" y="2010808"/>
                  </a:lnTo>
                  <a:lnTo>
                    <a:pt x="0" y="2010808"/>
                  </a:lnTo>
                  <a:close/>
                </a:path>
              </a:pathLst>
            </a:custGeom>
            <a:blipFill>
              <a:blip r:embed="rId2">
                <a:alphaModFix amt="0"/>
              </a:blip>
              <a:stretch>
                <a:fillRect l="0" t="-179546" r="0" b="-179546"/>
              </a:stretch>
            </a:blipFill>
          </p:spPr>
        </p:sp>
        <p:sp>
          <p:nvSpPr>
            <p:cNvPr name="TextBox 4" id="4"/>
            <p:cNvSpPr txBox="true"/>
            <p:nvPr/>
          </p:nvSpPr>
          <p:spPr>
            <a:xfrm>
              <a:off x="0" y="0"/>
              <a:ext cx="23688662" cy="2010804"/>
            </a:xfrm>
            <a:prstGeom prst="rect">
              <a:avLst/>
            </a:prstGeom>
          </p:spPr>
          <p:txBody>
            <a:bodyPr anchor="b" rtlCol="false" tIns="0" lIns="0" bIns="0" rIns="0"/>
            <a:lstStyle/>
            <a:p>
              <a:pPr algn="ctr">
                <a:lnSpc>
                  <a:spcPts val="8640"/>
                </a:lnSpc>
              </a:pPr>
              <a:r>
                <a:rPr lang="en-US" b="true" sz="7200" spc="16">
                  <a:solidFill>
                    <a:srgbClr val="000000"/>
                  </a:solidFill>
                  <a:latin typeface="Rosario Bold"/>
                  <a:ea typeface="Rosario Bold"/>
                  <a:cs typeface="Rosario Bold"/>
                  <a:sym typeface="Rosario Bold"/>
                </a:rPr>
                <a:t>Les Vocabulaires du Web Sémantique</a:t>
              </a:r>
            </a:p>
          </p:txBody>
        </p:sp>
      </p:grpSp>
      <p:sp>
        <p:nvSpPr>
          <p:cNvPr name="TextBox 5" id="5"/>
          <p:cNvSpPr txBox="true"/>
          <p:nvPr/>
        </p:nvSpPr>
        <p:spPr>
          <a:xfrm rot="0">
            <a:off x="695963" y="6586985"/>
            <a:ext cx="6257896" cy="3276600"/>
          </a:xfrm>
          <a:prstGeom prst="rect">
            <a:avLst/>
          </a:prstGeom>
        </p:spPr>
        <p:txBody>
          <a:bodyPr anchor="t" rtlCol="false" tIns="0" lIns="0" bIns="0" rIns="0">
            <a:spAutoFit/>
          </a:bodyPr>
          <a:lstStyle/>
          <a:p>
            <a:pPr algn="l">
              <a:lnSpc>
                <a:spcPts val="3240"/>
              </a:lnSpc>
            </a:pPr>
            <a:r>
              <a:rPr lang="en-US" sz="2700" spc="6">
                <a:solidFill>
                  <a:srgbClr val="000000"/>
                </a:solidFill>
                <a:latin typeface="Rosario"/>
                <a:ea typeface="Rosario"/>
                <a:cs typeface="Rosario"/>
                <a:sym typeface="Rosario"/>
              </a:rPr>
              <a:t>   </a:t>
            </a:r>
            <a:r>
              <a:rPr lang="en-US" b="true" sz="2700" spc="6">
                <a:solidFill>
                  <a:srgbClr val="000000"/>
                </a:solidFill>
                <a:latin typeface="Rosario Bold"/>
                <a:ea typeface="Rosario Bold"/>
                <a:cs typeface="Rosario Bold"/>
                <a:sym typeface="Rosario Bold"/>
              </a:rPr>
              <a:t>Réalisé par:</a:t>
            </a:r>
          </a:p>
          <a:p>
            <a:pPr algn="l">
              <a:lnSpc>
                <a:spcPts val="3240"/>
              </a:lnSpc>
            </a:pPr>
          </a:p>
          <a:p>
            <a:pPr algn="l">
              <a:lnSpc>
                <a:spcPts val="3240"/>
              </a:lnSpc>
            </a:pPr>
            <a:r>
              <a:rPr lang="en-US" b="true" sz="2700" spc="6">
                <a:solidFill>
                  <a:srgbClr val="000000"/>
                </a:solidFill>
                <a:latin typeface="Rosario Bold"/>
                <a:ea typeface="Rosario Bold"/>
                <a:cs typeface="Rosario Bold"/>
                <a:sym typeface="Rosario Bold"/>
              </a:rPr>
              <a:t>    EOC. Halimi Mohamed Salah Eddine</a:t>
            </a:r>
          </a:p>
          <a:p>
            <a:pPr algn="l">
              <a:lnSpc>
                <a:spcPts val="3240"/>
              </a:lnSpc>
            </a:pPr>
            <a:r>
              <a:rPr lang="en-US" b="true" sz="2700" spc="6">
                <a:solidFill>
                  <a:srgbClr val="000000"/>
                </a:solidFill>
                <a:latin typeface="Rosario Bold"/>
                <a:ea typeface="Rosario Bold"/>
                <a:cs typeface="Rosario Bold"/>
                <a:sym typeface="Rosario Bold"/>
              </a:rPr>
              <a:t>    EOC. Nedjar Mohamed Abd Ilah</a:t>
            </a:r>
          </a:p>
          <a:p>
            <a:pPr algn="l">
              <a:lnSpc>
                <a:spcPts val="3240"/>
              </a:lnSpc>
            </a:pPr>
            <a:r>
              <a:rPr lang="en-US" b="true" sz="2700" spc="6">
                <a:solidFill>
                  <a:srgbClr val="000000"/>
                </a:solidFill>
                <a:latin typeface="Rosario Bold"/>
                <a:ea typeface="Rosario Bold"/>
                <a:cs typeface="Rosario Bold"/>
                <a:sym typeface="Rosario Bold"/>
              </a:rPr>
              <a:t>    EOC. Maaref Ahmed</a:t>
            </a:r>
          </a:p>
          <a:p>
            <a:pPr algn="l">
              <a:lnSpc>
                <a:spcPts val="3240"/>
              </a:lnSpc>
            </a:pPr>
            <a:r>
              <a:rPr lang="en-US" b="true" sz="2700" spc="6">
                <a:solidFill>
                  <a:srgbClr val="000000"/>
                </a:solidFill>
                <a:latin typeface="Rosario Bold"/>
                <a:ea typeface="Rosario Bold"/>
                <a:cs typeface="Rosario Bold"/>
                <a:sym typeface="Rosario Bold"/>
              </a:rPr>
              <a:t>    EOC. Hamaimi Hichem</a:t>
            </a:r>
          </a:p>
          <a:p>
            <a:pPr algn="l">
              <a:lnSpc>
                <a:spcPts val="3240"/>
              </a:lnSpc>
            </a:pPr>
          </a:p>
          <a:p>
            <a:pPr algn="l">
              <a:lnSpc>
                <a:spcPts val="3240"/>
              </a:lnSpc>
            </a:pPr>
            <a:r>
              <a:rPr lang="en-US" b="true" sz="2700" spc="6">
                <a:solidFill>
                  <a:srgbClr val="000000"/>
                </a:solidFill>
                <a:latin typeface="Rosario Bold"/>
                <a:ea typeface="Rosario Bold"/>
                <a:cs typeface="Rosario Bold"/>
                <a:sym typeface="Rosario Bold"/>
              </a:rPr>
              <a:t>    </a:t>
            </a:r>
          </a:p>
        </p:txBody>
      </p:sp>
      <p:sp>
        <p:nvSpPr>
          <p:cNvPr name="TextBox 6" id="6"/>
          <p:cNvSpPr txBox="true"/>
          <p:nvPr/>
        </p:nvSpPr>
        <p:spPr>
          <a:xfrm rot="0">
            <a:off x="12706769" y="7124338"/>
            <a:ext cx="5489791" cy="1339720"/>
          </a:xfrm>
          <a:prstGeom prst="rect">
            <a:avLst/>
          </a:prstGeom>
        </p:spPr>
        <p:txBody>
          <a:bodyPr anchor="t" rtlCol="false" tIns="0" lIns="0" bIns="0" rIns="0">
            <a:spAutoFit/>
          </a:bodyPr>
          <a:lstStyle/>
          <a:p>
            <a:pPr algn="l">
              <a:lnSpc>
                <a:spcPts val="3240"/>
              </a:lnSpc>
            </a:pPr>
            <a:r>
              <a:rPr lang="en-US" b="true" sz="2700" spc="6">
                <a:solidFill>
                  <a:srgbClr val="000000"/>
                </a:solidFill>
                <a:latin typeface="Rosario Bold"/>
                <a:ea typeface="Rosario Bold"/>
                <a:cs typeface="Rosario Bold"/>
                <a:sym typeface="Rosario Bold"/>
              </a:rPr>
              <a:t>Encadré par :</a:t>
            </a:r>
          </a:p>
          <a:p>
            <a:pPr algn="l">
              <a:lnSpc>
                <a:spcPts val="3240"/>
              </a:lnSpc>
            </a:pPr>
          </a:p>
          <a:p>
            <a:pPr algn="l">
              <a:lnSpc>
                <a:spcPts val="3240"/>
              </a:lnSpc>
            </a:pPr>
            <a:r>
              <a:rPr lang="en-US" b="true" sz="2700" spc="6">
                <a:solidFill>
                  <a:srgbClr val="000000"/>
                </a:solidFill>
                <a:latin typeface="Rosario Bold"/>
                <a:ea typeface="Rosario Bold"/>
                <a:cs typeface="Rosario Bold"/>
                <a:sym typeface="Rosario Bold"/>
              </a:rPr>
              <a:t> cne. Djebri  </a:t>
            </a:r>
          </a:p>
        </p:txBody>
      </p:sp>
      <p:sp>
        <p:nvSpPr>
          <p:cNvPr name="TextBox 7" id="7"/>
          <p:cNvSpPr txBox="true"/>
          <p:nvPr/>
        </p:nvSpPr>
        <p:spPr>
          <a:xfrm rot="0">
            <a:off x="6730336" y="9778717"/>
            <a:ext cx="4827318" cy="554888"/>
          </a:xfrm>
          <a:prstGeom prst="rect">
            <a:avLst/>
          </a:prstGeom>
        </p:spPr>
        <p:txBody>
          <a:bodyPr anchor="t" rtlCol="false" tIns="0" lIns="0" bIns="0" rIns="0">
            <a:spAutoFit/>
          </a:bodyPr>
          <a:lstStyle/>
          <a:p>
            <a:pPr algn="ctr">
              <a:lnSpc>
                <a:spcPts val="3600"/>
              </a:lnSpc>
            </a:pPr>
            <a:r>
              <a:rPr lang="en-US" sz="3000" spc="6">
                <a:solidFill>
                  <a:srgbClr val="000000"/>
                </a:solidFill>
                <a:latin typeface="Rosario"/>
                <a:ea typeface="Rosario"/>
                <a:cs typeface="Rosario"/>
                <a:sym typeface="Rosario"/>
              </a:rPr>
              <a:t> </a:t>
            </a:r>
            <a:r>
              <a:rPr lang="en-US" b="true" sz="3000" spc="6">
                <a:solidFill>
                  <a:srgbClr val="000000"/>
                </a:solidFill>
                <a:latin typeface="Rosario Bold"/>
                <a:ea typeface="Rosario Bold"/>
                <a:cs typeface="Rosario Bold"/>
                <a:sym typeface="Rosario Bold"/>
              </a:rPr>
              <a:t>2025-2026</a:t>
            </a:r>
          </a:p>
        </p:txBody>
      </p:sp>
      <p:grpSp>
        <p:nvGrpSpPr>
          <p:cNvPr name="Group 8" id="8"/>
          <p:cNvGrpSpPr/>
          <p:nvPr/>
        </p:nvGrpSpPr>
        <p:grpSpPr>
          <a:xfrm rot="0">
            <a:off x="0" y="0"/>
            <a:ext cx="18288000" cy="1987201"/>
            <a:chOff x="0" y="0"/>
            <a:chExt cx="24384000" cy="2649601"/>
          </a:xfrm>
        </p:grpSpPr>
        <p:sp>
          <p:nvSpPr>
            <p:cNvPr name="Freeform 9" id="9"/>
            <p:cNvSpPr/>
            <p:nvPr/>
          </p:nvSpPr>
          <p:spPr>
            <a:xfrm flipH="false" flipV="false" rot="0">
              <a:off x="0" y="0"/>
              <a:ext cx="24384000" cy="2649603"/>
            </a:xfrm>
            <a:custGeom>
              <a:avLst/>
              <a:gdLst/>
              <a:ahLst/>
              <a:cxnLst/>
              <a:rect r="r" b="b" t="t" l="l"/>
              <a:pathLst>
                <a:path h="2649603" w="24384000">
                  <a:moveTo>
                    <a:pt x="0" y="0"/>
                  </a:moveTo>
                  <a:lnTo>
                    <a:pt x="24384000" y="0"/>
                  </a:lnTo>
                  <a:lnTo>
                    <a:pt x="24384000" y="2649603"/>
                  </a:lnTo>
                  <a:lnTo>
                    <a:pt x="0" y="2649603"/>
                  </a:lnTo>
                  <a:close/>
                </a:path>
              </a:pathLst>
            </a:custGeom>
            <a:blipFill>
              <a:blip r:embed="rId2">
                <a:alphaModFix amt="0"/>
              </a:blip>
              <a:stretch>
                <a:fillRect l="0" t="-129318" r="0" b="-129318"/>
              </a:stretch>
            </a:blipFill>
          </p:spPr>
        </p:sp>
        <p:sp>
          <p:nvSpPr>
            <p:cNvPr name="TextBox 10" id="10"/>
            <p:cNvSpPr txBox="true"/>
            <p:nvPr/>
          </p:nvSpPr>
          <p:spPr>
            <a:xfrm>
              <a:off x="0" y="57150"/>
              <a:ext cx="24384000" cy="2592451"/>
            </a:xfrm>
            <a:prstGeom prst="rect">
              <a:avLst/>
            </a:prstGeom>
          </p:spPr>
          <p:txBody>
            <a:bodyPr anchor="b" rtlCol="false" tIns="0" lIns="0" bIns="0" rIns="0"/>
            <a:lstStyle/>
            <a:p>
              <a:pPr algn="ctr">
                <a:lnSpc>
                  <a:spcPts val="5832"/>
                </a:lnSpc>
              </a:pPr>
              <a:r>
                <a:rPr lang="en-US" sz="5400" spc="12">
                  <a:solidFill>
                    <a:srgbClr val="000000"/>
                  </a:solidFill>
                  <a:latin typeface="Rosario"/>
                  <a:ea typeface="Rosario"/>
                  <a:cs typeface="Rosario"/>
                  <a:sym typeface="Rosario"/>
                </a:rPr>
                <a:t>Ministère de la Défense Nationale</a:t>
              </a:r>
            </a:p>
            <a:p>
              <a:pPr algn="ctr">
                <a:lnSpc>
                  <a:spcPts val="5832"/>
                </a:lnSpc>
              </a:pPr>
              <a:r>
                <a:rPr lang="en-US" sz="5400" spc="12">
                  <a:solidFill>
                    <a:srgbClr val="000000"/>
                  </a:solidFill>
                  <a:latin typeface="Rosario"/>
                  <a:ea typeface="Rosario"/>
                  <a:cs typeface="Rosario"/>
                  <a:sym typeface="Rosario"/>
                </a:rPr>
                <a:t>École Militaire Polytechnique</a:t>
              </a:r>
            </a:p>
          </p:txBody>
        </p:sp>
      </p:grpSp>
      <p:grpSp>
        <p:nvGrpSpPr>
          <p:cNvPr name="Group 11" id="11"/>
          <p:cNvGrpSpPr/>
          <p:nvPr/>
        </p:nvGrpSpPr>
        <p:grpSpPr>
          <a:xfrm rot="0">
            <a:off x="197910" y="0"/>
            <a:ext cx="1678676" cy="2109016"/>
            <a:chOff x="0" y="0"/>
            <a:chExt cx="2238235" cy="2812021"/>
          </a:xfrm>
        </p:grpSpPr>
        <p:sp>
          <p:nvSpPr>
            <p:cNvPr name="Freeform 12" id="12"/>
            <p:cNvSpPr/>
            <p:nvPr/>
          </p:nvSpPr>
          <p:spPr>
            <a:xfrm flipH="false" flipV="false" rot="0">
              <a:off x="0" y="0"/>
              <a:ext cx="2238248" cy="2812034"/>
            </a:xfrm>
            <a:custGeom>
              <a:avLst/>
              <a:gdLst/>
              <a:ahLst/>
              <a:cxnLst/>
              <a:rect r="r" b="b" t="t" l="l"/>
              <a:pathLst>
                <a:path h="2812034" w="2238248">
                  <a:moveTo>
                    <a:pt x="0" y="0"/>
                  </a:moveTo>
                  <a:lnTo>
                    <a:pt x="2238248" y="0"/>
                  </a:lnTo>
                  <a:lnTo>
                    <a:pt x="2238248" y="2812034"/>
                  </a:lnTo>
                  <a:lnTo>
                    <a:pt x="0" y="2812034"/>
                  </a:lnTo>
                  <a:lnTo>
                    <a:pt x="0" y="0"/>
                  </a:lnTo>
                  <a:close/>
                </a:path>
              </a:pathLst>
            </a:custGeom>
            <a:blipFill>
              <a:blip r:embed="rId3"/>
              <a:stretch>
                <a:fillRect l="0" t="-7225" r="0" b="-7224"/>
              </a:stretch>
            </a:blipFill>
          </p:spPr>
        </p:sp>
      </p:grpSp>
      <p:grpSp>
        <p:nvGrpSpPr>
          <p:cNvPr name="Group 13" id="13"/>
          <p:cNvGrpSpPr/>
          <p:nvPr/>
        </p:nvGrpSpPr>
        <p:grpSpPr>
          <a:xfrm rot="0">
            <a:off x="16149485" y="2"/>
            <a:ext cx="2138515" cy="2219677"/>
            <a:chOff x="0" y="0"/>
            <a:chExt cx="2851353" cy="2959570"/>
          </a:xfrm>
        </p:grpSpPr>
        <p:sp>
          <p:nvSpPr>
            <p:cNvPr name="Freeform 14" id="14"/>
            <p:cNvSpPr/>
            <p:nvPr/>
          </p:nvSpPr>
          <p:spPr>
            <a:xfrm flipH="false" flipV="false" rot="0">
              <a:off x="0" y="0"/>
              <a:ext cx="2851404" cy="2959608"/>
            </a:xfrm>
            <a:custGeom>
              <a:avLst/>
              <a:gdLst/>
              <a:ahLst/>
              <a:cxnLst/>
              <a:rect r="r" b="b" t="t" l="l"/>
              <a:pathLst>
                <a:path h="2959608" w="2851404">
                  <a:moveTo>
                    <a:pt x="0" y="0"/>
                  </a:moveTo>
                  <a:lnTo>
                    <a:pt x="2851404" y="0"/>
                  </a:lnTo>
                  <a:lnTo>
                    <a:pt x="2851404" y="2959608"/>
                  </a:lnTo>
                  <a:lnTo>
                    <a:pt x="0" y="2959608"/>
                  </a:lnTo>
                  <a:lnTo>
                    <a:pt x="0" y="0"/>
                  </a:lnTo>
                  <a:close/>
                </a:path>
              </a:pathLst>
            </a:custGeom>
            <a:blipFill>
              <a:blip r:embed="rId4"/>
              <a:stretch>
                <a:fillRect l="-26895" t="0" r="-24136" b="-3"/>
              </a:stretch>
            </a:blipFill>
          </p:spPr>
        </p:sp>
      </p:grpSp>
      <p:sp>
        <p:nvSpPr>
          <p:cNvPr name="AutoShape 15" id="15"/>
          <p:cNvSpPr/>
          <p:nvPr/>
        </p:nvSpPr>
        <p:spPr>
          <a:xfrm rot="10790340">
            <a:off x="2374925" y="3909365"/>
            <a:ext cx="13538149" cy="0"/>
          </a:xfrm>
          <a:prstGeom prst="line">
            <a:avLst/>
          </a:prstGeom>
          <a:ln cap="rnd" w="19050">
            <a:solidFill>
              <a:srgbClr val="4472C4"/>
            </a:solidFill>
            <a:prstDash val="solid"/>
            <a:headEnd type="none" len="sm" w="sm"/>
            <a:tailEnd type="none" len="sm" w="sm"/>
          </a:ln>
        </p:spPr>
      </p:sp>
      <p:sp>
        <p:nvSpPr>
          <p:cNvPr name="AutoShape 16" id="16"/>
          <p:cNvSpPr/>
          <p:nvPr/>
        </p:nvSpPr>
        <p:spPr>
          <a:xfrm rot="10790340">
            <a:off x="2376830" y="6008894"/>
            <a:ext cx="13538149" cy="0"/>
          </a:xfrm>
          <a:prstGeom prst="line">
            <a:avLst/>
          </a:prstGeom>
          <a:ln cap="rnd" w="19050">
            <a:solidFill>
              <a:srgbClr val="4472C4"/>
            </a:solidFill>
            <a:prstDash val="solid"/>
            <a:headEnd type="none" len="sm" w="sm"/>
            <a:tailEnd type="none" len="sm" w="sm"/>
          </a:ln>
        </p:spPr>
      </p:sp>
      <p:sp>
        <p:nvSpPr>
          <p:cNvPr name="TextBox 17" id="17"/>
          <p:cNvSpPr txBox="true"/>
          <p:nvPr/>
        </p:nvSpPr>
        <p:spPr>
          <a:xfrm rot="0">
            <a:off x="2485444" y="2234203"/>
            <a:ext cx="13317122" cy="508721"/>
          </a:xfrm>
          <a:prstGeom prst="rect">
            <a:avLst/>
          </a:prstGeom>
        </p:spPr>
        <p:txBody>
          <a:bodyPr anchor="t" rtlCol="false" tIns="0" lIns="0" bIns="0" rIns="0">
            <a:spAutoFit/>
          </a:bodyPr>
          <a:lstStyle/>
          <a:p>
            <a:pPr algn="ctr">
              <a:lnSpc>
                <a:spcPts val="3240"/>
              </a:lnSpc>
            </a:pPr>
            <a:r>
              <a:rPr lang="en-US" b="true" sz="2700" spc="6">
                <a:solidFill>
                  <a:srgbClr val="000000"/>
                </a:solidFill>
                <a:latin typeface="Rosario Bold"/>
                <a:ea typeface="Rosario Bold"/>
                <a:cs typeface="Rosario Bold"/>
                <a:sym typeface="Rosario Bold"/>
              </a:rPr>
              <a:t>Spécialité:</a:t>
            </a:r>
            <a:r>
              <a:rPr lang="en-US" sz="2700" spc="6">
                <a:solidFill>
                  <a:srgbClr val="000000"/>
                </a:solidFill>
                <a:latin typeface="Rosario"/>
                <a:ea typeface="Rosario"/>
                <a:cs typeface="Rosario"/>
                <a:sym typeface="Rosario"/>
              </a:rPr>
              <a:t> Génie Informatique </a:t>
            </a:r>
          </a:p>
        </p:txBody>
      </p:sp>
      <p:sp>
        <p:nvSpPr>
          <p:cNvPr name="TextBox 18" id="18"/>
          <p:cNvSpPr txBox="true"/>
          <p:nvPr/>
        </p:nvSpPr>
        <p:spPr>
          <a:xfrm rot="0">
            <a:off x="2485444" y="2945721"/>
            <a:ext cx="13317122" cy="508721"/>
          </a:xfrm>
          <a:prstGeom prst="rect">
            <a:avLst/>
          </a:prstGeom>
        </p:spPr>
        <p:txBody>
          <a:bodyPr anchor="t" rtlCol="false" tIns="0" lIns="0" bIns="0" rIns="0">
            <a:spAutoFit/>
          </a:bodyPr>
          <a:lstStyle/>
          <a:p>
            <a:pPr algn="ctr">
              <a:lnSpc>
                <a:spcPts val="3240"/>
              </a:lnSpc>
            </a:pPr>
            <a:r>
              <a:rPr lang="en-US" b="true" sz="2700" spc="6">
                <a:solidFill>
                  <a:srgbClr val="000000"/>
                </a:solidFill>
                <a:latin typeface="Rosario Bold"/>
                <a:ea typeface="Rosario Bold"/>
                <a:cs typeface="Rosario Bold"/>
                <a:sym typeface="Rosario Bold"/>
              </a:rPr>
              <a:t>Option:</a:t>
            </a:r>
            <a:r>
              <a:rPr lang="en-US" sz="2700" spc="6">
                <a:solidFill>
                  <a:srgbClr val="000000"/>
                </a:solidFill>
                <a:latin typeface="Rosario"/>
                <a:ea typeface="Rosario"/>
                <a:cs typeface="Rosario"/>
                <a:sym typeface="Rosario"/>
              </a:rPr>
              <a:t> Système information et aide a la Décision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1A3557"/>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1A3557"/>
            </a:solidFill>
          </p:spPr>
        </p:sp>
      </p:grpSp>
      <p:grpSp>
        <p:nvGrpSpPr>
          <p:cNvPr name="Group 5" id="5"/>
          <p:cNvGrpSpPr/>
          <p:nvPr/>
        </p:nvGrpSpPr>
        <p:grpSpPr>
          <a:xfrm rot="0">
            <a:off x="718823" y="389639"/>
            <a:ext cx="153419" cy="1305563"/>
            <a:chOff x="0" y="0"/>
            <a:chExt cx="204559" cy="1740751"/>
          </a:xfrm>
        </p:grpSpPr>
        <p:sp>
          <p:nvSpPr>
            <p:cNvPr name="Freeform 6" id="6"/>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0891B2"/>
            </a:solidFill>
          </p:spPr>
        </p:sp>
        <p:sp>
          <p:nvSpPr>
            <p:cNvPr name="Freeform 7" id="7"/>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0891B2"/>
            </a:solidFill>
          </p:spPr>
        </p:sp>
      </p:grpSp>
      <p:grpSp>
        <p:nvGrpSpPr>
          <p:cNvPr name="Group 8" id="8"/>
          <p:cNvGrpSpPr/>
          <p:nvPr/>
        </p:nvGrpSpPr>
        <p:grpSpPr>
          <a:xfrm rot="0">
            <a:off x="1097280" y="329184"/>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Plan de Présentation</a:t>
              </a:r>
            </a:p>
          </p:txBody>
        </p:sp>
      </p:grpSp>
      <p:grpSp>
        <p:nvGrpSpPr>
          <p:cNvPr name="Group 11" id="11"/>
          <p:cNvGrpSpPr/>
          <p:nvPr/>
        </p:nvGrpSpPr>
        <p:grpSpPr>
          <a:xfrm rot="0">
            <a:off x="718823" y="2035559"/>
            <a:ext cx="8255003" cy="1634747"/>
            <a:chOff x="0" y="0"/>
            <a:chExt cx="11006671" cy="2179663"/>
          </a:xfrm>
        </p:grpSpPr>
        <p:sp>
          <p:nvSpPr>
            <p:cNvPr name="Freeform 12" id="12"/>
            <p:cNvSpPr/>
            <p:nvPr/>
          </p:nvSpPr>
          <p:spPr>
            <a:xfrm flipH="false" flipV="false" rot="0">
              <a:off x="16891" y="16891"/>
              <a:ext cx="10972800" cy="2145792"/>
            </a:xfrm>
            <a:custGeom>
              <a:avLst/>
              <a:gdLst/>
              <a:ahLst/>
              <a:cxnLst/>
              <a:rect r="r" b="b" t="t" l="l"/>
              <a:pathLst>
                <a:path h="2145792" w="10972800">
                  <a:moveTo>
                    <a:pt x="0" y="0"/>
                  </a:moveTo>
                  <a:lnTo>
                    <a:pt x="10972800" y="0"/>
                  </a:lnTo>
                  <a:lnTo>
                    <a:pt x="10972800" y="2145792"/>
                  </a:lnTo>
                  <a:lnTo>
                    <a:pt x="0" y="2145792"/>
                  </a:lnTo>
                  <a:close/>
                </a:path>
              </a:pathLst>
            </a:custGeom>
            <a:solidFill>
              <a:srgbClr val="F1F5F9"/>
            </a:solidFill>
          </p:spPr>
        </p:sp>
        <p:sp>
          <p:nvSpPr>
            <p:cNvPr name="Freeform 13" id="13"/>
            <p:cNvSpPr/>
            <p:nvPr/>
          </p:nvSpPr>
          <p:spPr>
            <a:xfrm flipH="false" flipV="false" rot="0">
              <a:off x="0" y="0"/>
              <a:ext cx="11006582" cy="2179574"/>
            </a:xfrm>
            <a:custGeom>
              <a:avLst/>
              <a:gdLst/>
              <a:ahLst/>
              <a:cxnLst/>
              <a:rect r="r" b="b" t="t" l="l"/>
              <a:pathLst>
                <a:path h="2179574" w="11006582">
                  <a:moveTo>
                    <a:pt x="16891" y="0"/>
                  </a:moveTo>
                  <a:lnTo>
                    <a:pt x="10989691" y="0"/>
                  </a:lnTo>
                  <a:cubicBezTo>
                    <a:pt x="10999089" y="0"/>
                    <a:pt x="11006582" y="7620"/>
                    <a:pt x="11006582" y="16891"/>
                  </a:cubicBezTo>
                  <a:lnTo>
                    <a:pt x="11006582" y="2162683"/>
                  </a:lnTo>
                  <a:cubicBezTo>
                    <a:pt x="11006582" y="2172081"/>
                    <a:pt x="10998962" y="2179574"/>
                    <a:pt x="1098969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0989691" y="2145792"/>
                  </a:lnTo>
                  <a:lnTo>
                    <a:pt x="10989691" y="2162683"/>
                  </a:lnTo>
                  <a:lnTo>
                    <a:pt x="10972800" y="2162683"/>
                  </a:lnTo>
                  <a:lnTo>
                    <a:pt x="10972800" y="16891"/>
                  </a:lnTo>
                  <a:lnTo>
                    <a:pt x="10989691" y="16891"/>
                  </a:lnTo>
                  <a:lnTo>
                    <a:pt x="10989691" y="33909"/>
                  </a:lnTo>
                  <a:lnTo>
                    <a:pt x="16891" y="33909"/>
                  </a:lnTo>
                  <a:close/>
                </a:path>
              </a:pathLst>
            </a:custGeom>
            <a:solidFill>
              <a:srgbClr val="0891B2"/>
            </a:solidFill>
          </p:spPr>
        </p:sp>
      </p:grpSp>
      <p:grpSp>
        <p:nvGrpSpPr>
          <p:cNvPr name="Group 14" id="14"/>
          <p:cNvGrpSpPr/>
          <p:nvPr/>
        </p:nvGrpSpPr>
        <p:grpSpPr>
          <a:xfrm rot="0">
            <a:off x="718823" y="2035559"/>
            <a:ext cx="135131" cy="1634747"/>
            <a:chOff x="0" y="0"/>
            <a:chExt cx="180175" cy="2179663"/>
          </a:xfrm>
        </p:grpSpPr>
        <p:sp>
          <p:nvSpPr>
            <p:cNvPr name="Freeform 15" id="15"/>
            <p:cNvSpPr/>
            <p:nvPr/>
          </p:nvSpPr>
          <p:spPr>
            <a:xfrm flipH="false" flipV="false" rot="0">
              <a:off x="16891" y="16891"/>
              <a:ext cx="146304" cy="2145792"/>
            </a:xfrm>
            <a:custGeom>
              <a:avLst/>
              <a:gdLst/>
              <a:ahLst/>
              <a:cxnLst/>
              <a:rect r="r" b="b" t="t" l="l"/>
              <a:pathLst>
                <a:path h="2145792" w="146304">
                  <a:moveTo>
                    <a:pt x="0" y="0"/>
                  </a:moveTo>
                  <a:lnTo>
                    <a:pt x="146304" y="0"/>
                  </a:lnTo>
                  <a:lnTo>
                    <a:pt x="146304" y="2145792"/>
                  </a:lnTo>
                  <a:lnTo>
                    <a:pt x="0" y="2145792"/>
                  </a:lnTo>
                  <a:close/>
                </a:path>
              </a:pathLst>
            </a:custGeom>
            <a:solidFill>
              <a:srgbClr val="0891B2"/>
            </a:solidFill>
          </p:spPr>
        </p:sp>
        <p:sp>
          <p:nvSpPr>
            <p:cNvPr name="Freeform 16" id="16"/>
            <p:cNvSpPr/>
            <p:nvPr/>
          </p:nvSpPr>
          <p:spPr>
            <a:xfrm flipH="false" flipV="false" rot="0">
              <a:off x="0" y="0"/>
              <a:ext cx="180086" cy="2179574"/>
            </a:xfrm>
            <a:custGeom>
              <a:avLst/>
              <a:gdLst/>
              <a:ahLst/>
              <a:cxnLst/>
              <a:rect r="r" b="b" t="t" l="l"/>
              <a:pathLst>
                <a:path h="2179574" w="180086">
                  <a:moveTo>
                    <a:pt x="16891" y="0"/>
                  </a:moveTo>
                  <a:lnTo>
                    <a:pt x="163195" y="0"/>
                  </a:lnTo>
                  <a:cubicBezTo>
                    <a:pt x="172593" y="0"/>
                    <a:pt x="180086" y="7620"/>
                    <a:pt x="180086" y="16891"/>
                  </a:cubicBezTo>
                  <a:lnTo>
                    <a:pt x="180086" y="2162683"/>
                  </a:lnTo>
                  <a:cubicBezTo>
                    <a:pt x="180086" y="2172081"/>
                    <a:pt x="172466" y="2179574"/>
                    <a:pt x="163195"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63195" y="2145792"/>
                  </a:lnTo>
                  <a:lnTo>
                    <a:pt x="163195" y="2162683"/>
                  </a:lnTo>
                  <a:lnTo>
                    <a:pt x="146304" y="2162683"/>
                  </a:lnTo>
                  <a:lnTo>
                    <a:pt x="146304" y="16891"/>
                  </a:lnTo>
                  <a:lnTo>
                    <a:pt x="163195" y="16891"/>
                  </a:lnTo>
                  <a:lnTo>
                    <a:pt x="163195" y="33909"/>
                  </a:lnTo>
                  <a:lnTo>
                    <a:pt x="16891" y="33909"/>
                  </a:lnTo>
                  <a:close/>
                </a:path>
              </a:pathLst>
            </a:custGeom>
            <a:solidFill>
              <a:srgbClr val="0891B2"/>
            </a:solidFill>
          </p:spPr>
        </p:sp>
      </p:grpSp>
      <p:grpSp>
        <p:nvGrpSpPr>
          <p:cNvPr name="Group 17" id="17"/>
          <p:cNvGrpSpPr/>
          <p:nvPr/>
        </p:nvGrpSpPr>
        <p:grpSpPr>
          <a:xfrm rot="0">
            <a:off x="828551" y="2035559"/>
            <a:ext cx="1305563" cy="1634747"/>
            <a:chOff x="0" y="0"/>
            <a:chExt cx="1740751" cy="2179663"/>
          </a:xfrm>
        </p:grpSpPr>
        <p:sp>
          <p:nvSpPr>
            <p:cNvPr name="Freeform 18" id="18"/>
            <p:cNvSpPr/>
            <p:nvPr/>
          </p:nvSpPr>
          <p:spPr>
            <a:xfrm flipH="false" flipV="false" rot="0">
              <a:off x="16891" y="16891"/>
              <a:ext cx="1706880" cy="2145792"/>
            </a:xfrm>
            <a:custGeom>
              <a:avLst/>
              <a:gdLst/>
              <a:ahLst/>
              <a:cxnLst/>
              <a:rect r="r" b="b" t="t" l="l"/>
              <a:pathLst>
                <a:path h="2145792" w="1706880">
                  <a:moveTo>
                    <a:pt x="0" y="0"/>
                  </a:moveTo>
                  <a:lnTo>
                    <a:pt x="1706880" y="0"/>
                  </a:lnTo>
                  <a:lnTo>
                    <a:pt x="1706880" y="2145792"/>
                  </a:lnTo>
                  <a:lnTo>
                    <a:pt x="0" y="2145792"/>
                  </a:lnTo>
                  <a:close/>
                </a:path>
              </a:pathLst>
            </a:custGeom>
            <a:solidFill>
              <a:srgbClr val="0891B2"/>
            </a:solidFill>
          </p:spPr>
        </p:sp>
        <p:sp>
          <p:nvSpPr>
            <p:cNvPr name="Freeform 19" id="19"/>
            <p:cNvSpPr/>
            <p:nvPr/>
          </p:nvSpPr>
          <p:spPr>
            <a:xfrm flipH="false" flipV="false" rot="0">
              <a:off x="0" y="0"/>
              <a:ext cx="1740662" cy="2179574"/>
            </a:xfrm>
            <a:custGeom>
              <a:avLst/>
              <a:gdLst/>
              <a:ahLst/>
              <a:cxnLst/>
              <a:rect r="r" b="b" t="t" l="l"/>
              <a:pathLst>
                <a:path h="2179574" w="1740662">
                  <a:moveTo>
                    <a:pt x="16891" y="0"/>
                  </a:moveTo>
                  <a:lnTo>
                    <a:pt x="1723771" y="0"/>
                  </a:lnTo>
                  <a:cubicBezTo>
                    <a:pt x="1733169" y="0"/>
                    <a:pt x="1740662" y="7620"/>
                    <a:pt x="1740662" y="16891"/>
                  </a:cubicBezTo>
                  <a:lnTo>
                    <a:pt x="1740662" y="2162683"/>
                  </a:lnTo>
                  <a:cubicBezTo>
                    <a:pt x="1740662" y="2172081"/>
                    <a:pt x="1733042" y="2179574"/>
                    <a:pt x="172377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723771" y="2145792"/>
                  </a:lnTo>
                  <a:lnTo>
                    <a:pt x="1723771" y="2162683"/>
                  </a:lnTo>
                  <a:lnTo>
                    <a:pt x="1706880" y="2162683"/>
                  </a:lnTo>
                  <a:lnTo>
                    <a:pt x="1706880" y="16891"/>
                  </a:lnTo>
                  <a:lnTo>
                    <a:pt x="1723771" y="16891"/>
                  </a:lnTo>
                  <a:lnTo>
                    <a:pt x="1723771" y="33909"/>
                  </a:lnTo>
                  <a:lnTo>
                    <a:pt x="16891" y="33909"/>
                  </a:lnTo>
                  <a:close/>
                </a:path>
              </a:pathLst>
            </a:custGeom>
            <a:solidFill>
              <a:srgbClr val="0891B2"/>
            </a:solidFill>
          </p:spPr>
        </p:sp>
      </p:grpSp>
      <p:grpSp>
        <p:nvGrpSpPr>
          <p:cNvPr name="Group 20" id="20"/>
          <p:cNvGrpSpPr/>
          <p:nvPr/>
        </p:nvGrpSpPr>
        <p:grpSpPr>
          <a:xfrm rot="0">
            <a:off x="841248" y="2048256"/>
            <a:ext cx="1280160" cy="1609344"/>
            <a:chOff x="0" y="0"/>
            <a:chExt cx="1706880" cy="2145792"/>
          </a:xfrm>
        </p:grpSpPr>
        <p:sp>
          <p:nvSpPr>
            <p:cNvPr name="Freeform 21" id="21"/>
            <p:cNvSpPr/>
            <p:nvPr/>
          </p:nvSpPr>
          <p:spPr>
            <a:xfrm flipH="false" flipV="false" rot="0">
              <a:off x="0" y="0"/>
              <a:ext cx="1706880" cy="2145792"/>
            </a:xfrm>
            <a:custGeom>
              <a:avLst/>
              <a:gdLst/>
              <a:ahLst/>
              <a:cxnLst/>
              <a:rect r="r" b="b" t="t" l="l"/>
              <a:pathLst>
                <a:path h="2145792" w="1706880">
                  <a:moveTo>
                    <a:pt x="0" y="0"/>
                  </a:moveTo>
                  <a:lnTo>
                    <a:pt x="1706880" y="0"/>
                  </a:lnTo>
                  <a:lnTo>
                    <a:pt x="1706880" y="2145792"/>
                  </a:lnTo>
                  <a:lnTo>
                    <a:pt x="0" y="2145792"/>
                  </a:lnTo>
                  <a:close/>
                </a:path>
              </a:pathLst>
            </a:custGeom>
            <a:blipFill>
              <a:blip r:embed="rId2">
                <a:alphaModFix amt="0"/>
              </a:blip>
              <a:stretch>
                <a:fillRect l="-111295" t="0" r="-111295" b="0"/>
              </a:stretch>
            </a:blipFill>
          </p:spPr>
        </p:sp>
        <p:sp>
          <p:nvSpPr>
            <p:cNvPr name="TextBox 22" id="22"/>
            <p:cNvSpPr txBox="true"/>
            <p:nvPr/>
          </p:nvSpPr>
          <p:spPr>
            <a:xfrm>
              <a:off x="0" y="-38100"/>
              <a:ext cx="1706880" cy="2183892"/>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01</a:t>
              </a:r>
            </a:p>
          </p:txBody>
        </p:sp>
      </p:grpSp>
      <p:grpSp>
        <p:nvGrpSpPr>
          <p:cNvPr name="Group 23" id="23"/>
          <p:cNvGrpSpPr/>
          <p:nvPr/>
        </p:nvGrpSpPr>
        <p:grpSpPr>
          <a:xfrm rot="0">
            <a:off x="2377440" y="2139696"/>
            <a:ext cx="6309360" cy="1426464"/>
            <a:chOff x="0" y="0"/>
            <a:chExt cx="8412480" cy="1901952"/>
          </a:xfrm>
        </p:grpSpPr>
        <p:sp>
          <p:nvSpPr>
            <p:cNvPr name="Freeform 24" id="24"/>
            <p:cNvSpPr/>
            <p:nvPr/>
          </p:nvSpPr>
          <p:spPr>
            <a:xfrm flipH="false" flipV="false" rot="0">
              <a:off x="0" y="0"/>
              <a:ext cx="8412480" cy="1901952"/>
            </a:xfrm>
            <a:custGeom>
              <a:avLst/>
              <a:gdLst/>
              <a:ahLst/>
              <a:cxnLst/>
              <a:rect r="r" b="b" t="t" l="l"/>
              <a:pathLst>
                <a:path h="1901952" w="8412480">
                  <a:moveTo>
                    <a:pt x="0" y="0"/>
                  </a:moveTo>
                  <a:lnTo>
                    <a:pt x="8412480" y="0"/>
                  </a:lnTo>
                  <a:lnTo>
                    <a:pt x="8412480" y="1901952"/>
                  </a:lnTo>
                  <a:lnTo>
                    <a:pt x="0" y="1901952"/>
                  </a:lnTo>
                  <a:close/>
                </a:path>
              </a:pathLst>
            </a:custGeom>
            <a:blipFill>
              <a:blip r:embed="rId2">
                <a:alphaModFix amt="0"/>
              </a:blip>
              <a:stretch>
                <a:fillRect l="0" t="-36183" r="0" b="-36183"/>
              </a:stretch>
            </a:blipFill>
          </p:spPr>
        </p:sp>
        <p:sp>
          <p:nvSpPr>
            <p:cNvPr name="TextBox 25" id="25"/>
            <p:cNvSpPr txBox="true"/>
            <p:nvPr/>
          </p:nvSpPr>
          <p:spPr>
            <a:xfrm>
              <a:off x="0" y="-47625"/>
              <a:ext cx="8412480" cy="1949577"/>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Introduction au Web Sémantique</a:t>
              </a:r>
            </a:p>
          </p:txBody>
        </p:sp>
      </p:grpSp>
      <p:grpSp>
        <p:nvGrpSpPr>
          <p:cNvPr name="Group 26" id="26"/>
          <p:cNvGrpSpPr/>
          <p:nvPr/>
        </p:nvGrpSpPr>
        <p:grpSpPr>
          <a:xfrm rot="0">
            <a:off x="9588503" y="2035559"/>
            <a:ext cx="8255003" cy="1634747"/>
            <a:chOff x="0" y="0"/>
            <a:chExt cx="11006671" cy="2179663"/>
          </a:xfrm>
        </p:grpSpPr>
        <p:sp>
          <p:nvSpPr>
            <p:cNvPr name="Freeform 27" id="27"/>
            <p:cNvSpPr/>
            <p:nvPr/>
          </p:nvSpPr>
          <p:spPr>
            <a:xfrm flipH="false" flipV="false" rot="0">
              <a:off x="16891" y="16891"/>
              <a:ext cx="10972800" cy="2145792"/>
            </a:xfrm>
            <a:custGeom>
              <a:avLst/>
              <a:gdLst/>
              <a:ahLst/>
              <a:cxnLst/>
              <a:rect r="r" b="b" t="t" l="l"/>
              <a:pathLst>
                <a:path h="2145792" w="10972800">
                  <a:moveTo>
                    <a:pt x="0" y="0"/>
                  </a:moveTo>
                  <a:lnTo>
                    <a:pt x="10972800" y="0"/>
                  </a:lnTo>
                  <a:lnTo>
                    <a:pt x="10972800" y="2145792"/>
                  </a:lnTo>
                  <a:lnTo>
                    <a:pt x="0" y="2145792"/>
                  </a:lnTo>
                  <a:close/>
                </a:path>
              </a:pathLst>
            </a:custGeom>
            <a:solidFill>
              <a:srgbClr val="F1F5F9"/>
            </a:solidFill>
          </p:spPr>
        </p:sp>
        <p:sp>
          <p:nvSpPr>
            <p:cNvPr name="Freeform 28" id="28"/>
            <p:cNvSpPr/>
            <p:nvPr/>
          </p:nvSpPr>
          <p:spPr>
            <a:xfrm flipH="false" flipV="false" rot="0">
              <a:off x="0" y="0"/>
              <a:ext cx="11006582" cy="2179574"/>
            </a:xfrm>
            <a:custGeom>
              <a:avLst/>
              <a:gdLst/>
              <a:ahLst/>
              <a:cxnLst/>
              <a:rect r="r" b="b" t="t" l="l"/>
              <a:pathLst>
                <a:path h="2179574" w="11006582">
                  <a:moveTo>
                    <a:pt x="16891" y="0"/>
                  </a:moveTo>
                  <a:lnTo>
                    <a:pt x="10989691" y="0"/>
                  </a:lnTo>
                  <a:cubicBezTo>
                    <a:pt x="10999089" y="0"/>
                    <a:pt x="11006582" y="7620"/>
                    <a:pt x="11006582" y="16891"/>
                  </a:cubicBezTo>
                  <a:lnTo>
                    <a:pt x="11006582" y="2162683"/>
                  </a:lnTo>
                  <a:cubicBezTo>
                    <a:pt x="11006582" y="2172081"/>
                    <a:pt x="10998962" y="2179574"/>
                    <a:pt x="1098969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0989691" y="2145792"/>
                  </a:lnTo>
                  <a:lnTo>
                    <a:pt x="10989691" y="2162683"/>
                  </a:lnTo>
                  <a:lnTo>
                    <a:pt x="10972800" y="2162683"/>
                  </a:lnTo>
                  <a:lnTo>
                    <a:pt x="10972800" y="16891"/>
                  </a:lnTo>
                  <a:lnTo>
                    <a:pt x="10989691" y="16891"/>
                  </a:lnTo>
                  <a:lnTo>
                    <a:pt x="10989691" y="33909"/>
                  </a:lnTo>
                  <a:lnTo>
                    <a:pt x="16891" y="33909"/>
                  </a:lnTo>
                  <a:close/>
                </a:path>
              </a:pathLst>
            </a:custGeom>
            <a:solidFill>
              <a:srgbClr val="0891B2"/>
            </a:solidFill>
          </p:spPr>
        </p:sp>
      </p:grpSp>
      <p:grpSp>
        <p:nvGrpSpPr>
          <p:cNvPr name="Group 29" id="29"/>
          <p:cNvGrpSpPr/>
          <p:nvPr/>
        </p:nvGrpSpPr>
        <p:grpSpPr>
          <a:xfrm rot="0">
            <a:off x="9588503" y="2035559"/>
            <a:ext cx="135131" cy="1634747"/>
            <a:chOff x="0" y="0"/>
            <a:chExt cx="180175" cy="2179663"/>
          </a:xfrm>
        </p:grpSpPr>
        <p:sp>
          <p:nvSpPr>
            <p:cNvPr name="Freeform 30" id="30"/>
            <p:cNvSpPr/>
            <p:nvPr/>
          </p:nvSpPr>
          <p:spPr>
            <a:xfrm flipH="false" flipV="false" rot="0">
              <a:off x="16891" y="16891"/>
              <a:ext cx="146304" cy="2145792"/>
            </a:xfrm>
            <a:custGeom>
              <a:avLst/>
              <a:gdLst/>
              <a:ahLst/>
              <a:cxnLst/>
              <a:rect r="r" b="b" t="t" l="l"/>
              <a:pathLst>
                <a:path h="2145792" w="146304">
                  <a:moveTo>
                    <a:pt x="0" y="0"/>
                  </a:moveTo>
                  <a:lnTo>
                    <a:pt x="146304" y="0"/>
                  </a:lnTo>
                  <a:lnTo>
                    <a:pt x="146304" y="2145792"/>
                  </a:lnTo>
                  <a:lnTo>
                    <a:pt x="0" y="2145792"/>
                  </a:lnTo>
                  <a:close/>
                </a:path>
              </a:pathLst>
            </a:custGeom>
            <a:solidFill>
              <a:srgbClr val="0891B2"/>
            </a:solidFill>
          </p:spPr>
        </p:sp>
        <p:sp>
          <p:nvSpPr>
            <p:cNvPr name="Freeform 31" id="31"/>
            <p:cNvSpPr/>
            <p:nvPr/>
          </p:nvSpPr>
          <p:spPr>
            <a:xfrm flipH="false" flipV="false" rot="0">
              <a:off x="0" y="0"/>
              <a:ext cx="180086" cy="2179574"/>
            </a:xfrm>
            <a:custGeom>
              <a:avLst/>
              <a:gdLst/>
              <a:ahLst/>
              <a:cxnLst/>
              <a:rect r="r" b="b" t="t" l="l"/>
              <a:pathLst>
                <a:path h="2179574" w="180086">
                  <a:moveTo>
                    <a:pt x="16891" y="0"/>
                  </a:moveTo>
                  <a:lnTo>
                    <a:pt x="163195" y="0"/>
                  </a:lnTo>
                  <a:cubicBezTo>
                    <a:pt x="172593" y="0"/>
                    <a:pt x="180086" y="7620"/>
                    <a:pt x="180086" y="16891"/>
                  </a:cubicBezTo>
                  <a:lnTo>
                    <a:pt x="180086" y="2162683"/>
                  </a:lnTo>
                  <a:cubicBezTo>
                    <a:pt x="180086" y="2172081"/>
                    <a:pt x="172466" y="2179574"/>
                    <a:pt x="163195"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63195" y="2145792"/>
                  </a:lnTo>
                  <a:lnTo>
                    <a:pt x="163195" y="2162683"/>
                  </a:lnTo>
                  <a:lnTo>
                    <a:pt x="146304" y="2162683"/>
                  </a:lnTo>
                  <a:lnTo>
                    <a:pt x="146304" y="16891"/>
                  </a:lnTo>
                  <a:lnTo>
                    <a:pt x="163195" y="16891"/>
                  </a:lnTo>
                  <a:lnTo>
                    <a:pt x="163195" y="33909"/>
                  </a:lnTo>
                  <a:lnTo>
                    <a:pt x="16891" y="33909"/>
                  </a:lnTo>
                  <a:close/>
                </a:path>
              </a:pathLst>
            </a:custGeom>
            <a:solidFill>
              <a:srgbClr val="0891B2"/>
            </a:solidFill>
          </p:spPr>
        </p:sp>
      </p:grpSp>
      <p:grpSp>
        <p:nvGrpSpPr>
          <p:cNvPr name="Group 32" id="32"/>
          <p:cNvGrpSpPr/>
          <p:nvPr/>
        </p:nvGrpSpPr>
        <p:grpSpPr>
          <a:xfrm rot="0">
            <a:off x="9698231" y="2035559"/>
            <a:ext cx="1305563" cy="1634747"/>
            <a:chOff x="0" y="0"/>
            <a:chExt cx="1740751" cy="2179663"/>
          </a:xfrm>
        </p:grpSpPr>
        <p:sp>
          <p:nvSpPr>
            <p:cNvPr name="Freeform 33" id="33"/>
            <p:cNvSpPr/>
            <p:nvPr/>
          </p:nvSpPr>
          <p:spPr>
            <a:xfrm flipH="false" flipV="false" rot="0">
              <a:off x="16891" y="16891"/>
              <a:ext cx="1706880" cy="2145792"/>
            </a:xfrm>
            <a:custGeom>
              <a:avLst/>
              <a:gdLst/>
              <a:ahLst/>
              <a:cxnLst/>
              <a:rect r="r" b="b" t="t" l="l"/>
              <a:pathLst>
                <a:path h="2145792" w="1706880">
                  <a:moveTo>
                    <a:pt x="0" y="0"/>
                  </a:moveTo>
                  <a:lnTo>
                    <a:pt x="1706880" y="0"/>
                  </a:lnTo>
                  <a:lnTo>
                    <a:pt x="1706880" y="2145792"/>
                  </a:lnTo>
                  <a:lnTo>
                    <a:pt x="0" y="2145792"/>
                  </a:lnTo>
                  <a:close/>
                </a:path>
              </a:pathLst>
            </a:custGeom>
            <a:solidFill>
              <a:srgbClr val="0891B2"/>
            </a:solidFill>
          </p:spPr>
        </p:sp>
        <p:sp>
          <p:nvSpPr>
            <p:cNvPr name="Freeform 34" id="34"/>
            <p:cNvSpPr/>
            <p:nvPr/>
          </p:nvSpPr>
          <p:spPr>
            <a:xfrm flipH="false" flipV="false" rot="0">
              <a:off x="0" y="0"/>
              <a:ext cx="1740662" cy="2179574"/>
            </a:xfrm>
            <a:custGeom>
              <a:avLst/>
              <a:gdLst/>
              <a:ahLst/>
              <a:cxnLst/>
              <a:rect r="r" b="b" t="t" l="l"/>
              <a:pathLst>
                <a:path h="2179574" w="1740662">
                  <a:moveTo>
                    <a:pt x="16891" y="0"/>
                  </a:moveTo>
                  <a:lnTo>
                    <a:pt x="1723771" y="0"/>
                  </a:lnTo>
                  <a:cubicBezTo>
                    <a:pt x="1733169" y="0"/>
                    <a:pt x="1740662" y="7620"/>
                    <a:pt x="1740662" y="16891"/>
                  </a:cubicBezTo>
                  <a:lnTo>
                    <a:pt x="1740662" y="2162683"/>
                  </a:lnTo>
                  <a:cubicBezTo>
                    <a:pt x="1740662" y="2172081"/>
                    <a:pt x="1733042" y="2179574"/>
                    <a:pt x="172377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723771" y="2145792"/>
                  </a:lnTo>
                  <a:lnTo>
                    <a:pt x="1723771" y="2162683"/>
                  </a:lnTo>
                  <a:lnTo>
                    <a:pt x="1706880" y="2162683"/>
                  </a:lnTo>
                  <a:lnTo>
                    <a:pt x="1706880" y="16891"/>
                  </a:lnTo>
                  <a:lnTo>
                    <a:pt x="1723771" y="16891"/>
                  </a:lnTo>
                  <a:lnTo>
                    <a:pt x="1723771" y="33909"/>
                  </a:lnTo>
                  <a:lnTo>
                    <a:pt x="16891" y="33909"/>
                  </a:lnTo>
                  <a:close/>
                </a:path>
              </a:pathLst>
            </a:custGeom>
            <a:solidFill>
              <a:srgbClr val="0891B2"/>
            </a:solidFill>
          </p:spPr>
        </p:sp>
      </p:grpSp>
      <p:grpSp>
        <p:nvGrpSpPr>
          <p:cNvPr name="Group 35" id="35"/>
          <p:cNvGrpSpPr/>
          <p:nvPr/>
        </p:nvGrpSpPr>
        <p:grpSpPr>
          <a:xfrm rot="0">
            <a:off x="9710928" y="2048256"/>
            <a:ext cx="1280160" cy="1609344"/>
            <a:chOff x="0" y="0"/>
            <a:chExt cx="1706880" cy="2145792"/>
          </a:xfrm>
        </p:grpSpPr>
        <p:sp>
          <p:nvSpPr>
            <p:cNvPr name="Freeform 36" id="36"/>
            <p:cNvSpPr/>
            <p:nvPr/>
          </p:nvSpPr>
          <p:spPr>
            <a:xfrm flipH="false" flipV="false" rot="0">
              <a:off x="0" y="0"/>
              <a:ext cx="1706880" cy="2145792"/>
            </a:xfrm>
            <a:custGeom>
              <a:avLst/>
              <a:gdLst/>
              <a:ahLst/>
              <a:cxnLst/>
              <a:rect r="r" b="b" t="t" l="l"/>
              <a:pathLst>
                <a:path h="2145792" w="1706880">
                  <a:moveTo>
                    <a:pt x="0" y="0"/>
                  </a:moveTo>
                  <a:lnTo>
                    <a:pt x="1706880" y="0"/>
                  </a:lnTo>
                  <a:lnTo>
                    <a:pt x="1706880" y="2145792"/>
                  </a:lnTo>
                  <a:lnTo>
                    <a:pt x="0" y="2145792"/>
                  </a:lnTo>
                  <a:close/>
                </a:path>
              </a:pathLst>
            </a:custGeom>
            <a:blipFill>
              <a:blip r:embed="rId2">
                <a:alphaModFix amt="0"/>
              </a:blip>
              <a:stretch>
                <a:fillRect l="-111295" t="0" r="-111295" b="0"/>
              </a:stretch>
            </a:blipFill>
          </p:spPr>
        </p:sp>
        <p:sp>
          <p:nvSpPr>
            <p:cNvPr name="TextBox 37" id="37"/>
            <p:cNvSpPr txBox="true"/>
            <p:nvPr/>
          </p:nvSpPr>
          <p:spPr>
            <a:xfrm>
              <a:off x="0" y="-38100"/>
              <a:ext cx="1706880" cy="2183892"/>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02</a:t>
              </a:r>
            </a:p>
          </p:txBody>
        </p:sp>
      </p:grpSp>
      <p:grpSp>
        <p:nvGrpSpPr>
          <p:cNvPr name="Group 38" id="38"/>
          <p:cNvGrpSpPr/>
          <p:nvPr/>
        </p:nvGrpSpPr>
        <p:grpSpPr>
          <a:xfrm rot="0">
            <a:off x="11247120" y="2347979"/>
            <a:ext cx="6309360" cy="1426464"/>
            <a:chOff x="0" y="0"/>
            <a:chExt cx="8412480" cy="1901952"/>
          </a:xfrm>
        </p:grpSpPr>
        <p:sp>
          <p:nvSpPr>
            <p:cNvPr name="Freeform 39" id="39"/>
            <p:cNvSpPr/>
            <p:nvPr/>
          </p:nvSpPr>
          <p:spPr>
            <a:xfrm flipH="false" flipV="false" rot="0">
              <a:off x="0" y="0"/>
              <a:ext cx="8412480" cy="1901952"/>
            </a:xfrm>
            <a:custGeom>
              <a:avLst/>
              <a:gdLst/>
              <a:ahLst/>
              <a:cxnLst/>
              <a:rect r="r" b="b" t="t" l="l"/>
              <a:pathLst>
                <a:path h="1901952" w="8412480">
                  <a:moveTo>
                    <a:pt x="0" y="0"/>
                  </a:moveTo>
                  <a:lnTo>
                    <a:pt x="8412480" y="0"/>
                  </a:lnTo>
                  <a:lnTo>
                    <a:pt x="8412480" y="1901952"/>
                  </a:lnTo>
                  <a:lnTo>
                    <a:pt x="0" y="1901952"/>
                  </a:lnTo>
                  <a:close/>
                </a:path>
              </a:pathLst>
            </a:custGeom>
            <a:blipFill>
              <a:blip r:embed="rId2">
                <a:alphaModFix amt="0"/>
              </a:blip>
              <a:stretch>
                <a:fillRect l="0" t="-36183" r="0" b="-36183"/>
              </a:stretch>
            </a:blipFill>
          </p:spPr>
        </p:sp>
        <p:sp>
          <p:nvSpPr>
            <p:cNvPr name="TextBox 40" id="40"/>
            <p:cNvSpPr txBox="true"/>
            <p:nvPr/>
          </p:nvSpPr>
          <p:spPr>
            <a:xfrm>
              <a:off x="0" y="-19050"/>
              <a:ext cx="8412480" cy="1921002"/>
            </a:xfrm>
            <a:prstGeom prst="rect">
              <a:avLst/>
            </a:prstGeom>
          </p:spPr>
          <p:txBody>
            <a:bodyPr anchor="ctr" rtlCol="false" tIns="0" lIns="0" bIns="0" rIns="0"/>
            <a:lstStyle/>
            <a:p>
              <a:pPr algn="l">
                <a:lnSpc>
                  <a:spcPts val="2760"/>
                </a:lnSpc>
              </a:pPr>
              <a:r>
                <a:rPr lang="en-US" sz="2300">
                  <a:solidFill>
                    <a:srgbClr val="000000"/>
                  </a:solidFill>
                  <a:latin typeface="Arial"/>
                  <a:ea typeface="Arial"/>
                  <a:cs typeface="Arial"/>
                  <a:sym typeface="Arial"/>
                </a:rPr>
                <a:t>Qu'est-ce qu'un vocabulaire RDF ?</a:t>
              </a:r>
            </a:p>
            <a:p>
              <a:pPr algn="l">
                <a:lnSpc>
                  <a:spcPts val="2760"/>
                </a:lnSpc>
              </a:pPr>
            </a:p>
          </p:txBody>
        </p:sp>
      </p:grpSp>
      <p:grpSp>
        <p:nvGrpSpPr>
          <p:cNvPr name="Group 41" id="41"/>
          <p:cNvGrpSpPr/>
          <p:nvPr/>
        </p:nvGrpSpPr>
        <p:grpSpPr>
          <a:xfrm rot="0">
            <a:off x="718823" y="3955799"/>
            <a:ext cx="8255003" cy="1634747"/>
            <a:chOff x="0" y="0"/>
            <a:chExt cx="11006671" cy="2179663"/>
          </a:xfrm>
        </p:grpSpPr>
        <p:sp>
          <p:nvSpPr>
            <p:cNvPr name="Freeform 42" id="42"/>
            <p:cNvSpPr/>
            <p:nvPr/>
          </p:nvSpPr>
          <p:spPr>
            <a:xfrm flipH="false" flipV="false" rot="0">
              <a:off x="16891" y="16891"/>
              <a:ext cx="10972800" cy="2145792"/>
            </a:xfrm>
            <a:custGeom>
              <a:avLst/>
              <a:gdLst/>
              <a:ahLst/>
              <a:cxnLst/>
              <a:rect r="r" b="b" t="t" l="l"/>
              <a:pathLst>
                <a:path h="2145792" w="10972800">
                  <a:moveTo>
                    <a:pt x="0" y="0"/>
                  </a:moveTo>
                  <a:lnTo>
                    <a:pt x="10972800" y="0"/>
                  </a:lnTo>
                  <a:lnTo>
                    <a:pt x="10972800" y="2145792"/>
                  </a:lnTo>
                  <a:lnTo>
                    <a:pt x="0" y="2145792"/>
                  </a:lnTo>
                  <a:close/>
                </a:path>
              </a:pathLst>
            </a:custGeom>
            <a:solidFill>
              <a:srgbClr val="F1F5F9"/>
            </a:solidFill>
          </p:spPr>
        </p:sp>
        <p:sp>
          <p:nvSpPr>
            <p:cNvPr name="Freeform 43" id="43"/>
            <p:cNvSpPr/>
            <p:nvPr/>
          </p:nvSpPr>
          <p:spPr>
            <a:xfrm flipH="false" flipV="false" rot="0">
              <a:off x="0" y="0"/>
              <a:ext cx="11006582" cy="2179574"/>
            </a:xfrm>
            <a:custGeom>
              <a:avLst/>
              <a:gdLst/>
              <a:ahLst/>
              <a:cxnLst/>
              <a:rect r="r" b="b" t="t" l="l"/>
              <a:pathLst>
                <a:path h="2179574" w="11006582">
                  <a:moveTo>
                    <a:pt x="16891" y="0"/>
                  </a:moveTo>
                  <a:lnTo>
                    <a:pt x="10989691" y="0"/>
                  </a:lnTo>
                  <a:cubicBezTo>
                    <a:pt x="10999089" y="0"/>
                    <a:pt x="11006582" y="7620"/>
                    <a:pt x="11006582" y="16891"/>
                  </a:cubicBezTo>
                  <a:lnTo>
                    <a:pt x="11006582" y="2162683"/>
                  </a:lnTo>
                  <a:cubicBezTo>
                    <a:pt x="11006582" y="2172081"/>
                    <a:pt x="10998962" y="2179574"/>
                    <a:pt x="1098969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0989691" y="2145792"/>
                  </a:lnTo>
                  <a:lnTo>
                    <a:pt x="10989691" y="2162683"/>
                  </a:lnTo>
                  <a:lnTo>
                    <a:pt x="10972800" y="2162683"/>
                  </a:lnTo>
                  <a:lnTo>
                    <a:pt x="10972800" y="16891"/>
                  </a:lnTo>
                  <a:lnTo>
                    <a:pt x="10989691" y="16891"/>
                  </a:lnTo>
                  <a:lnTo>
                    <a:pt x="10989691" y="33909"/>
                  </a:lnTo>
                  <a:lnTo>
                    <a:pt x="16891" y="33909"/>
                  </a:lnTo>
                  <a:close/>
                </a:path>
              </a:pathLst>
            </a:custGeom>
            <a:solidFill>
              <a:srgbClr val="0891B2"/>
            </a:solidFill>
          </p:spPr>
        </p:sp>
      </p:grpSp>
      <p:grpSp>
        <p:nvGrpSpPr>
          <p:cNvPr name="Group 44" id="44"/>
          <p:cNvGrpSpPr/>
          <p:nvPr/>
        </p:nvGrpSpPr>
        <p:grpSpPr>
          <a:xfrm rot="0">
            <a:off x="718823" y="3955799"/>
            <a:ext cx="135131" cy="1634747"/>
            <a:chOff x="0" y="0"/>
            <a:chExt cx="180175" cy="2179663"/>
          </a:xfrm>
        </p:grpSpPr>
        <p:sp>
          <p:nvSpPr>
            <p:cNvPr name="Freeform 45" id="45"/>
            <p:cNvSpPr/>
            <p:nvPr/>
          </p:nvSpPr>
          <p:spPr>
            <a:xfrm flipH="false" flipV="false" rot="0">
              <a:off x="16891" y="16891"/>
              <a:ext cx="146304" cy="2145792"/>
            </a:xfrm>
            <a:custGeom>
              <a:avLst/>
              <a:gdLst/>
              <a:ahLst/>
              <a:cxnLst/>
              <a:rect r="r" b="b" t="t" l="l"/>
              <a:pathLst>
                <a:path h="2145792" w="146304">
                  <a:moveTo>
                    <a:pt x="0" y="0"/>
                  </a:moveTo>
                  <a:lnTo>
                    <a:pt x="146304" y="0"/>
                  </a:lnTo>
                  <a:lnTo>
                    <a:pt x="146304" y="2145792"/>
                  </a:lnTo>
                  <a:lnTo>
                    <a:pt x="0" y="2145792"/>
                  </a:lnTo>
                  <a:close/>
                </a:path>
              </a:pathLst>
            </a:custGeom>
            <a:solidFill>
              <a:srgbClr val="0891B2"/>
            </a:solidFill>
          </p:spPr>
        </p:sp>
        <p:sp>
          <p:nvSpPr>
            <p:cNvPr name="Freeform 46" id="46"/>
            <p:cNvSpPr/>
            <p:nvPr/>
          </p:nvSpPr>
          <p:spPr>
            <a:xfrm flipH="false" flipV="false" rot="0">
              <a:off x="0" y="0"/>
              <a:ext cx="180086" cy="2179574"/>
            </a:xfrm>
            <a:custGeom>
              <a:avLst/>
              <a:gdLst/>
              <a:ahLst/>
              <a:cxnLst/>
              <a:rect r="r" b="b" t="t" l="l"/>
              <a:pathLst>
                <a:path h="2179574" w="180086">
                  <a:moveTo>
                    <a:pt x="16891" y="0"/>
                  </a:moveTo>
                  <a:lnTo>
                    <a:pt x="163195" y="0"/>
                  </a:lnTo>
                  <a:cubicBezTo>
                    <a:pt x="172593" y="0"/>
                    <a:pt x="180086" y="7620"/>
                    <a:pt x="180086" y="16891"/>
                  </a:cubicBezTo>
                  <a:lnTo>
                    <a:pt x="180086" y="2162683"/>
                  </a:lnTo>
                  <a:cubicBezTo>
                    <a:pt x="180086" y="2172081"/>
                    <a:pt x="172466" y="2179574"/>
                    <a:pt x="163195"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63195" y="2145792"/>
                  </a:lnTo>
                  <a:lnTo>
                    <a:pt x="163195" y="2162683"/>
                  </a:lnTo>
                  <a:lnTo>
                    <a:pt x="146304" y="2162683"/>
                  </a:lnTo>
                  <a:lnTo>
                    <a:pt x="146304" y="16891"/>
                  </a:lnTo>
                  <a:lnTo>
                    <a:pt x="163195" y="16891"/>
                  </a:lnTo>
                  <a:lnTo>
                    <a:pt x="163195" y="33909"/>
                  </a:lnTo>
                  <a:lnTo>
                    <a:pt x="16891" y="33909"/>
                  </a:lnTo>
                  <a:close/>
                </a:path>
              </a:pathLst>
            </a:custGeom>
            <a:solidFill>
              <a:srgbClr val="0891B2"/>
            </a:solidFill>
          </p:spPr>
        </p:sp>
      </p:grpSp>
      <p:grpSp>
        <p:nvGrpSpPr>
          <p:cNvPr name="Group 47" id="47"/>
          <p:cNvGrpSpPr/>
          <p:nvPr/>
        </p:nvGrpSpPr>
        <p:grpSpPr>
          <a:xfrm rot="0">
            <a:off x="828551" y="3955799"/>
            <a:ext cx="1305563" cy="1634747"/>
            <a:chOff x="0" y="0"/>
            <a:chExt cx="1740751" cy="2179663"/>
          </a:xfrm>
        </p:grpSpPr>
        <p:sp>
          <p:nvSpPr>
            <p:cNvPr name="Freeform 48" id="48"/>
            <p:cNvSpPr/>
            <p:nvPr/>
          </p:nvSpPr>
          <p:spPr>
            <a:xfrm flipH="false" flipV="false" rot="0">
              <a:off x="16891" y="16891"/>
              <a:ext cx="1706880" cy="2145792"/>
            </a:xfrm>
            <a:custGeom>
              <a:avLst/>
              <a:gdLst/>
              <a:ahLst/>
              <a:cxnLst/>
              <a:rect r="r" b="b" t="t" l="l"/>
              <a:pathLst>
                <a:path h="2145792" w="1706880">
                  <a:moveTo>
                    <a:pt x="0" y="0"/>
                  </a:moveTo>
                  <a:lnTo>
                    <a:pt x="1706880" y="0"/>
                  </a:lnTo>
                  <a:lnTo>
                    <a:pt x="1706880" y="2145792"/>
                  </a:lnTo>
                  <a:lnTo>
                    <a:pt x="0" y="2145792"/>
                  </a:lnTo>
                  <a:close/>
                </a:path>
              </a:pathLst>
            </a:custGeom>
            <a:solidFill>
              <a:srgbClr val="0891B2"/>
            </a:solidFill>
          </p:spPr>
        </p:sp>
        <p:sp>
          <p:nvSpPr>
            <p:cNvPr name="Freeform 49" id="49"/>
            <p:cNvSpPr/>
            <p:nvPr/>
          </p:nvSpPr>
          <p:spPr>
            <a:xfrm flipH="false" flipV="false" rot="0">
              <a:off x="0" y="0"/>
              <a:ext cx="1740662" cy="2179574"/>
            </a:xfrm>
            <a:custGeom>
              <a:avLst/>
              <a:gdLst/>
              <a:ahLst/>
              <a:cxnLst/>
              <a:rect r="r" b="b" t="t" l="l"/>
              <a:pathLst>
                <a:path h="2179574" w="1740662">
                  <a:moveTo>
                    <a:pt x="16891" y="0"/>
                  </a:moveTo>
                  <a:lnTo>
                    <a:pt x="1723771" y="0"/>
                  </a:lnTo>
                  <a:cubicBezTo>
                    <a:pt x="1733169" y="0"/>
                    <a:pt x="1740662" y="7620"/>
                    <a:pt x="1740662" y="16891"/>
                  </a:cubicBezTo>
                  <a:lnTo>
                    <a:pt x="1740662" y="2162683"/>
                  </a:lnTo>
                  <a:cubicBezTo>
                    <a:pt x="1740662" y="2172081"/>
                    <a:pt x="1733042" y="2179574"/>
                    <a:pt x="172377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723771" y="2145792"/>
                  </a:lnTo>
                  <a:lnTo>
                    <a:pt x="1723771" y="2162683"/>
                  </a:lnTo>
                  <a:lnTo>
                    <a:pt x="1706880" y="2162683"/>
                  </a:lnTo>
                  <a:lnTo>
                    <a:pt x="1706880" y="16891"/>
                  </a:lnTo>
                  <a:lnTo>
                    <a:pt x="1723771" y="16891"/>
                  </a:lnTo>
                  <a:lnTo>
                    <a:pt x="1723771" y="33909"/>
                  </a:lnTo>
                  <a:lnTo>
                    <a:pt x="16891" y="33909"/>
                  </a:lnTo>
                  <a:close/>
                </a:path>
              </a:pathLst>
            </a:custGeom>
            <a:solidFill>
              <a:srgbClr val="0891B2"/>
            </a:solidFill>
          </p:spPr>
        </p:sp>
      </p:grpSp>
      <p:grpSp>
        <p:nvGrpSpPr>
          <p:cNvPr name="Group 50" id="50"/>
          <p:cNvGrpSpPr/>
          <p:nvPr/>
        </p:nvGrpSpPr>
        <p:grpSpPr>
          <a:xfrm rot="0">
            <a:off x="841248" y="3968496"/>
            <a:ext cx="1280160" cy="1609344"/>
            <a:chOff x="0" y="0"/>
            <a:chExt cx="1706880" cy="2145792"/>
          </a:xfrm>
        </p:grpSpPr>
        <p:sp>
          <p:nvSpPr>
            <p:cNvPr name="Freeform 51" id="51"/>
            <p:cNvSpPr/>
            <p:nvPr/>
          </p:nvSpPr>
          <p:spPr>
            <a:xfrm flipH="false" flipV="false" rot="0">
              <a:off x="0" y="0"/>
              <a:ext cx="1706880" cy="2145792"/>
            </a:xfrm>
            <a:custGeom>
              <a:avLst/>
              <a:gdLst/>
              <a:ahLst/>
              <a:cxnLst/>
              <a:rect r="r" b="b" t="t" l="l"/>
              <a:pathLst>
                <a:path h="2145792" w="1706880">
                  <a:moveTo>
                    <a:pt x="0" y="0"/>
                  </a:moveTo>
                  <a:lnTo>
                    <a:pt x="1706880" y="0"/>
                  </a:lnTo>
                  <a:lnTo>
                    <a:pt x="1706880" y="2145792"/>
                  </a:lnTo>
                  <a:lnTo>
                    <a:pt x="0" y="2145792"/>
                  </a:lnTo>
                  <a:close/>
                </a:path>
              </a:pathLst>
            </a:custGeom>
            <a:blipFill>
              <a:blip r:embed="rId2">
                <a:alphaModFix amt="0"/>
              </a:blip>
              <a:stretch>
                <a:fillRect l="-111295" t="0" r="-111295" b="0"/>
              </a:stretch>
            </a:blipFill>
          </p:spPr>
        </p:sp>
        <p:sp>
          <p:nvSpPr>
            <p:cNvPr name="TextBox 52" id="52"/>
            <p:cNvSpPr txBox="true"/>
            <p:nvPr/>
          </p:nvSpPr>
          <p:spPr>
            <a:xfrm>
              <a:off x="0" y="-38100"/>
              <a:ext cx="1706880" cy="2183892"/>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03</a:t>
              </a:r>
            </a:p>
          </p:txBody>
        </p:sp>
      </p:grpSp>
      <p:grpSp>
        <p:nvGrpSpPr>
          <p:cNvPr name="Group 53" id="53"/>
          <p:cNvGrpSpPr/>
          <p:nvPr/>
        </p:nvGrpSpPr>
        <p:grpSpPr>
          <a:xfrm rot="0">
            <a:off x="2377440" y="4059936"/>
            <a:ext cx="6309360" cy="1426464"/>
            <a:chOff x="0" y="0"/>
            <a:chExt cx="8412480" cy="1901952"/>
          </a:xfrm>
        </p:grpSpPr>
        <p:sp>
          <p:nvSpPr>
            <p:cNvPr name="Freeform 54" id="54"/>
            <p:cNvSpPr/>
            <p:nvPr/>
          </p:nvSpPr>
          <p:spPr>
            <a:xfrm flipH="false" flipV="false" rot="0">
              <a:off x="0" y="0"/>
              <a:ext cx="8412480" cy="1901952"/>
            </a:xfrm>
            <a:custGeom>
              <a:avLst/>
              <a:gdLst/>
              <a:ahLst/>
              <a:cxnLst/>
              <a:rect r="r" b="b" t="t" l="l"/>
              <a:pathLst>
                <a:path h="1901952" w="8412480">
                  <a:moveTo>
                    <a:pt x="0" y="0"/>
                  </a:moveTo>
                  <a:lnTo>
                    <a:pt x="8412480" y="0"/>
                  </a:lnTo>
                  <a:lnTo>
                    <a:pt x="8412480" y="1901952"/>
                  </a:lnTo>
                  <a:lnTo>
                    <a:pt x="0" y="1901952"/>
                  </a:lnTo>
                  <a:close/>
                </a:path>
              </a:pathLst>
            </a:custGeom>
            <a:blipFill>
              <a:blip r:embed="rId2">
                <a:alphaModFix amt="0"/>
              </a:blip>
              <a:stretch>
                <a:fillRect l="0" t="-36183" r="0" b="-36183"/>
              </a:stretch>
            </a:blipFill>
          </p:spPr>
        </p:sp>
        <p:sp>
          <p:nvSpPr>
            <p:cNvPr name="TextBox 55" id="55"/>
            <p:cNvSpPr txBox="true"/>
            <p:nvPr/>
          </p:nvSpPr>
          <p:spPr>
            <a:xfrm>
              <a:off x="0" y="-47625"/>
              <a:ext cx="8412480" cy="1949577"/>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DCAT : Catalogues de données</a:t>
              </a:r>
            </a:p>
          </p:txBody>
        </p:sp>
      </p:grpSp>
      <p:grpSp>
        <p:nvGrpSpPr>
          <p:cNvPr name="Group 56" id="56"/>
          <p:cNvGrpSpPr/>
          <p:nvPr/>
        </p:nvGrpSpPr>
        <p:grpSpPr>
          <a:xfrm rot="0">
            <a:off x="9588503" y="3955799"/>
            <a:ext cx="8255003" cy="1634747"/>
            <a:chOff x="0" y="0"/>
            <a:chExt cx="11006671" cy="2179663"/>
          </a:xfrm>
        </p:grpSpPr>
        <p:sp>
          <p:nvSpPr>
            <p:cNvPr name="Freeform 57" id="57"/>
            <p:cNvSpPr/>
            <p:nvPr/>
          </p:nvSpPr>
          <p:spPr>
            <a:xfrm flipH="false" flipV="false" rot="0">
              <a:off x="16891" y="16891"/>
              <a:ext cx="10972800" cy="2145792"/>
            </a:xfrm>
            <a:custGeom>
              <a:avLst/>
              <a:gdLst/>
              <a:ahLst/>
              <a:cxnLst/>
              <a:rect r="r" b="b" t="t" l="l"/>
              <a:pathLst>
                <a:path h="2145792" w="10972800">
                  <a:moveTo>
                    <a:pt x="0" y="0"/>
                  </a:moveTo>
                  <a:lnTo>
                    <a:pt x="10972800" y="0"/>
                  </a:lnTo>
                  <a:lnTo>
                    <a:pt x="10972800" y="2145792"/>
                  </a:lnTo>
                  <a:lnTo>
                    <a:pt x="0" y="2145792"/>
                  </a:lnTo>
                  <a:close/>
                </a:path>
              </a:pathLst>
            </a:custGeom>
            <a:solidFill>
              <a:srgbClr val="F1F5F9"/>
            </a:solidFill>
          </p:spPr>
        </p:sp>
        <p:sp>
          <p:nvSpPr>
            <p:cNvPr name="Freeform 58" id="58"/>
            <p:cNvSpPr/>
            <p:nvPr/>
          </p:nvSpPr>
          <p:spPr>
            <a:xfrm flipH="false" flipV="false" rot="0">
              <a:off x="0" y="0"/>
              <a:ext cx="11006582" cy="2179574"/>
            </a:xfrm>
            <a:custGeom>
              <a:avLst/>
              <a:gdLst/>
              <a:ahLst/>
              <a:cxnLst/>
              <a:rect r="r" b="b" t="t" l="l"/>
              <a:pathLst>
                <a:path h="2179574" w="11006582">
                  <a:moveTo>
                    <a:pt x="16891" y="0"/>
                  </a:moveTo>
                  <a:lnTo>
                    <a:pt x="10989691" y="0"/>
                  </a:lnTo>
                  <a:cubicBezTo>
                    <a:pt x="10999089" y="0"/>
                    <a:pt x="11006582" y="7620"/>
                    <a:pt x="11006582" y="16891"/>
                  </a:cubicBezTo>
                  <a:lnTo>
                    <a:pt x="11006582" y="2162683"/>
                  </a:lnTo>
                  <a:cubicBezTo>
                    <a:pt x="11006582" y="2172081"/>
                    <a:pt x="10998962" y="2179574"/>
                    <a:pt x="1098969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0989691" y="2145792"/>
                  </a:lnTo>
                  <a:lnTo>
                    <a:pt x="10989691" y="2162683"/>
                  </a:lnTo>
                  <a:lnTo>
                    <a:pt x="10972800" y="2162683"/>
                  </a:lnTo>
                  <a:lnTo>
                    <a:pt x="10972800" y="16891"/>
                  </a:lnTo>
                  <a:lnTo>
                    <a:pt x="10989691" y="16891"/>
                  </a:lnTo>
                  <a:lnTo>
                    <a:pt x="10989691" y="33909"/>
                  </a:lnTo>
                  <a:lnTo>
                    <a:pt x="16891" y="33909"/>
                  </a:lnTo>
                  <a:close/>
                </a:path>
              </a:pathLst>
            </a:custGeom>
            <a:solidFill>
              <a:srgbClr val="7C3AED"/>
            </a:solidFill>
          </p:spPr>
        </p:sp>
      </p:grpSp>
      <p:grpSp>
        <p:nvGrpSpPr>
          <p:cNvPr name="Group 59" id="59"/>
          <p:cNvGrpSpPr/>
          <p:nvPr/>
        </p:nvGrpSpPr>
        <p:grpSpPr>
          <a:xfrm rot="0">
            <a:off x="9588503" y="3955799"/>
            <a:ext cx="135131" cy="1634747"/>
            <a:chOff x="0" y="0"/>
            <a:chExt cx="180175" cy="2179663"/>
          </a:xfrm>
        </p:grpSpPr>
        <p:sp>
          <p:nvSpPr>
            <p:cNvPr name="Freeform 60" id="60"/>
            <p:cNvSpPr/>
            <p:nvPr/>
          </p:nvSpPr>
          <p:spPr>
            <a:xfrm flipH="false" flipV="false" rot="0">
              <a:off x="16891" y="16891"/>
              <a:ext cx="146304" cy="2145792"/>
            </a:xfrm>
            <a:custGeom>
              <a:avLst/>
              <a:gdLst/>
              <a:ahLst/>
              <a:cxnLst/>
              <a:rect r="r" b="b" t="t" l="l"/>
              <a:pathLst>
                <a:path h="2145792" w="146304">
                  <a:moveTo>
                    <a:pt x="0" y="0"/>
                  </a:moveTo>
                  <a:lnTo>
                    <a:pt x="146304" y="0"/>
                  </a:lnTo>
                  <a:lnTo>
                    <a:pt x="146304" y="2145792"/>
                  </a:lnTo>
                  <a:lnTo>
                    <a:pt x="0" y="2145792"/>
                  </a:lnTo>
                  <a:close/>
                </a:path>
              </a:pathLst>
            </a:custGeom>
            <a:solidFill>
              <a:srgbClr val="7C3AED"/>
            </a:solidFill>
          </p:spPr>
        </p:sp>
        <p:sp>
          <p:nvSpPr>
            <p:cNvPr name="Freeform 61" id="61"/>
            <p:cNvSpPr/>
            <p:nvPr/>
          </p:nvSpPr>
          <p:spPr>
            <a:xfrm flipH="false" flipV="false" rot="0">
              <a:off x="0" y="0"/>
              <a:ext cx="180086" cy="2179574"/>
            </a:xfrm>
            <a:custGeom>
              <a:avLst/>
              <a:gdLst/>
              <a:ahLst/>
              <a:cxnLst/>
              <a:rect r="r" b="b" t="t" l="l"/>
              <a:pathLst>
                <a:path h="2179574" w="180086">
                  <a:moveTo>
                    <a:pt x="16891" y="0"/>
                  </a:moveTo>
                  <a:lnTo>
                    <a:pt x="163195" y="0"/>
                  </a:lnTo>
                  <a:cubicBezTo>
                    <a:pt x="172593" y="0"/>
                    <a:pt x="180086" y="7620"/>
                    <a:pt x="180086" y="16891"/>
                  </a:cubicBezTo>
                  <a:lnTo>
                    <a:pt x="180086" y="2162683"/>
                  </a:lnTo>
                  <a:cubicBezTo>
                    <a:pt x="180086" y="2172081"/>
                    <a:pt x="172466" y="2179574"/>
                    <a:pt x="163195"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63195" y="2145792"/>
                  </a:lnTo>
                  <a:lnTo>
                    <a:pt x="163195" y="2162683"/>
                  </a:lnTo>
                  <a:lnTo>
                    <a:pt x="146304" y="2162683"/>
                  </a:lnTo>
                  <a:lnTo>
                    <a:pt x="146304" y="16891"/>
                  </a:lnTo>
                  <a:lnTo>
                    <a:pt x="163195" y="16891"/>
                  </a:lnTo>
                  <a:lnTo>
                    <a:pt x="163195" y="33909"/>
                  </a:lnTo>
                  <a:lnTo>
                    <a:pt x="16891" y="33909"/>
                  </a:lnTo>
                  <a:close/>
                </a:path>
              </a:pathLst>
            </a:custGeom>
            <a:solidFill>
              <a:srgbClr val="7C3AED"/>
            </a:solidFill>
          </p:spPr>
        </p:sp>
      </p:grpSp>
      <p:grpSp>
        <p:nvGrpSpPr>
          <p:cNvPr name="Group 62" id="62"/>
          <p:cNvGrpSpPr/>
          <p:nvPr/>
        </p:nvGrpSpPr>
        <p:grpSpPr>
          <a:xfrm rot="0">
            <a:off x="9698231" y="3955799"/>
            <a:ext cx="1305563" cy="1634747"/>
            <a:chOff x="0" y="0"/>
            <a:chExt cx="1740751" cy="2179663"/>
          </a:xfrm>
        </p:grpSpPr>
        <p:sp>
          <p:nvSpPr>
            <p:cNvPr name="Freeform 63" id="63"/>
            <p:cNvSpPr/>
            <p:nvPr/>
          </p:nvSpPr>
          <p:spPr>
            <a:xfrm flipH="false" flipV="false" rot="0">
              <a:off x="16891" y="16891"/>
              <a:ext cx="1706880" cy="2145792"/>
            </a:xfrm>
            <a:custGeom>
              <a:avLst/>
              <a:gdLst/>
              <a:ahLst/>
              <a:cxnLst/>
              <a:rect r="r" b="b" t="t" l="l"/>
              <a:pathLst>
                <a:path h="2145792" w="1706880">
                  <a:moveTo>
                    <a:pt x="0" y="0"/>
                  </a:moveTo>
                  <a:lnTo>
                    <a:pt x="1706880" y="0"/>
                  </a:lnTo>
                  <a:lnTo>
                    <a:pt x="1706880" y="2145792"/>
                  </a:lnTo>
                  <a:lnTo>
                    <a:pt x="0" y="2145792"/>
                  </a:lnTo>
                  <a:close/>
                </a:path>
              </a:pathLst>
            </a:custGeom>
            <a:solidFill>
              <a:srgbClr val="7C3AED"/>
            </a:solidFill>
          </p:spPr>
        </p:sp>
        <p:sp>
          <p:nvSpPr>
            <p:cNvPr name="Freeform 64" id="64"/>
            <p:cNvSpPr/>
            <p:nvPr/>
          </p:nvSpPr>
          <p:spPr>
            <a:xfrm flipH="false" flipV="false" rot="0">
              <a:off x="0" y="0"/>
              <a:ext cx="1740662" cy="2179574"/>
            </a:xfrm>
            <a:custGeom>
              <a:avLst/>
              <a:gdLst/>
              <a:ahLst/>
              <a:cxnLst/>
              <a:rect r="r" b="b" t="t" l="l"/>
              <a:pathLst>
                <a:path h="2179574" w="1740662">
                  <a:moveTo>
                    <a:pt x="16891" y="0"/>
                  </a:moveTo>
                  <a:lnTo>
                    <a:pt x="1723771" y="0"/>
                  </a:lnTo>
                  <a:cubicBezTo>
                    <a:pt x="1733169" y="0"/>
                    <a:pt x="1740662" y="7620"/>
                    <a:pt x="1740662" y="16891"/>
                  </a:cubicBezTo>
                  <a:lnTo>
                    <a:pt x="1740662" y="2162683"/>
                  </a:lnTo>
                  <a:cubicBezTo>
                    <a:pt x="1740662" y="2172081"/>
                    <a:pt x="1733042" y="2179574"/>
                    <a:pt x="172377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723771" y="2145792"/>
                  </a:lnTo>
                  <a:lnTo>
                    <a:pt x="1723771" y="2162683"/>
                  </a:lnTo>
                  <a:lnTo>
                    <a:pt x="1706880" y="2162683"/>
                  </a:lnTo>
                  <a:lnTo>
                    <a:pt x="1706880" y="16891"/>
                  </a:lnTo>
                  <a:lnTo>
                    <a:pt x="1723771" y="16891"/>
                  </a:lnTo>
                  <a:lnTo>
                    <a:pt x="1723771" y="33909"/>
                  </a:lnTo>
                  <a:lnTo>
                    <a:pt x="16891" y="33909"/>
                  </a:lnTo>
                  <a:close/>
                </a:path>
              </a:pathLst>
            </a:custGeom>
            <a:solidFill>
              <a:srgbClr val="7C3AED"/>
            </a:solidFill>
          </p:spPr>
        </p:sp>
      </p:grpSp>
      <p:grpSp>
        <p:nvGrpSpPr>
          <p:cNvPr name="Group 65" id="65"/>
          <p:cNvGrpSpPr/>
          <p:nvPr/>
        </p:nvGrpSpPr>
        <p:grpSpPr>
          <a:xfrm rot="0">
            <a:off x="9710928" y="3968496"/>
            <a:ext cx="1280160" cy="1609344"/>
            <a:chOff x="0" y="0"/>
            <a:chExt cx="1706880" cy="2145792"/>
          </a:xfrm>
        </p:grpSpPr>
        <p:sp>
          <p:nvSpPr>
            <p:cNvPr name="Freeform 66" id="66"/>
            <p:cNvSpPr/>
            <p:nvPr/>
          </p:nvSpPr>
          <p:spPr>
            <a:xfrm flipH="false" flipV="false" rot="0">
              <a:off x="0" y="0"/>
              <a:ext cx="1706880" cy="2145792"/>
            </a:xfrm>
            <a:custGeom>
              <a:avLst/>
              <a:gdLst/>
              <a:ahLst/>
              <a:cxnLst/>
              <a:rect r="r" b="b" t="t" l="l"/>
              <a:pathLst>
                <a:path h="2145792" w="1706880">
                  <a:moveTo>
                    <a:pt x="0" y="0"/>
                  </a:moveTo>
                  <a:lnTo>
                    <a:pt x="1706880" y="0"/>
                  </a:lnTo>
                  <a:lnTo>
                    <a:pt x="1706880" y="2145792"/>
                  </a:lnTo>
                  <a:lnTo>
                    <a:pt x="0" y="2145792"/>
                  </a:lnTo>
                  <a:close/>
                </a:path>
              </a:pathLst>
            </a:custGeom>
            <a:blipFill>
              <a:blip r:embed="rId2">
                <a:alphaModFix amt="0"/>
              </a:blip>
              <a:stretch>
                <a:fillRect l="-111295" t="0" r="-111295" b="0"/>
              </a:stretch>
            </a:blipFill>
          </p:spPr>
        </p:sp>
        <p:sp>
          <p:nvSpPr>
            <p:cNvPr name="TextBox 67" id="67"/>
            <p:cNvSpPr txBox="true"/>
            <p:nvPr/>
          </p:nvSpPr>
          <p:spPr>
            <a:xfrm>
              <a:off x="0" y="-38100"/>
              <a:ext cx="1706880" cy="2183892"/>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04</a:t>
              </a:r>
            </a:p>
          </p:txBody>
        </p:sp>
      </p:grpSp>
      <p:grpSp>
        <p:nvGrpSpPr>
          <p:cNvPr name="Group 68" id="68"/>
          <p:cNvGrpSpPr/>
          <p:nvPr/>
        </p:nvGrpSpPr>
        <p:grpSpPr>
          <a:xfrm rot="0">
            <a:off x="11247120" y="4059936"/>
            <a:ext cx="6309360" cy="1426464"/>
            <a:chOff x="0" y="0"/>
            <a:chExt cx="8412480" cy="1901952"/>
          </a:xfrm>
        </p:grpSpPr>
        <p:sp>
          <p:nvSpPr>
            <p:cNvPr name="Freeform 69" id="69"/>
            <p:cNvSpPr/>
            <p:nvPr/>
          </p:nvSpPr>
          <p:spPr>
            <a:xfrm flipH="false" flipV="false" rot="0">
              <a:off x="0" y="0"/>
              <a:ext cx="8412480" cy="1901952"/>
            </a:xfrm>
            <a:custGeom>
              <a:avLst/>
              <a:gdLst/>
              <a:ahLst/>
              <a:cxnLst/>
              <a:rect r="r" b="b" t="t" l="l"/>
              <a:pathLst>
                <a:path h="1901952" w="8412480">
                  <a:moveTo>
                    <a:pt x="0" y="0"/>
                  </a:moveTo>
                  <a:lnTo>
                    <a:pt x="8412480" y="0"/>
                  </a:lnTo>
                  <a:lnTo>
                    <a:pt x="8412480" y="1901952"/>
                  </a:lnTo>
                  <a:lnTo>
                    <a:pt x="0" y="1901952"/>
                  </a:lnTo>
                  <a:close/>
                </a:path>
              </a:pathLst>
            </a:custGeom>
            <a:blipFill>
              <a:blip r:embed="rId2">
                <a:alphaModFix amt="0"/>
              </a:blip>
              <a:stretch>
                <a:fillRect l="0" t="-36183" r="0" b="-36183"/>
              </a:stretch>
            </a:blipFill>
          </p:spPr>
        </p:sp>
        <p:sp>
          <p:nvSpPr>
            <p:cNvPr name="TextBox 70" id="70"/>
            <p:cNvSpPr txBox="true"/>
            <p:nvPr/>
          </p:nvSpPr>
          <p:spPr>
            <a:xfrm>
              <a:off x="0" y="-47625"/>
              <a:ext cx="8412480" cy="1949577"/>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VoID : Description de datasets RDF</a:t>
              </a:r>
            </a:p>
          </p:txBody>
        </p:sp>
      </p:grpSp>
      <p:grpSp>
        <p:nvGrpSpPr>
          <p:cNvPr name="Group 71" id="71"/>
          <p:cNvGrpSpPr/>
          <p:nvPr/>
        </p:nvGrpSpPr>
        <p:grpSpPr>
          <a:xfrm rot="0">
            <a:off x="718823" y="5876039"/>
            <a:ext cx="8255003" cy="1634747"/>
            <a:chOff x="0" y="0"/>
            <a:chExt cx="11006671" cy="2179663"/>
          </a:xfrm>
        </p:grpSpPr>
        <p:sp>
          <p:nvSpPr>
            <p:cNvPr name="Freeform 72" id="72"/>
            <p:cNvSpPr/>
            <p:nvPr/>
          </p:nvSpPr>
          <p:spPr>
            <a:xfrm flipH="false" flipV="false" rot="0">
              <a:off x="16891" y="16891"/>
              <a:ext cx="10972800" cy="2145792"/>
            </a:xfrm>
            <a:custGeom>
              <a:avLst/>
              <a:gdLst/>
              <a:ahLst/>
              <a:cxnLst/>
              <a:rect r="r" b="b" t="t" l="l"/>
              <a:pathLst>
                <a:path h="2145792" w="10972800">
                  <a:moveTo>
                    <a:pt x="0" y="0"/>
                  </a:moveTo>
                  <a:lnTo>
                    <a:pt x="10972800" y="0"/>
                  </a:lnTo>
                  <a:lnTo>
                    <a:pt x="10972800" y="2145792"/>
                  </a:lnTo>
                  <a:lnTo>
                    <a:pt x="0" y="2145792"/>
                  </a:lnTo>
                  <a:close/>
                </a:path>
              </a:pathLst>
            </a:custGeom>
            <a:solidFill>
              <a:srgbClr val="F1F5F9"/>
            </a:solidFill>
          </p:spPr>
        </p:sp>
        <p:sp>
          <p:nvSpPr>
            <p:cNvPr name="Freeform 73" id="73"/>
            <p:cNvSpPr/>
            <p:nvPr/>
          </p:nvSpPr>
          <p:spPr>
            <a:xfrm flipH="false" flipV="false" rot="0">
              <a:off x="0" y="0"/>
              <a:ext cx="11006582" cy="2179574"/>
            </a:xfrm>
            <a:custGeom>
              <a:avLst/>
              <a:gdLst/>
              <a:ahLst/>
              <a:cxnLst/>
              <a:rect r="r" b="b" t="t" l="l"/>
              <a:pathLst>
                <a:path h="2179574" w="11006582">
                  <a:moveTo>
                    <a:pt x="16891" y="0"/>
                  </a:moveTo>
                  <a:lnTo>
                    <a:pt x="10989691" y="0"/>
                  </a:lnTo>
                  <a:cubicBezTo>
                    <a:pt x="10999089" y="0"/>
                    <a:pt x="11006582" y="7620"/>
                    <a:pt x="11006582" y="16891"/>
                  </a:cubicBezTo>
                  <a:lnTo>
                    <a:pt x="11006582" y="2162683"/>
                  </a:lnTo>
                  <a:cubicBezTo>
                    <a:pt x="11006582" y="2172081"/>
                    <a:pt x="10998962" y="2179574"/>
                    <a:pt x="1098969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0989691" y="2145792"/>
                  </a:lnTo>
                  <a:lnTo>
                    <a:pt x="10989691" y="2162683"/>
                  </a:lnTo>
                  <a:lnTo>
                    <a:pt x="10972800" y="2162683"/>
                  </a:lnTo>
                  <a:lnTo>
                    <a:pt x="10972800" y="16891"/>
                  </a:lnTo>
                  <a:lnTo>
                    <a:pt x="10989691" y="16891"/>
                  </a:lnTo>
                  <a:lnTo>
                    <a:pt x="10989691" y="33909"/>
                  </a:lnTo>
                  <a:lnTo>
                    <a:pt x="16891" y="33909"/>
                  </a:lnTo>
                  <a:close/>
                </a:path>
              </a:pathLst>
            </a:custGeom>
            <a:solidFill>
              <a:srgbClr val="059669"/>
            </a:solidFill>
          </p:spPr>
        </p:sp>
      </p:grpSp>
      <p:grpSp>
        <p:nvGrpSpPr>
          <p:cNvPr name="Group 74" id="74"/>
          <p:cNvGrpSpPr/>
          <p:nvPr/>
        </p:nvGrpSpPr>
        <p:grpSpPr>
          <a:xfrm rot="0">
            <a:off x="718823" y="5876039"/>
            <a:ext cx="135131" cy="1634747"/>
            <a:chOff x="0" y="0"/>
            <a:chExt cx="180175" cy="2179663"/>
          </a:xfrm>
        </p:grpSpPr>
        <p:sp>
          <p:nvSpPr>
            <p:cNvPr name="Freeform 75" id="75"/>
            <p:cNvSpPr/>
            <p:nvPr/>
          </p:nvSpPr>
          <p:spPr>
            <a:xfrm flipH="false" flipV="false" rot="0">
              <a:off x="16891" y="16891"/>
              <a:ext cx="146304" cy="2145792"/>
            </a:xfrm>
            <a:custGeom>
              <a:avLst/>
              <a:gdLst/>
              <a:ahLst/>
              <a:cxnLst/>
              <a:rect r="r" b="b" t="t" l="l"/>
              <a:pathLst>
                <a:path h="2145792" w="146304">
                  <a:moveTo>
                    <a:pt x="0" y="0"/>
                  </a:moveTo>
                  <a:lnTo>
                    <a:pt x="146304" y="0"/>
                  </a:lnTo>
                  <a:lnTo>
                    <a:pt x="146304" y="2145792"/>
                  </a:lnTo>
                  <a:lnTo>
                    <a:pt x="0" y="2145792"/>
                  </a:lnTo>
                  <a:close/>
                </a:path>
              </a:pathLst>
            </a:custGeom>
            <a:solidFill>
              <a:srgbClr val="059669"/>
            </a:solidFill>
          </p:spPr>
        </p:sp>
        <p:sp>
          <p:nvSpPr>
            <p:cNvPr name="Freeform 76" id="76"/>
            <p:cNvSpPr/>
            <p:nvPr/>
          </p:nvSpPr>
          <p:spPr>
            <a:xfrm flipH="false" flipV="false" rot="0">
              <a:off x="0" y="0"/>
              <a:ext cx="180086" cy="2179574"/>
            </a:xfrm>
            <a:custGeom>
              <a:avLst/>
              <a:gdLst/>
              <a:ahLst/>
              <a:cxnLst/>
              <a:rect r="r" b="b" t="t" l="l"/>
              <a:pathLst>
                <a:path h="2179574" w="180086">
                  <a:moveTo>
                    <a:pt x="16891" y="0"/>
                  </a:moveTo>
                  <a:lnTo>
                    <a:pt x="163195" y="0"/>
                  </a:lnTo>
                  <a:cubicBezTo>
                    <a:pt x="172593" y="0"/>
                    <a:pt x="180086" y="7620"/>
                    <a:pt x="180086" y="16891"/>
                  </a:cubicBezTo>
                  <a:lnTo>
                    <a:pt x="180086" y="2162683"/>
                  </a:lnTo>
                  <a:cubicBezTo>
                    <a:pt x="180086" y="2172081"/>
                    <a:pt x="172466" y="2179574"/>
                    <a:pt x="163195"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63195" y="2145792"/>
                  </a:lnTo>
                  <a:lnTo>
                    <a:pt x="163195" y="2162683"/>
                  </a:lnTo>
                  <a:lnTo>
                    <a:pt x="146304" y="2162683"/>
                  </a:lnTo>
                  <a:lnTo>
                    <a:pt x="146304" y="16891"/>
                  </a:lnTo>
                  <a:lnTo>
                    <a:pt x="163195" y="16891"/>
                  </a:lnTo>
                  <a:lnTo>
                    <a:pt x="163195" y="33909"/>
                  </a:lnTo>
                  <a:lnTo>
                    <a:pt x="16891" y="33909"/>
                  </a:lnTo>
                  <a:close/>
                </a:path>
              </a:pathLst>
            </a:custGeom>
            <a:solidFill>
              <a:srgbClr val="059669"/>
            </a:solidFill>
          </p:spPr>
        </p:sp>
      </p:grpSp>
      <p:grpSp>
        <p:nvGrpSpPr>
          <p:cNvPr name="Group 77" id="77"/>
          <p:cNvGrpSpPr/>
          <p:nvPr/>
        </p:nvGrpSpPr>
        <p:grpSpPr>
          <a:xfrm rot="0">
            <a:off x="828551" y="5876039"/>
            <a:ext cx="1305563" cy="1634747"/>
            <a:chOff x="0" y="0"/>
            <a:chExt cx="1740751" cy="2179663"/>
          </a:xfrm>
        </p:grpSpPr>
        <p:sp>
          <p:nvSpPr>
            <p:cNvPr name="Freeform 78" id="78"/>
            <p:cNvSpPr/>
            <p:nvPr/>
          </p:nvSpPr>
          <p:spPr>
            <a:xfrm flipH="false" flipV="false" rot="0">
              <a:off x="16891" y="16891"/>
              <a:ext cx="1706880" cy="2145792"/>
            </a:xfrm>
            <a:custGeom>
              <a:avLst/>
              <a:gdLst/>
              <a:ahLst/>
              <a:cxnLst/>
              <a:rect r="r" b="b" t="t" l="l"/>
              <a:pathLst>
                <a:path h="2145792" w="1706880">
                  <a:moveTo>
                    <a:pt x="0" y="0"/>
                  </a:moveTo>
                  <a:lnTo>
                    <a:pt x="1706880" y="0"/>
                  </a:lnTo>
                  <a:lnTo>
                    <a:pt x="1706880" y="2145792"/>
                  </a:lnTo>
                  <a:lnTo>
                    <a:pt x="0" y="2145792"/>
                  </a:lnTo>
                  <a:close/>
                </a:path>
              </a:pathLst>
            </a:custGeom>
            <a:solidFill>
              <a:srgbClr val="059669"/>
            </a:solidFill>
          </p:spPr>
        </p:sp>
        <p:sp>
          <p:nvSpPr>
            <p:cNvPr name="Freeform 79" id="79"/>
            <p:cNvSpPr/>
            <p:nvPr/>
          </p:nvSpPr>
          <p:spPr>
            <a:xfrm flipH="false" flipV="false" rot="0">
              <a:off x="0" y="0"/>
              <a:ext cx="1740662" cy="2179574"/>
            </a:xfrm>
            <a:custGeom>
              <a:avLst/>
              <a:gdLst/>
              <a:ahLst/>
              <a:cxnLst/>
              <a:rect r="r" b="b" t="t" l="l"/>
              <a:pathLst>
                <a:path h="2179574" w="1740662">
                  <a:moveTo>
                    <a:pt x="16891" y="0"/>
                  </a:moveTo>
                  <a:lnTo>
                    <a:pt x="1723771" y="0"/>
                  </a:lnTo>
                  <a:cubicBezTo>
                    <a:pt x="1733169" y="0"/>
                    <a:pt x="1740662" y="7620"/>
                    <a:pt x="1740662" y="16891"/>
                  </a:cubicBezTo>
                  <a:lnTo>
                    <a:pt x="1740662" y="2162683"/>
                  </a:lnTo>
                  <a:cubicBezTo>
                    <a:pt x="1740662" y="2172081"/>
                    <a:pt x="1733042" y="2179574"/>
                    <a:pt x="172377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723771" y="2145792"/>
                  </a:lnTo>
                  <a:lnTo>
                    <a:pt x="1723771" y="2162683"/>
                  </a:lnTo>
                  <a:lnTo>
                    <a:pt x="1706880" y="2162683"/>
                  </a:lnTo>
                  <a:lnTo>
                    <a:pt x="1706880" y="16891"/>
                  </a:lnTo>
                  <a:lnTo>
                    <a:pt x="1723771" y="16891"/>
                  </a:lnTo>
                  <a:lnTo>
                    <a:pt x="1723771" y="33909"/>
                  </a:lnTo>
                  <a:lnTo>
                    <a:pt x="16891" y="33909"/>
                  </a:lnTo>
                  <a:close/>
                </a:path>
              </a:pathLst>
            </a:custGeom>
            <a:solidFill>
              <a:srgbClr val="059669"/>
            </a:solidFill>
          </p:spPr>
        </p:sp>
      </p:grpSp>
      <p:grpSp>
        <p:nvGrpSpPr>
          <p:cNvPr name="Group 80" id="80"/>
          <p:cNvGrpSpPr/>
          <p:nvPr/>
        </p:nvGrpSpPr>
        <p:grpSpPr>
          <a:xfrm rot="0">
            <a:off x="841248" y="5888736"/>
            <a:ext cx="1280160" cy="1609344"/>
            <a:chOff x="0" y="0"/>
            <a:chExt cx="1706880" cy="2145792"/>
          </a:xfrm>
        </p:grpSpPr>
        <p:sp>
          <p:nvSpPr>
            <p:cNvPr name="Freeform 81" id="81"/>
            <p:cNvSpPr/>
            <p:nvPr/>
          </p:nvSpPr>
          <p:spPr>
            <a:xfrm flipH="false" flipV="false" rot="0">
              <a:off x="0" y="0"/>
              <a:ext cx="1706880" cy="2145792"/>
            </a:xfrm>
            <a:custGeom>
              <a:avLst/>
              <a:gdLst/>
              <a:ahLst/>
              <a:cxnLst/>
              <a:rect r="r" b="b" t="t" l="l"/>
              <a:pathLst>
                <a:path h="2145792" w="1706880">
                  <a:moveTo>
                    <a:pt x="0" y="0"/>
                  </a:moveTo>
                  <a:lnTo>
                    <a:pt x="1706880" y="0"/>
                  </a:lnTo>
                  <a:lnTo>
                    <a:pt x="1706880" y="2145792"/>
                  </a:lnTo>
                  <a:lnTo>
                    <a:pt x="0" y="2145792"/>
                  </a:lnTo>
                  <a:close/>
                </a:path>
              </a:pathLst>
            </a:custGeom>
            <a:blipFill>
              <a:blip r:embed="rId2">
                <a:alphaModFix amt="0"/>
              </a:blip>
              <a:stretch>
                <a:fillRect l="-111295" t="0" r="-111295" b="0"/>
              </a:stretch>
            </a:blipFill>
          </p:spPr>
        </p:sp>
        <p:sp>
          <p:nvSpPr>
            <p:cNvPr name="TextBox 82" id="82"/>
            <p:cNvSpPr txBox="true"/>
            <p:nvPr/>
          </p:nvSpPr>
          <p:spPr>
            <a:xfrm>
              <a:off x="0" y="-38100"/>
              <a:ext cx="1706880" cy="2183892"/>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05</a:t>
              </a:r>
            </a:p>
          </p:txBody>
        </p:sp>
      </p:grpSp>
      <p:grpSp>
        <p:nvGrpSpPr>
          <p:cNvPr name="Group 83" id="83"/>
          <p:cNvGrpSpPr/>
          <p:nvPr/>
        </p:nvGrpSpPr>
        <p:grpSpPr>
          <a:xfrm rot="0">
            <a:off x="2377440" y="5980176"/>
            <a:ext cx="6309360" cy="1426464"/>
            <a:chOff x="0" y="0"/>
            <a:chExt cx="8412480" cy="1901952"/>
          </a:xfrm>
        </p:grpSpPr>
        <p:sp>
          <p:nvSpPr>
            <p:cNvPr name="Freeform 84" id="84"/>
            <p:cNvSpPr/>
            <p:nvPr/>
          </p:nvSpPr>
          <p:spPr>
            <a:xfrm flipH="false" flipV="false" rot="0">
              <a:off x="0" y="0"/>
              <a:ext cx="8412480" cy="1901952"/>
            </a:xfrm>
            <a:custGeom>
              <a:avLst/>
              <a:gdLst/>
              <a:ahLst/>
              <a:cxnLst/>
              <a:rect r="r" b="b" t="t" l="l"/>
              <a:pathLst>
                <a:path h="1901952" w="8412480">
                  <a:moveTo>
                    <a:pt x="0" y="0"/>
                  </a:moveTo>
                  <a:lnTo>
                    <a:pt x="8412480" y="0"/>
                  </a:lnTo>
                  <a:lnTo>
                    <a:pt x="8412480" y="1901952"/>
                  </a:lnTo>
                  <a:lnTo>
                    <a:pt x="0" y="1901952"/>
                  </a:lnTo>
                  <a:close/>
                </a:path>
              </a:pathLst>
            </a:custGeom>
            <a:blipFill>
              <a:blip r:embed="rId2">
                <a:alphaModFix amt="0"/>
              </a:blip>
              <a:stretch>
                <a:fillRect l="0" t="-36183" r="0" b="-36183"/>
              </a:stretch>
            </a:blipFill>
          </p:spPr>
        </p:sp>
        <p:sp>
          <p:nvSpPr>
            <p:cNvPr name="TextBox 85" id="85"/>
            <p:cNvSpPr txBox="true"/>
            <p:nvPr/>
          </p:nvSpPr>
          <p:spPr>
            <a:xfrm>
              <a:off x="0" y="-47625"/>
              <a:ext cx="8412480" cy="1949577"/>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FOAF : Personnes &amp; réseaux sociaux</a:t>
              </a:r>
            </a:p>
          </p:txBody>
        </p:sp>
      </p:grpSp>
      <p:grpSp>
        <p:nvGrpSpPr>
          <p:cNvPr name="Group 86" id="86"/>
          <p:cNvGrpSpPr/>
          <p:nvPr/>
        </p:nvGrpSpPr>
        <p:grpSpPr>
          <a:xfrm rot="0">
            <a:off x="9588503" y="5876039"/>
            <a:ext cx="8255003" cy="1634747"/>
            <a:chOff x="0" y="0"/>
            <a:chExt cx="11006671" cy="2179663"/>
          </a:xfrm>
        </p:grpSpPr>
        <p:sp>
          <p:nvSpPr>
            <p:cNvPr name="Freeform 87" id="87"/>
            <p:cNvSpPr/>
            <p:nvPr/>
          </p:nvSpPr>
          <p:spPr>
            <a:xfrm flipH="false" flipV="false" rot="0">
              <a:off x="16891" y="16891"/>
              <a:ext cx="10972800" cy="2145792"/>
            </a:xfrm>
            <a:custGeom>
              <a:avLst/>
              <a:gdLst/>
              <a:ahLst/>
              <a:cxnLst/>
              <a:rect r="r" b="b" t="t" l="l"/>
              <a:pathLst>
                <a:path h="2145792" w="10972800">
                  <a:moveTo>
                    <a:pt x="0" y="0"/>
                  </a:moveTo>
                  <a:lnTo>
                    <a:pt x="10972800" y="0"/>
                  </a:lnTo>
                  <a:lnTo>
                    <a:pt x="10972800" y="2145792"/>
                  </a:lnTo>
                  <a:lnTo>
                    <a:pt x="0" y="2145792"/>
                  </a:lnTo>
                  <a:close/>
                </a:path>
              </a:pathLst>
            </a:custGeom>
            <a:solidFill>
              <a:srgbClr val="F1F5F9"/>
            </a:solidFill>
          </p:spPr>
        </p:sp>
        <p:sp>
          <p:nvSpPr>
            <p:cNvPr name="Freeform 88" id="88"/>
            <p:cNvSpPr/>
            <p:nvPr/>
          </p:nvSpPr>
          <p:spPr>
            <a:xfrm flipH="false" flipV="false" rot="0">
              <a:off x="0" y="0"/>
              <a:ext cx="11006582" cy="2179574"/>
            </a:xfrm>
            <a:custGeom>
              <a:avLst/>
              <a:gdLst/>
              <a:ahLst/>
              <a:cxnLst/>
              <a:rect r="r" b="b" t="t" l="l"/>
              <a:pathLst>
                <a:path h="2179574" w="11006582">
                  <a:moveTo>
                    <a:pt x="16891" y="0"/>
                  </a:moveTo>
                  <a:lnTo>
                    <a:pt x="10989691" y="0"/>
                  </a:lnTo>
                  <a:cubicBezTo>
                    <a:pt x="10999089" y="0"/>
                    <a:pt x="11006582" y="7620"/>
                    <a:pt x="11006582" y="16891"/>
                  </a:cubicBezTo>
                  <a:lnTo>
                    <a:pt x="11006582" y="2162683"/>
                  </a:lnTo>
                  <a:cubicBezTo>
                    <a:pt x="11006582" y="2172081"/>
                    <a:pt x="10998962" y="2179574"/>
                    <a:pt x="1098969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0989691" y="2145792"/>
                  </a:lnTo>
                  <a:lnTo>
                    <a:pt x="10989691" y="2162683"/>
                  </a:lnTo>
                  <a:lnTo>
                    <a:pt x="10972800" y="2162683"/>
                  </a:lnTo>
                  <a:lnTo>
                    <a:pt x="10972800" y="16891"/>
                  </a:lnTo>
                  <a:lnTo>
                    <a:pt x="10989691" y="16891"/>
                  </a:lnTo>
                  <a:lnTo>
                    <a:pt x="10989691" y="33909"/>
                  </a:lnTo>
                  <a:lnTo>
                    <a:pt x="16891" y="33909"/>
                  </a:lnTo>
                  <a:close/>
                </a:path>
              </a:pathLst>
            </a:custGeom>
            <a:solidFill>
              <a:srgbClr val="D97706"/>
            </a:solidFill>
          </p:spPr>
        </p:sp>
      </p:grpSp>
      <p:grpSp>
        <p:nvGrpSpPr>
          <p:cNvPr name="Group 89" id="89"/>
          <p:cNvGrpSpPr/>
          <p:nvPr/>
        </p:nvGrpSpPr>
        <p:grpSpPr>
          <a:xfrm rot="0">
            <a:off x="9588503" y="5876039"/>
            <a:ext cx="135131" cy="1634747"/>
            <a:chOff x="0" y="0"/>
            <a:chExt cx="180175" cy="2179663"/>
          </a:xfrm>
        </p:grpSpPr>
        <p:sp>
          <p:nvSpPr>
            <p:cNvPr name="Freeform 90" id="90"/>
            <p:cNvSpPr/>
            <p:nvPr/>
          </p:nvSpPr>
          <p:spPr>
            <a:xfrm flipH="false" flipV="false" rot="0">
              <a:off x="16891" y="16891"/>
              <a:ext cx="146304" cy="2145792"/>
            </a:xfrm>
            <a:custGeom>
              <a:avLst/>
              <a:gdLst/>
              <a:ahLst/>
              <a:cxnLst/>
              <a:rect r="r" b="b" t="t" l="l"/>
              <a:pathLst>
                <a:path h="2145792" w="146304">
                  <a:moveTo>
                    <a:pt x="0" y="0"/>
                  </a:moveTo>
                  <a:lnTo>
                    <a:pt x="146304" y="0"/>
                  </a:lnTo>
                  <a:lnTo>
                    <a:pt x="146304" y="2145792"/>
                  </a:lnTo>
                  <a:lnTo>
                    <a:pt x="0" y="2145792"/>
                  </a:lnTo>
                  <a:close/>
                </a:path>
              </a:pathLst>
            </a:custGeom>
            <a:solidFill>
              <a:srgbClr val="D97706"/>
            </a:solidFill>
          </p:spPr>
        </p:sp>
        <p:sp>
          <p:nvSpPr>
            <p:cNvPr name="Freeform 91" id="91"/>
            <p:cNvSpPr/>
            <p:nvPr/>
          </p:nvSpPr>
          <p:spPr>
            <a:xfrm flipH="false" flipV="false" rot="0">
              <a:off x="0" y="0"/>
              <a:ext cx="180086" cy="2179574"/>
            </a:xfrm>
            <a:custGeom>
              <a:avLst/>
              <a:gdLst/>
              <a:ahLst/>
              <a:cxnLst/>
              <a:rect r="r" b="b" t="t" l="l"/>
              <a:pathLst>
                <a:path h="2179574" w="180086">
                  <a:moveTo>
                    <a:pt x="16891" y="0"/>
                  </a:moveTo>
                  <a:lnTo>
                    <a:pt x="163195" y="0"/>
                  </a:lnTo>
                  <a:cubicBezTo>
                    <a:pt x="172593" y="0"/>
                    <a:pt x="180086" y="7620"/>
                    <a:pt x="180086" y="16891"/>
                  </a:cubicBezTo>
                  <a:lnTo>
                    <a:pt x="180086" y="2162683"/>
                  </a:lnTo>
                  <a:cubicBezTo>
                    <a:pt x="180086" y="2172081"/>
                    <a:pt x="172466" y="2179574"/>
                    <a:pt x="163195"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63195" y="2145792"/>
                  </a:lnTo>
                  <a:lnTo>
                    <a:pt x="163195" y="2162683"/>
                  </a:lnTo>
                  <a:lnTo>
                    <a:pt x="146304" y="2162683"/>
                  </a:lnTo>
                  <a:lnTo>
                    <a:pt x="146304" y="16891"/>
                  </a:lnTo>
                  <a:lnTo>
                    <a:pt x="163195" y="16891"/>
                  </a:lnTo>
                  <a:lnTo>
                    <a:pt x="163195" y="33909"/>
                  </a:lnTo>
                  <a:lnTo>
                    <a:pt x="16891" y="33909"/>
                  </a:lnTo>
                  <a:close/>
                </a:path>
              </a:pathLst>
            </a:custGeom>
            <a:solidFill>
              <a:srgbClr val="D97706"/>
            </a:solidFill>
          </p:spPr>
        </p:sp>
      </p:grpSp>
      <p:grpSp>
        <p:nvGrpSpPr>
          <p:cNvPr name="Group 92" id="92"/>
          <p:cNvGrpSpPr/>
          <p:nvPr/>
        </p:nvGrpSpPr>
        <p:grpSpPr>
          <a:xfrm rot="0">
            <a:off x="9698231" y="5876039"/>
            <a:ext cx="1305563" cy="1634747"/>
            <a:chOff x="0" y="0"/>
            <a:chExt cx="1740751" cy="2179663"/>
          </a:xfrm>
        </p:grpSpPr>
        <p:sp>
          <p:nvSpPr>
            <p:cNvPr name="Freeform 93" id="93"/>
            <p:cNvSpPr/>
            <p:nvPr/>
          </p:nvSpPr>
          <p:spPr>
            <a:xfrm flipH="false" flipV="false" rot="0">
              <a:off x="16891" y="16891"/>
              <a:ext cx="1706880" cy="2145792"/>
            </a:xfrm>
            <a:custGeom>
              <a:avLst/>
              <a:gdLst/>
              <a:ahLst/>
              <a:cxnLst/>
              <a:rect r="r" b="b" t="t" l="l"/>
              <a:pathLst>
                <a:path h="2145792" w="1706880">
                  <a:moveTo>
                    <a:pt x="0" y="0"/>
                  </a:moveTo>
                  <a:lnTo>
                    <a:pt x="1706880" y="0"/>
                  </a:lnTo>
                  <a:lnTo>
                    <a:pt x="1706880" y="2145792"/>
                  </a:lnTo>
                  <a:lnTo>
                    <a:pt x="0" y="2145792"/>
                  </a:lnTo>
                  <a:close/>
                </a:path>
              </a:pathLst>
            </a:custGeom>
            <a:solidFill>
              <a:srgbClr val="D97706"/>
            </a:solidFill>
          </p:spPr>
        </p:sp>
        <p:sp>
          <p:nvSpPr>
            <p:cNvPr name="Freeform 94" id="94"/>
            <p:cNvSpPr/>
            <p:nvPr/>
          </p:nvSpPr>
          <p:spPr>
            <a:xfrm flipH="false" flipV="false" rot="0">
              <a:off x="0" y="0"/>
              <a:ext cx="1740662" cy="2179574"/>
            </a:xfrm>
            <a:custGeom>
              <a:avLst/>
              <a:gdLst/>
              <a:ahLst/>
              <a:cxnLst/>
              <a:rect r="r" b="b" t="t" l="l"/>
              <a:pathLst>
                <a:path h="2179574" w="1740662">
                  <a:moveTo>
                    <a:pt x="16891" y="0"/>
                  </a:moveTo>
                  <a:lnTo>
                    <a:pt x="1723771" y="0"/>
                  </a:lnTo>
                  <a:cubicBezTo>
                    <a:pt x="1733169" y="0"/>
                    <a:pt x="1740662" y="7620"/>
                    <a:pt x="1740662" y="16891"/>
                  </a:cubicBezTo>
                  <a:lnTo>
                    <a:pt x="1740662" y="2162683"/>
                  </a:lnTo>
                  <a:cubicBezTo>
                    <a:pt x="1740662" y="2172081"/>
                    <a:pt x="1733042" y="2179574"/>
                    <a:pt x="1723771" y="2179574"/>
                  </a:cubicBezTo>
                  <a:lnTo>
                    <a:pt x="16891" y="2179574"/>
                  </a:lnTo>
                  <a:cubicBezTo>
                    <a:pt x="7493" y="2179574"/>
                    <a:pt x="0" y="2171954"/>
                    <a:pt x="0" y="2162683"/>
                  </a:cubicBezTo>
                  <a:lnTo>
                    <a:pt x="0" y="16891"/>
                  </a:lnTo>
                  <a:cubicBezTo>
                    <a:pt x="0" y="7620"/>
                    <a:pt x="7620" y="0"/>
                    <a:pt x="16891" y="0"/>
                  </a:cubicBezTo>
                  <a:moveTo>
                    <a:pt x="16891" y="33909"/>
                  </a:moveTo>
                  <a:lnTo>
                    <a:pt x="16891" y="16891"/>
                  </a:lnTo>
                  <a:lnTo>
                    <a:pt x="33909" y="16891"/>
                  </a:lnTo>
                  <a:lnTo>
                    <a:pt x="33909" y="2162683"/>
                  </a:lnTo>
                  <a:lnTo>
                    <a:pt x="16891" y="2162683"/>
                  </a:lnTo>
                  <a:lnTo>
                    <a:pt x="16891" y="2145792"/>
                  </a:lnTo>
                  <a:lnTo>
                    <a:pt x="1723771" y="2145792"/>
                  </a:lnTo>
                  <a:lnTo>
                    <a:pt x="1723771" y="2162683"/>
                  </a:lnTo>
                  <a:lnTo>
                    <a:pt x="1706880" y="2162683"/>
                  </a:lnTo>
                  <a:lnTo>
                    <a:pt x="1706880" y="16891"/>
                  </a:lnTo>
                  <a:lnTo>
                    <a:pt x="1723771" y="16891"/>
                  </a:lnTo>
                  <a:lnTo>
                    <a:pt x="1723771" y="33909"/>
                  </a:lnTo>
                  <a:lnTo>
                    <a:pt x="16891" y="33909"/>
                  </a:lnTo>
                  <a:close/>
                </a:path>
              </a:pathLst>
            </a:custGeom>
            <a:solidFill>
              <a:srgbClr val="D97706"/>
            </a:solidFill>
          </p:spPr>
        </p:sp>
      </p:grpSp>
      <p:grpSp>
        <p:nvGrpSpPr>
          <p:cNvPr name="Group 95" id="95"/>
          <p:cNvGrpSpPr/>
          <p:nvPr/>
        </p:nvGrpSpPr>
        <p:grpSpPr>
          <a:xfrm rot="0">
            <a:off x="9710928" y="5888736"/>
            <a:ext cx="1280160" cy="1609344"/>
            <a:chOff x="0" y="0"/>
            <a:chExt cx="1706880" cy="2145792"/>
          </a:xfrm>
        </p:grpSpPr>
        <p:sp>
          <p:nvSpPr>
            <p:cNvPr name="Freeform 96" id="96"/>
            <p:cNvSpPr/>
            <p:nvPr/>
          </p:nvSpPr>
          <p:spPr>
            <a:xfrm flipH="false" flipV="false" rot="0">
              <a:off x="0" y="0"/>
              <a:ext cx="1706880" cy="2145792"/>
            </a:xfrm>
            <a:custGeom>
              <a:avLst/>
              <a:gdLst/>
              <a:ahLst/>
              <a:cxnLst/>
              <a:rect r="r" b="b" t="t" l="l"/>
              <a:pathLst>
                <a:path h="2145792" w="1706880">
                  <a:moveTo>
                    <a:pt x="0" y="0"/>
                  </a:moveTo>
                  <a:lnTo>
                    <a:pt x="1706880" y="0"/>
                  </a:lnTo>
                  <a:lnTo>
                    <a:pt x="1706880" y="2145792"/>
                  </a:lnTo>
                  <a:lnTo>
                    <a:pt x="0" y="2145792"/>
                  </a:lnTo>
                  <a:close/>
                </a:path>
              </a:pathLst>
            </a:custGeom>
            <a:blipFill>
              <a:blip r:embed="rId2">
                <a:alphaModFix amt="0"/>
              </a:blip>
              <a:stretch>
                <a:fillRect l="-111295" t="0" r="-111295" b="0"/>
              </a:stretch>
            </a:blipFill>
          </p:spPr>
        </p:sp>
        <p:sp>
          <p:nvSpPr>
            <p:cNvPr name="TextBox 97" id="97"/>
            <p:cNvSpPr txBox="true"/>
            <p:nvPr/>
          </p:nvSpPr>
          <p:spPr>
            <a:xfrm>
              <a:off x="0" y="-38100"/>
              <a:ext cx="1706880" cy="2183892"/>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06</a:t>
              </a:r>
            </a:p>
          </p:txBody>
        </p:sp>
      </p:grpSp>
      <p:grpSp>
        <p:nvGrpSpPr>
          <p:cNvPr name="Group 98" id="98"/>
          <p:cNvGrpSpPr/>
          <p:nvPr/>
        </p:nvGrpSpPr>
        <p:grpSpPr>
          <a:xfrm rot="0">
            <a:off x="11247120" y="5980176"/>
            <a:ext cx="6309360" cy="1426464"/>
            <a:chOff x="0" y="0"/>
            <a:chExt cx="8412480" cy="1901952"/>
          </a:xfrm>
        </p:grpSpPr>
        <p:sp>
          <p:nvSpPr>
            <p:cNvPr name="Freeform 99" id="99"/>
            <p:cNvSpPr/>
            <p:nvPr/>
          </p:nvSpPr>
          <p:spPr>
            <a:xfrm flipH="false" flipV="false" rot="0">
              <a:off x="0" y="0"/>
              <a:ext cx="8412480" cy="1901952"/>
            </a:xfrm>
            <a:custGeom>
              <a:avLst/>
              <a:gdLst/>
              <a:ahLst/>
              <a:cxnLst/>
              <a:rect r="r" b="b" t="t" l="l"/>
              <a:pathLst>
                <a:path h="1901952" w="8412480">
                  <a:moveTo>
                    <a:pt x="0" y="0"/>
                  </a:moveTo>
                  <a:lnTo>
                    <a:pt x="8412480" y="0"/>
                  </a:lnTo>
                  <a:lnTo>
                    <a:pt x="8412480" y="1901952"/>
                  </a:lnTo>
                  <a:lnTo>
                    <a:pt x="0" y="1901952"/>
                  </a:lnTo>
                  <a:close/>
                </a:path>
              </a:pathLst>
            </a:custGeom>
            <a:blipFill>
              <a:blip r:embed="rId2">
                <a:alphaModFix amt="0"/>
              </a:blip>
              <a:stretch>
                <a:fillRect l="0" t="-36183" r="0" b="-36183"/>
              </a:stretch>
            </a:blipFill>
          </p:spPr>
        </p:sp>
        <p:sp>
          <p:nvSpPr>
            <p:cNvPr name="TextBox 100" id="100"/>
            <p:cNvSpPr txBox="true"/>
            <p:nvPr/>
          </p:nvSpPr>
          <p:spPr>
            <a:xfrm>
              <a:off x="0" y="-47625"/>
              <a:ext cx="8412480" cy="1949577"/>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Schema.org : Données structurées</a:t>
              </a:r>
            </a:p>
          </p:txBody>
        </p:sp>
      </p:grpSp>
      <p:grpSp>
        <p:nvGrpSpPr>
          <p:cNvPr name="Group 101" id="101"/>
          <p:cNvGrpSpPr/>
          <p:nvPr/>
        </p:nvGrpSpPr>
        <p:grpSpPr>
          <a:xfrm rot="0">
            <a:off x="718823" y="7887967"/>
            <a:ext cx="17125950" cy="1634490"/>
            <a:chOff x="0" y="0"/>
            <a:chExt cx="22834600" cy="2179320"/>
          </a:xfrm>
        </p:grpSpPr>
        <p:sp>
          <p:nvSpPr>
            <p:cNvPr name="Freeform 102" id="102"/>
            <p:cNvSpPr/>
            <p:nvPr/>
          </p:nvSpPr>
          <p:spPr>
            <a:xfrm flipH="false" flipV="false" rot="0">
              <a:off x="16891" y="16891"/>
              <a:ext cx="22800819" cy="2145538"/>
            </a:xfrm>
            <a:custGeom>
              <a:avLst/>
              <a:gdLst/>
              <a:ahLst/>
              <a:cxnLst/>
              <a:rect r="r" b="b" t="t" l="l"/>
              <a:pathLst>
                <a:path h="2145538" w="22800819">
                  <a:moveTo>
                    <a:pt x="0" y="0"/>
                  </a:moveTo>
                  <a:lnTo>
                    <a:pt x="22800819" y="0"/>
                  </a:lnTo>
                  <a:lnTo>
                    <a:pt x="22800819" y="2145538"/>
                  </a:lnTo>
                  <a:lnTo>
                    <a:pt x="0" y="2145538"/>
                  </a:lnTo>
                  <a:close/>
                </a:path>
              </a:pathLst>
            </a:custGeom>
            <a:solidFill>
              <a:srgbClr val="F1F5F9"/>
            </a:solidFill>
          </p:spPr>
        </p:sp>
        <p:sp>
          <p:nvSpPr>
            <p:cNvPr name="Freeform 103" id="103"/>
            <p:cNvSpPr/>
            <p:nvPr/>
          </p:nvSpPr>
          <p:spPr>
            <a:xfrm flipH="false" flipV="false" rot="0">
              <a:off x="0" y="0"/>
              <a:ext cx="22834600" cy="2179320"/>
            </a:xfrm>
            <a:custGeom>
              <a:avLst/>
              <a:gdLst/>
              <a:ahLst/>
              <a:cxnLst/>
              <a:rect r="r" b="b" t="t" l="l"/>
              <a:pathLst>
                <a:path h="2179320" w="22834600">
                  <a:moveTo>
                    <a:pt x="16891" y="0"/>
                  </a:moveTo>
                  <a:lnTo>
                    <a:pt x="22817710" y="0"/>
                  </a:lnTo>
                  <a:cubicBezTo>
                    <a:pt x="22827107" y="0"/>
                    <a:pt x="22834600" y="7620"/>
                    <a:pt x="22834600" y="16891"/>
                  </a:cubicBezTo>
                  <a:lnTo>
                    <a:pt x="22834600" y="2162429"/>
                  </a:lnTo>
                  <a:cubicBezTo>
                    <a:pt x="22834600" y="2171827"/>
                    <a:pt x="22826980" y="2179320"/>
                    <a:pt x="22817710" y="2179320"/>
                  </a:cubicBezTo>
                  <a:lnTo>
                    <a:pt x="16891" y="2179320"/>
                  </a:lnTo>
                  <a:cubicBezTo>
                    <a:pt x="7620" y="2179320"/>
                    <a:pt x="0" y="2171700"/>
                    <a:pt x="0" y="2162429"/>
                  </a:cubicBezTo>
                  <a:lnTo>
                    <a:pt x="0" y="16891"/>
                  </a:lnTo>
                  <a:cubicBezTo>
                    <a:pt x="0" y="7620"/>
                    <a:pt x="7620" y="0"/>
                    <a:pt x="16891" y="0"/>
                  </a:cubicBezTo>
                  <a:moveTo>
                    <a:pt x="16891" y="33909"/>
                  </a:moveTo>
                  <a:lnTo>
                    <a:pt x="16891" y="16891"/>
                  </a:lnTo>
                  <a:lnTo>
                    <a:pt x="33909" y="16891"/>
                  </a:lnTo>
                  <a:lnTo>
                    <a:pt x="33909" y="2162429"/>
                  </a:lnTo>
                  <a:lnTo>
                    <a:pt x="16891" y="2162429"/>
                  </a:lnTo>
                  <a:lnTo>
                    <a:pt x="16891" y="2145538"/>
                  </a:lnTo>
                  <a:lnTo>
                    <a:pt x="22817710" y="2145538"/>
                  </a:lnTo>
                  <a:lnTo>
                    <a:pt x="22817710" y="2162429"/>
                  </a:lnTo>
                  <a:lnTo>
                    <a:pt x="22800819" y="2162429"/>
                  </a:lnTo>
                  <a:lnTo>
                    <a:pt x="22800819" y="16891"/>
                  </a:lnTo>
                  <a:lnTo>
                    <a:pt x="22817710" y="16891"/>
                  </a:lnTo>
                  <a:lnTo>
                    <a:pt x="22817710" y="33909"/>
                  </a:lnTo>
                  <a:lnTo>
                    <a:pt x="16891" y="33909"/>
                  </a:lnTo>
                  <a:close/>
                </a:path>
              </a:pathLst>
            </a:custGeom>
            <a:solidFill>
              <a:srgbClr val="1A3557"/>
            </a:solidFill>
          </p:spPr>
        </p:sp>
      </p:grpSp>
      <p:grpSp>
        <p:nvGrpSpPr>
          <p:cNvPr name="Group 104" id="104"/>
          <p:cNvGrpSpPr/>
          <p:nvPr/>
        </p:nvGrpSpPr>
        <p:grpSpPr>
          <a:xfrm rot="0">
            <a:off x="718823" y="7887967"/>
            <a:ext cx="250193" cy="1634490"/>
            <a:chOff x="0" y="0"/>
            <a:chExt cx="333591" cy="2179320"/>
          </a:xfrm>
        </p:grpSpPr>
        <p:sp>
          <p:nvSpPr>
            <p:cNvPr name="Freeform 105" id="105"/>
            <p:cNvSpPr/>
            <p:nvPr/>
          </p:nvSpPr>
          <p:spPr>
            <a:xfrm flipH="false" flipV="false" rot="0">
              <a:off x="16891" y="16891"/>
              <a:ext cx="299720" cy="2145538"/>
            </a:xfrm>
            <a:custGeom>
              <a:avLst/>
              <a:gdLst/>
              <a:ahLst/>
              <a:cxnLst/>
              <a:rect r="r" b="b" t="t" l="l"/>
              <a:pathLst>
                <a:path h="2145538" w="299720">
                  <a:moveTo>
                    <a:pt x="0" y="0"/>
                  </a:moveTo>
                  <a:lnTo>
                    <a:pt x="299720" y="0"/>
                  </a:lnTo>
                  <a:lnTo>
                    <a:pt x="299720" y="2145538"/>
                  </a:lnTo>
                  <a:lnTo>
                    <a:pt x="0" y="2145538"/>
                  </a:lnTo>
                  <a:close/>
                </a:path>
              </a:pathLst>
            </a:custGeom>
            <a:solidFill>
              <a:srgbClr val="1A3557"/>
            </a:solidFill>
          </p:spPr>
        </p:sp>
        <p:sp>
          <p:nvSpPr>
            <p:cNvPr name="Freeform 106" id="106"/>
            <p:cNvSpPr/>
            <p:nvPr/>
          </p:nvSpPr>
          <p:spPr>
            <a:xfrm flipH="false" flipV="false" rot="0">
              <a:off x="0" y="0"/>
              <a:ext cx="333502" cy="2179320"/>
            </a:xfrm>
            <a:custGeom>
              <a:avLst/>
              <a:gdLst/>
              <a:ahLst/>
              <a:cxnLst/>
              <a:rect r="r" b="b" t="t" l="l"/>
              <a:pathLst>
                <a:path h="2179320" w="333502">
                  <a:moveTo>
                    <a:pt x="16891" y="0"/>
                  </a:moveTo>
                  <a:lnTo>
                    <a:pt x="316611" y="0"/>
                  </a:lnTo>
                  <a:cubicBezTo>
                    <a:pt x="326009" y="0"/>
                    <a:pt x="333502" y="7620"/>
                    <a:pt x="333502" y="16891"/>
                  </a:cubicBezTo>
                  <a:lnTo>
                    <a:pt x="333502" y="2162429"/>
                  </a:lnTo>
                  <a:cubicBezTo>
                    <a:pt x="333502" y="2171827"/>
                    <a:pt x="325882" y="2179320"/>
                    <a:pt x="316611" y="2179320"/>
                  </a:cubicBezTo>
                  <a:lnTo>
                    <a:pt x="16891" y="2179320"/>
                  </a:lnTo>
                  <a:cubicBezTo>
                    <a:pt x="7620" y="2179320"/>
                    <a:pt x="0" y="2171700"/>
                    <a:pt x="0" y="2162429"/>
                  </a:cubicBezTo>
                  <a:lnTo>
                    <a:pt x="0" y="16891"/>
                  </a:lnTo>
                  <a:cubicBezTo>
                    <a:pt x="0" y="7620"/>
                    <a:pt x="7620" y="0"/>
                    <a:pt x="16891" y="0"/>
                  </a:cubicBezTo>
                  <a:moveTo>
                    <a:pt x="16891" y="33909"/>
                  </a:moveTo>
                  <a:lnTo>
                    <a:pt x="16891" y="16891"/>
                  </a:lnTo>
                  <a:lnTo>
                    <a:pt x="33909" y="16891"/>
                  </a:lnTo>
                  <a:lnTo>
                    <a:pt x="33909" y="2162429"/>
                  </a:lnTo>
                  <a:lnTo>
                    <a:pt x="16891" y="2162429"/>
                  </a:lnTo>
                  <a:lnTo>
                    <a:pt x="16891" y="2145538"/>
                  </a:lnTo>
                  <a:lnTo>
                    <a:pt x="316611" y="2145538"/>
                  </a:lnTo>
                  <a:lnTo>
                    <a:pt x="316611" y="2162429"/>
                  </a:lnTo>
                  <a:lnTo>
                    <a:pt x="299720" y="2162429"/>
                  </a:lnTo>
                  <a:lnTo>
                    <a:pt x="299720" y="16891"/>
                  </a:lnTo>
                  <a:lnTo>
                    <a:pt x="316611" y="16891"/>
                  </a:lnTo>
                  <a:lnTo>
                    <a:pt x="316611" y="33909"/>
                  </a:lnTo>
                  <a:lnTo>
                    <a:pt x="16891" y="33909"/>
                  </a:lnTo>
                  <a:close/>
                </a:path>
              </a:pathLst>
            </a:custGeom>
            <a:solidFill>
              <a:srgbClr val="1A3557"/>
            </a:solidFill>
          </p:spPr>
        </p:sp>
      </p:grpSp>
      <p:grpSp>
        <p:nvGrpSpPr>
          <p:cNvPr name="Group 107" id="107"/>
          <p:cNvGrpSpPr/>
          <p:nvPr/>
        </p:nvGrpSpPr>
        <p:grpSpPr>
          <a:xfrm rot="0">
            <a:off x="828037" y="7887967"/>
            <a:ext cx="2683507" cy="1634490"/>
            <a:chOff x="0" y="0"/>
            <a:chExt cx="3578009" cy="2179320"/>
          </a:xfrm>
        </p:grpSpPr>
        <p:sp>
          <p:nvSpPr>
            <p:cNvPr name="Freeform 108" id="108"/>
            <p:cNvSpPr/>
            <p:nvPr/>
          </p:nvSpPr>
          <p:spPr>
            <a:xfrm flipH="false" flipV="false" rot="0">
              <a:off x="16891" y="16891"/>
              <a:ext cx="3544189" cy="2145538"/>
            </a:xfrm>
            <a:custGeom>
              <a:avLst/>
              <a:gdLst/>
              <a:ahLst/>
              <a:cxnLst/>
              <a:rect r="r" b="b" t="t" l="l"/>
              <a:pathLst>
                <a:path h="2145538" w="3544189">
                  <a:moveTo>
                    <a:pt x="0" y="0"/>
                  </a:moveTo>
                  <a:lnTo>
                    <a:pt x="3544189" y="0"/>
                  </a:lnTo>
                  <a:lnTo>
                    <a:pt x="3544189" y="2145538"/>
                  </a:lnTo>
                  <a:lnTo>
                    <a:pt x="0" y="2145538"/>
                  </a:lnTo>
                  <a:close/>
                </a:path>
              </a:pathLst>
            </a:custGeom>
            <a:solidFill>
              <a:srgbClr val="1A3557"/>
            </a:solidFill>
          </p:spPr>
        </p:sp>
        <p:sp>
          <p:nvSpPr>
            <p:cNvPr name="Freeform 109" id="109"/>
            <p:cNvSpPr/>
            <p:nvPr/>
          </p:nvSpPr>
          <p:spPr>
            <a:xfrm flipH="false" flipV="false" rot="0">
              <a:off x="0" y="0"/>
              <a:ext cx="3577971" cy="2179320"/>
            </a:xfrm>
            <a:custGeom>
              <a:avLst/>
              <a:gdLst/>
              <a:ahLst/>
              <a:cxnLst/>
              <a:rect r="r" b="b" t="t" l="l"/>
              <a:pathLst>
                <a:path h="2179320" w="3577971">
                  <a:moveTo>
                    <a:pt x="16891" y="0"/>
                  </a:moveTo>
                  <a:lnTo>
                    <a:pt x="3561080" y="0"/>
                  </a:lnTo>
                  <a:cubicBezTo>
                    <a:pt x="3570478" y="0"/>
                    <a:pt x="3577971" y="7620"/>
                    <a:pt x="3577971" y="16891"/>
                  </a:cubicBezTo>
                  <a:lnTo>
                    <a:pt x="3577971" y="2162429"/>
                  </a:lnTo>
                  <a:cubicBezTo>
                    <a:pt x="3577971" y="2171827"/>
                    <a:pt x="3570351" y="2179320"/>
                    <a:pt x="3561080" y="2179320"/>
                  </a:cubicBezTo>
                  <a:lnTo>
                    <a:pt x="16891" y="2179320"/>
                  </a:lnTo>
                  <a:cubicBezTo>
                    <a:pt x="7620" y="2179320"/>
                    <a:pt x="0" y="2171700"/>
                    <a:pt x="0" y="2162429"/>
                  </a:cubicBezTo>
                  <a:lnTo>
                    <a:pt x="0" y="16891"/>
                  </a:lnTo>
                  <a:cubicBezTo>
                    <a:pt x="0" y="7620"/>
                    <a:pt x="7620" y="0"/>
                    <a:pt x="16891" y="0"/>
                  </a:cubicBezTo>
                  <a:moveTo>
                    <a:pt x="16891" y="33909"/>
                  </a:moveTo>
                  <a:lnTo>
                    <a:pt x="16891" y="16891"/>
                  </a:lnTo>
                  <a:lnTo>
                    <a:pt x="33909" y="16891"/>
                  </a:lnTo>
                  <a:lnTo>
                    <a:pt x="33909" y="2162429"/>
                  </a:lnTo>
                  <a:lnTo>
                    <a:pt x="16891" y="2162429"/>
                  </a:lnTo>
                  <a:lnTo>
                    <a:pt x="16891" y="2145538"/>
                  </a:lnTo>
                  <a:lnTo>
                    <a:pt x="3561080" y="2145538"/>
                  </a:lnTo>
                  <a:lnTo>
                    <a:pt x="3561080" y="2162429"/>
                  </a:lnTo>
                  <a:lnTo>
                    <a:pt x="3544189" y="2162429"/>
                  </a:lnTo>
                  <a:lnTo>
                    <a:pt x="3544189" y="16891"/>
                  </a:lnTo>
                  <a:lnTo>
                    <a:pt x="3561080" y="16891"/>
                  </a:lnTo>
                  <a:lnTo>
                    <a:pt x="3561080" y="33909"/>
                  </a:lnTo>
                  <a:lnTo>
                    <a:pt x="16891" y="33909"/>
                  </a:lnTo>
                  <a:close/>
                </a:path>
              </a:pathLst>
            </a:custGeom>
            <a:solidFill>
              <a:srgbClr val="1A3557"/>
            </a:solidFill>
          </p:spPr>
        </p:sp>
      </p:grpSp>
      <p:grpSp>
        <p:nvGrpSpPr>
          <p:cNvPr name="Group 110" id="110"/>
          <p:cNvGrpSpPr/>
          <p:nvPr/>
        </p:nvGrpSpPr>
        <p:grpSpPr>
          <a:xfrm rot="0">
            <a:off x="840743" y="7900673"/>
            <a:ext cx="2658113" cy="1609087"/>
            <a:chOff x="0" y="0"/>
            <a:chExt cx="3544151" cy="2145449"/>
          </a:xfrm>
        </p:grpSpPr>
        <p:sp>
          <p:nvSpPr>
            <p:cNvPr name="Freeform 111" id="111"/>
            <p:cNvSpPr/>
            <p:nvPr/>
          </p:nvSpPr>
          <p:spPr>
            <a:xfrm flipH="false" flipV="false" rot="0">
              <a:off x="0" y="0"/>
              <a:ext cx="3544147" cy="2145453"/>
            </a:xfrm>
            <a:custGeom>
              <a:avLst/>
              <a:gdLst/>
              <a:ahLst/>
              <a:cxnLst/>
              <a:rect r="r" b="b" t="t" l="l"/>
              <a:pathLst>
                <a:path h="2145453" w="3544147">
                  <a:moveTo>
                    <a:pt x="0" y="0"/>
                  </a:moveTo>
                  <a:lnTo>
                    <a:pt x="3544147" y="0"/>
                  </a:lnTo>
                  <a:lnTo>
                    <a:pt x="3544147" y="2145453"/>
                  </a:lnTo>
                  <a:lnTo>
                    <a:pt x="0" y="2145453"/>
                  </a:lnTo>
                  <a:close/>
                </a:path>
              </a:pathLst>
            </a:custGeom>
            <a:blipFill>
              <a:blip r:embed="rId2">
                <a:alphaModFix amt="0"/>
              </a:blip>
              <a:stretch>
                <a:fillRect l="-27668" t="0" r="-27668" b="0"/>
              </a:stretch>
            </a:blipFill>
          </p:spPr>
        </p:sp>
        <p:sp>
          <p:nvSpPr>
            <p:cNvPr name="TextBox 112" id="112"/>
            <p:cNvSpPr txBox="true"/>
            <p:nvPr/>
          </p:nvSpPr>
          <p:spPr>
            <a:xfrm>
              <a:off x="0" y="-38100"/>
              <a:ext cx="3544151" cy="2183549"/>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08</a:t>
              </a:r>
            </a:p>
          </p:txBody>
        </p:sp>
      </p:grpSp>
      <p:grpSp>
        <p:nvGrpSpPr>
          <p:cNvPr name="Group 113" id="113"/>
          <p:cNvGrpSpPr/>
          <p:nvPr/>
        </p:nvGrpSpPr>
        <p:grpSpPr>
          <a:xfrm rot="0">
            <a:off x="7199633" y="7992113"/>
            <a:ext cx="10083803" cy="1426207"/>
            <a:chOff x="0" y="0"/>
            <a:chExt cx="13445071" cy="1901609"/>
          </a:xfrm>
        </p:grpSpPr>
        <p:sp>
          <p:nvSpPr>
            <p:cNvPr name="Freeform 114" id="114"/>
            <p:cNvSpPr/>
            <p:nvPr/>
          </p:nvSpPr>
          <p:spPr>
            <a:xfrm flipH="false" flipV="false" rot="0">
              <a:off x="0" y="0"/>
              <a:ext cx="13445066" cy="1901613"/>
            </a:xfrm>
            <a:custGeom>
              <a:avLst/>
              <a:gdLst/>
              <a:ahLst/>
              <a:cxnLst/>
              <a:rect r="r" b="b" t="t" l="l"/>
              <a:pathLst>
                <a:path h="1901613" w="13445066">
                  <a:moveTo>
                    <a:pt x="0" y="0"/>
                  </a:moveTo>
                  <a:lnTo>
                    <a:pt x="13445066" y="0"/>
                  </a:lnTo>
                  <a:lnTo>
                    <a:pt x="13445066" y="1901613"/>
                  </a:lnTo>
                  <a:lnTo>
                    <a:pt x="0" y="1901613"/>
                  </a:lnTo>
                  <a:close/>
                </a:path>
              </a:pathLst>
            </a:custGeom>
            <a:blipFill>
              <a:blip r:embed="rId2">
                <a:alphaModFix amt="0"/>
              </a:blip>
              <a:stretch>
                <a:fillRect l="0" t="-87766" r="0" b="-87765"/>
              </a:stretch>
            </a:blipFill>
          </p:spPr>
        </p:sp>
        <p:sp>
          <p:nvSpPr>
            <p:cNvPr name="TextBox 115" id="115"/>
            <p:cNvSpPr txBox="true"/>
            <p:nvPr/>
          </p:nvSpPr>
          <p:spPr>
            <a:xfrm>
              <a:off x="0" y="-47625"/>
              <a:ext cx="13445071" cy="1949234"/>
            </a:xfrm>
            <a:prstGeom prst="rect">
              <a:avLst/>
            </a:prstGeom>
          </p:spPr>
          <p:txBody>
            <a:bodyPr anchor="ctr" rtlCol="false" tIns="0" lIns="0" bIns="0" rIns="0"/>
            <a:lstStyle/>
            <a:p>
              <a:pPr algn="l">
                <a:lnSpc>
                  <a:spcPts val="2760"/>
                </a:lnSpc>
              </a:pPr>
              <a:r>
                <a:rPr lang="en-US" sz="2300">
                  <a:solidFill>
                    <a:srgbClr val="1E293B"/>
                  </a:solidFill>
                  <a:latin typeface="Calibri (MS)"/>
                  <a:ea typeface="Calibri (MS)"/>
                  <a:cs typeface="Calibri (MS)"/>
                  <a:sym typeface="Calibri (MS)"/>
                </a:rPr>
                <a:t>Conclusion &amp; Directions futures</a:t>
              </a:r>
            </a:p>
          </p:txBody>
        </p:sp>
      </p:grpSp>
      <p:grpSp>
        <p:nvGrpSpPr>
          <p:cNvPr name="Group 116" id="116"/>
          <p:cNvGrpSpPr/>
          <p:nvPr/>
        </p:nvGrpSpPr>
        <p:grpSpPr>
          <a:xfrm rot="0">
            <a:off x="-6353" y="9741151"/>
            <a:ext cx="18300697" cy="552193"/>
            <a:chOff x="0" y="0"/>
            <a:chExt cx="24400929" cy="736257"/>
          </a:xfrm>
        </p:grpSpPr>
        <p:sp>
          <p:nvSpPr>
            <p:cNvPr name="Freeform 117" id="117"/>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118" id="118"/>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119" id="119"/>
          <p:cNvGrpSpPr/>
          <p:nvPr/>
        </p:nvGrpSpPr>
        <p:grpSpPr>
          <a:xfrm rot="0">
            <a:off x="15910560" y="9747504"/>
            <a:ext cx="2011680" cy="539496"/>
            <a:chOff x="0" y="0"/>
            <a:chExt cx="2682240" cy="719328"/>
          </a:xfrm>
        </p:grpSpPr>
        <p:sp>
          <p:nvSpPr>
            <p:cNvPr name="Freeform 120" id="120"/>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121" id="121"/>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2 / 18</a:t>
              </a:r>
            </a:p>
          </p:txBody>
        </p:sp>
      </p:grpSp>
      <p:grpSp>
        <p:nvGrpSpPr>
          <p:cNvPr name="Group 122" id="122"/>
          <p:cNvGrpSpPr/>
          <p:nvPr/>
        </p:nvGrpSpPr>
        <p:grpSpPr>
          <a:xfrm rot="0">
            <a:off x="548640" y="9747504"/>
            <a:ext cx="10972800" cy="539496"/>
            <a:chOff x="0" y="0"/>
            <a:chExt cx="14630400" cy="719328"/>
          </a:xfrm>
        </p:grpSpPr>
        <p:sp>
          <p:nvSpPr>
            <p:cNvPr name="Freeform 123" id="123"/>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124" id="124"/>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Plan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1A3557"/>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1A3557"/>
            </a:solidFill>
          </p:spPr>
        </p:sp>
      </p:grpSp>
      <p:grpSp>
        <p:nvGrpSpPr>
          <p:cNvPr name="Group 5" id="5"/>
          <p:cNvGrpSpPr/>
          <p:nvPr/>
        </p:nvGrpSpPr>
        <p:grpSpPr>
          <a:xfrm rot="0">
            <a:off x="718823" y="389639"/>
            <a:ext cx="153419" cy="1305563"/>
            <a:chOff x="0" y="0"/>
            <a:chExt cx="204559" cy="1740751"/>
          </a:xfrm>
        </p:grpSpPr>
        <p:sp>
          <p:nvSpPr>
            <p:cNvPr name="Freeform 6" id="6"/>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0891B2"/>
            </a:solidFill>
          </p:spPr>
        </p:sp>
        <p:sp>
          <p:nvSpPr>
            <p:cNvPr name="Freeform 7" id="7"/>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0891B2"/>
            </a:solidFill>
          </p:spPr>
        </p:sp>
      </p:grpSp>
      <p:grpSp>
        <p:nvGrpSpPr>
          <p:cNvPr name="Group 8" id="8"/>
          <p:cNvGrpSpPr/>
          <p:nvPr/>
        </p:nvGrpSpPr>
        <p:grpSpPr>
          <a:xfrm rot="0">
            <a:off x="1097280" y="329184"/>
            <a:ext cx="16459200" cy="1005840"/>
            <a:chOff x="0" y="0"/>
            <a:chExt cx="21945600" cy="1341120"/>
          </a:xfrm>
        </p:grpSpPr>
        <p:sp>
          <p:nvSpPr>
            <p:cNvPr name="Freeform 9" id="9"/>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0" id="10"/>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Introduction</a:t>
              </a:r>
            </a:p>
          </p:txBody>
        </p:sp>
      </p:grpSp>
      <p:grpSp>
        <p:nvGrpSpPr>
          <p:cNvPr name="Group 11" id="11"/>
          <p:cNvGrpSpPr/>
          <p:nvPr/>
        </p:nvGrpSpPr>
        <p:grpSpPr>
          <a:xfrm rot="0">
            <a:off x="1097280" y="1335024"/>
            <a:ext cx="16459200" cy="512064"/>
            <a:chOff x="0" y="0"/>
            <a:chExt cx="21945600" cy="682752"/>
          </a:xfrm>
        </p:grpSpPr>
        <p:sp>
          <p:nvSpPr>
            <p:cNvPr name="Freeform 12" id="12"/>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3" id="13"/>
            <p:cNvSpPr txBox="true"/>
            <p:nvPr/>
          </p:nvSpPr>
          <p:spPr>
            <a:xfrm>
              <a:off x="0" y="-38100"/>
              <a:ext cx="21945600" cy="720852"/>
            </a:xfrm>
            <a:prstGeom prst="rect">
              <a:avLst/>
            </a:prstGeom>
          </p:spPr>
          <p:txBody>
            <a:bodyPr anchor="ctr" rtlCol="false" tIns="0" lIns="0" bIns="0" rIns="0"/>
            <a:lstStyle/>
            <a:p>
              <a:pPr algn="l">
                <a:lnSpc>
                  <a:spcPts val="2879"/>
                </a:lnSpc>
              </a:pPr>
              <a:r>
                <a:rPr lang="en-US" sz="2400" i="true">
                  <a:solidFill>
                    <a:srgbClr val="64748B"/>
                  </a:solidFill>
                  <a:latin typeface="Calibri (MS) Italics"/>
                  <a:ea typeface="Calibri (MS) Italics"/>
                  <a:cs typeface="Calibri (MS) Italics"/>
                  <a:sym typeface="Calibri (MS) Italics"/>
                </a:rPr>
                <a:t>Problématique, motivation, contexte</a:t>
              </a:r>
            </a:p>
          </p:txBody>
        </p:sp>
      </p:grpSp>
      <p:grpSp>
        <p:nvGrpSpPr>
          <p:cNvPr name="Group 14" id="14"/>
          <p:cNvGrpSpPr/>
          <p:nvPr/>
        </p:nvGrpSpPr>
        <p:grpSpPr>
          <a:xfrm rot="0">
            <a:off x="718823" y="1998983"/>
            <a:ext cx="16850363" cy="2311403"/>
            <a:chOff x="0" y="0"/>
            <a:chExt cx="22467151" cy="3081871"/>
          </a:xfrm>
        </p:grpSpPr>
        <p:sp>
          <p:nvSpPr>
            <p:cNvPr name="Freeform 15" id="15"/>
            <p:cNvSpPr/>
            <p:nvPr/>
          </p:nvSpPr>
          <p:spPr>
            <a:xfrm flipH="false" flipV="false" rot="0">
              <a:off x="16891" y="16891"/>
              <a:ext cx="22433280" cy="3048000"/>
            </a:xfrm>
            <a:custGeom>
              <a:avLst/>
              <a:gdLst/>
              <a:ahLst/>
              <a:cxnLst/>
              <a:rect r="r" b="b" t="t" l="l"/>
              <a:pathLst>
                <a:path h="3048000" w="22433280">
                  <a:moveTo>
                    <a:pt x="0" y="0"/>
                  </a:moveTo>
                  <a:lnTo>
                    <a:pt x="22433280" y="0"/>
                  </a:lnTo>
                  <a:lnTo>
                    <a:pt x="22433280" y="3048000"/>
                  </a:lnTo>
                  <a:lnTo>
                    <a:pt x="0" y="3048000"/>
                  </a:lnTo>
                  <a:close/>
                </a:path>
              </a:pathLst>
            </a:custGeom>
            <a:solidFill>
              <a:srgbClr val="E0F2FE"/>
            </a:solidFill>
          </p:spPr>
        </p:sp>
        <p:sp>
          <p:nvSpPr>
            <p:cNvPr name="Freeform 16" id="16"/>
            <p:cNvSpPr/>
            <p:nvPr/>
          </p:nvSpPr>
          <p:spPr>
            <a:xfrm flipH="false" flipV="false" rot="0">
              <a:off x="0" y="0"/>
              <a:ext cx="22467063" cy="3081782"/>
            </a:xfrm>
            <a:custGeom>
              <a:avLst/>
              <a:gdLst/>
              <a:ahLst/>
              <a:cxnLst/>
              <a:rect r="r" b="b" t="t" l="l"/>
              <a:pathLst>
                <a:path h="3081782" w="22467063">
                  <a:moveTo>
                    <a:pt x="16891" y="0"/>
                  </a:moveTo>
                  <a:lnTo>
                    <a:pt x="22450171" y="0"/>
                  </a:lnTo>
                  <a:cubicBezTo>
                    <a:pt x="22459569" y="0"/>
                    <a:pt x="22467063" y="7620"/>
                    <a:pt x="22467063" y="16891"/>
                  </a:cubicBezTo>
                  <a:lnTo>
                    <a:pt x="22467063" y="3064891"/>
                  </a:lnTo>
                  <a:cubicBezTo>
                    <a:pt x="22467063" y="3074289"/>
                    <a:pt x="22459443" y="3081782"/>
                    <a:pt x="22450171"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22450171" y="3048000"/>
                  </a:lnTo>
                  <a:lnTo>
                    <a:pt x="22450171" y="3064891"/>
                  </a:lnTo>
                  <a:lnTo>
                    <a:pt x="22433280" y="3064891"/>
                  </a:lnTo>
                  <a:lnTo>
                    <a:pt x="22433280" y="16891"/>
                  </a:lnTo>
                  <a:lnTo>
                    <a:pt x="22450171" y="16891"/>
                  </a:lnTo>
                  <a:lnTo>
                    <a:pt x="22450171" y="33909"/>
                  </a:lnTo>
                  <a:lnTo>
                    <a:pt x="16891" y="33909"/>
                  </a:lnTo>
                  <a:close/>
                </a:path>
              </a:pathLst>
            </a:custGeom>
            <a:solidFill>
              <a:srgbClr val="0891B2"/>
            </a:solidFill>
          </p:spPr>
        </p:sp>
      </p:grpSp>
      <p:grpSp>
        <p:nvGrpSpPr>
          <p:cNvPr name="Group 17" id="17"/>
          <p:cNvGrpSpPr/>
          <p:nvPr/>
        </p:nvGrpSpPr>
        <p:grpSpPr>
          <a:xfrm rot="0">
            <a:off x="718823" y="1998983"/>
            <a:ext cx="135131" cy="2311403"/>
            <a:chOff x="0" y="0"/>
            <a:chExt cx="180175" cy="3081871"/>
          </a:xfrm>
        </p:grpSpPr>
        <p:sp>
          <p:nvSpPr>
            <p:cNvPr name="Freeform 18" id="18"/>
            <p:cNvSpPr/>
            <p:nvPr/>
          </p:nvSpPr>
          <p:spPr>
            <a:xfrm flipH="false" flipV="false" rot="0">
              <a:off x="16891" y="16891"/>
              <a:ext cx="146304" cy="3048000"/>
            </a:xfrm>
            <a:custGeom>
              <a:avLst/>
              <a:gdLst/>
              <a:ahLst/>
              <a:cxnLst/>
              <a:rect r="r" b="b" t="t" l="l"/>
              <a:pathLst>
                <a:path h="3048000" w="146304">
                  <a:moveTo>
                    <a:pt x="0" y="0"/>
                  </a:moveTo>
                  <a:lnTo>
                    <a:pt x="146304" y="0"/>
                  </a:lnTo>
                  <a:lnTo>
                    <a:pt x="146304" y="3048000"/>
                  </a:lnTo>
                  <a:lnTo>
                    <a:pt x="0" y="3048000"/>
                  </a:lnTo>
                  <a:close/>
                </a:path>
              </a:pathLst>
            </a:custGeom>
            <a:solidFill>
              <a:srgbClr val="0891B2"/>
            </a:solidFill>
          </p:spPr>
        </p:sp>
        <p:sp>
          <p:nvSpPr>
            <p:cNvPr name="Freeform 19" id="19"/>
            <p:cNvSpPr/>
            <p:nvPr/>
          </p:nvSpPr>
          <p:spPr>
            <a:xfrm flipH="false" flipV="false" rot="0">
              <a:off x="0" y="0"/>
              <a:ext cx="180086" cy="3081782"/>
            </a:xfrm>
            <a:custGeom>
              <a:avLst/>
              <a:gdLst/>
              <a:ahLst/>
              <a:cxnLst/>
              <a:rect r="r" b="b" t="t" l="l"/>
              <a:pathLst>
                <a:path h="3081782" w="180086">
                  <a:moveTo>
                    <a:pt x="16891" y="0"/>
                  </a:moveTo>
                  <a:lnTo>
                    <a:pt x="163195" y="0"/>
                  </a:lnTo>
                  <a:cubicBezTo>
                    <a:pt x="172593" y="0"/>
                    <a:pt x="180086" y="7620"/>
                    <a:pt x="180086" y="16891"/>
                  </a:cubicBezTo>
                  <a:lnTo>
                    <a:pt x="180086" y="3064891"/>
                  </a:lnTo>
                  <a:cubicBezTo>
                    <a:pt x="180086" y="3074289"/>
                    <a:pt x="172466" y="3081782"/>
                    <a:pt x="163195"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163195" y="3048000"/>
                  </a:lnTo>
                  <a:lnTo>
                    <a:pt x="163195" y="3064891"/>
                  </a:lnTo>
                  <a:lnTo>
                    <a:pt x="146304" y="3064891"/>
                  </a:lnTo>
                  <a:lnTo>
                    <a:pt x="146304" y="16891"/>
                  </a:lnTo>
                  <a:lnTo>
                    <a:pt x="163195" y="16891"/>
                  </a:lnTo>
                  <a:lnTo>
                    <a:pt x="163195" y="33909"/>
                  </a:lnTo>
                  <a:lnTo>
                    <a:pt x="16891" y="33909"/>
                  </a:lnTo>
                  <a:close/>
                </a:path>
              </a:pathLst>
            </a:custGeom>
            <a:solidFill>
              <a:srgbClr val="0891B2"/>
            </a:solidFill>
          </p:spPr>
        </p:sp>
      </p:grpSp>
      <p:grpSp>
        <p:nvGrpSpPr>
          <p:cNvPr name="Group 20" id="20"/>
          <p:cNvGrpSpPr/>
          <p:nvPr/>
        </p:nvGrpSpPr>
        <p:grpSpPr>
          <a:xfrm rot="0">
            <a:off x="1060704" y="2194560"/>
            <a:ext cx="16459200" cy="640080"/>
            <a:chOff x="0" y="0"/>
            <a:chExt cx="21945600" cy="853440"/>
          </a:xfrm>
        </p:grpSpPr>
        <p:sp>
          <p:nvSpPr>
            <p:cNvPr name="Freeform 21" id="21"/>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22" id="22"/>
            <p:cNvSpPr txBox="true"/>
            <p:nvPr/>
          </p:nvSpPr>
          <p:spPr>
            <a:xfrm>
              <a:off x="0" y="-57150"/>
              <a:ext cx="21945600" cy="910590"/>
            </a:xfrm>
            <a:prstGeom prst="rect">
              <a:avLst/>
            </a:prstGeom>
          </p:spPr>
          <p:txBody>
            <a:bodyPr anchor="ctr" rtlCol="false" tIns="0" lIns="0" bIns="0" rIns="0"/>
            <a:lstStyle/>
            <a:p>
              <a:pPr algn="l">
                <a:lnSpc>
                  <a:spcPts val="3120"/>
                </a:lnSpc>
              </a:pPr>
              <a:r>
                <a:rPr lang="en-US" sz="2600" b="true">
                  <a:solidFill>
                    <a:srgbClr val="0891B2"/>
                  </a:solidFill>
                  <a:latin typeface="Calibri (MS) Bold"/>
                  <a:ea typeface="Calibri (MS) Bold"/>
                  <a:cs typeface="Calibri (MS) Bold"/>
                  <a:sym typeface="Calibri (MS) Bold"/>
                </a:rPr>
                <a:t>🌐  Contexte</a:t>
              </a:r>
            </a:p>
          </p:txBody>
        </p:sp>
      </p:grpSp>
      <p:grpSp>
        <p:nvGrpSpPr>
          <p:cNvPr name="Group 23" id="23"/>
          <p:cNvGrpSpPr/>
          <p:nvPr/>
        </p:nvGrpSpPr>
        <p:grpSpPr>
          <a:xfrm rot="0">
            <a:off x="1060704" y="2852928"/>
            <a:ext cx="16276320" cy="1316736"/>
            <a:chOff x="0" y="0"/>
            <a:chExt cx="21701760" cy="1755648"/>
          </a:xfrm>
        </p:grpSpPr>
        <p:sp>
          <p:nvSpPr>
            <p:cNvPr name="Freeform 24" id="24"/>
            <p:cNvSpPr/>
            <p:nvPr/>
          </p:nvSpPr>
          <p:spPr>
            <a:xfrm flipH="false" flipV="false" rot="0">
              <a:off x="0" y="0"/>
              <a:ext cx="21701761" cy="1755648"/>
            </a:xfrm>
            <a:custGeom>
              <a:avLst/>
              <a:gdLst/>
              <a:ahLst/>
              <a:cxnLst/>
              <a:rect r="r" b="b" t="t" l="l"/>
              <a:pathLst>
                <a:path h="1755648" w="21701761">
                  <a:moveTo>
                    <a:pt x="0" y="0"/>
                  </a:moveTo>
                  <a:lnTo>
                    <a:pt x="21701761" y="0"/>
                  </a:lnTo>
                  <a:lnTo>
                    <a:pt x="21701761" y="1755648"/>
                  </a:lnTo>
                  <a:lnTo>
                    <a:pt x="0" y="1755648"/>
                  </a:lnTo>
                  <a:close/>
                </a:path>
              </a:pathLst>
            </a:custGeom>
            <a:blipFill>
              <a:blip r:embed="rId2">
                <a:alphaModFix amt="0"/>
              </a:blip>
              <a:stretch>
                <a:fillRect l="0" t="-190856" r="0" b="-190856"/>
              </a:stretch>
            </a:blipFill>
          </p:spPr>
        </p:sp>
        <p:sp>
          <p:nvSpPr>
            <p:cNvPr name="TextBox 25" id="25"/>
            <p:cNvSpPr txBox="true"/>
            <p:nvPr/>
          </p:nvSpPr>
          <p:spPr>
            <a:xfrm>
              <a:off x="0" y="-47625"/>
              <a:ext cx="21701760" cy="1803273"/>
            </a:xfrm>
            <a:prstGeom prst="rect">
              <a:avLst/>
            </a:prstGeom>
          </p:spPr>
          <p:txBody>
            <a:bodyPr anchor="ctr" rtlCol="false" tIns="0" lIns="0" bIns="0" rIns="0"/>
            <a:lstStyle/>
            <a:p>
              <a:pPr algn="l">
                <a:lnSpc>
                  <a:spcPts val="2760"/>
                </a:lnSpc>
              </a:pPr>
              <a:r>
                <a:rPr lang="en-US" sz="2300">
                  <a:solidFill>
                    <a:srgbClr val="334155"/>
                  </a:solidFill>
                  <a:latin typeface="Calibri (MS)"/>
                  <a:ea typeface="Calibri (MS)"/>
                  <a:cs typeface="Calibri (MS)"/>
                  <a:sym typeface="Calibri (MS)"/>
                </a:rPr>
                <a:t>L'évolution du « Web de documents » (liens entre pages HTML) vers le « Web de données » (liens entre entités et concepts).</a:t>
              </a:r>
            </a:p>
          </p:txBody>
        </p:sp>
      </p:grpSp>
      <p:grpSp>
        <p:nvGrpSpPr>
          <p:cNvPr name="Group 26" id="26"/>
          <p:cNvGrpSpPr/>
          <p:nvPr/>
        </p:nvGrpSpPr>
        <p:grpSpPr>
          <a:xfrm rot="0">
            <a:off x="718823" y="4595879"/>
            <a:ext cx="16850363" cy="2311403"/>
            <a:chOff x="0" y="0"/>
            <a:chExt cx="22467151" cy="3081871"/>
          </a:xfrm>
        </p:grpSpPr>
        <p:sp>
          <p:nvSpPr>
            <p:cNvPr name="Freeform 27" id="27"/>
            <p:cNvSpPr/>
            <p:nvPr/>
          </p:nvSpPr>
          <p:spPr>
            <a:xfrm flipH="false" flipV="false" rot="0">
              <a:off x="16891" y="16891"/>
              <a:ext cx="22433280" cy="3048000"/>
            </a:xfrm>
            <a:custGeom>
              <a:avLst/>
              <a:gdLst/>
              <a:ahLst/>
              <a:cxnLst/>
              <a:rect r="r" b="b" t="t" l="l"/>
              <a:pathLst>
                <a:path h="3048000" w="22433280">
                  <a:moveTo>
                    <a:pt x="0" y="0"/>
                  </a:moveTo>
                  <a:lnTo>
                    <a:pt x="22433280" y="0"/>
                  </a:lnTo>
                  <a:lnTo>
                    <a:pt x="22433280" y="3048000"/>
                  </a:lnTo>
                  <a:lnTo>
                    <a:pt x="0" y="3048000"/>
                  </a:lnTo>
                  <a:close/>
                </a:path>
              </a:pathLst>
            </a:custGeom>
            <a:solidFill>
              <a:srgbClr val="FFF5F5"/>
            </a:solidFill>
          </p:spPr>
        </p:sp>
        <p:sp>
          <p:nvSpPr>
            <p:cNvPr name="Freeform 28" id="28"/>
            <p:cNvSpPr/>
            <p:nvPr/>
          </p:nvSpPr>
          <p:spPr>
            <a:xfrm flipH="false" flipV="false" rot="0">
              <a:off x="0" y="0"/>
              <a:ext cx="22467063" cy="3081782"/>
            </a:xfrm>
            <a:custGeom>
              <a:avLst/>
              <a:gdLst/>
              <a:ahLst/>
              <a:cxnLst/>
              <a:rect r="r" b="b" t="t" l="l"/>
              <a:pathLst>
                <a:path h="3081782" w="22467063">
                  <a:moveTo>
                    <a:pt x="16891" y="0"/>
                  </a:moveTo>
                  <a:lnTo>
                    <a:pt x="22450171" y="0"/>
                  </a:lnTo>
                  <a:cubicBezTo>
                    <a:pt x="22459569" y="0"/>
                    <a:pt x="22467063" y="7620"/>
                    <a:pt x="22467063" y="16891"/>
                  </a:cubicBezTo>
                  <a:lnTo>
                    <a:pt x="22467063" y="3064891"/>
                  </a:lnTo>
                  <a:cubicBezTo>
                    <a:pt x="22467063" y="3074289"/>
                    <a:pt x="22459443" y="3081782"/>
                    <a:pt x="22450171"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22450171" y="3048000"/>
                  </a:lnTo>
                  <a:lnTo>
                    <a:pt x="22450171" y="3064891"/>
                  </a:lnTo>
                  <a:lnTo>
                    <a:pt x="22433280" y="3064891"/>
                  </a:lnTo>
                  <a:lnTo>
                    <a:pt x="22433280" y="16891"/>
                  </a:lnTo>
                  <a:lnTo>
                    <a:pt x="22450171" y="16891"/>
                  </a:lnTo>
                  <a:lnTo>
                    <a:pt x="22450171" y="33909"/>
                  </a:lnTo>
                  <a:lnTo>
                    <a:pt x="16891" y="33909"/>
                  </a:lnTo>
                  <a:close/>
                </a:path>
              </a:pathLst>
            </a:custGeom>
            <a:solidFill>
              <a:srgbClr val="DC2626"/>
            </a:solidFill>
          </p:spPr>
        </p:sp>
      </p:grpSp>
      <p:grpSp>
        <p:nvGrpSpPr>
          <p:cNvPr name="Group 29" id="29"/>
          <p:cNvGrpSpPr/>
          <p:nvPr/>
        </p:nvGrpSpPr>
        <p:grpSpPr>
          <a:xfrm rot="0">
            <a:off x="718823" y="4595879"/>
            <a:ext cx="135131" cy="2311403"/>
            <a:chOff x="0" y="0"/>
            <a:chExt cx="180175" cy="3081871"/>
          </a:xfrm>
        </p:grpSpPr>
        <p:sp>
          <p:nvSpPr>
            <p:cNvPr name="Freeform 30" id="30"/>
            <p:cNvSpPr/>
            <p:nvPr/>
          </p:nvSpPr>
          <p:spPr>
            <a:xfrm flipH="false" flipV="false" rot="0">
              <a:off x="16891" y="16891"/>
              <a:ext cx="146304" cy="3048000"/>
            </a:xfrm>
            <a:custGeom>
              <a:avLst/>
              <a:gdLst/>
              <a:ahLst/>
              <a:cxnLst/>
              <a:rect r="r" b="b" t="t" l="l"/>
              <a:pathLst>
                <a:path h="3048000" w="146304">
                  <a:moveTo>
                    <a:pt x="0" y="0"/>
                  </a:moveTo>
                  <a:lnTo>
                    <a:pt x="146304" y="0"/>
                  </a:lnTo>
                  <a:lnTo>
                    <a:pt x="146304" y="3048000"/>
                  </a:lnTo>
                  <a:lnTo>
                    <a:pt x="0" y="3048000"/>
                  </a:lnTo>
                  <a:close/>
                </a:path>
              </a:pathLst>
            </a:custGeom>
            <a:solidFill>
              <a:srgbClr val="DC2626"/>
            </a:solidFill>
          </p:spPr>
        </p:sp>
        <p:sp>
          <p:nvSpPr>
            <p:cNvPr name="Freeform 31" id="31"/>
            <p:cNvSpPr/>
            <p:nvPr/>
          </p:nvSpPr>
          <p:spPr>
            <a:xfrm flipH="false" flipV="false" rot="0">
              <a:off x="0" y="0"/>
              <a:ext cx="180086" cy="3081782"/>
            </a:xfrm>
            <a:custGeom>
              <a:avLst/>
              <a:gdLst/>
              <a:ahLst/>
              <a:cxnLst/>
              <a:rect r="r" b="b" t="t" l="l"/>
              <a:pathLst>
                <a:path h="3081782" w="180086">
                  <a:moveTo>
                    <a:pt x="16891" y="0"/>
                  </a:moveTo>
                  <a:lnTo>
                    <a:pt x="163195" y="0"/>
                  </a:lnTo>
                  <a:cubicBezTo>
                    <a:pt x="172593" y="0"/>
                    <a:pt x="180086" y="7620"/>
                    <a:pt x="180086" y="16891"/>
                  </a:cubicBezTo>
                  <a:lnTo>
                    <a:pt x="180086" y="3064891"/>
                  </a:lnTo>
                  <a:cubicBezTo>
                    <a:pt x="180086" y="3074289"/>
                    <a:pt x="172466" y="3081782"/>
                    <a:pt x="163195"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163195" y="3048000"/>
                  </a:lnTo>
                  <a:lnTo>
                    <a:pt x="163195" y="3064891"/>
                  </a:lnTo>
                  <a:lnTo>
                    <a:pt x="146304" y="3064891"/>
                  </a:lnTo>
                  <a:lnTo>
                    <a:pt x="146304" y="16891"/>
                  </a:lnTo>
                  <a:lnTo>
                    <a:pt x="163195" y="16891"/>
                  </a:lnTo>
                  <a:lnTo>
                    <a:pt x="163195" y="33909"/>
                  </a:lnTo>
                  <a:lnTo>
                    <a:pt x="16891" y="33909"/>
                  </a:lnTo>
                  <a:close/>
                </a:path>
              </a:pathLst>
            </a:custGeom>
            <a:solidFill>
              <a:srgbClr val="DC2626"/>
            </a:solidFill>
          </p:spPr>
        </p:sp>
      </p:grpSp>
      <p:grpSp>
        <p:nvGrpSpPr>
          <p:cNvPr name="Group 32" id="32"/>
          <p:cNvGrpSpPr/>
          <p:nvPr/>
        </p:nvGrpSpPr>
        <p:grpSpPr>
          <a:xfrm rot="0">
            <a:off x="1060704" y="4791456"/>
            <a:ext cx="16459200" cy="640080"/>
            <a:chOff x="0" y="0"/>
            <a:chExt cx="21945600" cy="853440"/>
          </a:xfrm>
        </p:grpSpPr>
        <p:sp>
          <p:nvSpPr>
            <p:cNvPr name="Freeform 33" id="33"/>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34" id="34"/>
            <p:cNvSpPr txBox="true"/>
            <p:nvPr/>
          </p:nvSpPr>
          <p:spPr>
            <a:xfrm>
              <a:off x="0" y="-57150"/>
              <a:ext cx="21945600" cy="910590"/>
            </a:xfrm>
            <a:prstGeom prst="rect">
              <a:avLst/>
            </a:prstGeom>
          </p:spPr>
          <p:txBody>
            <a:bodyPr anchor="ctr" rtlCol="false" tIns="0" lIns="0" bIns="0" rIns="0"/>
            <a:lstStyle/>
            <a:p>
              <a:pPr algn="l">
                <a:lnSpc>
                  <a:spcPts val="3120"/>
                </a:lnSpc>
              </a:pPr>
              <a:r>
                <a:rPr lang="en-US" sz="2600" b="true">
                  <a:solidFill>
                    <a:srgbClr val="DC2626"/>
                  </a:solidFill>
                  <a:latin typeface="Calibri (MS) Bold"/>
                  <a:ea typeface="Calibri (MS) Bold"/>
                  <a:cs typeface="Calibri (MS) Bold"/>
                  <a:sym typeface="Calibri (MS) Bold"/>
                </a:rPr>
                <a:t>⚠️  Problématique</a:t>
              </a:r>
            </a:p>
          </p:txBody>
        </p:sp>
      </p:grpSp>
      <p:grpSp>
        <p:nvGrpSpPr>
          <p:cNvPr name="Group 35" id="35"/>
          <p:cNvGrpSpPr/>
          <p:nvPr/>
        </p:nvGrpSpPr>
        <p:grpSpPr>
          <a:xfrm rot="0">
            <a:off x="1060704" y="5449824"/>
            <a:ext cx="16276320" cy="1316736"/>
            <a:chOff x="0" y="0"/>
            <a:chExt cx="21701760" cy="1755648"/>
          </a:xfrm>
        </p:grpSpPr>
        <p:sp>
          <p:nvSpPr>
            <p:cNvPr name="Freeform 36" id="36"/>
            <p:cNvSpPr/>
            <p:nvPr/>
          </p:nvSpPr>
          <p:spPr>
            <a:xfrm flipH="false" flipV="false" rot="0">
              <a:off x="0" y="0"/>
              <a:ext cx="21701761" cy="1755648"/>
            </a:xfrm>
            <a:custGeom>
              <a:avLst/>
              <a:gdLst/>
              <a:ahLst/>
              <a:cxnLst/>
              <a:rect r="r" b="b" t="t" l="l"/>
              <a:pathLst>
                <a:path h="1755648" w="21701761">
                  <a:moveTo>
                    <a:pt x="0" y="0"/>
                  </a:moveTo>
                  <a:lnTo>
                    <a:pt x="21701761" y="0"/>
                  </a:lnTo>
                  <a:lnTo>
                    <a:pt x="21701761" y="1755648"/>
                  </a:lnTo>
                  <a:lnTo>
                    <a:pt x="0" y="1755648"/>
                  </a:lnTo>
                  <a:close/>
                </a:path>
              </a:pathLst>
            </a:custGeom>
            <a:blipFill>
              <a:blip r:embed="rId2">
                <a:alphaModFix amt="0"/>
              </a:blip>
              <a:stretch>
                <a:fillRect l="0" t="-190856" r="0" b="-190856"/>
              </a:stretch>
            </a:blipFill>
          </p:spPr>
        </p:sp>
        <p:sp>
          <p:nvSpPr>
            <p:cNvPr name="TextBox 37" id="37"/>
            <p:cNvSpPr txBox="true"/>
            <p:nvPr/>
          </p:nvSpPr>
          <p:spPr>
            <a:xfrm>
              <a:off x="0" y="-47625"/>
              <a:ext cx="21701760" cy="1803273"/>
            </a:xfrm>
            <a:prstGeom prst="rect">
              <a:avLst/>
            </a:prstGeom>
          </p:spPr>
          <p:txBody>
            <a:bodyPr anchor="ctr" rtlCol="false" tIns="0" lIns="0" bIns="0" rIns="0"/>
            <a:lstStyle/>
            <a:p>
              <a:pPr algn="l">
                <a:lnSpc>
                  <a:spcPts val="2760"/>
                </a:lnSpc>
              </a:pPr>
              <a:r>
                <a:rPr lang="en-US" sz="2300">
                  <a:solidFill>
                    <a:srgbClr val="334155"/>
                  </a:solidFill>
                  <a:latin typeface="Calibri (MS)"/>
                  <a:ea typeface="Calibri (MS)"/>
                  <a:cs typeface="Calibri (MS)"/>
                  <a:sym typeface="Calibri (MS)"/>
                </a:rPr>
                <a:t>Les données du web sont souvent isolées dans des « silos », sans sémantique partagée — rendant leur exploitation automatique difficile.</a:t>
              </a:r>
            </a:p>
          </p:txBody>
        </p:sp>
      </p:grpSp>
      <p:grpSp>
        <p:nvGrpSpPr>
          <p:cNvPr name="Group 38" id="38"/>
          <p:cNvGrpSpPr/>
          <p:nvPr/>
        </p:nvGrpSpPr>
        <p:grpSpPr>
          <a:xfrm rot="0">
            <a:off x="718823" y="7192775"/>
            <a:ext cx="16850363" cy="2311403"/>
            <a:chOff x="0" y="0"/>
            <a:chExt cx="22467151" cy="3081871"/>
          </a:xfrm>
        </p:grpSpPr>
        <p:sp>
          <p:nvSpPr>
            <p:cNvPr name="Freeform 39" id="39"/>
            <p:cNvSpPr/>
            <p:nvPr/>
          </p:nvSpPr>
          <p:spPr>
            <a:xfrm flipH="false" flipV="false" rot="0">
              <a:off x="16891" y="16891"/>
              <a:ext cx="22433280" cy="3048000"/>
            </a:xfrm>
            <a:custGeom>
              <a:avLst/>
              <a:gdLst/>
              <a:ahLst/>
              <a:cxnLst/>
              <a:rect r="r" b="b" t="t" l="l"/>
              <a:pathLst>
                <a:path h="3048000" w="22433280">
                  <a:moveTo>
                    <a:pt x="0" y="0"/>
                  </a:moveTo>
                  <a:lnTo>
                    <a:pt x="22433280" y="0"/>
                  </a:lnTo>
                  <a:lnTo>
                    <a:pt x="22433280" y="3048000"/>
                  </a:lnTo>
                  <a:lnTo>
                    <a:pt x="0" y="3048000"/>
                  </a:lnTo>
                  <a:close/>
                </a:path>
              </a:pathLst>
            </a:custGeom>
            <a:solidFill>
              <a:srgbClr val="ECFDF5"/>
            </a:solidFill>
          </p:spPr>
        </p:sp>
        <p:sp>
          <p:nvSpPr>
            <p:cNvPr name="Freeform 40" id="40"/>
            <p:cNvSpPr/>
            <p:nvPr/>
          </p:nvSpPr>
          <p:spPr>
            <a:xfrm flipH="false" flipV="false" rot="0">
              <a:off x="0" y="0"/>
              <a:ext cx="22467063" cy="3081782"/>
            </a:xfrm>
            <a:custGeom>
              <a:avLst/>
              <a:gdLst/>
              <a:ahLst/>
              <a:cxnLst/>
              <a:rect r="r" b="b" t="t" l="l"/>
              <a:pathLst>
                <a:path h="3081782" w="22467063">
                  <a:moveTo>
                    <a:pt x="16891" y="0"/>
                  </a:moveTo>
                  <a:lnTo>
                    <a:pt x="22450171" y="0"/>
                  </a:lnTo>
                  <a:cubicBezTo>
                    <a:pt x="22459569" y="0"/>
                    <a:pt x="22467063" y="7620"/>
                    <a:pt x="22467063" y="16891"/>
                  </a:cubicBezTo>
                  <a:lnTo>
                    <a:pt x="22467063" y="3064891"/>
                  </a:lnTo>
                  <a:cubicBezTo>
                    <a:pt x="22467063" y="3074289"/>
                    <a:pt x="22459443" y="3081782"/>
                    <a:pt x="22450171"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22450171" y="3048000"/>
                  </a:lnTo>
                  <a:lnTo>
                    <a:pt x="22450171" y="3064891"/>
                  </a:lnTo>
                  <a:lnTo>
                    <a:pt x="22433280" y="3064891"/>
                  </a:lnTo>
                  <a:lnTo>
                    <a:pt x="22433280" y="16891"/>
                  </a:lnTo>
                  <a:lnTo>
                    <a:pt x="22450171" y="16891"/>
                  </a:lnTo>
                  <a:lnTo>
                    <a:pt x="22450171" y="33909"/>
                  </a:lnTo>
                  <a:lnTo>
                    <a:pt x="16891" y="33909"/>
                  </a:lnTo>
                  <a:close/>
                </a:path>
              </a:pathLst>
            </a:custGeom>
            <a:solidFill>
              <a:srgbClr val="059669"/>
            </a:solidFill>
          </p:spPr>
        </p:sp>
      </p:grpSp>
      <p:grpSp>
        <p:nvGrpSpPr>
          <p:cNvPr name="Group 41" id="41"/>
          <p:cNvGrpSpPr/>
          <p:nvPr/>
        </p:nvGrpSpPr>
        <p:grpSpPr>
          <a:xfrm rot="0">
            <a:off x="718823" y="7192775"/>
            <a:ext cx="135131" cy="2311403"/>
            <a:chOff x="0" y="0"/>
            <a:chExt cx="180175" cy="3081871"/>
          </a:xfrm>
        </p:grpSpPr>
        <p:sp>
          <p:nvSpPr>
            <p:cNvPr name="Freeform 42" id="42"/>
            <p:cNvSpPr/>
            <p:nvPr/>
          </p:nvSpPr>
          <p:spPr>
            <a:xfrm flipH="false" flipV="false" rot="0">
              <a:off x="16891" y="16891"/>
              <a:ext cx="146304" cy="3048000"/>
            </a:xfrm>
            <a:custGeom>
              <a:avLst/>
              <a:gdLst/>
              <a:ahLst/>
              <a:cxnLst/>
              <a:rect r="r" b="b" t="t" l="l"/>
              <a:pathLst>
                <a:path h="3048000" w="146304">
                  <a:moveTo>
                    <a:pt x="0" y="0"/>
                  </a:moveTo>
                  <a:lnTo>
                    <a:pt x="146304" y="0"/>
                  </a:lnTo>
                  <a:lnTo>
                    <a:pt x="146304" y="3048000"/>
                  </a:lnTo>
                  <a:lnTo>
                    <a:pt x="0" y="3048000"/>
                  </a:lnTo>
                  <a:close/>
                </a:path>
              </a:pathLst>
            </a:custGeom>
            <a:solidFill>
              <a:srgbClr val="059669"/>
            </a:solidFill>
          </p:spPr>
        </p:sp>
        <p:sp>
          <p:nvSpPr>
            <p:cNvPr name="Freeform 43" id="43"/>
            <p:cNvSpPr/>
            <p:nvPr/>
          </p:nvSpPr>
          <p:spPr>
            <a:xfrm flipH="false" flipV="false" rot="0">
              <a:off x="0" y="0"/>
              <a:ext cx="180086" cy="3081782"/>
            </a:xfrm>
            <a:custGeom>
              <a:avLst/>
              <a:gdLst/>
              <a:ahLst/>
              <a:cxnLst/>
              <a:rect r="r" b="b" t="t" l="l"/>
              <a:pathLst>
                <a:path h="3081782" w="180086">
                  <a:moveTo>
                    <a:pt x="16891" y="0"/>
                  </a:moveTo>
                  <a:lnTo>
                    <a:pt x="163195" y="0"/>
                  </a:lnTo>
                  <a:cubicBezTo>
                    <a:pt x="172593" y="0"/>
                    <a:pt x="180086" y="7620"/>
                    <a:pt x="180086" y="16891"/>
                  </a:cubicBezTo>
                  <a:lnTo>
                    <a:pt x="180086" y="3064891"/>
                  </a:lnTo>
                  <a:cubicBezTo>
                    <a:pt x="180086" y="3074289"/>
                    <a:pt x="172466" y="3081782"/>
                    <a:pt x="163195" y="3081782"/>
                  </a:cubicBezTo>
                  <a:lnTo>
                    <a:pt x="16891" y="3081782"/>
                  </a:lnTo>
                  <a:cubicBezTo>
                    <a:pt x="7493" y="3081782"/>
                    <a:pt x="0" y="3074162"/>
                    <a:pt x="0" y="3064891"/>
                  </a:cubicBezTo>
                  <a:lnTo>
                    <a:pt x="0" y="16891"/>
                  </a:lnTo>
                  <a:cubicBezTo>
                    <a:pt x="0" y="7620"/>
                    <a:pt x="7620" y="0"/>
                    <a:pt x="16891" y="0"/>
                  </a:cubicBezTo>
                  <a:moveTo>
                    <a:pt x="16891" y="33909"/>
                  </a:moveTo>
                  <a:lnTo>
                    <a:pt x="16891" y="16891"/>
                  </a:lnTo>
                  <a:lnTo>
                    <a:pt x="33909" y="16891"/>
                  </a:lnTo>
                  <a:lnTo>
                    <a:pt x="33909" y="3064891"/>
                  </a:lnTo>
                  <a:lnTo>
                    <a:pt x="16891" y="3064891"/>
                  </a:lnTo>
                  <a:lnTo>
                    <a:pt x="16891" y="3048000"/>
                  </a:lnTo>
                  <a:lnTo>
                    <a:pt x="163195" y="3048000"/>
                  </a:lnTo>
                  <a:lnTo>
                    <a:pt x="163195" y="3064891"/>
                  </a:lnTo>
                  <a:lnTo>
                    <a:pt x="146304" y="3064891"/>
                  </a:lnTo>
                  <a:lnTo>
                    <a:pt x="146304" y="16891"/>
                  </a:lnTo>
                  <a:lnTo>
                    <a:pt x="163195" y="16891"/>
                  </a:lnTo>
                  <a:lnTo>
                    <a:pt x="163195" y="33909"/>
                  </a:lnTo>
                  <a:lnTo>
                    <a:pt x="16891" y="33909"/>
                  </a:lnTo>
                  <a:close/>
                </a:path>
              </a:pathLst>
            </a:custGeom>
            <a:solidFill>
              <a:srgbClr val="059669"/>
            </a:solidFill>
          </p:spPr>
        </p:sp>
      </p:grpSp>
      <p:grpSp>
        <p:nvGrpSpPr>
          <p:cNvPr name="Group 44" id="44"/>
          <p:cNvGrpSpPr/>
          <p:nvPr/>
        </p:nvGrpSpPr>
        <p:grpSpPr>
          <a:xfrm rot="0">
            <a:off x="1060704" y="7388352"/>
            <a:ext cx="16459200" cy="640080"/>
            <a:chOff x="0" y="0"/>
            <a:chExt cx="21945600" cy="853440"/>
          </a:xfrm>
        </p:grpSpPr>
        <p:sp>
          <p:nvSpPr>
            <p:cNvPr name="Freeform 45" id="4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2">
                <a:alphaModFix amt="0"/>
              </a:blip>
              <a:stretch>
                <a:fillRect l="0" t="-451043" r="0" b="-451043"/>
              </a:stretch>
            </a:blipFill>
          </p:spPr>
        </p:sp>
        <p:sp>
          <p:nvSpPr>
            <p:cNvPr name="TextBox 46" id="46"/>
            <p:cNvSpPr txBox="true"/>
            <p:nvPr/>
          </p:nvSpPr>
          <p:spPr>
            <a:xfrm>
              <a:off x="0" y="-57150"/>
              <a:ext cx="21945600" cy="910590"/>
            </a:xfrm>
            <a:prstGeom prst="rect">
              <a:avLst/>
            </a:prstGeom>
          </p:spPr>
          <p:txBody>
            <a:bodyPr anchor="ctr" rtlCol="false" tIns="0" lIns="0" bIns="0" rIns="0"/>
            <a:lstStyle/>
            <a:p>
              <a:pPr algn="l">
                <a:lnSpc>
                  <a:spcPts val="3120"/>
                </a:lnSpc>
              </a:pPr>
              <a:r>
                <a:rPr lang="en-US" sz="2600" b="true">
                  <a:solidFill>
                    <a:srgbClr val="059669"/>
                  </a:solidFill>
                  <a:latin typeface="Calibri (MS) Bold"/>
                  <a:ea typeface="Calibri (MS) Bold"/>
                  <a:cs typeface="Calibri (MS) Bold"/>
                  <a:sym typeface="Calibri (MS) Bold"/>
                </a:rPr>
                <a:t>🎯  Motivation</a:t>
              </a:r>
            </a:p>
          </p:txBody>
        </p:sp>
      </p:grpSp>
      <p:grpSp>
        <p:nvGrpSpPr>
          <p:cNvPr name="Group 47" id="47"/>
          <p:cNvGrpSpPr/>
          <p:nvPr/>
        </p:nvGrpSpPr>
        <p:grpSpPr>
          <a:xfrm rot="0">
            <a:off x="1060704" y="8046720"/>
            <a:ext cx="16276320" cy="1316736"/>
            <a:chOff x="0" y="0"/>
            <a:chExt cx="21701760" cy="1755648"/>
          </a:xfrm>
        </p:grpSpPr>
        <p:sp>
          <p:nvSpPr>
            <p:cNvPr name="Freeform 48" id="48"/>
            <p:cNvSpPr/>
            <p:nvPr/>
          </p:nvSpPr>
          <p:spPr>
            <a:xfrm flipH="false" flipV="false" rot="0">
              <a:off x="0" y="0"/>
              <a:ext cx="21701761" cy="1755648"/>
            </a:xfrm>
            <a:custGeom>
              <a:avLst/>
              <a:gdLst/>
              <a:ahLst/>
              <a:cxnLst/>
              <a:rect r="r" b="b" t="t" l="l"/>
              <a:pathLst>
                <a:path h="1755648" w="21701761">
                  <a:moveTo>
                    <a:pt x="0" y="0"/>
                  </a:moveTo>
                  <a:lnTo>
                    <a:pt x="21701761" y="0"/>
                  </a:lnTo>
                  <a:lnTo>
                    <a:pt x="21701761" y="1755648"/>
                  </a:lnTo>
                  <a:lnTo>
                    <a:pt x="0" y="1755648"/>
                  </a:lnTo>
                  <a:close/>
                </a:path>
              </a:pathLst>
            </a:custGeom>
            <a:blipFill>
              <a:blip r:embed="rId2">
                <a:alphaModFix amt="0"/>
              </a:blip>
              <a:stretch>
                <a:fillRect l="0" t="-190856" r="0" b="-190856"/>
              </a:stretch>
            </a:blipFill>
          </p:spPr>
        </p:sp>
        <p:sp>
          <p:nvSpPr>
            <p:cNvPr name="TextBox 49" id="49"/>
            <p:cNvSpPr txBox="true"/>
            <p:nvPr/>
          </p:nvSpPr>
          <p:spPr>
            <a:xfrm>
              <a:off x="0" y="-47625"/>
              <a:ext cx="21701760" cy="1803273"/>
            </a:xfrm>
            <a:prstGeom prst="rect">
              <a:avLst/>
            </a:prstGeom>
          </p:spPr>
          <p:txBody>
            <a:bodyPr anchor="ctr" rtlCol="false" tIns="0" lIns="0" bIns="0" rIns="0"/>
            <a:lstStyle/>
            <a:p>
              <a:pPr algn="l">
                <a:lnSpc>
                  <a:spcPts val="2760"/>
                </a:lnSpc>
              </a:pPr>
              <a:r>
                <a:rPr lang="en-US" sz="2300">
                  <a:solidFill>
                    <a:srgbClr val="334155"/>
                  </a:solidFill>
                  <a:latin typeface="Calibri (MS)"/>
                  <a:ea typeface="Calibri (MS)"/>
                  <a:cs typeface="Calibri (MS)"/>
                  <a:sym typeface="Calibri (MS)"/>
                </a:rPr>
                <a:t>Créer une interopérabilité globale. Les machines doivent s'appuyer sur des terminologies communes : c'est le rôle des vocabulaires standards.</a:t>
              </a:r>
            </a:p>
          </p:txBody>
        </p:sp>
      </p:grpSp>
      <p:grpSp>
        <p:nvGrpSpPr>
          <p:cNvPr name="Group 50" id="50"/>
          <p:cNvGrpSpPr/>
          <p:nvPr/>
        </p:nvGrpSpPr>
        <p:grpSpPr>
          <a:xfrm rot="0">
            <a:off x="-6353" y="9741151"/>
            <a:ext cx="18300697" cy="552193"/>
            <a:chOff x="0" y="0"/>
            <a:chExt cx="24400929" cy="736257"/>
          </a:xfrm>
        </p:grpSpPr>
        <p:sp>
          <p:nvSpPr>
            <p:cNvPr name="Freeform 51" id="51"/>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52" id="52"/>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53" id="53"/>
          <p:cNvGrpSpPr/>
          <p:nvPr/>
        </p:nvGrpSpPr>
        <p:grpSpPr>
          <a:xfrm rot="0">
            <a:off x="15910560" y="9747504"/>
            <a:ext cx="2011680" cy="539496"/>
            <a:chOff x="0" y="0"/>
            <a:chExt cx="2682240" cy="719328"/>
          </a:xfrm>
        </p:grpSpPr>
        <p:sp>
          <p:nvSpPr>
            <p:cNvPr name="Freeform 54" id="54"/>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55" id="55"/>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3 / 18</a:t>
              </a:r>
            </a:p>
          </p:txBody>
        </p:sp>
      </p:grpSp>
      <p:grpSp>
        <p:nvGrpSpPr>
          <p:cNvPr name="Group 56" id="56"/>
          <p:cNvGrpSpPr/>
          <p:nvPr/>
        </p:nvGrpSpPr>
        <p:grpSpPr>
          <a:xfrm rot="0">
            <a:off x="548640" y="9747504"/>
            <a:ext cx="10972800" cy="539496"/>
            <a:chOff x="0" y="0"/>
            <a:chExt cx="14630400" cy="719328"/>
          </a:xfrm>
        </p:grpSpPr>
        <p:sp>
          <p:nvSpPr>
            <p:cNvPr name="Freeform 57" id="57"/>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58" id="58"/>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Introduction</a:t>
              </a:r>
            </a:p>
          </p:txBody>
        </p:sp>
      </p:grpSp>
      <p:sp>
        <p:nvSpPr>
          <p:cNvPr name="TextBox 59" id="59"/>
          <p:cNvSpPr txBox="true"/>
          <p:nvPr/>
        </p:nvSpPr>
        <p:spPr>
          <a:xfrm rot="0">
            <a:off x="91440" y="414157"/>
            <a:ext cx="823893" cy="1108891"/>
          </a:xfrm>
          <a:prstGeom prst="rect">
            <a:avLst/>
          </a:prstGeom>
        </p:spPr>
        <p:txBody>
          <a:bodyPr anchor="t" rtlCol="false" tIns="0" lIns="0" bIns="0" rIns="0">
            <a:spAutoFit/>
          </a:bodyPr>
          <a:lstStyle/>
          <a:p>
            <a:pPr algn="ctr">
              <a:lnSpc>
                <a:spcPts val="7920"/>
              </a:lnSpc>
            </a:pPr>
            <a:r>
              <a:rPr lang="en-US" sz="6600" spc="15">
                <a:solidFill>
                  <a:srgbClr val="000000"/>
                </a:solidFill>
                <a:latin typeface="Rosario"/>
                <a:ea typeface="Rosario"/>
                <a:cs typeface="Rosario"/>
                <a:sym typeface="Rosario"/>
              </a:rPr>
              <a:t>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1A3557"/>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1A3557"/>
            </a:solidFill>
          </p:spPr>
        </p:sp>
      </p:grpSp>
      <p:grpSp>
        <p:nvGrpSpPr>
          <p:cNvPr name="Group 5" id="5"/>
          <p:cNvGrpSpPr/>
          <p:nvPr/>
        </p:nvGrpSpPr>
        <p:grpSpPr>
          <a:xfrm rot="0">
            <a:off x="718823" y="389639"/>
            <a:ext cx="153419" cy="1305563"/>
            <a:chOff x="0" y="0"/>
            <a:chExt cx="204559" cy="1740751"/>
          </a:xfrm>
        </p:grpSpPr>
        <p:sp>
          <p:nvSpPr>
            <p:cNvPr name="Freeform 6" id="6"/>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0891B2"/>
            </a:solidFill>
          </p:spPr>
        </p:sp>
        <p:sp>
          <p:nvSpPr>
            <p:cNvPr name="Freeform 7" id="7"/>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0891B2"/>
            </a:solidFill>
          </p:spPr>
        </p:sp>
      </p:grpSp>
      <p:grpSp>
        <p:nvGrpSpPr>
          <p:cNvPr name="Group 8" id="8"/>
          <p:cNvGrpSpPr/>
          <p:nvPr/>
        </p:nvGrpSpPr>
        <p:grpSpPr>
          <a:xfrm rot="0">
            <a:off x="1097280" y="1069343"/>
            <a:ext cx="16459200" cy="657863"/>
            <a:chOff x="0" y="0"/>
            <a:chExt cx="21945600" cy="877151"/>
          </a:xfrm>
        </p:grpSpPr>
        <p:sp>
          <p:nvSpPr>
            <p:cNvPr name="Freeform 9" id="9"/>
            <p:cNvSpPr/>
            <p:nvPr/>
          </p:nvSpPr>
          <p:spPr>
            <a:xfrm flipH="false" flipV="false" rot="0">
              <a:off x="0" y="0"/>
              <a:ext cx="21945600" cy="877147"/>
            </a:xfrm>
            <a:custGeom>
              <a:avLst/>
              <a:gdLst/>
              <a:ahLst/>
              <a:cxnLst/>
              <a:rect r="r" b="b" t="t" l="l"/>
              <a:pathLst>
                <a:path h="877147" w="21945600">
                  <a:moveTo>
                    <a:pt x="0" y="0"/>
                  </a:moveTo>
                  <a:lnTo>
                    <a:pt x="21945600" y="0"/>
                  </a:lnTo>
                  <a:lnTo>
                    <a:pt x="21945600" y="877147"/>
                  </a:lnTo>
                  <a:lnTo>
                    <a:pt x="0" y="877147"/>
                  </a:lnTo>
                  <a:close/>
                </a:path>
              </a:pathLst>
            </a:custGeom>
            <a:blipFill>
              <a:blip r:embed="rId2">
                <a:alphaModFix amt="0"/>
              </a:blip>
              <a:stretch>
                <a:fillRect l="0" t="-437501" r="0" b="-437502"/>
              </a:stretch>
            </a:blipFill>
          </p:spPr>
        </p:sp>
        <p:sp>
          <p:nvSpPr>
            <p:cNvPr name="TextBox 10" id="10"/>
            <p:cNvSpPr txBox="true"/>
            <p:nvPr/>
          </p:nvSpPr>
          <p:spPr>
            <a:xfrm>
              <a:off x="0" y="-19050"/>
              <a:ext cx="21945600" cy="896201"/>
            </a:xfrm>
            <a:prstGeom prst="rect">
              <a:avLst/>
            </a:prstGeom>
          </p:spPr>
          <p:txBody>
            <a:bodyPr anchor="ctr" rtlCol="false" tIns="0" lIns="0" bIns="0" rIns="0"/>
            <a:lstStyle/>
            <a:p>
              <a:pPr algn="l">
                <a:lnSpc>
                  <a:spcPts val="6240"/>
                </a:lnSpc>
              </a:pPr>
              <a:r>
                <a:rPr lang="en-US" sz="5200" b="true">
                  <a:solidFill>
                    <a:srgbClr val="000000"/>
                  </a:solidFill>
                  <a:latin typeface="Arial Bold"/>
                  <a:ea typeface="Arial Bold"/>
                  <a:cs typeface="Arial Bold"/>
                  <a:sym typeface="Arial Bold"/>
                </a:rPr>
                <a:t>Qu'est-ce qu'un vocabulaire RDF ?</a:t>
              </a:r>
            </a:p>
            <a:p>
              <a:pPr algn="l">
                <a:lnSpc>
                  <a:spcPts val="6240"/>
                </a:lnSpc>
              </a:pPr>
            </a:p>
          </p:txBody>
        </p:sp>
      </p:grpSp>
      <p:grpSp>
        <p:nvGrpSpPr>
          <p:cNvPr name="Group 11" id="11"/>
          <p:cNvGrpSpPr/>
          <p:nvPr/>
        </p:nvGrpSpPr>
        <p:grpSpPr>
          <a:xfrm rot="0">
            <a:off x="-6353" y="9741151"/>
            <a:ext cx="18300697" cy="552193"/>
            <a:chOff x="0" y="0"/>
            <a:chExt cx="24400929" cy="736257"/>
          </a:xfrm>
        </p:grpSpPr>
        <p:sp>
          <p:nvSpPr>
            <p:cNvPr name="Freeform 12" id="12"/>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13" id="13"/>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14" id="14"/>
          <p:cNvGrpSpPr/>
          <p:nvPr/>
        </p:nvGrpSpPr>
        <p:grpSpPr>
          <a:xfrm rot="0">
            <a:off x="15910560" y="9747504"/>
            <a:ext cx="2011680" cy="539496"/>
            <a:chOff x="0" y="0"/>
            <a:chExt cx="2682240" cy="719328"/>
          </a:xfrm>
        </p:grpSpPr>
        <p:sp>
          <p:nvSpPr>
            <p:cNvPr name="Freeform 15" id="15"/>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16" id="16"/>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4 / 18</a:t>
              </a:r>
            </a:p>
          </p:txBody>
        </p:sp>
      </p:grpSp>
      <p:grpSp>
        <p:nvGrpSpPr>
          <p:cNvPr name="Group 17" id="17"/>
          <p:cNvGrpSpPr/>
          <p:nvPr/>
        </p:nvGrpSpPr>
        <p:grpSpPr>
          <a:xfrm rot="0">
            <a:off x="914400" y="2194560"/>
            <a:ext cx="16459200" cy="3291840"/>
            <a:chOff x="0" y="0"/>
            <a:chExt cx="21945600" cy="4389120"/>
          </a:xfrm>
        </p:grpSpPr>
        <p:sp>
          <p:nvSpPr>
            <p:cNvPr name="Freeform 18" id="18"/>
            <p:cNvSpPr/>
            <p:nvPr/>
          </p:nvSpPr>
          <p:spPr>
            <a:xfrm flipH="false" flipV="false" rot="0">
              <a:off x="0" y="0"/>
              <a:ext cx="21945600" cy="4389120"/>
            </a:xfrm>
            <a:custGeom>
              <a:avLst/>
              <a:gdLst/>
              <a:ahLst/>
              <a:cxnLst/>
              <a:rect r="r" b="b" t="t" l="l"/>
              <a:pathLst>
                <a:path h="4389120" w="21945600">
                  <a:moveTo>
                    <a:pt x="0" y="0"/>
                  </a:moveTo>
                  <a:lnTo>
                    <a:pt x="21945600" y="0"/>
                  </a:lnTo>
                  <a:lnTo>
                    <a:pt x="21945600" y="4389120"/>
                  </a:lnTo>
                  <a:lnTo>
                    <a:pt x="0" y="4389120"/>
                  </a:lnTo>
                  <a:close/>
                </a:path>
              </a:pathLst>
            </a:custGeom>
            <a:solidFill>
              <a:srgbClr val="F0F9FF"/>
            </a:solidFill>
          </p:spPr>
        </p:sp>
      </p:grpSp>
      <p:grpSp>
        <p:nvGrpSpPr>
          <p:cNvPr name="Group 19" id="19"/>
          <p:cNvGrpSpPr/>
          <p:nvPr/>
        </p:nvGrpSpPr>
        <p:grpSpPr>
          <a:xfrm rot="0">
            <a:off x="1280160" y="2468880"/>
            <a:ext cx="15544800" cy="548640"/>
            <a:chOff x="0" y="0"/>
            <a:chExt cx="20726400" cy="731520"/>
          </a:xfrm>
        </p:grpSpPr>
        <p:sp>
          <p:nvSpPr>
            <p:cNvPr name="Freeform 20" id="20"/>
            <p:cNvSpPr/>
            <p:nvPr/>
          </p:nvSpPr>
          <p:spPr>
            <a:xfrm flipH="false" flipV="false" rot="0">
              <a:off x="0" y="0"/>
              <a:ext cx="20726400" cy="731520"/>
            </a:xfrm>
            <a:custGeom>
              <a:avLst/>
              <a:gdLst/>
              <a:ahLst/>
              <a:cxnLst/>
              <a:rect r="r" b="b" t="t" l="l"/>
              <a:pathLst>
                <a:path h="731520" w="20726400">
                  <a:moveTo>
                    <a:pt x="0" y="0"/>
                  </a:moveTo>
                  <a:lnTo>
                    <a:pt x="20726400" y="0"/>
                  </a:lnTo>
                  <a:lnTo>
                    <a:pt x="20726400" y="731520"/>
                  </a:lnTo>
                  <a:lnTo>
                    <a:pt x="0" y="731520"/>
                  </a:lnTo>
                  <a:close/>
                </a:path>
              </a:pathLst>
            </a:custGeom>
            <a:blipFill>
              <a:blip r:embed="rId2">
                <a:alphaModFix amt="0"/>
              </a:blip>
              <a:stretch>
                <a:fillRect l="0" t="-502076" r="0" b="-502076"/>
              </a:stretch>
            </a:blipFill>
          </p:spPr>
        </p:sp>
        <p:sp>
          <p:nvSpPr>
            <p:cNvPr name="TextBox 21" id="21"/>
            <p:cNvSpPr txBox="true"/>
            <p:nvPr/>
          </p:nvSpPr>
          <p:spPr>
            <a:xfrm>
              <a:off x="0" y="-28575"/>
              <a:ext cx="20726400" cy="760095"/>
            </a:xfrm>
            <a:prstGeom prst="rect">
              <a:avLst/>
            </a:prstGeom>
          </p:spPr>
          <p:txBody>
            <a:bodyPr anchor="ctr" rtlCol="false" tIns="0" lIns="0" bIns="0" rIns="0"/>
            <a:lstStyle/>
            <a:p>
              <a:pPr algn="l">
                <a:lnSpc>
                  <a:spcPts val="4320"/>
                </a:lnSpc>
              </a:pPr>
              <a:r>
                <a:rPr lang="en-US" sz="3600" b="true">
                  <a:solidFill>
                    <a:srgbClr val="1E293B"/>
                  </a:solidFill>
                  <a:latin typeface="Arial Bold"/>
                  <a:ea typeface="Arial Bold"/>
                  <a:cs typeface="Arial Bold"/>
                  <a:sym typeface="Arial Bold"/>
                </a:rPr>
                <a:t>Définition</a:t>
              </a:r>
            </a:p>
          </p:txBody>
        </p:sp>
      </p:grpSp>
      <p:grpSp>
        <p:nvGrpSpPr>
          <p:cNvPr name="Group 22" id="22"/>
          <p:cNvGrpSpPr/>
          <p:nvPr/>
        </p:nvGrpSpPr>
        <p:grpSpPr>
          <a:xfrm rot="0">
            <a:off x="1280160" y="3200400"/>
            <a:ext cx="15544800" cy="731520"/>
            <a:chOff x="0" y="0"/>
            <a:chExt cx="20726400" cy="975360"/>
          </a:xfrm>
        </p:grpSpPr>
        <p:sp>
          <p:nvSpPr>
            <p:cNvPr name="Freeform 23" id="23"/>
            <p:cNvSpPr/>
            <p:nvPr/>
          </p:nvSpPr>
          <p:spPr>
            <a:xfrm flipH="false" flipV="false" rot="0">
              <a:off x="0" y="0"/>
              <a:ext cx="20726400" cy="975360"/>
            </a:xfrm>
            <a:custGeom>
              <a:avLst/>
              <a:gdLst/>
              <a:ahLst/>
              <a:cxnLst/>
              <a:rect r="r" b="b" t="t" l="l"/>
              <a:pathLst>
                <a:path h="975360" w="20726400">
                  <a:moveTo>
                    <a:pt x="0" y="0"/>
                  </a:moveTo>
                  <a:lnTo>
                    <a:pt x="20726400" y="0"/>
                  </a:lnTo>
                  <a:lnTo>
                    <a:pt x="20726400" y="975360"/>
                  </a:lnTo>
                  <a:lnTo>
                    <a:pt x="0" y="975360"/>
                  </a:lnTo>
                  <a:close/>
                </a:path>
              </a:pathLst>
            </a:custGeom>
            <a:blipFill>
              <a:blip r:embed="rId2">
                <a:alphaModFix amt="0"/>
              </a:blip>
              <a:stretch>
                <a:fillRect l="0" t="-364057" r="0" b="-364057"/>
              </a:stretch>
            </a:blipFill>
          </p:spPr>
        </p:sp>
        <p:sp>
          <p:nvSpPr>
            <p:cNvPr name="TextBox 24" id="24"/>
            <p:cNvSpPr txBox="true"/>
            <p:nvPr/>
          </p:nvSpPr>
          <p:spPr>
            <a:xfrm>
              <a:off x="0" y="-19050"/>
              <a:ext cx="20726400" cy="994410"/>
            </a:xfrm>
            <a:prstGeom prst="rect">
              <a:avLst/>
            </a:prstGeom>
          </p:spPr>
          <p:txBody>
            <a:bodyPr anchor="ctr" rtlCol="false" tIns="0" lIns="0" bIns="0" rIns="0"/>
            <a:lstStyle/>
            <a:p>
              <a:pPr algn="l">
                <a:lnSpc>
                  <a:spcPts val="3359"/>
                </a:lnSpc>
              </a:pPr>
              <a:r>
                <a:rPr lang="en-US" sz="2799">
                  <a:solidFill>
                    <a:srgbClr val="1F2937"/>
                  </a:solidFill>
                  <a:latin typeface="Arial"/>
                  <a:ea typeface="Arial"/>
                  <a:cs typeface="Arial"/>
                  <a:sym typeface="Arial"/>
                </a:rPr>
                <a:t>Un vocabulaire RDF est un ensemble standardisé de termes utilisés pour décrire des données.</a:t>
              </a:r>
            </a:p>
          </p:txBody>
        </p:sp>
      </p:grpSp>
      <p:grpSp>
        <p:nvGrpSpPr>
          <p:cNvPr name="Group 25" id="25"/>
          <p:cNvGrpSpPr/>
          <p:nvPr/>
        </p:nvGrpSpPr>
        <p:grpSpPr>
          <a:xfrm rot="0">
            <a:off x="1280160" y="3931920"/>
            <a:ext cx="15544800" cy="1280160"/>
            <a:chOff x="0" y="0"/>
            <a:chExt cx="20726400" cy="1706880"/>
          </a:xfrm>
        </p:grpSpPr>
        <p:sp>
          <p:nvSpPr>
            <p:cNvPr name="Freeform 26" id="26"/>
            <p:cNvSpPr/>
            <p:nvPr/>
          </p:nvSpPr>
          <p:spPr>
            <a:xfrm flipH="false" flipV="false" rot="0">
              <a:off x="0" y="0"/>
              <a:ext cx="20726400" cy="1706880"/>
            </a:xfrm>
            <a:custGeom>
              <a:avLst/>
              <a:gdLst/>
              <a:ahLst/>
              <a:cxnLst/>
              <a:rect r="r" b="b" t="t" l="l"/>
              <a:pathLst>
                <a:path h="1706880" w="20726400">
                  <a:moveTo>
                    <a:pt x="0" y="0"/>
                  </a:moveTo>
                  <a:lnTo>
                    <a:pt x="20726400" y="0"/>
                  </a:lnTo>
                  <a:lnTo>
                    <a:pt x="20726400" y="1706880"/>
                  </a:lnTo>
                  <a:lnTo>
                    <a:pt x="0" y="1706880"/>
                  </a:lnTo>
                  <a:close/>
                </a:path>
              </a:pathLst>
            </a:custGeom>
            <a:blipFill>
              <a:blip r:embed="rId2">
                <a:alphaModFix amt="0"/>
              </a:blip>
              <a:stretch>
                <a:fillRect l="0" t="-186604" r="0" b="-186604"/>
              </a:stretch>
            </a:blipFill>
          </p:spPr>
        </p:sp>
        <p:sp>
          <p:nvSpPr>
            <p:cNvPr name="TextBox 27" id="27"/>
            <p:cNvSpPr txBox="true"/>
            <p:nvPr/>
          </p:nvSpPr>
          <p:spPr>
            <a:xfrm>
              <a:off x="0" y="-9525"/>
              <a:ext cx="20726400" cy="1716405"/>
            </a:xfrm>
            <a:prstGeom prst="rect">
              <a:avLst/>
            </a:prstGeom>
          </p:spPr>
          <p:txBody>
            <a:bodyPr anchor="ctr" rtlCol="false" tIns="0" lIns="0" bIns="0" rIns="0"/>
            <a:lstStyle/>
            <a:p>
              <a:pPr algn="l">
                <a:lnSpc>
                  <a:spcPts val="2879"/>
                </a:lnSpc>
              </a:pPr>
              <a:r>
                <a:rPr lang="en-US" sz="2400">
                  <a:solidFill>
                    <a:srgbClr val="1F2937"/>
                  </a:solidFill>
                  <a:latin typeface="Arial"/>
                  <a:ea typeface="Arial"/>
                  <a:cs typeface="Arial"/>
                  <a:sym typeface="Arial"/>
                </a:rPr>
                <a:t>• Classes (ex: Person, Dataset, Organization)</a:t>
              </a:r>
            </a:p>
            <a:p>
              <a:pPr algn="l">
                <a:lnSpc>
                  <a:spcPts val="2879"/>
                </a:lnSpc>
              </a:pPr>
              <a:r>
                <a:rPr lang="en-US" sz="2400">
                  <a:solidFill>
                    <a:srgbClr val="1F2937"/>
                  </a:solidFill>
                  <a:latin typeface="Arial"/>
                  <a:ea typeface="Arial"/>
                  <a:cs typeface="Arial"/>
                  <a:sym typeface="Arial"/>
                </a:rPr>
                <a:t>• Propriétés (ex: name, title, hasPart)</a:t>
              </a:r>
            </a:p>
            <a:p>
              <a:pPr algn="l">
                <a:lnSpc>
                  <a:spcPts val="2879"/>
                </a:lnSpc>
              </a:pPr>
              <a:r>
                <a:rPr lang="en-US" sz="2400">
                  <a:solidFill>
                    <a:srgbClr val="1F2937"/>
                  </a:solidFill>
                  <a:latin typeface="Arial"/>
                  <a:ea typeface="Arial"/>
                  <a:cs typeface="Arial"/>
                  <a:sym typeface="Arial"/>
                </a:rPr>
                <a:t>• URIs standards et universels</a:t>
              </a:r>
            </a:p>
          </p:txBody>
        </p:sp>
      </p:grpSp>
      <p:grpSp>
        <p:nvGrpSpPr>
          <p:cNvPr name="Group 28" id="28"/>
          <p:cNvGrpSpPr/>
          <p:nvPr/>
        </p:nvGrpSpPr>
        <p:grpSpPr>
          <a:xfrm rot="0">
            <a:off x="914400" y="6035040"/>
            <a:ext cx="16459200" cy="548640"/>
            <a:chOff x="0" y="0"/>
            <a:chExt cx="21945600" cy="731520"/>
          </a:xfrm>
        </p:grpSpPr>
        <p:sp>
          <p:nvSpPr>
            <p:cNvPr name="Freeform 29" id="29"/>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2">
                <a:alphaModFix amt="0"/>
              </a:blip>
              <a:stretch>
                <a:fillRect l="0" t="-534551" r="0" b="-534551"/>
              </a:stretch>
            </a:blipFill>
          </p:spPr>
        </p:sp>
        <p:sp>
          <p:nvSpPr>
            <p:cNvPr name="TextBox 30" id="30"/>
            <p:cNvSpPr txBox="true"/>
            <p:nvPr/>
          </p:nvSpPr>
          <p:spPr>
            <a:xfrm>
              <a:off x="0" y="-28575"/>
              <a:ext cx="21945600" cy="760095"/>
            </a:xfrm>
            <a:prstGeom prst="rect">
              <a:avLst/>
            </a:prstGeom>
          </p:spPr>
          <p:txBody>
            <a:bodyPr anchor="ctr" rtlCol="false" tIns="0" lIns="0" bIns="0" rIns="0"/>
            <a:lstStyle/>
            <a:p>
              <a:pPr algn="l">
                <a:lnSpc>
                  <a:spcPts val="4320"/>
                </a:lnSpc>
              </a:pPr>
              <a:r>
                <a:rPr lang="en-US" sz="3600" b="true">
                  <a:solidFill>
                    <a:srgbClr val="1E293B"/>
                  </a:solidFill>
                  <a:latin typeface="Arial Bold"/>
                  <a:ea typeface="Arial Bold"/>
                  <a:cs typeface="Arial Bold"/>
                  <a:sym typeface="Arial Bold"/>
                </a:rPr>
                <a:t>Pourquoi est-ce crucial ?</a:t>
              </a:r>
            </a:p>
          </p:txBody>
        </p:sp>
      </p:grpSp>
      <p:grpSp>
        <p:nvGrpSpPr>
          <p:cNvPr name="Group 31" id="31"/>
          <p:cNvGrpSpPr/>
          <p:nvPr/>
        </p:nvGrpSpPr>
        <p:grpSpPr>
          <a:xfrm rot="0">
            <a:off x="914400" y="6766560"/>
            <a:ext cx="7863840" cy="2560320"/>
            <a:chOff x="0" y="0"/>
            <a:chExt cx="10485120" cy="3413760"/>
          </a:xfrm>
        </p:grpSpPr>
        <p:sp>
          <p:nvSpPr>
            <p:cNvPr name="Freeform 32" id="32"/>
            <p:cNvSpPr/>
            <p:nvPr/>
          </p:nvSpPr>
          <p:spPr>
            <a:xfrm flipH="false" flipV="false" rot="0">
              <a:off x="0" y="0"/>
              <a:ext cx="10485120" cy="3413760"/>
            </a:xfrm>
            <a:custGeom>
              <a:avLst/>
              <a:gdLst/>
              <a:ahLst/>
              <a:cxnLst/>
              <a:rect r="r" b="b" t="t" l="l"/>
              <a:pathLst>
                <a:path h="3413760" w="10485120">
                  <a:moveTo>
                    <a:pt x="0" y="0"/>
                  </a:moveTo>
                  <a:lnTo>
                    <a:pt x="10485120" y="0"/>
                  </a:lnTo>
                  <a:lnTo>
                    <a:pt x="10485120" y="3413760"/>
                  </a:lnTo>
                  <a:lnTo>
                    <a:pt x="0" y="3413760"/>
                  </a:lnTo>
                  <a:close/>
                </a:path>
              </a:pathLst>
            </a:custGeom>
            <a:solidFill>
              <a:srgbClr val="FEE2E2"/>
            </a:solidFill>
          </p:spPr>
        </p:sp>
      </p:grpSp>
      <p:grpSp>
        <p:nvGrpSpPr>
          <p:cNvPr name="Group 33" id="33"/>
          <p:cNvGrpSpPr/>
          <p:nvPr/>
        </p:nvGrpSpPr>
        <p:grpSpPr>
          <a:xfrm rot="0">
            <a:off x="1280160" y="7040880"/>
            <a:ext cx="7315200" cy="548640"/>
            <a:chOff x="0" y="0"/>
            <a:chExt cx="9753600" cy="731520"/>
          </a:xfrm>
        </p:grpSpPr>
        <p:sp>
          <p:nvSpPr>
            <p:cNvPr name="Freeform 34" id="34"/>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2">
                <a:alphaModFix amt="0"/>
              </a:blip>
              <a:stretch>
                <a:fillRect l="0" t="-209800" r="0" b="-209800"/>
              </a:stretch>
            </a:blipFill>
          </p:spPr>
        </p:sp>
        <p:sp>
          <p:nvSpPr>
            <p:cNvPr name="TextBox 35" id="35"/>
            <p:cNvSpPr txBox="true"/>
            <p:nvPr/>
          </p:nvSpPr>
          <p:spPr>
            <a:xfrm>
              <a:off x="0" y="-19050"/>
              <a:ext cx="9753600" cy="750570"/>
            </a:xfrm>
            <a:prstGeom prst="rect">
              <a:avLst/>
            </a:prstGeom>
          </p:spPr>
          <p:txBody>
            <a:bodyPr anchor="ctr" rtlCol="false" tIns="0" lIns="0" bIns="0" rIns="0"/>
            <a:lstStyle/>
            <a:p>
              <a:pPr algn="l">
                <a:lnSpc>
                  <a:spcPts val="3359"/>
                </a:lnSpc>
              </a:pPr>
              <a:r>
                <a:rPr lang="en-US" sz="2799" b="true">
                  <a:solidFill>
                    <a:srgbClr val="991B1B"/>
                  </a:solidFill>
                  <a:latin typeface="Arial Bold"/>
                  <a:ea typeface="Arial Bold"/>
                  <a:cs typeface="Arial Bold"/>
                  <a:sym typeface="Arial Bold"/>
                </a:rPr>
                <a:t>❌ Sans vocabulaire</a:t>
              </a:r>
            </a:p>
          </p:txBody>
        </p:sp>
      </p:grpSp>
      <p:grpSp>
        <p:nvGrpSpPr>
          <p:cNvPr name="Group 36" id="36"/>
          <p:cNvGrpSpPr/>
          <p:nvPr/>
        </p:nvGrpSpPr>
        <p:grpSpPr>
          <a:xfrm rot="0">
            <a:off x="1280160" y="7680960"/>
            <a:ext cx="7315200" cy="1280160"/>
            <a:chOff x="0" y="0"/>
            <a:chExt cx="9753600" cy="1706880"/>
          </a:xfrm>
        </p:grpSpPr>
        <p:sp>
          <p:nvSpPr>
            <p:cNvPr name="Freeform 37" id="37"/>
            <p:cNvSpPr/>
            <p:nvPr/>
          </p:nvSpPr>
          <p:spPr>
            <a:xfrm flipH="false" flipV="false" rot="0">
              <a:off x="0" y="0"/>
              <a:ext cx="9753600" cy="1706880"/>
            </a:xfrm>
            <a:custGeom>
              <a:avLst/>
              <a:gdLst/>
              <a:ahLst/>
              <a:cxnLst/>
              <a:rect r="r" b="b" t="t" l="l"/>
              <a:pathLst>
                <a:path h="1706880" w="9753600">
                  <a:moveTo>
                    <a:pt x="0" y="0"/>
                  </a:moveTo>
                  <a:lnTo>
                    <a:pt x="9753600" y="0"/>
                  </a:lnTo>
                  <a:lnTo>
                    <a:pt x="9753600" y="1706880"/>
                  </a:lnTo>
                  <a:lnTo>
                    <a:pt x="0" y="1706880"/>
                  </a:lnTo>
                  <a:close/>
                </a:path>
              </a:pathLst>
            </a:custGeom>
            <a:blipFill>
              <a:blip r:embed="rId2">
                <a:alphaModFix amt="0"/>
              </a:blip>
              <a:stretch>
                <a:fillRect l="0" t="-61343" r="0" b="-61343"/>
              </a:stretch>
            </a:blipFill>
          </p:spPr>
        </p:sp>
        <p:sp>
          <p:nvSpPr>
            <p:cNvPr name="TextBox 38" id="38"/>
            <p:cNvSpPr txBox="true"/>
            <p:nvPr/>
          </p:nvSpPr>
          <p:spPr>
            <a:xfrm>
              <a:off x="0" y="-9525"/>
              <a:ext cx="9753600" cy="1716405"/>
            </a:xfrm>
            <a:prstGeom prst="rect">
              <a:avLst/>
            </a:prstGeom>
          </p:spPr>
          <p:txBody>
            <a:bodyPr anchor="ctr" rtlCol="false" tIns="0" lIns="0" bIns="0" rIns="0"/>
            <a:lstStyle/>
            <a:p>
              <a:pPr algn="l">
                <a:lnSpc>
                  <a:spcPts val="2879"/>
                </a:lnSpc>
              </a:pPr>
              <a:r>
                <a:rPr lang="en-US" sz="2400">
                  <a:solidFill>
                    <a:srgbClr val="1F2937"/>
                  </a:solidFill>
                  <a:latin typeface="Arial"/>
                  <a:ea typeface="Arial"/>
                  <a:cs typeface="Arial"/>
                  <a:sym typeface="Arial"/>
                </a:rPr>
                <a:t>Chaos : nom, name, nom_personne...</a:t>
              </a:r>
            </a:p>
            <a:p>
              <a:pPr algn="l">
                <a:lnSpc>
                  <a:spcPts val="2879"/>
                </a:lnSpc>
              </a:pPr>
              <a:r>
                <a:rPr lang="en-US" sz="2400">
                  <a:solidFill>
                    <a:srgbClr val="1F2937"/>
                  </a:solidFill>
                  <a:latin typeface="Arial"/>
                  <a:ea typeface="Arial"/>
                  <a:cs typeface="Arial"/>
                  <a:sym typeface="Arial"/>
                </a:rPr>
                <a:t>Les systèmes ne peuvent pas communiquer</a:t>
              </a:r>
            </a:p>
          </p:txBody>
        </p:sp>
      </p:grpSp>
      <p:grpSp>
        <p:nvGrpSpPr>
          <p:cNvPr name="Group 39" id="39"/>
          <p:cNvGrpSpPr/>
          <p:nvPr/>
        </p:nvGrpSpPr>
        <p:grpSpPr>
          <a:xfrm rot="0">
            <a:off x="9509760" y="6766560"/>
            <a:ext cx="7863840" cy="2560320"/>
            <a:chOff x="0" y="0"/>
            <a:chExt cx="10485120" cy="3413760"/>
          </a:xfrm>
        </p:grpSpPr>
        <p:sp>
          <p:nvSpPr>
            <p:cNvPr name="Freeform 40" id="40"/>
            <p:cNvSpPr/>
            <p:nvPr/>
          </p:nvSpPr>
          <p:spPr>
            <a:xfrm flipH="false" flipV="false" rot="0">
              <a:off x="0" y="0"/>
              <a:ext cx="10485120" cy="3413760"/>
            </a:xfrm>
            <a:custGeom>
              <a:avLst/>
              <a:gdLst/>
              <a:ahLst/>
              <a:cxnLst/>
              <a:rect r="r" b="b" t="t" l="l"/>
              <a:pathLst>
                <a:path h="3413760" w="10485120">
                  <a:moveTo>
                    <a:pt x="0" y="0"/>
                  </a:moveTo>
                  <a:lnTo>
                    <a:pt x="10485120" y="0"/>
                  </a:lnTo>
                  <a:lnTo>
                    <a:pt x="10485120" y="3413760"/>
                  </a:lnTo>
                  <a:lnTo>
                    <a:pt x="0" y="3413760"/>
                  </a:lnTo>
                  <a:close/>
                </a:path>
              </a:pathLst>
            </a:custGeom>
            <a:solidFill>
              <a:srgbClr val="DCFCE7"/>
            </a:solidFill>
          </p:spPr>
        </p:sp>
      </p:grpSp>
      <p:grpSp>
        <p:nvGrpSpPr>
          <p:cNvPr name="Group 41" id="41"/>
          <p:cNvGrpSpPr/>
          <p:nvPr/>
        </p:nvGrpSpPr>
        <p:grpSpPr>
          <a:xfrm rot="0">
            <a:off x="9875520" y="7040880"/>
            <a:ext cx="7315200" cy="548640"/>
            <a:chOff x="0" y="0"/>
            <a:chExt cx="9753600" cy="731520"/>
          </a:xfrm>
        </p:grpSpPr>
        <p:sp>
          <p:nvSpPr>
            <p:cNvPr name="Freeform 42" id="42"/>
            <p:cNvSpPr/>
            <p:nvPr/>
          </p:nvSpPr>
          <p:spPr>
            <a:xfrm flipH="false" flipV="false" rot="0">
              <a:off x="0" y="0"/>
              <a:ext cx="9753600" cy="731520"/>
            </a:xfrm>
            <a:custGeom>
              <a:avLst/>
              <a:gdLst/>
              <a:ahLst/>
              <a:cxnLst/>
              <a:rect r="r" b="b" t="t" l="l"/>
              <a:pathLst>
                <a:path h="731520" w="9753600">
                  <a:moveTo>
                    <a:pt x="0" y="0"/>
                  </a:moveTo>
                  <a:lnTo>
                    <a:pt x="9753600" y="0"/>
                  </a:lnTo>
                  <a:lnTo>
                    <a:pt x="9753600" y="731520"/>
                  </a:lnTo>
                  <a:lnTo>
                    <a:pt x="0" y="731520"/>
                  </a:lnTo>
                  <a:close/>
                </a:path>
              </a:pathLst>
            </a:custGeom>
            <a:blipFill>
              <a:blip r:embed="rId2">
                <a:alphaModFix amt="0"/>
              </a:blip>
              <a:stretch>
                <a:fillRect l="0" t="-209800" r="0" b="-209800"/>
              </a:stretch>
            </a:blipFill>
          </p:spPr>
        </p:sp>
        <p:sp>
          <p:nvSpPr>
            <p:cNvPr name="TextBox 43" id="43"/>
            <p:cNvSpPr txBox="true"/>
            <p:nvPr/>
          </p:nvSpPr>
          <p:spPr>
            <a:xfrm>
              <a:off x="0" y="-19050"/>
              <a:ext cx="9753600" cy="750570"/>
            </a:xfrm>
            <a:prstGeom prst="rect">
              <a:avLst/>
            </a:prstGeom>
          </p:spPr>
          <p:txBody>
            <a:bodyPr anchor="ctr" rtlCol="false" tIns="0" lIns="0" bIns="0" rIns="0"/>
            <a:lstStyle/>
            <a:p>
              <a:pPr algn="l">
                <a:lnSpc>
                  <a:spcPts val="3359"/>
                </a:lnSpc>
              </a:pPr>
              <a:r>
                <a:rPr lang="en-US" sz="2799" b="true">
                  <a:solidFill>
                    <a:srgbClr val="166534"/>
                  </a:solidFill>
                  <a:latin typeface="Arial Bold"/>
                  <a:ea typeface="Arial Bold"/>
                  <a:cs typeface="Arial Bold"/>
                  <a:sym typeface="Arial Bold"/>
                </a:rPr>
                <a:t>✓ Avec vocabulaire</a:t>
              </a:r>
            </a:p>
          </p:txBody>
        </p:sp>
      </p:grpSp>
      <p:grpSp>
        <p:nvGrpSpPr>
          <p:cNvPr name="Group 44" id="44"/>
          <p:cNvGrpSpPr/>
          <p:nvPr/>
        </p:nvGrpSpPr>
        <p:grpSpPr>
          <a:xfrm rot="0">
            <a:off x="9875520" y="7680960"/>
            <a:ext cx="7315200" cy="1280160"/>
            <a:chOff x="0" y="0"/>
            <a:chExt cx="9753600" cy="1706880"/>
          </a:xfrm>
        </p:grpSpPr>
        <p:sp>
          <p:nvSpPr>
            <p:cNvPr name="Freeform 45" id="45"/>
            <p:cNvSpPr/>
            <p:nvPr/>
          </p:nvSpPr>
          <p:spPr>
            <a:xfrm flipH="false" flipV="false" rot="0">
              <a:off x="0" y="0"/>
              <a:ext cx="9753600" cy="1706880"/>
            </a:xfrm>
            <a:custGeom>
              <a:avLst/>
              <a:gdLst/>
              <a:ahLst/>
              <a:cxnLst/>
              <a:rect r="r" b="b" t="t" l="l"/>
              <a:pathLst>
                <a:path h="1706880" w="9753600">
                  <a:moveTo>
                    <a:pt x="0" y="0"/>
                  </a:moveTo>
                  <a:lnTo>
                    <a:pt x="9753600" y="0"/>
                  </a:lnTo>
                  <a:lnTo>
                    <a:pt x="9753600" y="1706880"/>
                  </a:lnTo>
                  <a:lnTo>
                    <a:pt x="0" y="1706880"/>
                  </a:lnTo>
                  <a:close/>
                </a:path>
              </a:pathLst>
            </a:custGeom>
            <a:blipFill>
              <a:blip r:embed="rId2">
                <a:alphaModFix amt="0"/>
              </a:blip>
              <a:stretch>
                <a:fillRect l="0" t="-61343" r="0" b="-61343"/>
              </a:stretch>
            </a:blipFill>
          </p:spPr>
        </p:sp>
        <p:sp>
          <p:nvSpPr>
            <p:cNvPr name="TextBox 46" id="46"/>
            <p:cNvSpPr txBox="true"/>
            <p:nvPr/>
          </p:nvSpPr>
          <p:spPr>
            <a:xfrm>
              <a:off x="0" y="-9525"/>
              <a:ext cx="9753600" cy="1716405"/>
            </a:xfrm>
            <a:prstGeom prst="rect">
              <a:avLst/>
            </a:prstGeom>
          </p:spPr>
          <p:txBody>
            <a:bodyPr anchor="ctr" rtlCol="false" tIns="0" lIns="0" bIns="0" rIns="0"/>
            <a:lstStyle/>
            <a:p>
              <a:pPr algn="l">
                <a:lnSpc>
                  <a:spcPts val="2879"/>
                </a:lnSpc>
              </a:pPr>
              <a:r>
                <a:rPr lang="en-US" sz="2400">
                  <a:solidFill>
                    <a:srgbClr val="1F2937"/>
                  </a:solidFill>
                  <a:latin typeface="Arial"/>
                  <a:ea typeface="Arial"/>
                  <a:cs typeface="Arial"/>
                  <a:sym typeface="Arial"/>
                </a:rPr>
                <a:t>Langage commun</a:t>
              </a:r>
            </a:p>
            <a:p>
              <a:pPr algn="l">
                <a:lnSpc>
                  <a:spcPts val="2879"/>
                </a:lnSpc>
              </a:pPr>
              <a:r>
                <a:rPr lang="en-US" sz="2400">
                  <a:solidFill>
                    <a:srgbClr val="1F2937"/>
                  </a:solidFill>
                  <a:latin typeface="Arial"/>
                  <a:ea typeface="Arial"/>
                  <a:cs typeface="Arial"/>
                  <a:sym typeface="Arial"/>
                </a:rPr>
                <a:t>Interopérabilité possible</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0891B2"/>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0891B2"/>
            </a:solidFill>
          </p:spPr>
        </p:sp>
      </p:grpSp>
      <p:grpSp>
        <p:nvGrpSpPr>
          <p:cNvPr name="Group 5" id="5"/>
          <p:cNvGrpSpPr/>
          <p:nvPr/>
        </p:nvGrpSpPr>
        <p:grpSpPr>
          <a:xfrm rot="0">
            <a:off x="15532103" y="170183"/>
            <a:ext cx="2585723" cy="793499"/>
            <a:chOff x="0" y="0"/>
            <a:chExt cx="3447631" cy="1057999"/>
          </a:xfrm>
        </p:grpSpPr>
        <p:sp>
          <p:nvSpPr>
            <p:cNvPr name="Freeform 6" id="6"/>
            <p:cNvSpPr/>
            <p:nvPr/>
          </p:nvSpPr>
          <p:spPr>
            <a:xfrm flipH="false" flipV="false" rot="0">
              <a:off x="16891" y="16891"/>
              <a:ext cx="3413760" cy="1024128"/>
            </a:xfrm>
            <a:custGeom>
              <a:avLst/>
              <a:gdLst/>
              <a:ahLst/>
              <a:cxnLst/>
              <a:rect r="r" b="b" t="t" l="l"/>
              <a:pathLst>
                <a:path h="1024128" w="3413760">
                  <a:moveTo>
                    <a:pt x="0" y="0"/>
                  </a:moveTo>
                  <a:lnTo>
                    <a:pt x="3413760" y="0"/>
                  </a:lnTo>
                  <a:lnTo>
                    <a:pt x="3413760" y="1024128"/>
                  </a:lnTo>
                  <a:lnTo>
                    <a:pt x="0" y="1024128"/>
                  </a:lnTo>
                  <a:close/>
                </a:path>
              </a:pathLst>
            </a:custGeom>
            <a:solidFill>
              <a:srgbClr val="0891B2"/>
            </a:solidFill>
          </p:spPr>
        </p:sp>
        <p:sp>
          <p:nvSpPr>
            <p:cNvPr name="Freeform 7" id="7"/>
            <p:cNvSpPr/>
            <p:nvPr/>
          </p:nvSpPr>
          <p:spPr>
            <a:xfrm flipH="false" flipV="false" rot="0">
              <a:off x="0" y="0"/>
              <a:ext cx="3447542" cy="1057912"/>
            </a:xfrm>
            <a:custGeom>
              <a:avLst/>
              <a:gdLst/>
              <a:ahLst/>
              <a:cxnLst/>
              <a:rect r="r" b="b" t="t" l="l"/>
              <a:pathLst>
                <a:path h="1057912" w="3447542">
                  <a:moveTo>
                    <a:pt x="16891" y="0"/>
                  </a:moveTo>
                  <a:lnTo>
                    <a:pt x="3430651" y="0"/>
                  </a:lnTo>
                  <a:cubicBezTo>
                    <a:pt x="3440049" y="0"/>
                    <a:pt x="3447542" y="7620"/>
                    <a:pt x="3447542" y="16891"/>
                  </a:cubicBezTo>
                  <a:lnTo>
                    <a:pt x="3447542" y="1041019"/>
                  </a:lnTo>
                  <a:cubicBezTo>
                    <a:pt x="3447542" y="1050417"/>
                    <a:pt x="3439922" y="1057910"/>
                    <a:pt x="343065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430651" y="1024128"/>
                  </a:lnTo>
                  <a:lnTo>
                    <a:pt x="3430651" y="1041019"/>
                  </a:lnTo>
                  <a:lnTo>
                    <a:pt x="3413760" y="1041019"/>
                  </a:lnTo>
                  <a:lnTo>
                    <a:pt x="3413760" y="16891"/>
                  </a:lnTo>
                  <a:lnTo>
                    <a:pt x="3430651" y="16891"/>
                  </a:lnTo>
                  <a:lnTo>
                    <a:pt x="3430651" y="33909"/>
                  </a:lnTo>
                  <a:lnTo>
                    <a:pt x="16891" y="33909"/>
                  </a:lnTo>
                  <a:close/>
                </a:path>
              </a:pathLst>
            </a:custGeom>
            <a:solidFill>
              <a:srgbClr val="0891B2"/>
            </a:solidFill>
          </p:spPr>
        </p:sp>
      </p:grpSp>
      <p:grpSp>
        <p:nvGrpSpPr>
          <p:cNvPr name="Group 8" id="8"/>
          <p:cNvGrpSpPr/>
          <p:nvPr/>
        </p:nvGrpSpPr>
        <p:grpSpPr>
          <a:xfrm rot="0">
            <a:off x="15544800" y="182880"/>
            <a:ext cx="2560320" cy="768096"/>
            <a:chOff x="0" y="0"/>
            <a:chExt cx="3413760" cy="1024128"/>
          </a:xfrm>
        </p:grpSpPr>
        <p:sp>
          <p:nvSpPr>
            <p:cNvPr name="Freeform 9" id="9"/>
            <p:cNvSpPr/>
            <p:nvPr/>
          </p:nvSpPr>
          <p:spPr>
            <a:xfrm flipH="false" flipV="false" rot="0">
              <a:off x="0" y="0"/>
              <a:ext cx="3413760" cy="1024128"/>
            </a:xfrm>
            <a:custGeom>
              <a:avLst/>
              <a:gdLst/>
              <a:ahLst/>
              <a:cxnLst/>
              <a:rect r="r" b="b" t="t" l="l"/>
              <a:pathLst>
                <a:path h="1024128" w="3413760">
                  <a:moveTo>
                    <a:pt x="0" y="0"/>
                  </a:moveTo>
                  <a:lnTo>
                    <a:pt x="3413760" y="0"/>
                  </a:lnTo>
                  <a:lnTo>
                    <a:pt x="3413760" y="1024128"/>
                  </a:lnTo>
                  <a:lnTo>
                    <a:pt x="0" y="1024128"/>
                  </a:lnTo>
                  <a:close/>
                </a:path>
              </a:pathLst>
            </a:custGeom>
            <a:blipFill>
              <a:blip r:embed="rId2">
                <a:alphaModFix amt="0"/>
              </a:blip>
              <a:stretch>
                <a:fillRect l="0" t="-14950" r="0" b="-14950"/>
              </a:stretch>
            </a:blipFill>
          </p:spPr>
        </p:sp>
        <p:sp>
          <p:nvSpPr>
            <p:cNvPr name="TextBox 10" id="10"/>
            <p:cNvSpPr txBox="true"/>
            <p:nvPr/>
          </p:nvSpPr>
          <p:spPr>
            <a:xfrm>
              <a:off x="0" y="-38100"/>
              <a:ext cx="3413760" cy="106222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DCAT  1/3</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0891B2"/>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0891B2"/>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DCAT — Data Catalog Vocabulary</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38100"/>
              <a:ext cx="21945600" cy="720852"/>
            </a:xfrm>
            <a:prstGeom prst="rect">
              <a:avLst/>
            </a:prstGeom>
          </p:spPr>
          <p:txBody>
            <a:bodyPr anchor="ctr" rtlCol="false" tIns="0" lIns="0" bIns="0" rIns="0"/>
            <a:lstStyle/>
            <a:p>
              <a:pPr algn="l">
                <a:lnSpc>
                  <a:spcPts val="2879"/>
                </a:lnSpc>
              </a:pPr>
              <a:r>
                <a:rPr lang="en-US" sz="2400" i="true">
                  <a:solidFill>
                    <a:srgbClr val="64748B"/>
                  </a:solidFill>
                  <a:latin typeface="Calibri (MS) Italics"/>
                  <a:ea typeface="Calibri (MS) Italics"/>
                  <a:cs typeface="Calibri (MS) Italics"/>
                  <a:sym typeface="Calibri (MS) Italics"/>
                </a:rPr>
                <a:t>Définition et Concepts de base</a:t>
              </a:r>
            </a:p>
          </p:txBody>
        </p:sp>
      </p:grpSp>
      <p:grpSp>
        <p:nvGrpSpPr>
          <p:cNvPr name="Group 20" id="20"/>
          <p:cNvGrpSpPr/>
          <p:nvPr/>
        </p:nvGrpSpPr>
        <p:grpSpPr>
          <a:xfrm rot="0">
            <a:off x="718823" y="1998983"/>
            <a:ext cx="16850363" cy="1342139"/>
            <a:chOff x="0" y="0"/>
            <a:chExt cx="22467151" cy="1789519"/>
          </a:xfrm>
        </p:grpSpPr>
        <p:sp>
          <p:nvSpPr>
            <p:cNvPr name="Freeform 21" id="21"/>
            <p:cNvSpPr/>
            <p:nvPr/>
          </p:nvSpPr>
          <p:spPr>
            <a:xfrm flipH="false" flipV="false" rot="0">
              <a:off x="16891" y="16891"/>
              <a:ext cx="22433280" cy="1755648"/>
            </a:xfrm>
            <a:custGeom>
              <a:avLst/>
              <a:gdLst/>
              <a:ahLst/>
              <a:cxnLst/>
              <a:rect r="r" b="b" t="t" l="l"/>
              <a:pathLst>
                <a:path h="1755648" w="22433280">
                  <a:moveTo>
                    <a:pt x="0" y="0"/>
                  </a:moveTo>
                  <a:lnTo>
                    <a:pt x="22433280" y="0"/>
                  </a:lnTo>
                  <a:lnTo>
                    <a:pt x="22433280" y="1755648"/>
                  </a:lnTo>
                  <a:lnTo>
                    <a:pt x="0" y="1755648"/>
                  </a:lnTo>
                  <a:close/>
                </a:path>
              </a:pathLst>
            </a:custGeom>
            <a:solidFill>
              <a:srgbClr val="E0F2FE"/>
            </a:solidFill>
          </p:spPr>
        </p:sp>
        <p:sp>
          <p:nvSpPr>
            <p:cNvPr name="Freeform 22" id="22"/>
            <p:cNvSpPr/>
            <p:nvPr/>
          </p:nvSpPr>
          <p:spPr>
            <a:xfrm flipH="false" flipV="false" rot="0">
              <a:off x="0" y="0"/>
              <a:ext cx="22467063" cy="1789430"/>
            </a:xfrm>
            <a:custGeom>
              <a:avLst/>
              <a:gdLst/>
              <a:ahLst/>
              <a:cxnLst/>
              <a:rect r="r" b="b" t="t" l="l"/>
              <a:pathLst>
                <a:path h="1789430" w="22467063">
                  <a:moveTo>
                    <a:pt x="16891" y="0"/>
                  </a:moveTo>
                  <a:lnTo>
                    <a:pt x="22450171" y="0"/>
                  </a:lnTo>
                  <a:cubicBezTo>
                    <a:pt x="22459569" y="0"/>
                    <a:pt x="22467063" y="7620"/>
                    <a:pt x="22467063" y="16891"/>
                  </a:cubicBezTo>
                  <a:lnTo>
                    <a:pt x="22467063" y="1772539"/>
                  </a:lnTo>
                  <a:cubicBezTo>
                    <a:pt x="22467063" y="1781937"/>
                    <a:pt x="22459443" y="1789430"/>
                    <a:pt x="22450171"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22450171" y="1755648"/>
                  </a:lnTo>
                  <a:lnTo>
                    <a:pt x="22450171" y="1772539"/>
                  </a:lnTo>
                  <a:lnTo>
                    <a:pt x="22433280" y="1772539"/>
                  </a:lnTo>
                  <a:lnTo>
                    <a:pt x="22433280" y="16891"/>
                  </a:lnTo>
                  <a:lnTo>
                    <a:pt x="22450171" y="16891"/>
                  </a:lnTo>
                  <a:lnTo>
                    <a:pt x="22450171" y="33909"/>
                  </a:lnTo>
                  <a:lnTo>
                    <a:pt x="16891" y="33909"/>
                  </a:lnTo>
                  <a:close/>
                </a:path>
              </a:pathLst>
            </a:custGeom>
            <a:solidFill>
              <a:srgbClr val="0891B2"/>
            </a:solidFill>
          </p:spPr>
        </p:sp>
      </p:grpSp>
      <p:grpSp>
        <p:nvGrpSpPr>
          <p:cNvPr name="Group 23" id="23"/>
          <p:cNvGrpSpPr/>
          <p:nvPr/>
        </p:nvGrpSpPr>
        <p:grpSpPr>
          <a:xfrm rot="0">
            <a:off x="1097280" y="2121408"/>
            <a:ext cx="16093440" cy="1097280"/>
            <a:chOff x="0" y="0"/>
            <a:chExt cx="21457920" cy="1463040"/>
          </a:xfrm>
        </p:grpSpPr>
        <p:sp>
          <p:nvSpPr>
            <p:cNvPr name="Freeform 24" id="24"/>
            <p:cNvSpPr/>
            <p:nvPr/>
          </p:nvSpPr>
          <p:spPr>
            <a:xfrm flipH="false" flipV="false" rot="0">
              <a:off x="0" y="0"/>
              <a:ext cx="21457920" cy="1463040"/>
            </a:xfrm>
            <a:custGeom>
              <a:avLst/>
              <a:gdLst/>
              <a:ahLst/>
              <a:cxnLst/>
              <a:rect r="r" b="b" t="t" l="l"/>
              <a:pathLst>
                <a:path h="1463040" w="21457920">
                  <a:moveTo>
                    <a:pt x="0" y="0"/>
                  </a:moveTo>
                  <a:lnTo>
                    <a:pt x="21457920" y="0"/>
                  </a:lnTo>
                  <a:lnTo>
                    <a:pt x="21457920" y="1463040"/>
                  </a:lnTo>
                  <a:lnTo>
                    <a:pt x="0" y="1463040"/>
                  </a:lnTo>
                  <a:close/>
                </a:path>
              </a:pathLst>
            </a:custGeom>
            <a:blipFill>
              <a:blip r:embed="rId2">
                <a:alphaModFix amt="0"/>
              </a:blip>
              <a:stretch>
                <a:fillRect l="0" t="-235780" r="0" b="-235780"/>
              </a:stretch>
            </a:blipFill>
          </p:spPr>
        </p:sp>
        <p:sp>
          <p:nvSpPr>
            <p:cNvPr name="TextBox 25" id="25"/>
            <p:cNvSpPr txBox="true"/>
            <p:nvPr/>
          </p:nvSpPr>
          <p:spPr>
            <a:xfrm>
              <a:off x="0" y="-38100"/>
              <a:ext cx="21457920" cy="150114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  Standard W3C conçu pour faciliter l'interopérabilité entre les catalogues de données publiés sur le Web.</a:t>
              </a:r>
            </a:p>
          </p:txBody>
        </p:sp>
      </p:grpSp>
      <p:grpSp>
        <p:nvGrpSpPr>
          <p:cNvPr name="Group 26" id="26"/>
          <p:cNvGrpSpPr/>
          <p:nvPr/>
        </p:nvGrpSpPr>
        <p:grpSpPr>
          <a:xfrm rot="0">
            <a:off x="718823" y="3474472"/>
            <a:ext cx="8300228" cy="1762763"/>
            <a:chOff x="0" y="0"/>
            <a:chExt cx="11066970" cy="2350351"/>
          </a:xfrm>
        </p:grpSpPr>
        <p:sp>
          <p:nvSpPr>
            <p:cNvPr name="Freeform 27" id="27"/>
            <p:cNvSpPr/>
            <p:nvPr/>
          </p:nvSpPr>
          <p:spPr>
            <a:xfrm flipH="false" flipV="false" rot="0">
              <a:off x="8320" y="16891"/>
              <a:ext cx="11050286" cy="2316480"/>
            </a:xfrm>
            <a:custGeom>
              <a:avLst/>
              <a:gdLst/>
              <a:ahLst/>
              <a:cxnLst/>
              <a:rect r="r" b="b" t="t" l="l"/>
              <a:pathLst>
                <a:path h="2316480" w="11050286">
                  <a:moveTo>
                    <a:pt x="0" y="0"/>
                  </a:moveTo>
                  <a:lnTo>
                    <a:pt x="11050286" y="0"/>
                  </a:lnTo>
                  <a:lnTo>
                    <a:pt x="11050286" y="2316480"/>
                  </a:lnTo>
                  <a:lnTo>
                    <a:pt x="0" y="2316480"/>
                  </a:lnTo>
                  <a:close/>
                </a:path>
              </a:pathLst>
            </a:custGeom>
            <a:solidFill>
              <a:srgbClr val="F1F5F9"/>
            </a:solidFill>
          </p:spPr>
        </p:sp>
        <p:sp>
          <p:nvSpPr>
            <p:cNvPr name="Freeform 28" id="28"/>
            <p:cNvSpPr/>
            <p:nvPr/>
          </p:nvSpPr>
          <p:spPr>
            <a:xfrm flipH="false" flipV="false" rot="0">
              <a:off x="0" y="0"/>
              <a:ext cx="11066927" cy="2350262"/>
            </a:xfrm>
            <a:custGeom>
              <a:avLst/>
              <a:gdLst/>
              <a:ahLst/>
              <a:cxnLst/>
              <a:rect r="r" b="b" t="t" l="l"/>
              <a:pathLst>
                <a:path h="2350262" w="11066927">
                  <a:moveTo>
                    <a:pt x="8320" y="0"/>
                  </a:moveTo>
                  <a:lnTo>
                    <a:pt x="11058606" y="0"/>
                  </a:lnTo>
                  <a:cubicBezTo>
                    <a:pt x="11063236" y="0"/>
                    <a:pt x="11066927" y="7620"/>
                    <a:pt x="11066927" y="16891"/>
                  </a:cubicBezTo>
                  <a:lnTo>
                    <a:pt x="11066927" y="2333371"/>
                  </a:lnTo>
                  <a:cubicBezTo>
                    <a:pt x="11066927" y="2342769"/>
                    <a:pt x="11063174" y="2350262"/>
                    <a:pt x="11058606" y="2350262"/>
                  </a:cubicBezTo>
                  <a:lnTo>
                    <a:pt x="8320" y="2350262"/>
                  </a:lnTo>
                  <a:cubicBezTo>
                    <a:pt x="3691" y="2350262"/>
                    <a:pt x="0" y="2342642"/>
                    <a:pt x="0" y="2333371"/>
                  </a:cubicBezTo>
                  <a:lnTo>
                    <a:pt x="0" y="16891"/>
                  </a:lnTo>
                  <a:cubicBezTo>
                    <a:pt x="0" y="7620"/>
                    <a:pt x="3753" y="0"/>
                    <a:pt x="8320" y="0"/>
                  </a:cubicBezTo>
                  <a:moveTo>
                    <a:pt x="8320" y="33909"/>
                  </a:moveTo>
                  <a:lnTo>
                    <a:pt x="8320" y="16891"/>
                  </a:lnTo>
                  <a:lnTo>
                    <a:pt x="16703" y="16891"/>
                  </a:lnTo>
                  <a:lnTo>
                    <a:pt x="16703" y="2333371"/>
                  </a:lnTo>
                  <a:lnTo>
                    <a:pt x="8320" y="2333371"/>
                  </a:lnTo>
                  <a:lnTo>
                    <a:pt x="8320" y="2316480"/>
                  </a:lnTo>
                  <a:lnTo>
                    <a:pt x="11058606" y="2316480"/>
                  </a:lnTo>
                  <a:lnTo>
                    <a:pt x="11058606" y="2333371"/>
                  </a:lnTo>
                  <a:lnTo>
                    <a:pt x="11050286" y="2333371"/>
                  </a:lnTo>
                  <a:lnTo>
                    <a:pt x="11050286" y="16891"/>
                  </a:lnTo>
                  <a:lnTo>
                    <a:pt x="11058606" y="16891"/>
                  </a:lnTo>
                  <a:lnTo>
                    <a:pt x="11058606" y="33909"/>
                  </a:lnTo>
                  <a:lnTo>
                    <a:pt x="8320" y="33909"/>
                  </a:lnTo>
                  <a:close/>
                </a:path>
              </a:pathLst>
            </a:custGeom>
            <a:solidFill>
              <a:srgbClr val="0891B2"/>
            </a:solidFill>
          </p:spPr>
        </p:sp>
      </p:grpSp>
      <p:grpSp>
        <p:nvGrpSpPr>
          <p:cNvPr name="Group 29" id="29"/>
          <p:cNvGrpSpPr/>
          <p:nvPr/>
        </p:nvGrpSpPr>
        <p:grpSpPr>
          <a:xfrm rot="0">
            <a:off x="718823" y="3474472"/>
            <a:ext cx="61126" cy="1762763"/>
            <a:chOff x="0" y="0"/>
            <a:chExt cx="81502" cy="2350351"/>
          </a:xfrm>
        </p:grpSpPr>
        <p:sp>
          <p:nvSpPr>
            <p:cNvPr name="Freeform 30" id="30"/>
            <p:cNvSpPr/>
            <p:nvPr/>
          </p:nvSpPr>
          <p:spPr>
            <a:xfrm flipH="false" flipV="false" rot="0">
              <a:off x="7641" y="16891"/>
              <a:ext cx="66180" cy="2316480"/>
            </a:xfrm>
            <a:custGeom>
              <a:avLst/>
              <a:gdLst/>
              <a:ahLst/>
              <a:cxnLst/>
              <a:rect r="r" b="b" t="t" l="l"/>
              <a:pathLst>
                <a:path h="2316480" w="66180">
                  <a:moveTo>
                    <a:pt x="0" y="0"/>
                  </a:moveTo>
                  <a:lnTo>
                    <a:pt x="66180" y="0"/>
                  </a:lnTo>
                  <a:lnTo>
                    <a:pt x="66180" y="2316480"/>
                  </a:lnTo>
                  <a:lnTo>
                    <a:pt x="0" y="2316480"/>
                  </a:lnTo>
                  <a:close/>
                </a:path>
              </a:pathLst>
            </a:custGeom>
            <a:solidFill>
              <a:srgbClr val="0891B2"/>
            </a:solidFill>
          </p:spPr>
        </p:sp>
        <p:sp>
          <p:nvSpPr>
            <p:cNvPr name="Freeform 31" id="31"/>
            <p:cNvSpPr/>
            <p:nvPr/>
          </p:nvSpPr>
          <p:spPr>
            <a:xfrm flipH="false" flipV="false" rot="0">
              <a:off x="0" y="0"/>
              <a:ext cx="81461" cy="2350262"/>
            </a:xfrm>
            <a:custGeom>
              <a:avLst/>
              <a:gdLst/>
              <a:ahLst/>
              <a:cxnLst/>
              <a:rect r="r" b="b" t="t" l="l"/>
              <a:pathLst>
                <a:path h="2350262" w="81461">
                  <a:moveTo>
                    <a:pt x="7641" y="0"/>
                  </a:moveTo>
                  <a:lnTo>
                    <a:pt x="73821" y="0"/>
                  </a:lnTo>
                  <a:cubicBezTo>
                    <a:pt x="78072" y="0"/>
                    <a:pt x="81461" y="7620"/>
                    <a:pt x="81461" y="16891"/>
                  </a:cubicBezTo>
                  <a:lnTo>
                    <a:pt x="81461" y="2333371"/>
                  </a:lnTo>
                  <a:cubicBezTo>
                    <a:pt x="81461" y="2342769"/>
                    <a:pt x="78015" y="2350262"/>
                    <a:pt x="73821" y="2350262"/>
                  </a:cubicBezTo>
                  <a:lnTo>
                    <a:pt x="7641" y="2350262"/>
                  </a:lnTo>
                  <a:cubicBezTo>
                    <a:pt x="3389" y="2350262"/>
                    <a:pt x="0" y="2342642"/>
                    <a:pt x="0" y="2333371"/>
                  </a:cubicBezTo>
                  <a:lnTo>
                    <a:pt x="0" y="16891"/>
                  </a:lnTo>
                  <a:cubicBezTo>
                    <a:pt x="0" y="7620"/>
                    <a:pt x="3447" y="0"/>
                    <a:pt x="7641" y="0"/>
                  </a:cubicBezTo>
                  <a:moveTo>
                    <a:pt x="7641" y="33909"/>
                  </a:moveTo>
                  <a:lnTo>
                    <a:pt x="7641" y="16891"/>
                  </a:lnTo>
                  <a:lnTo>
                    <a:pt x="15339" y="16891"/>
                  </a:lnTo>
                  <a:lnTo>
                    <a:pt x="15339" y="2333371"/>
                  </a:lnTo>
                  <a:lnTo>
                    <a:pt x="7641" y="2333371"/>
                  </a:lnTo>
                  <a:lnTo>
                    <a:pt x="7641" y="2316480"/>
                  </a:lnTo>
                  <a:lnTo>
                    <a:pt x="73821" y="2316480"/>
                  </a:lnTo>
                  <a:lnTo>
                    <a:pt x="73821" y="2333371"/>
                  </a:lnTo>
                  <a:lnTo>
                    <a:pt x="66180" y="2333371"/>
                  </a:lnTo>
                  <a:lnTo>
                    <a:pt x="66180" y="16891"/>
                  </a:lnTo>
                  <a:lnTo>
                    <a:pt x="73821" y="16891"/>
                  </a:lnTo>
                  <a:lnTo>
                    <a:pt x="73821" y="33909"/>
                  </a:lnTo>
                  <a:lnTo>
                    <a:pt x="7641" y="33909"/>
                  </a:lnTo>
                  <a:close/>
                </a:path>
              </a:pathLst>
            </a:custGeom>
            <a:solidFill>
              <a:srgbClr val="0891B2"/>
            </a:solidFill>
          </p:spPr>
        </p:sp>
      </p:grpSp>
      <p:grpSp>
        <p:nvGrpSpPr>
          <p:cNvPr name="Group 32" id="32"/>
          <p:cNvGrpSpPr/>
          <p:nvPr/>
        </p:nvGrpSpPr>
        <p:grpSpPr>
          <a:xfrm rot="0">
            <a:off x="887228" y="3633473"/>
            <a:ext cx="7927379" cy="585216"/>
            <a:chOff x="0" y="0"/>
            <a:chExt cx="10569839" cy="780288"/>
          </a:xfrm>
        </p:grpSpPr>
        <p:sp>
          <p:nvSpPr>
            <p:cNvPr name="Freeform 33" id="33"/>
            <p:cNvSpPr/>
            <p:nvPr/>
          </p:nvSpPr>
          <p:spPr>
            <a:xfrm flipH="false" flipV="false" rot="0">
              <a:off x="0" y="0"/>
              <a:ext cx="10569839" cy="780288"/>
            </a:xfrm>
            <a:custGeom>
              <a:avLst/>
              <a:gdLst/>
              <a:ahLst/>
              <a:cxnLst/>
              <a:rect r="r" b="b" t="t" l="l"/>
              <a:pathLst>
                <a:path h="780288" w="10569839">
                  <a:moveTo>
                    <a:pt x="0" y="0"/>
                  </a:moveTo>
                  <a:lnTo>
                    <a:pt x="10569839" y="0"/>
                  </a:lnTo>
                  <a:lnTo>
                    <a:pt x="10569839" y="780288"/>
                  </a:lnTo>
                  <a:lnTo>
                    <a:pt x="0" y="780288"/>
                  </a:lnTo>
                  <a:close/>
                </a:path>
              </a:pathLst>
            </a:custGeom>
            <a:blipFill>
              <a:blip r:embed="rId2">
                <a:alphaModFix amt="0"/>
              </a:blip>
              <a:stretch>
                <a:fillRect l="0" t="-144850" r="26177" b="-144850"/>
              </a:stretch>
            </a:blipFill>
          </p:spPr>
        </p:sp>
        <p:sp>
          <p:nvSpPr>
            <p:cNvPr name="TextBox 34" id="34"/>
            <p:cNvSpPr txBox="true"/>
            <p:nvPr/>
          </p:nvSpPr>
          <p:spPr>
            <a:xfrm>
              <a:off x="0" y="-38100"/>
              <a:ext cx="10569839" cy="818388"/>
            </a:xfrm>
            <a:prstGeom prst="rect">
              <a:avLst/>
            </a:prstGeom>
          </p:spPr>
          <p:txBody>
            <a:bodyPr anchor="ctr" rtlCol="false" tIns="0" lIns="0" bIns="0" rIns="0"/>
            <a:lstStyle/>
            <a:p>
              <a:pPr algn="l">
                <a:lnSpc>
                  <a:spcPts val="2879"/>
                </a:lnSpc>
              </a:pPr>
              <a:r>
                <a:rPr lang="en-US" sz="2400" b="true">
                  <a:solidFill>
                    <a:srgbClr val="0891B2"/>
                  </a:solidFill>
                  <a:latin typeface="Calibri (MS) Bold"/>
                  <a:ea typeface="Calibri (MS) Bold"/>
                  <a:cs typeface="Calibri (MS) Bold"/>
                  <a:sym typeface="Calibri (MS) Bold"/>
                </a:rPr>
                <a:t>🎯  Objectif Principal</a:t>
              </a:r>
            </a:p>
          </p:txBody>
        </p:sp>
      </p:grpSp>
      <p:grpSp>
        <p:nvGrpSpPr>
          <p:cNvPr name="Group 35" id="35"/>
          <p:cNvGrpSpPr/>
          <p:nvPr/>
        </p:nvGrpSpPr>
        <p:grpSpPr>
          <a:xfrm rot="0">
            <a:off x="887228" y="4255265"/>
            <a:ext cx="7927379" cy="841248"/>
            <a:chOff x="0" y="0"/>
            <a:chExt cx="10569839" cy="1121664"/>
          </a:xfrm>
        </p:grpSpPr>
        <p:sp>
          <p:nvSpPr>
            <p:cNvPr name="Freeform 36" id="36"/>
            <p:cNvSpPr/>
            <p:nvPr/>
          </p:nvSpPr>
          <p:spPr>
            <a:xfrm flipH="false" flipV="false" rot="0">
              <a:off x="0" y="0"/>
              <a:ext cx="10569839" cy="1121664"/>
            </a:xfrm>
            <a:custGeom>
              <a:avLst/>
              <a:gdLst/>
              <a:ahLst/>
              <a:cxnLst/>
              <a:rect r="r" b="b" t="t" l="l"/>
              <a:pathLst>
                <a:path h="1121664" w="10569839">
                  <a:moveTo>
                    <a:pt x="0" y="0"/>
                  </a:moveTo>
                  <a:lnTo>
                    <a:pt x="10569839" y="0"/>
                  </a:lnTo>
                  <a:lnTo>
                    <a:pt x="10569839" y="1121664"/>
                  </a:lnTo>
                  <a:lnTo>
                    <a:pt x="0" y="1121664"/>
                  </a:lnTo>
                  <a:close/>
                </a:path>
              </a:pathLst>
            </a:custGeom>
            <a:blipFill>
              <a:blip r:embed="rId2">
                <a:alphaModFix amt="0"/>
              </a:blip>
              <a:stretch>
                <a:fillRect l="0" t="-322757" r="-103010" b="-322757"/>
              </a:stretch>
            </a:blipFill>
          </p:spPr>
        </p:sp>
        <p:sp>
          <p:nvSpPr>
            <p:cNvPr name="TextBox 37" id="37"/>
            <p:cNvSpPr txBox="true"/>
            <p:nvPr/>
          </p:nvSpPr>
          <p:spPr>
            <a:xfrm>
              <a:off x="0" y="-47625"/>
              <a:ext cx="10569839" cy="1169289"/>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Permettre la recherche et la découverte de jeux de données (datasets) à travers de multiples portails de données ouvertes.</a:t>
              </a:r>
            </a:p>
          </p:txBody>
        </p:sp>
      </p:grpSp>
      <p:grpSp>
        <p:nvGrpSpPr>
          <p:cNvPr name="Group 38" id="38"/>
          <p:cNvGrpSpPr/>
          <p:nvPr/>
        </p:nvGrpSpPr>
        <p:grpSpPr>
          <a:xfrm rot="0">
            <a:off x="9256252" y="3474472"/>
            <a:ext cx="8312934" cy="1762763"/>
            <a:chOff x="0" y="0"/>
            <a:chExt cx="11083912" cy="2350351"/>
          </a:xfrm>
        </p:grpSpPr>
        <p:sp>
          <p:nvSpPr>
            <p:cNvPr name="Freeform 39" id="39"/>
            <p:cNvSpPr/>
            <p:nvPr/>
          </p:nvSpPr>
          <p:spPr>
            <a:xfrm flipH="false" flipV="false" rot="0">
              <a:off x="8333" y="16891"/>
              <a:ext cx="11067203" cy="2316480"/>
            </a:xfrm>
            <a:custGeom>
              <a:avLst/>
              <a:gdLst/>
              <a:ahLst/>
              <a:cxnLst/>
              <a:rect r="r" b="b" t="t" l="l"/>
              <a:pathLst>
                <a:path h="2316480" w="11067203">
                  <a:moveTo>
                    <a:pt x="0" y="0"/>
                  </a:moveTo>
                  <a:lnTo>
                    <a:pt x="11067203" y="0"/>
                  </a:lnTo>
                  <a:lnTo>
                    <a:pt x="11067203" y="2316480"/>
                  </a:lnTo>
                  <a:lnTo>
                    <a:pt x="0" y="2316480"/>
                  </a:lnTo>
                  <a:close/>
                </a:path>
              </a:pathLst>
            </a:custGeom>
            <a:solidFill>
              <a:srgbClr val="F1F5F9"/>
            </a:solidFill>
          </p:spPr>
        </p:sp>
        <p:sp>
          <p:nvSpPr>
            <p:cNvPr name="Freeform 40" id="40"/>
            <p:cNvSpPr/>
            <p:nvPr/>
          </p:nvSpPr>
          <p:spPr>
            <a:xfrm flipH="false" flipV="false" rot="0">
              <a:off x="0" y="0"/>
              <a:ext cx="11083868" cy="2350262"/>
            </a:xfrm>
            <a:custGeom>
              <a:avLst/>
              <a:gdLst/>
              <a:ahLst/>
              <a:cxnLst/>
              <a:rect r="r" b="b" t="t" l="l"/>
              <a:pathLst>
                <a:path h="2350262" w="11083868">
                  <a:moveTo>
                    <a:pt x="8333" y="0"/>
                  </a:moveTo>
                  <a:lnTo>
                    <a:pt x="11075536" y="0"/>
                  </a:lnTo>
                  <a:cubicBezTo>
                    <a:pt x="11080172" y="0"/>
                    <a:pt x="11083868" y="7620"/>
                    <a:pt x="11083868" y="16891"/>
                  </a:cubicBezTo>
                  <a:lnTo>
                    <a:pt x="11083868" y="2333371"/>
                  </a:lnTo>
                  <a:cubicBezTo>
                    <a:pt x="11083868" y="2342769"/>
                    <a:pt x="11080110" y="2350262"/>
                    <a:pt x="11075536" y="2350262"/>
                  </a:cubicBezTo>
                  <a:lnTo>
                    <a:pt x="8333" y="2350262"/>
                  </a:lnTo>
                  <a:cubicBezTo>
                    <a:pt x="3697" y="2350262"/>
                    <a:pt x="0" y="2342642"/>
                    <a:pt x="0" y="2333371"/>
                  </a:cubicBezTo>
                  <a:lnTo>
                    <a:pt x="0" y="16891"/>
                  </a:lnTo>
                  <a:cubicBezTo>
                    <a:pt x="0" y="7620"/>
                    <a:pt x="3759" y="0"/>
                    <a:pt x="8333" y="0"/>
                  </a:cubicBezTo>
                  <a:moveTo>
                    <a:pt x="8333" y="33909"/>
                  </a:moveTo>
                  <a:lnTo>
                    <a:pt x="8333" y="16891"/>
                  </a:lnTo>
                  <a:lnTo>
                    <a:pt x="16729" y="16891"/>
                  </a:lnTo>
                  <a:lnTo>
                    <a:pt x="16729" y="2333371"/>
                  </a:lnTo>
                  <a:lnTo>
                    <a:pt x="8333" y="2333371"/>
                  </a:lnTo>
                  <a:lnTo>
                    <a:pt x="8333" y="2316480"/>
                  </a:lnTo>
                  <a:lnTo>
                    <a:pt x="11075536" y="2316480"/>
                  </a:lnTo>
                  <a:lnTo>
                    <a:pt x="11075536" y="2333371"/>
                  </a:lnTo>
                  <a:lnTo>
                    <a:pt x="11067203" y="2333371"/>
                  </a:lnTo>
                  <a:lnTo>
                    <a:pt x="11067203" y="16891"/>
                  </a:lnTo>
                  <a:lnTo>
                    <a:pt x="11075536" y="16891"/>
                  </a:lnTo>
                  <a:lnTo>
                    <a:pt x="11075536" y="33909"/>
                  </a:lnTo>
                  <a:lnTo>
                    <a:pt x="8333" y="33909"/>
                  </a:lnTo>
                  <a:close/>
                </a:path>
              </a:pathLst>
            </a:custGeom>
            <a:solidFill>
              <a:srgbClr val="0891B2"/>
            </a:solidFill>
          </p:spPr>
        </p:sp>
      </p:grpSp>
      <p:grpSp>
        <p:nvGrpSpPr>
          <p:cNvPr name="Group 41" id="41"/>
          <p:cNvGrpSpPr/>
          <p:nvPr/>
        </p:nvGrpSpPr>
        <p:grpSpPr>
          <a:xfrm rot="0">
            <a:off x="9256252" y="3474472"/>
            <a:ext cx="66564" cy="1762763"/>
            <a:chOff x="0" y="0"/>
            <a:chExt cx="88751" cy="2350351"/>
          </a:xfrm>
        </p:grpSpPr>
        <p:sp>
          <p:nvSpPr>
            <p:cNvPr name="Freeform 42" id="42"/>
            <p:cNvSpPr/>
            <p:nvPr/>
          </p:nvSpPr>
          <p:spPr>
            <a:xfrm flipH="false" flipV="false" rot="0">
              <a:off x="8320" y="16891"/>
              <a:ext cx="72067" cy="2316480"/>
            </a:xfrm>
            <a:custGeom>
              <a:avLst/>
              <a:gdLst/>
              <a:ahLst/>
              <a:cxnLst/>
              <a:rect r="r" b="b" t="t" l="l"/>
              <a:pathLst>
                <a:path h="2316480" w="72067">
                  <a:moveTo>
                    <a:pt x="0" y="0"/>
                  </a:moveTo>
                  <a:lnTo>
                    <a:pt x="72067" y="0"/>
                  </a:lnTo>
                  <a:lnTo>
                    <a:pt x="72067" y="2316480"/>
                  </a:lnTo>
                  <a:lnTo>
                    <a:pt x="0" y="2316480"/>
                  </a:lnTo>
                  <a:close/>
                </a:path>
              </a:pathLst>
            </a:custGeom>
            <a:solidFill>
              <a:srgbClr val="0891B2"/>
            </a:solidFill>
          </p:spPr>
        </p:sp>
        <p:sp>
          <p:nvSpPr>
            <p:cNvPr name="Freeform 43" id="43"/>
            <p:cNvSpPr/>
            <p:nvPr/>
          </p:nvSpPr>
          <p:spPr>
            <a:xfrm flipH="false" flipV="false" rot="0">
              <a:off x="0" y="0"/>
              <a:ext cx="88708" cy="2350262"/>
            </a:xfrm>
            <a:custGeom>
              <a:avLst/>
              <a:gdLst/>
              <a:ahLst/>
              <a:cxnLst/>
              <a:rect r="r" b="b" t="t" l="l"/>
              <a:pathLst>
                <a:path h="2350262" w="88708">
                  <a:moveTo>
                    <a:pt x="8320" y="0"/>
                  </a:moveTo>
                  <a:lnTo>
                    <a:pt x="80387" y="0"/>
                  </a:lnTo>
                  <a:cubicBezTo>
                    <a:pt x="85017" y="0"/>
                    <a:pt x="88708" y="7620"/>
                    <a:pt x="88708" y="16891"/>
                  </a:cubicBezTo>
                  <a:lnTo>
                    <a:pt x="88708" y="2333371"/>
                  </a:lnTo>
                  <a:cubicBezTo>
                    <a:pt x="88708" y="2342769"/>
                    <a:pt x="84954" y="2350262"/>
                    <a:pt x="80387" y="2350262"/>
                  </a:cubicBezTo>
                  <a:lnTo>
                    <a:pt x="8320" y="2350262"/>
                  </a:lnTo>
                  <a:cubicBezTo>
                    <a:pt x="3691" y="2350262"/>
                    <a:pt x="0" y="2342642"/>
                    <a:pt x="0" y="2333371"/>
                  </a:cubicBezTo>
                  <a:lnTo>
                    <a:pt x="0" y="16891"/>
                  </a:lnTo>
                  <a:cubicBezTo>
                    <a:pt x="0" y="7620"/>
                    <a:pt x="3753" y="0"/>
                    <a:pt x="8320" y="0"/>
                  </a:cubicBezTo>
                  <a:moveTo>
                    <a:pt x="8320" y="33909"/>
                  </a:moveTo>
                  <a:lnTo>
                    <a:pt x="8320" y="16891"/>
                  </a:lnTo>
                  <a:lnTo>
                    <a:pt x="16703" y="16891"/>
                  </a:lnTo>
                  <a:lnTo>
                    <a:pt x="16703" y="2333371"/>
                  </a:lnTo>
                  <a:lnTo>
                    <a:pt x="8320" y="2333371"/>
                  </a:lnTo>
                  <a:lnTo>
                    <a:pt x="8320" y="2316480"/>
                  </a:lnTo>
                  <a:lnTo>
                    <a:pt x="80387" y="2316480"/>
                  </a:lnTo>
                  <a:lnTo>
                    <a:pt x="80387" y="2333371"/>
                  </a:lnTo>
                  <a:lnTo>
                    <a:pt x="72067" y="2333371"/>
                  </a:lnTo>
                  <a:lnTo>
                    <a:pt x="72067" y="16891"/>
                  </a:lnTo>
                  <a:lnTo>
                    <a:pt x="80387" y="16891"/>
                  </a:lnTo>
                  <a:lnTo>
                    <a:pt x="80387" y="33909"/>
                  </a:lnTo>
                  <a:lnTo>
                    <a:pt x="8320" y="33909"/>
                  </a:lnTo>
                  <a:close/>
                </a:path>
              </a:pathLst>
            </a:custGeom>
            <a:solidFill>
              <a:srgbClr val="0891B2"/>
            </a:solidFill>
          </p:spPr>
        </p:sp>
      </p:grpSp>
      <p:grpSp>
        <p:nvGrpSpPr>
          <p:cNvPr name="Group 44" id="44"/>
          <p:cNvGrpSpPr/>
          <p:nvPr/>
        </p:nvGrpSpPr>
        <p:grpSpPr>
          <a:xfrm rot="0">
            <a:off x="9424657" y="3633473"/>
            <a:ext cx="7927379" cy="585216"/>
            <a:chOff x="0" y="0"/>
            <a:chExt cx="10569839" cy="780288"/>
          </a:xfrm>
        </p:grpSpPr>
        <p:sp>
          <p:nvSpPr>
            <p:cNvPr name="Freeform 45" id="45"/>
            <p:cNvSpPr/>
            <p:nvPr/>
          </p:nvSpPr>
          <p:spPr>
            <a:xfrm flipH="false" flipV="false" rot="0">
              <a:off x="0" y="0"/>
              <a:ext cx="10569839" cy="780288"/>
            </a:xfrm>
            <a:custGeom>
              <a:avLst/>
              <a:gdLst/>
              <a:ahLst/>
              <a:cxnLst/>
              <a:rect r="r" b="b" t="t" l="l"/>
              <a:pathLst>
                <a:path h="780288" w="10569839">
                  <a:moveTo>
                    <a:pt x="0" y="0"/>
                  </a:moveTo>
                  <a:lnTo>
                    <a:pt x="10569839" y="0"/>
                  </a:lnTo>
                  <a:lnTo>
                    <a:pt x="10569839" y="780288"/>
                  </a:lnTo>
                  <a:lnTo>
                    <a:pt x="0" y="780288"/>
                  </a:lnTo>
                  <a:close/>
                </a:path>
              </a:pathLst>
            </a:custGeom>
            <a:blipFill>
              <a:blip r:embed="rId2">
                <a:alphaModFix amt="0"/>
              </a:blip>
              <a:stretch>
                <a:fillRect l="0" t="-144850" r="26177" b="-144850"/>
              </a:stretch>
            </a:blipFill>
          </p:spPr>
        </p:sp>
        <p:sp>
          <p:nvSpPr>
            <p:cNvPr name="TextBox 46" id="46"/>
            <p:cNvSpPr txBox="true"/>
            <p:nvPr/>
          </p:nvSpPr>
          <p:spPr>
            <a:xfrm>
              <a:off x="0" y="-38100"/>
              <a:ext cx="10569839" cy="818388"/>
            </a:xfrm>
            <a:prstGeom prst="rect">
              <a:avLst/>
            </a:prstGeom>
          </p:spPr>
          <p:txBody>
            <a:bodyPr anchor="ctr" rtlCol="false" tIns="0" lIns="0" bIns="0" rIns="0"/>
            <a:lstStyle/>
            <a:p>
              <a:pPr algn="l">
                <a:lnSpc>
                  <a:spcPts val="2879"/>
                </a:lnSpc>
              </a:pPr>
              <a:r>
                <a:rPr lang="en-US" sz="2400" b="true">
                  <a:solidFill>
                    <a:srgbClr val="0891B2"/>
                  </a:solidFill>
                  <a:latin typeface="Calibri (MS) Bold"/>
                  <a:ea typeface="Calibri (MS) Bold"/>
                  <a:cs typeface="Calibri (MS) Bold"/>
                  <a:sym typeface="Calibri (MS) Bold"/>
                </a:rPr>
                <a:t>🏛️  Contexte d'utilisation</a:t>
              </a:r>
            </a:p>
          </p:txBody>
        </p:sp>
      </p:grpSp>
      <p:grpSp>
        <p:nvGrpSpPr>
          <p:cNvPr name="Group 47" id="47"/>
          <p:cNvGrpSpPr/>
          <p:nvPr/>
        </p:nvGrpSpPr>
        <p:grpSpPr>
          <a:xfrm rot="0">
            <a:off x="9424657" y="4152637"/>
            <a:ext cx="7927379" cy="1046504"/>
            <a:chOff x="0" y="0"/>
            <a:chExt cx="10569839" cy="1395338"/>
          </a:xfrm>
        </p:grpSpPr>
        <p:sp>
          <p:nvSpPr>
            <p:cNvPr name="Freeform 48" id="48"/>
            <p:cNvSpPr/>
            <p:nvPr/>
          </p:nvSpPr>
          <p:spPr>
            <a:xfrm flipH="false" flipV="false" rot="0">
              <a:off x="0" y="0"/>
              <a:ext cx="10569839" cy="1395338"/>
            </a:xfrm>
            <a:custGeom>
              <a:avLst/>
              <a:gdLst/>
              <a:ahLst/>
              <a:cxnLst/>
              <a:rect r="r" b="b" t="t" l="l"/>
              <a:pathLst>
                <a:path h="1395338" w="10569839">
                  <a:moveTo>
                    <a:pt x="0" y="0"/>
                  </a:moveTo>
                  <a:lnTo>
                    <a:pt x="10569839" y="0"/>
                  </a:lnTo>
                  <a:lnTo>
                    <a:pt x="10569839" y="1395338"/>
                  </a:lnTo>
                  <a:lnTo>
                    <a:pt x="0" y="1395338"/>
                  </a:lnTo>
                  <a:close/>
                </a:path>
              </a:pathLst>
            </a:custGeom>
            <a:blipFill>
              <a:blip r:embed="rId2">
                <a:alphaModFix amt="0"/>
              </a:blip>
              <a:stretch>
                <a:fillRect l="0" t="-259453" r="-103010" b="-239839"/>
              </a:stretch>
            </a:blipFill>
          </p:spPr>
        </p:sp>
        <p:sp>
          <p:nvSpPr>
            <p:cNvPr name="TextBox 49" id="49"/>
            <p:cNvSpPr txBox="true"/>
            <p:nvPr/>
          </p:nvSpPr>
          <p:spPr>
            <a:xfrm>
              <a:off x="0" y="-47625"/>
              <a:ext cx="10569839" cy="144296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Fortement adopté par les gouvernements et institutions (Open Data) pour publier leurs registres publics afin que des moteurs de recherche puissent les moissonner automatiquement.</a:t>
              </a:r>
            </a:p>
          </p:txBody>
        </p:sp>
      </p:grpSp>
      <p:grpSp>
        <p:nvGrpSpPr>
          <p:cNvPr name="Group 50" id="50"/>
          <p:cNvGrpSpPr/>
          <p:nvPr/>
        </p:nvGrpSpPr>
        <p:grpSpPr>
          <a:xfrm rot="0">
            <a:off x="-6353" y="9741151"/>
            <a:ext cx="18300697" cy="552193"/>
            <a:chOff x="0" y="0"/>
            <a:chExt cx="24400929" cy="736257"/>
          </a:xfrm>
        </p:grpSpPr>
        <p:sp>
          <p:nvSpPr>
            <p:cNvPr name="Freeform 51" id="51"/>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52" id="52"/>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53" id="53"/>
          <p:cNvGrpSpPr/>
          <p:nvPr/>
        </p:nvGrpSpPr>
        <p:grpSpPr>
          <a:xfrm rot="0">
            <a:off x="15910560" y="9747504"/>
            <a:ext cx="2011680" cy="539496"/>
            <a:chOff x="0" y="0"/>
            <a:chExt cx="2682240" cy="719328"/>
          </a:xfrm>
        </p:grpSpPr>
        <p:sp>
          <p:nvSpPr>
            <p:cNvPr name="Freeform 54" id="54"/>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55" id="55"/>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5 / 18</a:t>
              </a:r>
            </a:p>
          </p:txBody>
        </p:sp>
      </p:grpSp>
      <p:grpSp>
        <p:nvGrpSpPr>
          <p:cNvPr name="Group 56" id="56"/>
          <p:cNvGrpSpPr/>
          <p:nvPr/>
        </p:nvGrpSpPr>
        <p:grpSpPr>
          <a:xfrm rot="0">
            <a:off x="548640" y="9747504"/>
            <a:ext cx="10972800" cy="539496"/>
            <a:chOff x="0" y="0"/>
            <a:chExt cx="14630400" cy="719328"/>
          </a:xfrm>
        </p:grpSpPr>
        <p:sp>
          <p:nvSpPr>
            <p:cNvPr name="Freeform 57" id="57"/>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58" id="58"/>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DCAT</a:t>
              </a:r>
            </a:p>
          </p:txBody>
        </p:sp>
      </p:grpSp>
      <p:grpSp>
        <p:nvGrpSpPr>
          <p:cNvPr name="Group 59" id="59"/>
          <p:cNvGrpSpPr/>
          <p:nvPr/>
        </p:nvGrpSpPr>
        <p:grpSpPr>
          <a:xfrm rot="0">
            <a:off x="718823" y="5370586"/>
            <a:ext cx="3085989" cy="3603869"/>
            <a:chOff x="0" y="0"/>
            <a:chExt cx="4114652" cy="4805159"/>
          </a:xfrm>
        </p:grpSpPr>
        <p:sp>
          <p:nvSpPr>
            <p:cNvPr name="Freeform 60" id="60"/>
            <p:cNvSpPr/>
            <p:nvPr/>
          </p:nvSpPr>
          <p:spPr>
            <a:xfrm flipH="false" flipV="false" rot="0">
              <a:off x="9952" y="13789"/>
              <a:ext cx="4094695" cy="4777508"/>
            </a:xfrm>
            <a:custGeom>
              <a:avLst/>
              <a:gdLst/>
              <a:ahLst/>
              <a:cxnLst/>
              <a:rect r="r" b="b" t="t" l="l"/>
              <a:pathLst>
                <a:path h="4777508" w="4094695">
                  <a:moveTo>
                    <a:pt x="0" y="0"/>
                  </a:moveTo>
                  <a:lnTo>
                    <a:pt x="4094696" y="0"/>
                  </a:lnTo>
                  <a:lnTo>
                    <a:pt x="4094696" y="4777508"/>
                  </a:lnTo>
                  <a:lnTo>
                    <a:pt x="0" y="4777508"/>
                  </a:lnTo>
                  <a:close/>
                </a:path>
              </a:pathLst>
            </a:custGeom>
            <a:solidFill>
              <a:srgbClr val="E0F2FE"/>
            </a:solidFill>
          </p:spPr>
        </p:sp>
        <p:sp>
          <p:nvSpPr>
            <p:cNvPr name="Freeform 61" id="61"/>
            <p:cNvSpPr/>
            <p:nvPr/>
          </p:nvSpPr>
          <p:spPr>
            <a:xfrm flipH="false" flipV="false" rot="0">
              <a:off x="0" y="0"/>
              <a:ext cx="4114600" cy="4805087"/>
            </a:xfrm>
            <a:custGeom>
              <a:avLst/>
              <a:gdLst/>
              <a:ahLst/>
              <a:cxnLst/>
              <a:rect r="r" b="b" t="t" l="l"/>
              <a:pathLst>
                <a:path h="4805087" w="4114600">
                  <a:moveTo>
                    <a:pt x="9952" y="0"/>
                  </a:moveTo>
                  <a:lnTo>
                    <a:pt x="4104648" y="0"/>
                  </a:lnTo>
                  <a:cubicBezTo>
                    <a:pt x="4110185" y="0"/>
                    <a:pt x="4114600" y="6221"/>
                    <a:pt x="4114600" y="13789"/>
                  </a:cubicBezTo>
                  <a:lnTo>
                    <a:pt x="4114600" y="4791297"/>
                  </a:lnTo>
                  <a:cubicBezTo>
                    <a:pt x="4114600" y="4798969"/>
                    <a:pt x="4110110" y="4805087"/>
                    <a:pt x="4104648" y="4805087"/>
                  </a:cubicBezTo>
                  <a:lnTo>
                    <a:pt x="9952" y="4805087"/>
                  </a:lnTo>
                  <a:cubicBezTo>
                    <a:pt x="4415" y="4805087"/>
                    <a:pt x="0" y="4798866"/>
                    <a:pt x="0" y="4791297"/>
                  </a:cubicBezTo>
                  <a:lnTo>
                    <a:pt x="0" y="13789"/>
                  </a:lnTo>
                  <a:cubicBezTo>
                    <a:pt x="0" y="6221"/>
                    <a:pt x="4490" y="0"/>
                    <a:pt x="9952" y="0"/>
                  </a:cubicBezTo>
                  <a:moveTo>
                    <a:pt x="9952" y="27682"/>
                  </a:moveTo>
                  <a:lnTo>
                    <a:pt x="9952" y="13789"/>
                  </a:lnTo>
                  <a:lnTo>
                    <a:pt x="19980" y="13789"/>
                  </a:lnTo>
                  <a:lnTo>
                    <a:pt x="19980" y="4791297"/>
                  </a:lnTo>
                  <a:lnTo>
                    <a:pt x="9952" y="4791297"/>
                  </a:lnTo>
                  <a:lnTo>
                    <a:pt x="9952" y="4777508"/>
                  </a:lnTo>
                  <a:lnTo>
                    <a:pt x="4104648" y="4777508"/>
                  </a:lnTo>
                  <a:lnTo>
                    <a:pt x="4104648" y="4791297"/>
                  </a:lnTo>
                  <a:lnTo>
                    <a:pt x="4094695" y="4791297"/>
                  </a:lnTo>
                  <a:lnTo>
                    <a:pt x="4094695" y="13789"/>
                  </a:lnTo>
                  <a:lnTo>
                    <a:pt x="4104648" y="13789"/>
                  </a:lnTo>
                  <a:lnTo>
                    <a:pt x="4104648" y="27682"/>
                  </a:lnTo>
                  <a:lnTo>
                    <a:pt x="9952" y="27682"/>
                  </a:lnTo>
                  <a:close/>
                </a:path>
              </a:pathLst>
            </a:custGeom>
            <a:solidFill>
              <a:srgbClr val="0891B2"/>
            </a:solidFill>
          </p:spPr>
        </p:sp>
      </p:grpSp>
      <p:grpSp>
        <p:nvGrpSpPr>
          <p:cNvPr name="Group 62" id="62"/>
          <p:cNvGrpSpPr/>
          <p:nvPr/>
        </p:nvGrpSpPr>
        <p:grpSpPr>
          <a:xfrm rot="0">
            <a:off x="718823" y="5370586"/>
            <a:ext cx="3085989" cy="685510"/>
            <a:chOff x="0" y="0"/>
            <a:chExt cx="4114652" cy="914013"/>
          </a:xfrm>
        </p:grpSpPr>
        <p:sp>
          <p:nvSpPr>
            <p:cNvPr name="Freeform 63" id="63"/>
            <p:cNvSpPr/>
            <p:nvPr/>
          </p:nvSpPr>
          <p:spPr>
            <a:xfrm flipH="false" flipV="false" rot="0">
              <a:off x="9952" y="13949"/>
              <a:ext cx="4094695" cy="886041"/>
            </a:xfrm>
            <a:custGeom>
              <a:avLst/>
              <a:gdLst/>
              <a:ahLst/>
              <a:cxnLst/>
              <a:rect r="r" b="b" t="t" l="l"/>
              <a:pathLst>
                <a:path h="886041" w="4094695">
                  <a:moveTo>
                    <a:pt x="0" y="0"/>
                  </a:moveTo>
                  <a:lnTo>
                    <a:pt x="4094696" y="0"/>
                  </a:lnTo>
                  <a:lnTo>
                    <a:pt x="4094696" y="886041"/>
                  </a:lnTo>
                  <a:lnTo>
                    <a:pt x="0" y="886041"/>
                  </a:lnTo>
                  <a:close/>
                </a:path>
              </a:pathLst>
            </a:custGeom>
            <a:solidFill>
              <a:srgbClr val="0891B2"/>
            </a:solidFill>
          </p:spPr>
        </p:sp>
        <p:sp>
          <p:nvSpPr>
            <p:cNvPr name="Freeform 64" id="64"/>
            <p:cNvSpPr/>
            <p:nvPr/>
          </p:nvSpPr>
          <p:spPr>
            <a:xfrm flipH="false" flipV="false" rot="0">
              <a:off x="0" y="0"/>
              <a:ext cx="4114600" cy="913941"/>
            </a:xfrm>
            <a:custGeom>
              <a:avLst/>
              <a:gdLst/>
              <a:ahLst/>
              <a:cxnLst/>
              <a:rect r="r" b="b" t="t" l="l"/>
              <a:pathLst>
                <a:path h="913941" w="4114600">
                  <a:moveTo>
                    <a:pt x="9952" y="0"/>
                  </a:moveTo>
                  <a:lnTo>
                    <a:pt x="4104648" y="0"/>
                  </a:lnTo>
                  <a:cubicBezTo>
                    <a:pt x="4110185" y="0"/>
                    <a:pt x="4114600" y="6293"/>
                    <a:pt x="4114600" y="13949"/>
                  </a:cubicBezTo>
                  <a:lnTo>
                    <a:pt x="4114600" y="899990"/>
                  </a:lnTo>
                  <a:cubicBezTo>
                    <a:pt x="4114600" y="907751"/>
                    <a:pt x="4110110" y="913939"/>
                    <a:pt x="4104648" y="913939"/>
                  </a:cubicBezTo>
                  <a:lnTo>
                    <a:pt x="9952" y="913939"/>
                  </a:lnTo>
                  <a:cubicBezTo>
                    <a:pt x="4490" y="914051"/>
                    <a:pt x="0" y="907751"/>
                    <a:pt x="0" y="899990"/>
                  </a:cubicBezTo>
                  <a:lnTo>
                    <a:pt x="0" y="13949"/>
                  </a:lnTo>
                  <a:cubicBezTo>
                    <a:pt x="0" y="6293"/>
                    <a:pt x="4490" y="0"/>
                    <a:pt x="9952" y="0"/>
                  </a:cubicBezTo>
                  <a:moveTo>
                    <a:pt x="9952" y="28003"/>
                  </a:moveTo>
                  <a:lnTo>
                    <a:pt x="9952" y="13949"/>
                  </a:lnTo>
                  <a:lnTo>
                    <a:pt x="19980" y="13949"/>
                  </a:lnTo>
                  <a:lnTo>
                    <a:pt x="19980" y="899990"/>
                  </a:lnTo>
                  <a:lnTo>
                    <a:pt x="9952" y="899990"/>
                  </a:lnTo>
                  <a:lnTo>
                    <a:pt x="9952" y="886041"/>
                  </a:lnTo>
                  <a:lnTo>
                    <a:pt x="4104648" y="886041"/>
                  </a:lnTo>
                  <a:lnTo>
                    <a:pt x="4104648" y="899990"/>
                  </a:lnTo>
                  <a:lnTo>
                    <a:pt x="4094695" y="899990"/>
                  </a:lnTo>
                  <a:lnTo>
                    <a:pt x="4094695" y="13949"/>
                  </a:lnTo>
                  <a:lnTo>
                    <a:pt x="4104648" y="13949"/>
                  </a:lnTo>
                  <a:lnTo>
                    <a:pt x="4104648" y="28003"/>
                  </a:lnTo>
                  <a:lnTo>
                    <a:pt x="9952" y="28003"/>
                  </a:lnTo>
                  <a:close/>
                </a:path>
              </a:pathLst>
            </a:custGeom>
            <a:solidFill>
              <a:srgbClr val="0891B2"/>
            </a:solidFill>
          </p:spPr>
        </p:sp>
      </p:grpSp>
      <p:grpSp>
        <p:nvGrpSpPr>
          <p:cNvPr name="Group 65" id="65"/>
          <p:cNvGrpSpPr/>
          <p:nvPr/>
        </p:nvGrpSpPr>
        <p:grpSpPr>
          <a:xfrm rot="0">
            <a:off x="726304" y="5381071"/>
            <a:ext cx="3071021" cy="664531"/>
            <a:chOff x="0" y="0"/>
            <a:chExt cx="4094695" cy="886041"/>
          </a:xfrm>
        </p:grpSpPr>
        <p:sp>
          <p:nvSpPr>
            <p:cNvPr name="Freeform 66" id="66"/>
            <p:cNvSpPr/>
            <p:nvPr/>
          </p:nvSpPr>
          <p:spPr>
            <a:xfrm flipH="false" flipV="false" rot="0">
              <a:off x="0" y="0"/>
              <a:ext cx="4094695" cy="886041"/>
            </a:xfrm>
            <a:custGeom>
              <a:avLst/>
              <a:gdLst/>
              <a:ahLst/>
              <a:cxnLst/>
              <a:rect r="r" b="b" t="t" l="l"/>
              <a:pathLst>
                <a:path h="886041" w="4094695">
                  <a:moveTo>
                    <a:pt x="0" y="0"/>
                  </a:moveTo>
                  <a:lnTo>
                    <a:pt x="4094695" y="0"/>
                  </a:lnTo>
                  <a:lnTo>
                    <a:pt x="4094695" y="886041"/>
                  </a:lnTo>
                  <a:lnTo>
                    <a:pt x="0" y="886041"/>
                  </a:lnTo>
                  <a:close/>
                </a:path>
              </a:pathLst>
            </a:custGeom>
            <a:blipFill>
              <a:blip r:embed="rId2">
                <a:alphaModFix amt="0"/>
              </a:blip>
              <a:stretch>
                <a:fillRect l="0" t="-92281" r="-69718" b="-113370"/>
              </a:stretch>
            </a:blipFill>
          </p:spPr>
        </p:sp>
        <p:sp>
          <p:nvSpPr>
            <p:cNvPr name="TextBox 67" id="67"/>
            <p:cNvSpPr txBox="true"/>
            <p:nvPr/>
          </p:nvSpPr>
          <p:spPr>
            <a:xfrm>
              <a:off x="0" y="-38100"/>
              <a:ext cx="4094695" cy="924141"/>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dcat:Catalog</a:t>
              </a:r>
            </a:p>
          </p:txBody>
        </p:sp>
      </p:grpSp>
      <p:grpSp>
        <p:nvGrpSpPr>
          <p:cNvPr name="Group 68" id="68"/>
          <p:cNvGrpSpPr/>
          <p:nvPr/>
        </p:nvGrpSpPr>
        <p:grpSpPr>
          <a:xfrm rot="0">
            <a:off x="726304" y="6022182"/>
            <a:ext cx="3088528" cy="1212087"/>
            <a:chOff x="0" y="0"/>
            <a:chExt cx="4118037" cy="1616116"/>
          </a:xfrm>
        </p:grpSpPr>
        <p:sp>
          <p:nvSpPr>
            <p:cNvPr name="Freeform 69" id="69"/>
            <p:cNvSpPr/>
            <p:nvPr/>
          </p:nvSpPr>
          <p:spPr>
            <a:xfrm flipH="false" flipV="false" rot="0">
              <a:off x="0" y="0"/>
              <a:ext cx="4118037" cy="1616116"/>
            </a:xfrm>
            <a:custGeom>
              <a:avLst/>
              <a:gdLst/>
              <a:ahLst/>
              <a:cxnLst/>
              <a:rect r="r" b="b" t="t" l="l"/>
              <a:pathLst>
                <a:path h="1616116" w="4118037">
                  <a:moveTo>
                    <a:pt x="0" y="0"/>
                  </a:moveTo>
                  <a:lnTo>
                    <a:pt x="4118037" y="0"/>
                  </a:lnTo>
                  <a:lnTo>
                    <a:pt x="4118037" y="1616116"/>
                  </a:lnTo>
                  <a:lnTo>
                    <a:pt x="0" y="1616116"/>
                  </a:lnTo>
                  <a:close/>
                </a:path>
              </a:pathLst>
            </a:custGeom>
            <a:blipFill>
              <a:blip r:embed="rId2">
                <a:alphaModFix amt="0"/>
              </a:blip>
              <a:stretch>
                <a:fillRect l="-18898" t="0" r="30770" b="12489"/>
              </a:stretch>
            </a:blipFill>
          </p:spPr>
        </p:sp>
        <p:sp>
          <p:nvSpPr>
            <p:cNvPr name="TextBox 70" id="70"/>
            <p:cNvSpPr txBox="true"/>
            <p:nvPr/>
          </p:nvSpPr>
          <p:spPr>
            <a:xfrm>
              <a:off x="0" y="-114300"/>
              <a:ext cx="4118037" cy="1730416"/>
            </a:xfrm>
            <a:prstGeom prst="rect">
              <a:avLst/>
            </a:prstGeom>
          </p:spPr>
          <p:txBody>
            <a:bodyPr anchor="ctr" rtlCol="false" tIns="0" lIns="0" bIns="0" rIns="0"/>
            <a:lstStyle/>
            <a:p>
              <a:pPr algn="ctr">
                <a:lnSpc>
                  <a:spcPts val="6719"/>
                </a:lnSpc>
              </a:pPr>
              <a:r>
                <a:rPr lang="en-US" sz="5599">
                  <a:solidFill>
                    <a:srgbClr val="000000"/>
                  </a:solidFill>
                  <a:latin typeface="Calibri (MS)"/>
                  <a:ea typeface="Calibri (MS)"/>
                  <a:cs typeface="Calibri (MS)"/>
                  <a:sym typeface="Calibri (MS)"/>
                </a:rPr>
                <a:t>🗂️</a:t>
              </a:r>
            </a:p>
          </p:txBody>
        </p:sp>
      </p:grpSp>
      <p:grpSp>
        <p:nvGrpSpPr>
          <p:cNvPr name="Group 71" id="71"/>
          <p:cNvGrpSpPr/>
          <p:nvPr/>
        </p:nvGrpSpPr>
        <p:grpSpPr>
          <a:xfrm rot="0">
            <a:off x="834059" y="7042397"/>
            <a:ext cx="2855511" cy="836109"/>
            <a:chOff x="0" y="0"/>
            <a:chExt cx="3807348" cy="1114812"/>
          </a:xfrm>
        </p:grpSpPr>
        <p:sp>
          <p:nvSpPr>
            <p:cNvPr name="Freeform 72" id="72"/>
            <p:cNvSpPr/>
            <p:nvPr/>
          </p:nvSpPr>
          <p:spPr>
            <a:xfrm flipH="false" flipV="false" rot="0">
              <a:off x="0" y="0"/>
              <a:ext cx="3807348" cy="1114812"/>
            </a:xfrm>
            <a:custGeom>
              <a:avLst/>
              <a:gdLst/>
              <a:ahLst/>
              <a:cxnLst/>
              <a:rect r="r" b="b" t="t" l="l"/>
              <a:pathLst>
                <a:path h="1114812" w="3807348">
                  <a:moveTo>
                    <a:pt x="0" y="0"/>
                  </a:moveTo>
                  <a:lnTo>
                    <a:pt x="3807348" y="0"/>
                  </a:lnTo>
                  <a:lnTo>
                    <a:pt x="3807348" y="1114812"/>
                  </a:lnTo>
                  <a:lnTo>
                    <a:pt x="0" y="1114812"/>
                  </a:lnTo>
                  <a:close/>
                </a:path>
              </a:pathLst>
            </a:custGeom>
            <a:blipFill>
              <a:blip r:embed="rId2">
                <a:alphaModFix amt="0"/>
              </a:blip>
              <a:stretch>
                <a:fillRect l="0" t="-60446" r="-69718" b="-65435"/>
              </a:stretch>
            </a:blipFill>
          </p:spPr>
        </p:sp>
        <p:sp>
          <p:nvSpPr>
            <p:cNvPr name="TextBox 73" id="73"/>
            <p:cNvSpPr txBox="true"/>
            <p:nvPr/>
          </p:nvSpPr>
          <p:spPr>
            <a:xfrm>
              <a:off x="0" y="-47625"/>
              <a:ext cx="3807348" cy="1162437"/>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Le catalogue lui-même</a:t>
              </a:r>
            </a:p>
          </p:txBody>
        </p:sp>
      </p:grpSp>
      <p:grpSp>
        <p:nvGrpSpPr>
          <p:cNvPr name="Group 74" id="74"/>
          <p:cNvGrpSpPr/>
          <p:nvPr/>
        </p:nvGrpSpPr>
        <p:grpSpPr>
          <a:xfrm rot="0">
            <a:off x="834059" y="7767340"/>
            <a:ext cx="2855511" cy="1132723"/>
            <a:chOff x="0" y="0"/>
            <a:chExt cx="3807348" cy="1510297"/>
          </a:xfrm>
        </p:grpSpPr>
        <p:sp>
          <p:nvSpPr>
            <p:cNvPr name="Freeform 75" id="75"/>
            <p:cNvSpPr/>
            <p:nvPr/>
          </p:nvSpPr>
          <p:spPr>
            <a:xfrm flipH="false" flipV="false" rot="0">
              <a:off x="0" y="0"/>
              <a:ext cx="3807348" cy="1510297"/>
            </a:xfrm>
            <a:custGeom>
              <a:avLst/>
              <a:gdLst/>
              <a:ahLst/>
              <a:cxnLst/>
              <a:rect r="r" b="b" t="t" l="l"/>
              <a:pathLst>
                <a:path h="1510297" w="3807348">
                  <a:moveTo>
                    <a:pt x="0" y="0"/>
                  </a:moveTo>
                  <a:lnTo>
                    <a:pt x="3807348" y="0"/>
                  </a:lnTo>
                  <a:lnTo>
                    <a:pt x="3807348" y="1510297"/>
                  </a:lnTo>
                  <a:lnTo>
                    <a:pt x="0" y="1510297"/>
                  </a:lnTo>
                  <a:close/>
                </a:path>
              </a:pathLst>
            </a:custGeom>
            <a:blipFill>
              <a:blip r:embed="rId2">
                <a:alphaModFix amt="0"/>
              </a:blip>
              <a:stretch>
                <a:fillRect l="0" t="-22821" r="-69718" b="-43910"/>
              </a:stretch>
            </a:blipFill>
          </p:spPr>
        </p:sp>
        <p:sp>
          <p:nvSpPr>
            <p:cNvPr name="TextBox 76" id="76"/>
            <p:cNvSpPr txBox="true"/>
            <p:nvPr/>
          </p:nvSpPr>
          <p:spPr>
            <a:xfrm>
              <a:off x="0" y="-38100"/>
              <a:ext cx="3807348" cy="1548397"/>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portail Open Data d'une ville</a:t>
              </a:r>
            </a:p>
          </p:txBody>
        </p:sp>
      </p:grpSp>
      <p:grpSp>
        <p:nvGrpSpPr>
          <p:cNvPr name="Group 77" id="77"/>
          <p:cNvGrpSpPr/>
          <p:nvPr/>
        </p:nvGrpSpPr>
        <p:grpSpPr>
          <a:xfrm rot="0">
            <a:off x="4195902" y="5381071"/>
            <a:ext cx="3013482" cy="3589829"/>
            <a:chOff x="0" y="0"/>
            <a:chExt cx="4017976" cy="4786439"/>
          </a:xfrm>
        </p:grpSpPr>
        <p:sp>
          <p:nvSpPr>
            <p:cNvPr name="Freeform 78" id="78"/>
            <p:cNvSpPr/>
            <p:nvPr/>
          </p:nvSpPr>
          <p:spPr>
            <a:xfrm flipH="false" flipV="false" rot="0">
              <a:off x="9719" y="13736"/>
              <a:ext cx="3998488" cy="4758895"/>
            </a:xfrm>
            <a:custGeom>
              <a:avLst/>
              <a:gdLst/>
              <a:ahLst/>
              <a:cxnLst/>
              <a:rect r="r" b="b" t="t" l="l"/>
              <a:pathLst>
                <a:path h="4758895" w="3998488">
                  <a:moveTo>
                    <a:pt x="0" y="0"/>
                  </a:moveTo>
                  <a:lnTo>
                    <a:pt x="3998487" y="0"/>
                  </a:lnTo>
                  <a:lnTo>
                    <a:pt x="3998487" y="4758895"/>
                  </a:lnTo>
                  <a:lnTo>
                    <a:pt x="0" y="4758895"/>
                  </a:lnTo>
                  <a:close/>
                </a:path>
              </a:pathLst>
            </a:custGeom>
            <a:solidFill>
              <a:srgbClr val="F5F3FF"/>
            </a:solidFill>
          </p:spPr>
        </p:sp>
        <p:sp>
          <p:nvSpPr>
            <p:cNvPr name="Freeform 79" id="79"/>
            <p:cNvSpPr/>
            <p:nvPr/>
          </p:nvSpPr>
          <p:spPr>
            <a:xfrm flipH="false" flipV="false" rot="0">
              <a:off x="0" y="0"/>
              <a:ext cx="4017925" cy="4786366"/>
            </a:xfrm>
            <a:custGeom>
              <a:avLst/>
              <a:gdLst/>
              <a:ahLst/>
              <a:cxnLst/>
              <a:rect r="r" b="b" t="t" l="l"/>
              <a:pathLst>
                <a:path h="4786366" w="4017925">
                  <a:moveTo>
                    <a:pt x="9719" y="0"/>
                  </a:moveTo>
                  <a:lnTo>
                    <a:pt x="4008206" y="0"/>
                  </a:lnTo>
                  <a:cubicBezTo>
                    <a:pt x="4013614" y="0"/>
                    <a:pt x="4017925" y="6196"/>
                    <a:pt x="4017925" y="13736"/>
                  </a:cubicBezTo>
                  <a:lnTo>
                    <a:pt x="4017925" y="4772631"/>
                  </a:lnTo>
                  <a:cubicBezTo>
                    <a:pt x="4017925" y="4780273"/>
                    <a:pt x="4013540" y="4786366"/>
                    <a:pt x="4008206" y="4786366"/>
                  </a:cubicBezTo>
                  <a:lnTo>
                    <a:pt x="9719" y="4786366"/>
                  </a:lnTo>
                  <a:cubicBezTo>
                    <a:pt x="4311" y="4786366"/>
                    <a:pt x="0" y="4780170"/>
                    <a:pt x="0" y="4772631"/>
                  </a:cubicBezTo>
                  <a:lnTo>
                    <a:pt x="0" y="13736"/>
                  </a:lnTo>
                  <a:cubicBezTo>
                    <a:pt x="0" y="6196"/>
                    <a:pt x="4384" y="0"/>
                    <a:pt x="9719" y="0"/>
                  </a:cubicBezTo>
                  <a:moveTo>
                    <a:pt x="9719" y="27574"/>
                  </a:moveTo>
                  <a:lnTo>
                    <a:pt x="9719" y="13736"/>
                  </a:lnTo>
                  <a:lnTo>
                    <a:pt x="19510" y="13736"/>
                  </a:lnTo>
                  <a:lnTo>
                    <a:pt x="19510" y="4772631"/>
                  </a:lnTo>
                  <a:lnTo>
                    <a:pt x="9719" y="4772631"/>
                  </a:lnTo>
                  <a:lnTo>
                    <a:pt x="9719" y="4758896"/>
                  </a:lnTo>
                  <a:lnTo>
                    <a:pt x="4008206" y="4758896"/>
                  </a:lnTo>
                  <a:lnTo>
                    <a:pt x="4008206" y="4772631"/>
                  </a:lnTo>
                  <a:lnTo>
                    <a:pt x="3998488" y="4772631"/>
                  </a:lnTo>
                  <a:lnTo>
                    <a:pt x="3998488" y="13736"/>
                  </a:lnTo>
                  <a:lnTo>
                    <a:pt x="4008206" y="13736"/>
                  </a:lnTo>
                  <a:lnTo>
                    <a:pt x="4008206" y="27574"/>
                  </a:lnTo>
                  <a:lnTo>
                    <a:pt x="9719" y="27574"/>
                  </a:lnTo>
                  <a:close/>
                </a:path>
              </a:pathLst>
            </a:custGeom>
            <a:solidFill>
              <a:srgbClr val="7C3AED"/>
            </a:solidFill>
          </p:spPr>
        </p:sp>
      </p:grpSp>
      <p:grpSp>
        <p:nvGrpSpPr>
          <p:cNvPr name="Group 80" id="80"/>
          <p:cNvGrpSpPr/>
          <p:nvPr/>
        </p:nvGrpSpPr>
        <p:grpSpPr>
          <a:xfrm rot="0">
            <a:off x="4195902" y="5381071"/>
            <a:ext cx="3013482" cy="675006"/>
            <a:chOff x="0" y="0"/>
            <a:chExt cx="4017976" cy="900008"/>
          </a:xfrm>
        </p:grpSpPr>
        <p:sp>
          <p:nvSpPr>
            <p:cNvPr name="Freeform 81" id="81"/>
            <p:cNvSpPr/>
            <p:nvPr/>
          </p:nvSpPr>
          <p:spPr>
            <a:xfrm flipH="false" flipV="false" rot="0">
              <a:off x="9719" y="13736"/>
              <a:ext cx="3998488" cy="872464"/>
            </a:xfrm>
            <a:custGeom>
              <a:avLst/>
              <a:gdLst/>
              <a:ahLst/>
              <a:cxnLst/>
              <a:rect r="r" b="b" t="t" l="l"/>
              <a:pathLst>
                <a:path h="872464" w="3998488">
                  <a:moveTo>
                    <a:pt x="0" y="0"/>
                  </a:moveTo>
                  <a:lnTo>
                    <a:pt x="3998487" y="0"/>
                  </a:lnTo>
                  <a:lnTo>
                    <a:pt x="3998487" y="872464"/>
                  </a:lnTo>
                  <a:lnTo>
                    <a:pt x="0" y="872464"/>
                  </a:lnTo>
                  <a:close/>
                </a:path>
              </a:pathLst>
            </a:custGeom>
            <a:solidFill>
              <a:srgbClr val="7C3AED"/>
            </a:solidFill>
          </p:spPr>
        </p:sp>
        <p:sp>
          <p:nvSpPr>
            <p:cNvPr name="Freeform 82" id="82"/>
            <p:cNvSpPr/>
            <p:nvPr/>
          </p:nvSpPr>
          <p:spPr>
            <a:xfrm flipH="false" flipV="false" rot="0">
              <a:off x="0" y="0"/>
              <a:ext cx="4017925" cy="899937"/>
            </a:xfrm>
            <a:custGeom>
              <a:avLst/>
              <a:gdLst/>
              <a:ahLst/>
              <a:cxnLst/>
              <a:rect r="r" b="b" t="t" l="l"/>
              <a:pathLst>
                <a:path h="899937" w="4017925">
                  <a:moveTo>
                    <a:pt x="9719" y="0"/>
                  </a:moveTo>
                  <a:lnTo>
                    <a:pt x="4008206" y="0"/>
                  </a:lnTo>
                  <a:cubicBezTo>
                    <a:pt x="4013614" y="0"/>
                    <a:pt x="4017925" y="6196"/>
                    <a:pt x="4017925" y="13736"/>
                  </a:cubicBezTo>
                  <a:lnTo>
                    <a:pt x="4017925" y="886200"/>
                  </a:lnTo>
                  <a:cubicBezTo>
                    <a:pt x="4017925" y="893842"/>
                    <a:pt x="4013540" y="899935"/>
                    <a:pt x="4008206" y="899935"/>
                  </a:cubicBezTo>
                  <a:lnTo>
                    <a:pt x="9719" y="899935"/>
                  </a:lnTo>
                  <a:cubicBezTo>
                    <a:pt x="4384" y="900046"/>
                    <a:pt x="0" y="893842"/>
                    <a:pt x="0" y="886200"/>
                  </a:cubicBezTo>
                  <a:lnTo>
                    <a:pt x="0" y="13736"/>
                  </a:lnTo>
                  <a:cubicBezTo>
                    <a:pt x="0" y="6196"/>
                    <a:pt x="4384" y="0"/>
                    <a:pt x="9719" y="0"/>
                  </a:cubicBezTo>
                  <a:moveTo>
                    <a:pt x="9719" y="27574"/>
                  </a:moveTo>
                  <a:lnTo>
                    <a:pt x="9719" y="13736"/>
                  </a:lnTo>
                  <a:lnTo>
                    <a:pt x="19510" y="13736"/>
                  </a:lnTo>
                  <a:lnTo>
                    <a:pt x="19510" y="886200"/>
                  </a:lnTo>
                  <a:lnTo>
                    <a:pt x="9719" y="886200"/>
                  </a:lnTo>
                  <a:lnTo>
                    <a:pt x="9719" y="872464"/>
                  </a:lnTo>
                  <a:lnTo>
                    <a:pt x="4008206" y="872464"/>
                  </a:lnTo>
                  <a:lnTo>
                    <a:pt x="4008206" y="886200"/>
                  </a:lnTo>
                  <a:lnTo>
                    <a:pt x="3998488" y="886200"/>
                  </a:lnTo>
                  <a:lnTo>
                    <a:pt x="3998488" y="13736"/>
                  </a:lnTo>
                  <a:lnTo>
                    <a:pt x="4008206" y="13736"/>
                  </a:lnTo>
                  <a:lnTo>
                    <a:pt x="4008206" y="27574"/>
                  </a:lnTo>
                  <a:lnTo>
                    <a:pt x="9719" y="27574"/>
                  </a:lnTo>
                  <a:close/>
                </a:path>
              </a:pathLst>
            </a:custGeom>
            <a:solidFill>
              <a:srgbClr val="7C3AED"/>
            </a:solidFill>
          </p:spPr>
        </p:sp>
      </p:grpSp>
      <p:grpSp>
        <p:nvGrpSpPr>
          <p:cNvPr name="Group 83" id="83"/>
          <p:cNvGrpSpPr/>
          <p:nvPr/>
        </p:nvGrpSpPr>
        <p:grpSpPr>
          <a:xfrm rot="0">
            <a:off x="4203208" y="5391396"/>
            <a:ext cx="2998866" cy="654348"/>
            <a:chOff x="0" y="0"/>
            <a:chExt cx="3998487" cy="872464"/>
          </a:xfrm>
        </p:grpSpPr>
        <p:sp>
          <p:nvSpPr>
            <p:cNvPr name="Freeform 84" id="84"/>
            <p:cNvSpPr/>
            <p:nvPr/>
          </p:nvSpPr>
          <p:spPr>
            <a:xfrm flipH="false" flipV="false" rot="0">
              <a:off x="0" y="0"/>
              <a:ext cx="3998488" cy="872464"/>
            </a:xfrm>
            <a:custGeom>
              <a:avLst/>
              <a:gdLst/>
              <a:ahLst/>
              <a:cxnLst/>
              <a:rect r="r" b="b" t="t" l="l"/>
              <a:pathLst>
                <a:path h="872464" w="3998488">
                  <a:moveTo>
                    <a:pt x="0" y="0"/>
                  </a:moveTo>
                  <a:lnTo>
                    <a:pt x="3998488" y="0"/>
                  </a:lnTo>
                  <a:lnTo>
                    <a:pt x="3998488" y="872464"/>
                  </a:lnTo>
                  <a:lnTo>
                    <a:pt x="0" y="872464"/>
                  </a:lnTo>
                  <a:close/>
                </a:path>
              </a:pathLst>
            </a:custGeom>
            <a:blipFill>
              <a:blip r:embed="rId2">
                <a:alphaModFix amt="0"/>
              </a:blip>
              <a:stretch>
                <a:fillRect l="0" t="-93717" r="-73801" b="-116690"/>
              </a:stretch>
            </a:blipFill>
          </p:spPr>
        </p:sp>
        <p:sp>
          <p:nvSpPr>
            <p:cNvPr name="TextBox 85" id="85"/>
            <p:cNvSpPr txBox="true"/>
            <p:nvPr/>
          </p:nvSpPr>
          <p:spPr>
            <a:xfrm>
              <a:off x="0" y="-38100"/>
              <a:ext cx="3998487" cy="910564"/>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dcat:Dataset</a:t>
              </a:r>
            </a:p>
          </p:txBody>
        </p:sp>
      </p:grpSp>
      <p:grpSp>
        <p:nvGrpSpPr>
          <p:cNvPr name="Group 86" id="86"/>
          <p:cNvGrpSpPr/>
          <p:nvPr/>
        </p:nvGrpSpPr>
        <p:grpSpPr>
          <a:xfrm rot="0">
            <a:off x="4203208" y="6047563"/>
            <a:ext cx="3006176" cy="1222916"/>
            <a:chOff x="0" y="0"/>
            <a:chExt cx="4008235" cy="1630555"/>
          </a:xfrm>
        </p:grpSpPr>
        <p:sp>
          <p:nvSpPr>
            <p:cNvPr name="Freeform 87" id="87"/>
            <p:cNvSpPr/>
            <p:nvPr/>
          </p:nvSpPr>
          <p:spPr>
            <a:xfrm flipH="false" flipV="false" rot="0">
              <a:off x="0" y="0"/>
              <a:ext cx="4008235" cy="1630555"/>
            </a:xfrm>
            <a:custGeom>
              <a:avLst/>
              <a:gdLst/>
              <a:ahLst/>
              <a:cxnLst/>
              <a:rect r="r" b="b" t="t" l="l"/>
              <a:pathLst>
                <a:path h="1630555" w="4008235">
                  <a:moveTo>
                    <a:pt x="0" y="0"/>
                  </a:moveTo>
                  <a:lnTo>
                    <a:pt x="4008235" y="0"/>
                  </a:lnTo>
                  <a:lnTo>
                    <a:pt x="4008235" y="1630555"/>
                  </a:lnTo>
                  <a:lnTo>
                    <a:pt x="0" y="1630555"/>
                  </a:lnTo>
                  <a:close/>
                </a:path>
              </a:pathLst>
            </a:custGeom>
            <a:blipFill>
              <a:blip r:embed="rId2">
                <a:alphaModFix amt="0"/>
              </a:blip>
              <a:stretch>
                <a:fillRect l="-19416" t="0" r="28874" b="13264"/>
              </a:stretch>
            </a:blipFill>
          </p:spPr>
        </p:sp>
        <p:sp>
          <p:nvSpPr>
            <p:cNvPr name="TextBox 88" id="88"/>
            <p:cNvSpPr txBox="true"/>
            <p:nvPr/>
          </p:nvSpPr>
          <p:spPr>
            <a:xfrm>
              <a:off x="0" y="-114300"/>
              <a:ext cx="4008235" cy="1744855"/>
            </a:xfrm>
            <a:prstGeom prst="rect">
              <a:avLst/>
            </a:prstGeom>
          </p:spPr>
          <p:txBody>
            <a:bodyPr anchor="ctr" rtlCol="false" tIns="0" lIns="0" bIns="0" rIns="0"/>
            <a:lstStyle/>
            <a:p>
              <a:pPr algn="ctr">
                <a:lnSpc>
                  <a:spcPts val="6719"/>
                </a:lnSpc>
              </a:pPr>
              <a:r>
                <a:rPr lang="en-US" sz="5599">
                  <a:solidFill>
                    <a:srgbClr val="000000"/>
                  </a:solidFill>
                  <a:latin typeface="Calibri (MS)"/>
                  <a:ea typeface="Calibri (MS)"/>
                  <a:cs typeface="Calibri (MS)"/>
                  <a:sym typeface="Calibri (MS)"/>
                </a:rPr>
                <a:t>📊</a:t>
              </a:r>
            </a:p>
          </p:txBody>
        </p:sp>
      </p:grpSp>
      <p:grpSp>
        <p:nvGrpSpPr>
          <p:cNvPr name="Group 89" id="89"/>
          <p:cNvGrpSpPr/>
          <p:nvPr/>
        </p:nvGrpSpPr>
        <p:grpSpPr>
          <a:xfrm rot="0">
            <a:off x="4308431" y="6933441"/>
            <a:ext cx="2788419" cy="901485"/>
            <a:chOff x="0" y="0"/>
            <a:chExt cx="3717892" cy="1201980"/>
          </a:xfrm>
        </p:grpSpPr>
        <p:sp>
          <p:nvSpPr>
            <p:cNvPr name="Freeform 90" id="90"/>
            <p:cNvSpPr/>
            <p:nvPr/>
          </p:nvSpPr>
          <p:spPr>
            <a:xfrm flipH="false" flipV="false" rot="0">
              <a:off x="0" y="0"/>
              <a:ext cx="3717892" cy="1201980"/>
            </a:xfrm>
            <a:custGeom>
              <a:avLst/>
              <a:gdLst/>
              <a:ahLst/>
              <a:cxnLst/>
              <a:rect r="r" b="b" t="t" l="l"/>
              <a:pathLst>
                <a:path h="1201980" w="3717892">
                  <a:moveTo>
                    <a:pt x="0" y="0"/>
                  </a:moveTo>
                  <a:lnTo>
                    <a:pt x="3717892" y="0"/>
                  </a:lnTo>
                  <a:lnTo>
                    <a:pt x="3717892" y="1201980"/>
                  </a:lnTo>
                  <a:lnTo>
                    <a:pt x="0" y="1201980"/>
                  </a:lnTo>
                  <a:close/>
                </a:path>
              </a:pathLst>
            </a:custGeom>
            <a:blipFill>
              <a:blip r:embed="rId2">
                <a:alphaModFix amt="0"/>
              </a:blip>
              <a:stretch>
                <a:fillRect l="0" t="-56062" r="-73801" b="-53437"/>
              </a:stretch>
            </a:blipFill>
          </p:spPr>
        </p:sp>
        <p:sp>
          <p:nvSpPr>
            <p:cNvPr name="TextBox 91" id="91"/>
            <p:cNvSpPr txBox="true"/>
            <p:nvPr/>
          </p:nvSpPr>
          <p:spPr>
            <a:xfrm>
              <a:off x="0" y="-47625"/>
              <a:ext cx="3717892" cy="1249605"/>
            </a:xfrm>
            <a:prstGeom prst="rect">
              <a:avLst/>
            </a:prstGeom>
          </p:spPr>
          <p:txBody>
            <a:bodyPr anchor="ctr" rtlCol="false" tIns="0" lIns="0" bIns="0" rIns="0"/>
            <a:lstStyle/>
            <a:p>
              <a:pPr algn="ctr">
                <a:lnSpc>
                  <a:spcPts val="2640"/>
                </a:lnSpc>
              </a:pPr>
              <a:r>
                <a:rPr lang="en-US" sz="2200" b="true">
                  <a:solidFill>
                    <a:srgbClr val="7C3AED"/>
                  </a:solidFill>
                  <a:latin typeface="Calibri (MS) Bold"/>
                  <a:ea typeface="Calibri (MS) Bold"/>
                  <a:cs typeface="Calibri (MS) Bold"/>
                  <a:sym typeface="Calibri (MS) Bold"/>
                </a:rPr>
                <a:t>Une collection abstraite de données</a:t>
              </a:r>
            </a:p>
          </p:txBody>
        </p:sp>
      </p:grpSp>
      <p:grpSp>
        <p:nvGrpSpPr>
          <p:cNvPr name="Group 92" id="92"/>
          <p:cNvGrpSpPr/>
          <p:nvPr/>
        </p:nvGrpSpPr>
        <p:grpSpPr>
          <a:xfrm rot="0">
            <a:off x="4308431" y="7741101"/>
            <a:ext cx="2788419" cy="1115366"/>
            <a:chOff x="0" y="0"/>
            <a:chExt cx="3717892" cy="1487155"/>
          </a:xfrm>
        </p:grpSpPr>
        <p:sp>
          <p:nvSpPr>
            <p:cNvPr name="Freeform 93" id="93"/>
            <p:cNvSpPr/>
            <p:nvPr/>
          </p:nvSpPr>
          <p:spPr>
            <a:xfrm flipH="false" flipV="false" rot="0">
              <a:off x="0" y="0"/>
              <a:ext cx="3717892" cy="1487155"/>
            </a:xfrm>
            <a:custGeom>
              <a:avLst/>
              <a:gdLst/>
              <a:ahLst/>
              <a:cxnLst/>
              <a:rect r="r" b="b" t="t" l="l"/>
              <a:pathLst>
                <a:path h="1487155" w="3717892">
                  <a:moveTo>
                    <a:pt x="0" y="0"/>
                  </a:moveTo>
                  <a:lnTo>
                    <a:pt x="3717892" y="0"/>
                  </a:lnTo>
                  <a:lnTo>
                    <a:pt x="3717892" y="1487155"/>
                  </a:lnTo>
                  <a:lnTo>
                    <a:pt x="0" y="1487155"/>
                  </a:lnTo>
                  <a:close/>
                </a:path>
              </a:pathLst>
            </a:custGeom>
            <a:blipFill>
              <a:blip r:embed="rId2">
                <a:alphaModFix amt="0"/>
              </a:blip>
              <a:stretch>
                <a:fillRect l="0" t="-23176" r="-73801" b="-46149"/>
              </a:stretch>
            </a:blipFill>
          </p:spPr>
        </p:sp>
        <p:sp>
          <p:nvSpPr>
            <p:cNvPr name="TextBox 94" id="94"/>
            <p:cNvSpPr txBox="true"/>
            <p:nvPr/>
          </p:nvSpPr>
          <p:spPr>
            <a:xfrm>
              <a:off x="0" y="-38100"/>
              <a:ext cx="3717892" cy="1525255"/>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 Historique météo 2025 »</a:t>
              </a:r>
            </a:p>
          </p:txBody>
        </p:sp>
      </p:grpSp>
      <p:grpSp>
        <p:nvGrpSpPr>
          <p:cNvPr name="Group 95" id="95"/>
          <p:cNvGrpSpPr/>
          <p:nvPr/>
        </p:nvGrpSpPr>
        <p:grpSpPr>
          <a:xfrm rot="0">
            <a:off x="7594659" y="5370586"/>
            <a:ext cx="3096814" cy="3600315"/>
            <a:chOff x="0" y="0"/>
            <a:chExt cx="4129085" cy="4800420"/>
          </a:xfrm>
        </p:grpSpPr>
        <p:sp>
          <p:nvSpPr>
            <p:cNvPr name="Freeform 96" id="96"/>
            <p:cNvSpPr/>
            <p:nvPr/>
          </p:nvSpPr>
          <p:spPr>
            <a:xfrm flipH="false" flipV="false" rot="0">
              <a:off x="9987" y="13776"/>
              <a:ext cx="4109058" cy="4772795"/>
            </a:xfrm>
            <a:custGeom>
              <a:avLst/>
              <a:gdLst/>
              <a:ahLst/>
              <a:cxnLst/>
              <a:rect r="r" b="b" t="t" l="l"/>
              <a:pathLst>
                <a:path h="4772795" w="4109058">
                  <a:moveTo>
                    <a:pt x="0" y="0"/>
                  </a:moveTo>
                  <a:lnTo>
                    <a:pt x="4109058" y="0"/>
                  </a:lnTo>
                  <a:lnTo>
                    <a:pt x="4109058" y="4772795"/>
                  </a:lnTo>
                  <a:lnTo>
                    <a:pt x="0" y="4772795"/>
                  </a:lnTo>
                  <a:close/>
                </a:path>
              </a:pathLst>
            </a:custGeom>
            <a:solidFill>
              <a:srgbClr val="ECFDF5"/>
            </a:solidFill>
          </p:spPr>
        </p:sp>
        <p:sp>
          <p:nvSpPr>
            <p:cNvPr name="Freeform 97" id="97"/>
            <p:cNvSpPr/>
            <p:nvPr/>
          </p:nvSpPr>
          <p:spPr>
            <a:xfrm flipH="false" flipV="false" rot="0">
              <a:off x="0" y="0"/>
              <a:ext cx="4129032" cy="4800347"/>
            </a:xfrm>
            <a:custGeom>
              <a:avLst/>
              <a:gdLst/>
              <a:ahLst/>
              <a:cxnLst/>
              <a:rect r="r" b="b" t="t" l="l"/>
              <a:pathLst>
                <a:path h="4800347" w="4129032">
                  <a:moveTo>
                    <a:pt x="9987" y="0"/>
                  </a:moveTo>
                  <a:lnTo>
                    <a:pt x="4119045" y="0"/>
                  </a:lnTo>
                  <a:cubicBezTo>
                    <a:pt x="4124603" y="0"/>
                    <a:pt x="4129032" y="6215"/>
                    <a:pt x="4129032" y="13776"/>
                  </a:cubicBezTo>
                  <a:lnTo>
                    <a:pt x="4129032" y="4786571"/>
                  </a:lnTo>
                  <a:cubicBezTo>
                    <a:pt x="4129032" y="4794236"/>
                    <a:pt x="4124527" y="4800347"/>
                    <a:pt x="4119045" y="4800347"/>
                  </a:cubicBezTo>
                  <a:lnTo>
                    <a:pt x="9987" y="4800347"/>
                  </a:lnTo>
                  <a:cubicBezTo>
                    <a:pt x="4430" y="4800347"/>
                    <a:pt x="0" y="4794133"/>
                    <a:pt x="0" y="4786571"/>
                  </a:cubicBezTo>
                  <a:lnTo>
                    <a:pt x="0" y="13776"/>
                  </a:lnTo>
                  <a:cubicBezTo>
                    <a:pt x="0" y="6215"/>
                    <a:pt x="4506" y="0"/>
                    <a:pt x="9987" y="0"/>
                  </a:cubicBezTo>
                  <a:moveTo>
                    <a:pt x="9987" y="27655"/>
                  </a:moveTo>
                  <a:lnTo>
                    <a:pt x="9987" y="13776"/>
                  </a:lnTo>
                  <a:lnTo>
                    <a:pt x="20050" y="13776"/>
                  </a:lnTo>
                  <a:lnTo>
                    <a:pt x="20050" y="4786571"/>
                  </a:lnTo>
                  <a:lnTo>
                    <a:pt x="9987" y="4786571"/>
                  </a:lnTo>
                  <a:lnTo>
                    <a:pt x="9987" y="4772795"/>
                  </a:lnTo>
                  <a:lnTo>
                    <a:pt x="4119045" y="4772795"/>
                  </a:lnTo>
                  <a:lnTo>
                    <a:pt x="4119045" y="4786571"/>
                  </a:lnTo>
                  <a:lnTo>
                    <a:pt x="4109058" y="4786571"/>
                  </a:lnTo>
                  <a:lnTo>
                    <a:pt x="4109058" y="13776"/>
                  </a:lnTo>
                  <a:lnTo>
                    <a:pt x="4119045" y="13776"/>
                  </a:lnTo>
                  <a:lnTo>
                    <a:pt x="4119045" y="27655"/>
                  </a:lnTo>
                  <a:lnTo>
                    <a:pt x="9987" y="27655"/>
                  </a:lnTo>
                  <a:close/>
                </a:path>
              </a:pathLst>
            </a:custGeom>
            <a:solidFill>
              <a:srgbClr val="059669"/>
            </a:solidFill>
          </p:spPr>
        </p:sp>
      </p:grpSp>
      <p:grpSp>
        <p:nvGrpSpPr>
          <p:cNvPr name="Group 98" id="98"/>
          <p:cNvGrpSpPr/>
          <p:nvPr/>
        </p:nvGrpSpPr>
        <p:grpSpPr>
          <a:xfrm rot="0">
            <a:off x="7594659" y="5370586"/>
            <a:ext cx="3096814" cy="676977"/>
            <a:chOff x="0" y="0"/>
            <a:chExt cx="4129085" cy="902636"/>
          </a:xfrm>
        </p:grpSpPr>
        <p:sp>
          <p:nvSpPr>
            <p:cNvPr name="Freeform 99" id="99"/>
            <p:cNvSpPr/>
            <p:nvPr/>
          </p:nvSpPr>
          <p:spPr>
            <a:xfrm flipH="false" flipV="false" rot="0">
              <a:off x="9987" y="13776"/>
              <a:ext cx="4109058" cy="875013"/>
            </a:xfrm>
            <a:custGeom>
              <a:avLst/>
              <a:gdLst/>
              <a:ahLst/>
              <a:cxnLst/>
              <a:rect r="r" b="b" t="t" l="l"/>
              <a:pathLst>
                <a:path h="875013" w="4109058">
                  <a:moveTo>
                    <a:pt x="0" y="0"/>
                  </a:moveTo>
                  <a:lnTo>
                    <a:pt x="4109058" y="0"/>
                  </a:lnTo>
                  <a:lnTo>
                    <a:pt x="4109058" y="875012"/>
                  </a:lnTo>
                  <a:lnTo>
                    <a:pt x="0" y="875012"/>
                  </a:lnTo>
                  <a:close/>
                </a:path>
              </a:pathLst>
            </a:custGeom>
            <a:solidFill>
              <a:srgbClr val="059669"/>
            </a:solidFill>
          </p:spPr>
        </p:sp>
        <p:sp>
          <p:nvSpPr>
            <p:cNvPr name="Freeform 100" id="100"/>
            <p:cNvSpPr/>
            <p:nvPr/>
          </p:nvSpPr>
          <p:spPr>
            <a:xfrm flipH="false" flipV="false" rot="0">
              <a:off x="0" y="0"/>
              <a:ext cx="4129032" cy="902565"/>
            </a:xfrm>
            <a:custGeom>
              <a:avLst/>
              <a:gdLst/>
              <a:ahLst/>
              <a:cxnLst/>
              <a:rect r="r" b="b" t="t" l="l"/>
              <a:pathLst>
                <a:path h="902565" w="4129032">
                  <a:moveTo>
                    <a:pt x="9987" y="0"/>
                  </a:moveTo>
                  <a:lnTo>
                    <a:pt x="4119045" y="0"/>
                  </a:lnTo>
                  <a:cubicBezTo>
                    <a:pt x="4124603" y="0"/>
                    <a:pt x="4129032" y="6215"/>
                    <a:pt x="4129032" y="13776"/>
                  </a:cubicBezTo>
                  <a:lnTo>
                    <a:pt x="4129032" y="888788"/>
                  </a:lnTo>
                  <a:cubicBezTo>
                    <a:pt x="4129032" y="896453"/>
                    <a:pt x="4124527" y="902564"/>
                    <a:pt x="4119045" y="902564"/>
                  </a:cubicBezTo>
                  <a:lnTo>
                    <a:pt x="9987" y="902564"/>
                  </a:lnTo>
                  <a:cubicBezTo>
                    <a:pt x="4506" y="902674"/>
                    <a:pt x="0" y="896453"/>
                    <a:pt x="0" y="888788"/>
                  </a:cubicBezTo>
                  <a:lnTo>
                    <a:pt x="0" y="13776"/>
                  </a:lnTo>
                  <a:cubicBezTo>
                    <a:pt x="0" y="6215"/>
                    <a:pt x="4506" y="0"/>
                    <a:pt x="9987" y="0"/>
                  </a:cubicBezTo>
                  <a:moveTo>
                    <a:pt x="9987" y="27655"/>
                  </a:moveTo>
                  <a:lnTo>
                    <a:pt x="9987" y="13776"/>
                  </a:lnTo>
                  <a:lnTo>
                    <a:pt x="20050" y="13776"/>
                  </a:lnTo>
                  <a:lnTo>
                    <a:pt x="20050" y="888788"/>
                  </a:lnTo>
                  <a:lnTo>
                    <a:pt x="9987" y="888788"/>
                  </a:lnTo>
                  <a:lnTo>
                    <a:pt x="9987" y="875013"/>
                  </a:lnTo>
                  <a:lnTo>
                    <a:pt x="4119045" y="875013"/>
                  </a:lnTo>
                  <a:lnTo>
                    <a:pt x="4119045" y="888788"/>
                  </a:lnTo>
                  <a:lnTo>
                    <a:pt x="4109058" y="888788"/>
                  </a:lnTo>
                  <a:lnTo>
                    <a:pt x="4109058" y="13776"/>
                  </a:lnTo>
                  <a:lnTo>
                    <a:pt x="4119045" y="13776"/>
                  </a:lnTo>
                  <a:lnTo>
                    <a:pt x="4119045" y="27655"/>
                  </a:lnTo>
                  <a:lnTo>
                    <a:pt x="9987" y="27655"/>
                  </a:lnTo>
                  <a:close/>
                </a:path>
              </a:pathLst>
            </a:custGeom>
            <a:solidFill>
              <a:srgbClr val="059669"/>
            </a:solidFill>
          </p:spPr>
        </p:sp>
      </p:grpSp>
      <p:grpSp>
        <p:nvGrpSpPr>
          <p:cNvPr name="Group 101" id="101"/>
          <p:cNvGrpSpPr/>
          <p:nvPr/>
        </p:nvGrpSpPr>
        <p:grpSpPr>
          <a:xfrm rot="0">
            <a:off x="7602166" y="5380941"/>
            <a:ext cx="3081794" cy="656259"/>
            <a:chOff x="0" y="0"/>
            <a:chExt cx="4109058" cy="875013"/>
          </a:xfrm>
        </p:grpSpPr>
        <p:sp>
          <p:nvSpPr>
            <p:cNvPr name="Freeform 102" id="102"/>
            <p:cNvSpPr/>
            <p:nvPr/>
          </p:nvSpPr>
          <p:spPr>
            <a:xfrm flipH="false" flipV="false" rot="0">
              <a:off x="0" y="0"/>
              <a:ext cx="4109058" cy="875013"/>
            </a:xfrm>
            <a:custGeom>
              <a:avLst/>
              <a:gdLst/>
              <a:ahLst/>
              <a:cxnLst/>
              <a:rect r="r" b="b" t="t" l="l"/>
              <a:pathLst>
                <a:path h="875013" w="4109058">
                  <a:moveTo>
                    <a:pt x="0" y="0"/>
                  </a:moveTo>
                  <a:lnTo>
                    <a:pt x="4109058" y="0"/>
                  </a:lnTo>
                  <a:lnTo>
                    <a:pt x="4109058" y="875013"/>
                  </a:lnTo>
                  <a:lnTo>
                    <a:pt x="0" y="875013"/>
                  </a:lnTo>
                  <a:close/>
                </a:path>
              </a:pathLst>
            </a:custGeom>
            <a:blipFill>
              <a:blip r:embed="rId2">
                <a:alphaModFix amt="0"/>
              </a:blip>
              <a:stretch>
                <a:fillRect l="0" t="-93444" r="-69124" b="-116059"/>
              </a:stretch>
            </a:blipFill>
          </p:spPr>
        </p:sp>
        <p:sp>
          <p:nvSpPr>
            <p:cNvPr name="TextBox 103" id="103"/>
            <p:cNvSpPr txBox="true"/>
            <p:nvPr/>
          </p:nvSpPr>
          <p:spPr>
            <a:xfrm>
              <a:off x="0" y="-38100"/>
              <a:ext cx="4109058" cy="913113"/>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dcat:Distribution</a:t>
              </a:r>
            </a:p>
          </p:txBody>
        </p:sp>
      </p:grpSp>
      <p:grpSp>
        <p:nvGrpSpPr>
          <p:cNvPr name="Group 104" id="104"/>
          <p:cNvGrpSpPr/>
          <p:nvPr/>
        </p:nvGrpSpPr>
        <p:grpSpPr>
          <a:xfrm rot="0">
            <a:off x="7594659" y="6056077"/>
            <a:ext cx="3096814" cy="1241358"/>
            <a:chOff x="0" y="0"/>
            <a:chExt cx="4129085" cy="1655144"/>
          </a:xfrm>
        </p:grpSpPr>
        <p:sp>
          <p:nvSpPr>
            <p:cNvPr name="Freeform 105" id="105"/>
            <p:cNvSpPr/>
            <p:nvPr/>
          </p:nvSpPr>
          <p:spPr>
            <a:xfrm flipH="false" flipV="false" rot="0">
              <a:off x="0" y="0"/>
              <a:ext cx="4129085" cy="1655144"/>
            </a:xfrm>
            <a:custGeom>
              <a:avLst/>
              <a:gdLst/>
              <a:ahLst/>
              <a:cxnLst/>
              <a:rect r="r" b="b" t="t" l="l"/>
              <a:pathLst>
                <a:path h="1655144" w="4129085">
                  <a:moveTo>
                    <a:pt x="0" y="0"/>
                  </a:moveTo>
                  <a:lnTo>
                    <a:pt x="4129085" y="0"/>
                  </a:lnTo>
                  <a:lnTo>
                    <a:pt x="4129085" y="1655144"/>
                  </a:lnTo>
                  <a:lnTo>
                    <a:pt x="0" y="1655144"/>
                  </a:lnTo>
                  <a:close/>
                </a:path>
              </a:pathLst>
            </a:custGeom>
            <a:blipFill>
              <a:blip r:embed="rId2">
                <a:alphaModFix amt="0"/>
              </a:blip>
              <a:stretch>
                <a:fillRect l="-18847" t="0" r="30956" b="14552"/>
              </a:stretch>
            </a:blipFill>
          </p:spPr>
        </p:sp>
        <p:sp>
          <p:nvSpPr>
            <p:cNvPr name="TextBox 106" id="106"/>
            <p:cNvSpPr txBox="true"/>
            <p:nvPr/>
          </p:nvSpPr>
          <p:spPr>
            <a:xfrm>
              <a:off x="0" y="-114300"/>
              <a:ext cx="4129085" cy="1769444"/>
            </a:xfrm>
            <a:prstGeom prst="rect">
              <a:avLst/>
            </a:prstGeom>
          </p:spPr>
          <p:txBody>
            <a:bodyPr anchor="ctr" rtlCol="false" tIns="0" lIns="0" bIns="0" rIns="0"/>
            <a:lstStyle/>
            <a:p>
              <a:pPr algn="ctr">
                <a:lnSpc>
                  <a:spcPts val="6719"/>
                </a:lnSpc>
              </a:pPr>
              <a:r>
                <a:rPr lang="en-US" sz="5599">
                  <a:solidFill>
                    <a:srgbClr val="000000"/>
                  </a:solidFill>
                  <a:latin typeface="Calibri (MS)"/>
                  <a:ea typeface="Calibri (MS)"/>
                  <a:cs typeface="Calibri (MS)"/>
                  <a:sym typeface="Calibri (MS)"/>
                </a:rPr>
                <a:t>📁</a:t>
              </a:r>
            </a:p>
          </p:txBody>
        </p:sp>
      </p:grpSp>
      <p:grpSp>
        <p:nvGrpSpPr>
          <p:cNvPr name="Group 107" id="107"/>
          <p:cNvGrpSpPr/>
          <p:nvPr/>
        </p:nvGrpSpPr>
        <p:grpSpPr>
          <a:xfrm rot="0">
            <a:off x="7710299" y="6927490"/>
            <a:ext cx="2865527" cy="1224548"/>
            <a:chOff x="0" y="0"/>
            <a:chExt cx="3820703" cy="1632731"/>
          </a:xfrm>
        </p:grpSpPr>
        <p:sp>
          <p:nvSpPr>
            <p:cNvPr name="Freeform 108" id="108"/>
            <p:cNvSpPr/>
            <p:nvPr/>
          </p:nvSpPr>
          <p:spPr>
            <a:xfrm flipH="false" flipV="false" rot="0">
              <a:off x="0" y="0"/>
              <a:ext cx="3820703" cy="1632731"/>
            </a:xfrm>
            <a:custGeom>
              <a:avLst/>
              <a:gdLst/>
              <a:ahLst/>
              <a:cxnLst/>
              <a:rect r="r" b="b" t="t" l="l"/>
              <a:pathLst>
                <a:path h="1632731" w="3820703">
                  <a:moveTo>
                    <a:pt x="0" y="0"/>
                  </a:moveTo>
                  <a:lnTo>
                    <a:pt x="3820703" y="0"/>
                  </a:lnTo>
                  <a:lnTo>
                    <a:pt x="3820703" y="1632731"/>
                  </a:lnTo>
                  <a:lnTo>
                    <a:pt x="0" y="1632731"/>
                  </a:lnTo>
                  <a:close/>
                </a:path>
              </a:pathLst>
            </a:custGeom>
            <a:blipFill>
              <a:blip r:embed="rId2">
                <a:alphaModFix amt="0"/>
              </a:blip>
              <a:stretch>
                <a:fillRect l="0" t="-41271" r="-69124" b="-12957"/>
              </a:stretch>
            </a:blipFill>
          </p:spPr>
        </p:sp>
        <p:sp>
          <p:nvSpPr>
            <p:cNvPr name="TextBox 109" id="109"/>
            <p:cNvSpPr txBox="true"/>
            <p:nvPr/>
          </p:nvSpPr>
          <p:spPr>
            <a:xfrm>
              <a:off x="0" y="-47625"/>
              <a:ext cx="3820703" cy="1680356"/>
            </a:xfrm>
            <a:prstGeom prst="rect">
              <a:avLst/>
            </a:prstGeom>
          </p:spPr>
          <p:txBody>
            <a:bodyPr anchor="ctr" rtlCol="false" tIns="0" lIns="0" bIns="0" rIns="0"/>
            <a:lstStyle/>
            <a:p>
              <a:pPr algn="ctr">
                <a:lnSpc>
                  <a:spcPts val="2640"/>
                </a:lnSpc>
              </a:pPr>
              <a:r>
                <a:rPr lang="en-US" sz="2200" b="true">
                  <a:solidFill>
                    <a:srgbClr val="059669"/>
                  </a:solidFill>
                  <a:latin typeface="Calibri (MS) Bold"/>
                  <a:ea typeface="Calibri (MS) Bold"/>
                  <a:cs typeface="Calibri (MS) Bold"/>
                  <a:sym typeface="Calibri (MS) Bold"/>
                </a:rPr>
                <a:t>Forme physique/téléchargeable du dataset</a:t>
              </a:r>
            </a:p>
          </p:txBody>
        </p:sp>
      </p:grpSp>
      <p:grpSp>
        <p:nvGrpSpPr>
          <p:cNvPr name="Group 110" id="110"/>
          <p:cNvGrpSpPr/>
          <p:nvPr/>
        </p:nvGrpSpPr>
        <p:grpSpPr>
          <a:xfrm rot="0">
            <a:off x="7710299" y="7737508"/>
            <a:ext cx="2865527" cy="1118624"/>
            <a:chOff x="0" y="0"/>
            <a:chExt cx="3820703" cy="1491499"/>
          </a:xfrm>
        </p:grpSpPr>
        <p:sp>
          <p:nvSpPr>
            <p:cNvPr name="Freeform 111" id="111"/>
            <p:cNvSpPr/>
            <p:nvPr/>
          </p:nvSpPr>
          <p:spPr>
            <a:xfrm flipH="false" flipV="false" rot="0">
              <a:off x="0" y="0"/>
              <a:ext cx="3820703" cy="1491499"/>
            </a:xfrm>
            <a:custGeom>
              <a:avLst/>
              <a:gdLst/>
              <a:ahLst/>
              <a:cxnLst/>
              <a:rect r="r" b="b" t="t" l="l"/>
              <a:pathLst>
                <a:path h="1491499" w="3820703">
                  <a:moveTo>
                    <a:pt x="0" y="0"/>
                  </a:moveTo>
                  <a:lnTo>
                    <a:pt x="3820703" y="0"/>
                  </a:lnTo>
                  <a:lnTo>
                    <a:pt x="3820703" y="1491499"/>
                  </a:lnTo>
                  <a:lnTo>
                    <a:pt x="0" y="1491499"/>
                  </a:lnTo>
                  <a:close/>
                </a:path>
              </a:pathLst>
            </a:custGeom>
            <a:blipFill>
              <a:blip r:embed="rId2">
                <a:alphaModFix amt="0"/>
              </a:blip>
              <a:stretch>
                <a:fillRect l="0" t="-23109" r="-69124" b="-45724"/>
              </a:stretch>
            </a:blipFill>
          </p:spPr>
        </p:sp>
        <p:sp>
          <p:nvSpPr>
            <p:cNvPr name="TextBox 112" id="112"/>
            <p:cNvSpPr txBox="true"/>
            <p:nvPr/>
          </p:nvSpPr>
          <p:spPr>
            <a:xfrm>
              <a:off x="0" y="-38100"/>
              <a:ext cx="3820703" cy="1529599"/>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fichier CSV, API JSON, dump SQL</a:t>
              </a:r>
            </a:p>
          </p:txBody>
        </p:sp>
      </p:grpSp>
      <p:grpSp>
        <p:nvGrpSpPr>
          <p:cNvPr name="Group 113" id="113"/>
          <p:cNvGrpSpPr/>
          <p:nvPr/>
        </p:nvGrpSpPr>
        <p:grpSpPr>
          <a:xfrm rot="0">
            <a:off x="718823" y="9037763"/>
            <a:ext cx="16837657" cy="640080"/>
            <a:chOff x="0" y="0"/>
            <a:chExt cx="22450209" cy="853440"/>
          </a:xfrm>
        </p:grpSpPr>
        <p:sp>
          <p:nvSpPr>
            <p:cNvPr name="Freeform 114" id="114"/>
            <p:cNvSpPr/>
            <p:nvPr/>
          </p:nvSpPr>
          <p:spPr>
            <a:xfrm flipH="false" flipV="false" rot="0">
              <a:off x="0" y="0"/>
              <a:ext cx="22450210" cy="853440"/>
            </a:xfrm>
            <a:custGeom>
              <a:avLst/>
              <a:gdLst/>
              <a:ahLst/>
              <a:cxnLst/>
              <a:rect r="r" b="b" t="t" l="l"/>
              <a:pathLst>
                <a:path h="853440" w="22450210">
                  <a:moveTo>
                    <a:pt x="0" y="0"/>
                  </a:moveTo>
                  <a:lnTo>
                    <a:pt x="22450210" y="0"/>
                  </a:lnTo>
                  <a:lnTo>
                    <a:pt x="22450210" y="853440"/>
                  </a:lnTo>
                  <a:lnTo>
                    <a:pt x="0" y="853440"/>
                  </a:lnTo>
                  <a:close/>
                </a:path>
              </a:pathLst>
            </a:custGeom>
            <a:blipFill>
              <a:blip r:embed="rId2">
                <a:alphaModFix amt="0"/>
              </a:blip>
              <a:stretch>
                <a:fillRect l="0" t="-462178" r="75" b="-462178"/>
              </a:stretch>
            </a:blipFill>
          </p:spPr>
        </p:sp>
        <p:sp>
          <p:nvSpPr>
            <p:cNvPr name="TextBox 115" id="115"/>
            <p:cNvSpPr txBox="true"/>
            <p:nvPr/>
          </p:nvSpPr>
          <p:spPr>
            <a:xfrm>
              <a:off x="0" y="-47625"/>
              <a:ext cx="22450209" cy="901065"/>
            </a:xfrm>
            <a:prstGeom prst="rect">
              <a:avLst/>
            </a:prstGeom>
          </p:spPr>
          <p:txBody>
            <a:bodyPr anchor="ctr" rtlCol="false" tIns="0" lIns="0" bIns="0" rIns="0"/>
            <a:lstStyle/>
            <a:p>
              <a:pPr algn="ctr">
                <a:lnSpc>
                  <a:spcPts val="2640"/>
                </a:lnSpc>
              </a:pPr>
              <a:r>
                <a:rPr lang="en-US" sz="2200" i="true">
                  <a:solidFill>
                    <a:srgbClr val="64748B"/>
                  </a:solidFill>
                  <a:latin typeface="Calibri (MS) Italics"/>
                  <a:ea typeface="Calibri (MS) Italics"/>
                  <a:cs typeface="Calibri (MS) Italics"/>
                  <a:sym typeface="Calibri (MS) Italics"/>
                </a:rPr>
                <a:t>dcat:Catalog  ──▶  dcat:Dataset  ──▶  dcat:Distribution</a:t>
              </a:r>
            </a:p>
          </p:txBody>
        </p:sp>
      </p:grpSp>
      <p:grpSp>
        <p:nvGrpSpPr>
          <p:cNvPr name="Group 116" id="116"/>
          <p:cNvGrpSpPr/>
          <p:nvPr/>
        </p:nvGrpSpPr>
        <p:grpSpPr>
          <a:xfrm rot="0">
            <a:off x="11069231" y="5381259"/>
            <a:ext cx="3013482" cy="3589829"/>
            <a:chOff x="0" y="0"/>
            <a:chExt cx="4017976" cy="4786439"/>
          </a:xfrm>
        </p:grpSpPr>
        <p:sp>
          <p:nvSpPr>
            <p:cNvPr name="Freeform 117" id="117"/>
            <p:cNvSpPr/>
            <p:nvPr/>
          </p:nvSpPr>
          <p:spPr>
            <a:xfrm flipH="false" flipV="false" rot="0">
              <a:off x="9719" y="13736"/>
              <a:ext cx="3998488" cy="4758895"/>
            </a:xfrm>
            <a:custGeom>
              <a:avLst/>
              <a:gdLst/>
              <a:ahLst/>
              <a:cxnLst/>
              <a:rect r="r" b="b" t="t" l="l"/>
              <a:pathLst>
                <a:path h="4758895" w="3998488">
                  <a:moveTo>
                    <a:pt x="0" y="0"/>
                  </a:moveTo>
                  <a:lnTo>
                    <a:pt x="3998487" y="0"/>
                  </a:lnTo>
                  <a:lnTo>
                    <a:pt x="3998487" y="4758895"/>
                  </a:lnTo>
                  <a:lnTo>
                    <a:pt x="0" y="4758895"/>
                  </a:lnTo>
                  <a:close/>
                </a:path>
              </a:pathLst>
            </a:custGeom>
            <a:solidFill>
              <a:srgbClr val="F5F3FF"/>
            </a:solidFill>
          </p:spPr>
        </p:sp>
        <p:sp>
          <p:nvSpPr>
            <p:cNvPr name="Freeform 118" id="118"/>
            <p:cNvSpPr/>
            <p:nvPr/>
          </p:nvSpPr>
          <p:spPr>
            <a:xfrm flipH="false" flipV="false" rot="0">
              <a:off x="0" y="0"/>
              <a:ext cx="4017925" cy="4786366"/>
            </a:xfrm>
            <a:custGeom>
              <a:avLst/>
              <a:gdLst/>
              <a:ahLst/>
              <a:cxnLst/>
              <a:rect r="r" b="b" t="t" l="l"/>
              <a:pathLst>
                <a:path h="4786366" w="4017925">
                  <a:moveTo>
                    <a:pt x="9719" y="0"/>
                  </a:moveTo>
                  <a:lnTo>
                    <a:pt x="4008206" y="0"/>
                  </a:lnTo>
                  <a:cubicBezTo>
                    <a:pt x="4013614" y="0"/>
                    <a:pt x="4017925" y="6196"/>
                    <a:pt x="4017925" y="13736"/>
                  </a:cubicBezTo>
                  <a:lnTo>
                    <a:pt x="4017925" y="4772631"/>
                  </a:lnTo>
                  <a:cubicBezTo>
                    <a:pt x="4017925" y="4780273"/>
                    <a:pt x="4013540" y="4786366"/>
                    <a:pt x="4008206" y="4786366"/>
                  </a:cubicBezTo>
                  <a:lnTo>
                    <a:pt x="9719" y="4786366"/>
                  </a:lnTo>
                  <a:cubicBezTo>
                    <a:pt x="4311" y="4786366"/>
                    <a:pt x="0" y="4780170"/>
                    <a:pt x="0" y="4772631"/>
                  </a:cubicBezTo>
                  <a:lnTo>
                    <a:pt x="0" y="13736"/>
                  </a:lnTo>
                  <a:cubicBezTo>
                    <a:pt x="0" y="6196"/>
                    <a:pt x="4384" y="0"/>
                    <a:pt x="9719" y="0"/>
                  </a:cubicBezTo>
                  <a:moveTo>
                    <a:pt x="9719" y="27574"/>
                  </a:moveTo>
                  <a:lnTo>
                    <a:pt x="9719" y="13736"/>
                  </a:lnTo>
                  <a:lnTo>
                    <a:pt x="19510" y="13736"/>
                  </a:lnTo>
                  <a:lnTo>
                    <a:pt x="19510" y="4772631"/>
                  </a:lnTo>
                  <a:lnTo>
                    <a:pt x="9719" y="4772631"/>
                  </a:lnTo>
                  <a:lnTo>
                    <a:pt x="9719" y="4758896"/>
                  </a:lnTo>
                  <a:lnTo>
                    <a:pt x="4008206" y="4758896"/>
                  </a:lnTo>
                  <a:lnTo>
                    <a:pt x="4008206" y="4772631"/>
                  </a:lnTo>
                  <a:lnTo>
                    <a:pt x="3998488" y="4772631"/>
                  </a:lnTo>
                  <a:lnTo>
                    <a:pt x="3998488" y="13736"/>
                  </a:lnTo>
                  <a:lnTo>
                    <a:pt x="4008206" y="13736"/>
                  </a:lnTo>
                  <a:lnTo>
                    <a:pt x="4008206" y="27574"/>
                  </a:lnTo>
                  <a:lnTo>
                    <a:pt x="9719" y="27574"/>
                  </a:lnTo>
                  <a:close/>
                </a:path>
              </a:pathLst>
            </a:custGeom>
            <a:solidFill>
              <a:srgbClr val="7C3AED"/>
            </a:solidFill>
          </p:spPr>
        </p:sp>
      </p:grpSp>
      <p:grpSp>
        <p:nvGrpSpPr>
          <p:cNvPr name="Group 119" id="119"/>
          <p:cNvGrpSpPr/>
          <p:nvPr/>
        </p:nvGrpSpPr>
        <p:grpSpPr>
          <a:xfrm rot="0">
            <a:off x="11069231" y="5381259"/>
            <a:ext cx="3013482" cy="675006"/>
            <a:chOff x="0" y="0"/>
            <a:chExt cx="4017976" cy="900008"/>
          </a:xfrm>
        </p:grpSpPr>
        <p:sp>
          <p:nvSpPr>
            <p:cNvPr name="Freeform 120" id="120"/>
            <p:cNvSpPr/>
            <p:nvPr/>
          </p:nvSpPr>
          <p:spPr>
            <a:xfrm flipH="false" flipV="false" rot="0">
              <a:off x="9719" y="13736"/>
              <a:ext cx="3998488" cy="872464"/>
            </a:xfrm>
            <a:custGeom>
              <a:avLst/>
              <a:gdLst/>
              <a:ahLst/>
              <a:cxnLst/>
              <a:rect r="r" b="b" t="t" l="l"/>
              <a:pathLst>
                <a:path h="872464" w="3998488">
                  <a:moveTo>
                    <a:pt x="0" y="0"/>
                  </a:moveTo>
                  <a:lnTo>
                    <a:pt x="3998487" y="0"/>
                  </a:lnTo>
                  <a:lnTo>
                    <a:pt x="3998487" y="872464"/>
                  </a:lnTo>
                  <a:lnTo>
                    <a:pt x="0" y="872464"/>
                  </a:lnTo>
                  <a:close/>
                </a:path>
              </a:pathLst>
            </a:custGeom>
            <a:solidFill>
              <a:srgbClr val="7C3AED"/>
            </a:solidFill>
          </p:spPr>
        </p:sp>
        <p:sp>
          <p:nvSpPr>
            <p:cNvPr name="Freeform 121" id="121"/>
            <p:cNvSpPr/>
            <p:nvPr/>
          </p:nvSpPr>
          <p:spPr>
            <a:xfrm flipH="false" flipV="false" rot="0">
              <a:off x="0" y="0"/>
              <a:ext cx="4017925" cy="899937"/>
            </a:xfrm>
            <a:custGeom>
              <a:avLst/>
              <a:gdLst/>
              <a:ahLst/>
              <a:cxnLst/>
              <a:rect r="r" b="b" t="t" l="l"/>
              <a:pathLst>
                <a:path h="899937" w="4017925">
                  <a:moveTo>
                    <a:pt x="9719" y="0"/>
                  </a:moveTo>
                  <a:lnTo>
                    <a:pt x="4008206" y="0"/>
                  </a:lnTo>
                  <a:cubicBezTo>
                    <a:pt x="4013614" y="0"/>
                    <a:pt x="4017925" y="6196"/>
                    <a:pt x="4017925" y="13736"/>
                  </a:cubicBezTo>
                  <a:lnTo>
                    <a:pt x="4017925" y="886200"/>
                  </a:lnTo>
                  <a:cubicBezTo>
                    <a:pt x="4017925" y="893842"/>
                    <a:pt x="4013540" y="899935"/>
                    <a:pt x="4008206" y="899935"/>
                  </a:cubicBezTo>
                  <a:lnTo>
                    <a:pt x="9719" y="899935"/>
                  </a:lnTo>
                  <a:cubicBezTo>
                    <a:pt x="4384" y="900046"/>
                    <a:pt x="0" y="893842"/>
                    <a:pt x="0" y="886200"/>
                  </a:cubicBezTo>
                  <a:lnTo>
                    <a:pt x="0" y="13736"/>
                  </a:lnTo>
                  <a:cubicBezTo>
                    <a:pt x="0" y="6196"/>
                    <a:pt x="4384" y="0"/>
                    <a:pt x="9719" y="0"/>
                  </a:cubicBezTo>
                  <a:moveTo>
                    <a:pt x="9719" y="27574"/>
                  </a:moveTo>
                  <a:lnTo>
                    <a:pt x="9719" y="13736"/>
                  </a:lnTo>
                  <a:lnTo>
                    <a:pt x="19510" y="13736"/>
                  </a:lnTo>
                  <a:lnTo>
                    <a:pt x="19510" y="886200"/>
                  </a:lnTo>
                  <a:lnTo>
                    <a:pt x="9719" y="886200"/>
                  </a:lnTo>
                  <a:lnTo>
                    <a:pt x="9719" y="872464"/>
                  </a:lnTo>
                  <a:lnTo>
                    <a:pt x="4008206" y="872464"/>
                  </a:lnTo>
                  <a:lnTo>
                    <a:pt x="4008206" y="886200"/>
                  </a:lnTo>
                  <a:lnTo>
                    <a:pt x="3998488" y="886200"/>
                  </a:lnTo>
                  <a:lnTo>
                    <a:pt x="3998488" y="13736"/>
                  </a:lnTo>
                  <a:lnTo>
                    <a:pt x="4008206" y="13736"/>
                  </a:lnTo>
                  <a:lnTo>
                    <a:pt x="4008206" y="27574"/>
                  </a:lnTo>
                  <a:lnTo>
                    <a:pt x="9719" y="27574"/>
                  </a:lnTo>
                  <a:close/>
                </a:path>
              </a:pathLst>
            </a:custGeom>
            <a:solidFill>
              <a:srgbClr val="7C3AED"/>
            </a:solidFill>
          </p:spPr>
        </p:sp>
      </p:grpSp>
      <p:grpSp>
        <p:nvGrpSpPr>
          <p:cNvPr name="Group 122" id="122"/>
          <p:cNvGrpSpPr/>
          <p:nvPr/>
        </p:nvGrpSpPr>
        <p:grpSpPr>
          <a:xfrm rot="0">
            <a:off x="11076536" y="5391584"/>
            <a:ext cx="2998866" cy="654348"/>
            <a:chOff x="0" y="0"/>
            <a:chExt cx="3998487" cy="872464"/>
          </a:xfrm>
        </p:grpSpPr>
        <p:sp>
          <p:nvSpPr>
            <p:cNvPr name="Freeform 123" id="123"/>
            <p:cNvSpPr/>
            <p:nvPr/>
          </p:nvSpPr>
          <p:spPr>
            <a:xfrm flipH="false" flipV="false" rot="0">
              <a:off x="0" y="0"/>
              <a:ext cx="3998488" cy="872464"/>
            </a:xfrm>
            <a:custGeom>
              <a:avLst/>
              <a:gdLst/>
              <a:ahLst/>
              <a:cxnLst/>
              <a:rect r="r" b="b" t="t" l="l"/>
              <a:pathLst>
                <a:path h="872464" w="3998488">
                  <a:moveTo>
                    <a:pt x="0" y="0"/>
                  </a:moveTo>
                  <a:lnTo>
                    <a:pt x="3998488" y="0"/>
                  </a:lnTo>
                  <a:lnTo>
                    <a:pt x="3998488" y="872464"/>
                  </a:lnTo>
                  <a:lnTo>
                    <a:pt x="0" y="872464"/>
                  </a:lnTo>
                  <a:close/>
                </a:path>
              </a:pathLst>
            </a:custGeom>
            <a:blipFill>
              <a:blip r:embed="rId2">
                <a:alphaModFix amt="0"/>
              </a:blip>
              <a:stretch>
                <a:fillRect l="0" t="-93717" r="-73801" b="-116690"/>
              </a:stretch>
            </a:blipFill>
          </p:spPr>
        </p:sp>
        <p:sp>
          <p:nvSpPr>
            <p:cNvPr name="TextBox 124" id="124"/>
            <p:cNvSpPr txBox="true"/>
            <p:nvPr/>
          </p:nvSpPr>
          <p:spPr>
            <a:xfrm>
              <a:off x="0" y="-38100"/>
              <a:ext cx="3998487" cy="910564"/>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dcat:Resource</a:t>
              </a:r>
            </a:p>
          </p:txBody>
        </p:sp>
      </p:grpSp>
      <p:grpSp>
        <p:nvGrpSpPr>
          <p:cNvPr name="Group 125" id="125"/>
          <p:cNvGrpSpPr/>
          <p:nvPr/>
        </p:nvGrpSpPr>
        <p:grpSpPr>
          <a:xfrm rot="0">
            <a:off x="11181760" y="6933629"/>
            <a:ext cx="2788419" cy="1108583"/>
            <a:chOff x="0" y="0"/>
            <a:chExt cx="3717892" cy="1478111"/>
          </a:xfrm>
        </p:grpSpPr>
        <p:sp>
          <p:nvSpPr>
            <p:cNvPr name="Freeform 126" id="126"/>
            <p:cNvSpPr/>
            <p:nvPr/>
          </p:nvSpPr>
          <p:spPr>
            <a:xfrm flipH="false" flipV="false" rot="0">
              <a:off x="0" y="0"/>
              <a:ext cx="3717892" cy="1478111"/>
            </a:xfrm>
            <a:custGeom>
              <a:avLst/>
              <a:gdLst/>
              <a:ahLst/>
              <a:cxnLst/>
              <a:rect r="r" b="b" t="t" l="l"/>
              <a:pathLst>
                <a:path h="1478111" w="3717892">
                  <a:moveTo>
                    <a:pt x="0" y="0"/>
                  </a:moveTo>
                  <a:lnTo>
                    <a:pt x="3717892" y="0"/>
                  </a:lnTo>
                  <a:lnTo>
                    <a:pt x="3717892" y="1478111"/>
                  </a:lnTo>
                  <a:lnTo>
                    <a:pt x="0" y="1478111"/>
                  </a:lnTo>
                  <a:close/>
                </a:path>
              </a:pathLst>
            </a:custGeom>
            <a:blipFill>
              <a:blip r:embed="rId2">
                <a:alphaModFix amt="0"/>
              </a:blip>
              <a:stretch>
                <a:fillRect l="0" t="-45589" r="-73801" b="-24773"/>
              </a:stretch>
            </a:blipFill>
          </p:spPr>
        </p:sp>
        <p:sp>
          <p:nvSpPr>
            <p:cNvPr name="TextBox 127" id="127"/>
            <p:cNvSpPr txBox="true"/>
            <p:nvPr/>
          </p:nvSpPr>
          <p:spPr>
            <a:xfrm>
              <a:off x="0" y="-47625"/>
              <a:ext cx="3717892" cy="1525736"/>
            </a:xfrm>
            <a:prstGeom prst="rect">
              <a:avLst/>
            </a:prstGeom>
          </p:spPr>
          <p:txBody>
            <a:bodyPr anchor="ctr" rtlCol="false" tIns="0" lIns="0" bIns="0" rIns="0"/>
            <a:lstStyle/>
            <a:p>
              <a:pPr algn="ctr">
                <a:lnSpc>
                  <a:spcPts val="2640"/>
                </a:lnSpc>
              </a:pPr>
              <a:r>
                <a:rPr lang="en-US" sz="2200" b="true">
                  <a:solidFill>
                    <a:srgbClr val="7C3AED"/>
                  </a:solidFill>
                  <a:latin typeface="Calibri (MS) Bold"/>
                  <a:ea typeface="Calibri (MS) Bold"/>
                  <a:cs typeface="Calibri (MS) Bold"/>
                  <a:sym typeface="Calibri (MS) Bold"/>
                </a:rPr>
                <a:t>Classe gé</a:t>
              </a:r>
              <a:r>
                <a:rPr lang="en-US" sz="2200" b="true">
                  <a:solidFill>
                    <a:srgbClr val="7C3AED"/>
                  </a:solidFill>
                  <a:latin typeface="Calibri (MS) Bold"/>
                  <a:ea typeface="Calibri (MS) Bold"/>
                  <a:cs typeface="Calibri (MS) Bold"/>
                  <a:sym typeface="Calibri (MS) Bold"/>
                </a:rPr>
                <a:t>nérique (parent) pour dataset, service, etc.</a:t>
              </a:r>
            </a:p>
          </p:txBody>
        </p:sp>
      </p:grpSp>
      <p:grpSp>
        <p:nvGrpSpPr>
          <p:cNvPr name="Group 128" id="128"/>
          <p:cNvGrpSpPr/>
          <p:nvPr/>
        </p:nvGrpSpPr>
        <p:grpSpPr>
          <a:xfrm rot="0">
            <a:off x="11123939" y="7803746"/>
            <a:ext cx="2788419" cy="1115366"/>
            <a:chOff x="0" y="0"/>
            <a:chExt cx="3717892" cy="1487155"/>
          </a:xfrm>
        </p:grpSpPr>
        <p:sp>
          <p:nvSpPr>
            <p:cNvPr name="Freeform 129" id="129"/>
            <p:cNvSpPr/>
            <p:nvPr/>
          </p:nvSpPr>
          <p:spPr>
            <a:xfrm flipH="false" flipV="false" rot="0">
              <a:off x="0" y="0"/>
              <a:ext cx="3717892" cy="1487155"/>
            </a:xfrm>
            <a:custGeom>
              <a:avLst/>
              <a:gdLst/>
              <a:ahLst/>
              <a:cxnLst/>
              <a:rect r="r" b="b" t="t" l="l"/>
              <a:pathLst>
                <a:path h="1487155" w="3717892">
                  <a:moveTo>
                    <a:pt x="0" y="0"/>
                  </a:moveTo>
                  <a:lnTo>
                    <a:pt x="3717892" y="0"/>
                  </a:lnTo>
                  <a:lnTo>
                    <a:pt x="3717892" y="1487155"/>
                  </a:lnTo>
                  <a:lnTo>
                    <a:pt x="0" y="1487155"/>
                  </a:lnTo>
                  <a:close/>
                </a:path>
              </a:pathLst>
            </a:custGeom>
            <a:blipFill>
              <a:blip r:embed="rId2">
                <a:alphaModFix amt="0"/>
              </a:blip>
              <a:stretch>
                <a:fillRect l="0" t="-23176" r="-73801" b="-46149"/>
              </a:stretch>
            </a:blipFill>
          </p:spPr>
        </p:sp>
        <p:sp>
          <p:nvSpPr>
            <p:cNvPr name="TextBox 130" id="130"/>
            <p:cNvSpPr txBox="true"/>
            <p:nvPr/>
          </p:nvSpPr>
          <p:spPr>
            <a:xfrm>
              <a:off x="0" y="-38100"/>
              <a:ext cx="3717892" cy="1525255"/>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 Historique météo 2025 »</a:t>
              </a:r>
            </a:p>
          </p:txBody>
        </p:sp>
      </p:grpSp>
      <p:grpSp>
        <p:nvGrpSpPr>
          <p:cNvPr name="Group 131" id="131"/>
          <p:cNvGrpSpPr/>
          <p:nvPr/>
        </p:nvGrpSpPr>
        <p:grpSpPr>
          <a:xfrm rot="0">
            <a:off x="14460471" y="5389636"/>
            <a:ext cx="3085989" cy="3603869"/>
            <a:chOff x="0" y="0"/>
            <a:chExt cx="4114652" cy="4805159"/>
          </a:xfrm>
        </p:grpSpPr>
        <p:sp>
          <p:nvSpPr>
            <p:cNvPr name="Freeform 132" id="132"/>
            <p:cNvSpPr/>
            <p:nvPr/>
          </p:nvSpPr>
          <p:spPr>
            <a:xfrm flipH="false" flipV="false" rot="0">
              <a:off x="9952" y="13789"/>
              <a:ext cx="4094695" cy="4777508"/>
            </a:xfrm>
            <a:custGeom>
              <a:avLst/>
              <a:gdLst/>
              <a:ahLst/>
              <a:cxnLst/>
              <a:rect r="r" b="b" t="t" l="l"/>
              <a:pathLst>
                <a:path h="4777508" w="4094695">
                  <a:moveTo>
                    <a:pt x="0" y="0"/>
                  </a:moveTo>
                  <a:lnTo>
                    <a:pt x="4094696" y="0"/>
                  </a:lnTo>
                  <a:lnTo>
                    <a:pt x="4094696" y="4777508"/>
                  </a:lnTo>
                  <a:lnTo>
                    <a:pt x="0" y="4777508"/>
                  </a:lnTo>
                  <a:close/>
                </a:path>
              </a:pathLst>
            </a:custGeom>
            <a:solidFill>
              <a:srgbClr val="E0F2FE"/>
            </a:solidFill>
          </p:spPr>
        </p:sp>
        <p:sp>
          <p:nvSpPr>
            <p:cNvPr name="Freeform 133" id="133"/>
            <p:cNvSpPr/>
            <p:nvPr/>
          </p:nvSpPr>
          <p:spPr>
            <a:xfrm flipH="false" flipV="false" rot="0">
              <a:off x="0" y="0"/>
              <a:ext cx="4114600" cy="4805087"/>
            </a:xfrm>
            <a:custGeom>
              <a:avLst/>
              <a:gdLst/>
              <a:ahLst/>
              <a:cxnLst/>
              <a:rect r="r" b="b" t="t" l="l"/>
              <a:pathLst>
                <a:path h="4805087" w="4114600">
                  <a:moveTo>
                    <a:pt x="9952" y="0"/>
                  </a:moveTo>
                  <a:lnTo>
                    <a:pt x="4104648" y="0"/>
                  </a:lnTo>
                  <a:cubicBezTo>
                    <a:pt x="4110185" y="0"/>
                    <a:pt x="4114600" y="6221"/>
                    <a:pt x="4114600" y="13789"/>
                  </a:cubicBezTo>
                  <a:lnTo>
                    <a:pt x="4114600" y="4791297"/>
                  </a:lnTo>
                  <a:cubicBezTo>
                    <a:pt x="4114600" y="4798969"/>
                    <a:pt x="4110110" y="4805087"/>
                    <a:pt x="4104648" y="4805087"/>
                  </a:cubicBezTo>
                  <a:lnTo>
                    <a:pt x="9952" y="4805087"/>
                  </a:lnTo>
                  <a:cubicBezTo>
                    <a:pt x="4415" y="4805087"/>
                    <a:pt x="0" y="4798866"/>
                    <a:pt x="0" y="4791297"/>
                  </a:cubicBezTo>
                  <a:lnTo>
                    <a:pt x="0" y="13789"/>
                  </a:lnTo>
                  <a:cubicBezTo>
                    <a:pt x="0" y="6221"/>
                    <a:pt x="4490" y="0"/>
                    <a:pt x="9952" y="0"/>
                  </a:cubicBezTo>
                  <a:moveTo>
                    <a:pt x="9952" y="27682"/>
                  </a:moveTo>
                  <a:lnTo>
                    <a:pt x="9952" y="13789"/>
                  </a:lnTo>
                  <a:lnTo>
                    <a:pt x="19980" y="13789"/>
                  </a:lnTo>
                  <a:lnTo>
                    <a:pt x="19980" y="4791297"/>
                  </a:lnTo>
                  <a:lnTo>
                    <a:pt x="9952" y="4791297"/>
                  </a:lnTo>
                  <a:lnTo>
                    <a:pt x="9952" y="4777508"/>
                  </a:lnTo>
                  <a:lnTo>
                    <a:pt x="4104648" y="4777508"/>
                  </a:lnTo>
                  <a:lnTo>
                    <a:pt x="4104648" y="4791297"/>
                  </a:lnTo>
                  <a:lnTo>
                    <a:pt x="4094695" y="4791297"/>
                  </a:lnTo>
                  <a:lnTo>
                    <a:pt x="4094695" y="13789"/>
                  </a:lnTo>
                  <a:lnTo>
                    <a:pt x="4104648" y="13789"/>
                  </a:lnTo>
                  <a:lnTo>
                    <a:pt x="4104648" y="27682"/>
                  </a:lnTo>
                  <a:lnTo>
                    <a:pt x="9952" y="27682"/>
                  </a:lnTo>
                  <a:close/>
                </a:path>
              </a:pathLst>
            </a:custGeom>
            <a:solidFill>
              <a:srgbClr val="0891B2"/>
            </a:solidFill>
          </p:spPr>
        </p:sp>
      </p:grpSp>
      <p:grpSp>
        <p:nvGrpSpPr>
          <p:cNvPr name="Group 134" id="134"/>
          <p:cNvGrpSpPr/>
          <p:nvPr/>
        </p:nvGrpSpPr>
        <p:grpSpPr>
          <a:xfrm rot="0">
            <a:off x="14460471" y="5389636"/>
            <a:ext cx="3085989" cy="685510"/>
            <a:chOff x="0" y="0"/>
            <a:chExt cx="4114652" cy="914013"/>
          </a:xfrm>
        </p:grpSpPr>
        <p:sp>
          <p:nvSpPr>
            <p:cNvPr name="Freeform 135" id="135"/>
            <p:cNvSpPr/>
            <p:nvPr/>
          </p:nvSpPr>
          <p:spPr>
            <a:xfrm flipH="false" flipV="false" rot="0">
              <a:off x="9952" y="13949"/>
              <a:ext cx="4094695" cy="886041"/>
            </a:xfrm>
            <a:custGeom>
              <a:avLst/>
              <a:gdLst/>
              <a:ahLst/>
              <a:cxnLst/>
              <a:rect r="r" b="b" t="t" l="l"/>
              <a:pathLst>
                <a:path h="886041" w="4094695">
                  <a:moveTo>
                    <a:pt x="0" y="0"/>
                  </a:moveTo>
                  <a:lnTo>
                    <a:pt x="4094696" y="0"/>
                  </a:lnTo>
                  <a:lnTo>
                    <a:pt x="4094696" y="886041"/>
                  </a:lnTo>
                  <a:lnTo>
                    <a:pt x="0" y="886041"/>
                  </a:lnTo>
                  <a:close/>
                </a:path>
              </a:pathLst>
            </a:custGeom>
            <a:solidFill>
              <a:srgbClr val="0891B2"/>
            </a:solidFill>
          </p:spPr>
        </p:sp>
        <p:sp>
          <p:nvSpPr>
            <p:cNvPr name="Freeform 136" id="136"/>
            <p:cNvSpPr/>
            <p:nvPr/>
          </p:nvSpPr>
          <p:spPr>
            <a:xfrm flipH="false" flipV="false" rot="0">
              <a:off x="0" y="0"/>
              <a:ext cx="4114600" cy="913941"/>
            </a:xfrm>
            <a:custGeom>
              <a:avLst/>
              <a:gdLst/>
              <a:ahLst/>
              <a:cxnLst/>
              <a:rect r="r" b="b" t="t" l="l"/>
              <a:pathLst>
                <a:path h="913941" w="4114600">
                  <a:moveTo>
                    <a:pt x="9952" y="0"/>
                  </a:moveTo>
                  <a:lnTo>
                    <a:pt x="4104648" y="0"/>
                  </a:lnTo>
                  <a:cubicBezTo>
                    <a:pt x="4110185" y="0"/>
                    <a:pt x="4114600" y="6293"/>
                    <a:pt x="4114600" y="13949"/>
                  </a:cubicBezTo>
                  <a:lnTo>
                    <a:pt x="4114600" y="899990"/>
                  </a:lnTo>
                  <a:cubicBezTo>
                    <a:pt x="4114600" y="907751"/>
                    <a:pt x="4110110" y="913939"/>
                    <a:pt x="4104648" y="913939"/>
                  </a:cubicBezTo>
                  <a:lnTo>
                    <a:pt x="9952" y="913939"/>
                  </a:lnTo>
                  <a:cubicBezTo>
                    <a:pt x="4490" y="914051"/>
                    <a:pt x="0" y="907751"/>
                    <a:pt x="0" y="899990"/>
                  </a:cubicBezTo>
                  <a:lnTo>
                    <a:pt x="0" y="13949"/>
                  </a:lnTo>
                  <a:cubicBezTo>
                    <a:pt x="0" y="6293"/>
                    <a:pt x="4490" y="0"/>
                    <a:pt x="9952" y="0"/>
                  </a:cubicBezTo>
                  <a:moveTo>
                    <a:pt x="9952" y="28003"/>
                  </a:moveTo>
                  <a:lnTo>
                    <a:pt x="9952" y="13949"/>
                  </a:lnTo>
                  <a:lnTo>
                    <a:pt x="19980" y="13949"/>
                  </a:lnTo>
                  <a:lnTo>
                    <a:pt x="19980" y="899990"/>
                  </a:lnTo>
                  <a:lnTo>
                    <a:pt x="9952" y="899990"/>
                  </a:lnTo>
                  <a:lnTo>
                    <a:pt x="9952" y="886041"/>
                  </a:lnTo>
                  <a:lnTo>
                    <a:pt x="4104648" y="886041"/>
                  </a:lnTo>
                  <a:lnTo>
                    <a:pt x="4104648" y="899990"/>
                  </a:lnTo>
                  <a:lnTo>
                    <a:pt x="4094695" y="899990"/>
                  </a:lnTo>
                  <a:lnTo>
                    <a:pt x="4094695" y="13949"/>
                  </a:lnTo>
                  <a:lnTo>
                    <a:pt x="4104648" y="13949"/>
                  </a:lnTo>
                  <a:lnTo>
                    <a:pt x="4104648" y="28003"/>
                  </a:lnTo>
                  <a:lnTo>
                    <a:pt x="9952" y="28003"/>
                  </a:lnTo>
                  <a:close/>
                </a:path>
              </a:pathLst>
            </a:custGeom>
            <a:solidFill>
              <a:srgbClr val="0891B2"/>
            </a:solidFill>
          </p:spPr>
        </p:sp>
      </p:grpSp>
      <p:grpSp>
        <p:nvGrpSpPr>
          <p:cNvPr name="Group 137" id="137"/>
          <p:cNvGrpSpPr/>
          <p:nvPr/>
        </p:nvGrpSpPr>
        <p:grpSpPr>
          <a:xfrm rot="0">
            <a:off x="14467952" y="5400121"/>
            <a:ext cx="3071021" cy="664531"/>
            <a:chOff x="0" y="0"/>
            <a:chExt cx="4094695" cy="886041"/>
          </a:xfrm>
        </p:grpSpPr>
        <p:sp>
          <p:nvSpPr>
            <p:cNvPr name="Freeform 138" id="138"/>
            <p:cNvSpPr/>
            <p:nvPr/>
          </p:nvSpPr>
          <p:spPr>
            <a:xfrm flipH="false" flipV="false" rot="0">
              <a:off x="0" y="0"/>
              <a:ext cx="4094695" cy="886041"/>
            </a:xfrm>
            <a:custGeom>
              <a:avLst/>
              <a:gdLst/>
              <a:ahLst/>
              <a:cxnLst/>
              <a:rect r="r" b="b" t="t" l="l"/>
              <a:pathLst>
                <a:path h="886041" w="4094695">
                  <a:moveTo>
                    <a:pt x="0" y="0"/>
                  </a:moveTo>
                  <a:lnTo>
                    <a:pt x="4094695" y="0"/>
                  </a:lnTo>
                  <a:lnTo>
                    <a:pt x="4094695" y="886041"/>
                  </a:lnTo>
                  <a:lnTo>
                    <a:pt x="0" y="886041"/>
                  </a:lnTo>
                  <a:close/>
                </a:path>
              </a:pathLst>
            </a:custGeom>
            <a:blipFill>
              <a:blip r:embed="rId2">
                <a:alphaModFix amt="0"/>
              </a:blip>
              <a:stretch>
                <a:fillRect l="0" t="-92281" r="-69718" b="-113370"/>
              </a:stretch>
            </a:blipFill>
          </p:spPr>
        </p:sp>
        <p:sp>
          <p:nvSpPr>
            <p:cNvPr name="TextBox 139" id="139"/>
            <p:cNvSpPr txBox="true"/>
            <p:nvPr/>
          </p:nvSpPr>
          <p:spPr>
            <a:xfrm>
              <a:off x="0" y="-38100"/>
              <a:ext cx="4094695" cy="924141"/>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dcat:DataService</a:t>
              </a:r>
            </a:p>
          </p:txBody>
        </p:sp>
      </p:grpSp>
      <p:grpSp>
        <p:nvGrpSpPr>
          <p:cNvPr name="Group 140" id="140"/>
          <p:cNvGrpSpPr/>
          <p:nvPr/>
        </p:nvGrpSpPr>
        <p:grpSpPr>
          <a:xfrm rot="0">
            <a:off x="14575707" y="7061447"/>
            <a:ext cx="2855511" cy="1108583"/>
            <a:chOff x="0" y="0"/>
            <a:chExt cx="3807348" cy="1478111"/>
          </a:xfrm>
        </p:grpSpPr>
        <p:sp>
          <p:nvSpPr>
            <p:cNvPr name="Freeform 141" id="141"/>
            <p:cNvSpPr/>
            <p:nvPr/>
          </p:nvSpPr>
          <p:spPr>
            <a:xfrm flipH="false" flipV="false" rot="0">
              <a:off x="0" y="0"/>
              <a:ext cx="3807348" cy="1478111"/>
            </a:xfrm>
            <a:custGeom>
              <a:avLst/>
              <a:gdLst/>
              <a:ahLst/>
              <a:cxnLst/>
              <a:rect r="r" b="b" t="t" l="l"/>
              <a:pathLst>
                <a:path h="1478111" w="3807348">
                  <a:moveTo>
                    <a:pt x="0" y="0"/>
                  </a:moveTo>
                  <a:lnTo>
                    <a:pt x="3807348" y="0"/>
                  </a:lnTo>
                  <a:lnTo>
                    <a:pt x="3807348" y="1478111"/>
                  </a:lnTo>
                  <a:lnTo>
                    <a:pt x="0" y="1478111"/>
                  </a:lnTo>
                  <a:close/>
                </a:path>
              </a:pathLst>
            </a:custGeom>
            <a:blipFill>
              <a:blip r:embed="rId2">
                <a:alphaModFix amt="0"/>
              </a:blip>
              <a:stretch>
                <a:fillRect l="0" t="-45589" r="-69718" b="-24773"/>
              </a:stretch>
            </a:blipFill>
          </p:spPr>
        </p:sp>
        <p:sp>
          <p:nvSpPr>
            <p:cNvPr name="TextBox 142" id="142"/>
            <p:cNvSpPr txBox="true"/>
            <p:nvPr/>
          </p:nvSpPr>
          <p:spPr>
            <a:xfrm>
              <a:off x="0" y="-47625"/>
              <a:ext cx="3807348" cy="1525736"/>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 Représent</a:t>
              </a:r>
              <a:r>
                <a:rPr lang="en-US" sz="2200" b="true">
                  <a:solidFill>
                    <a:srgbClr val="0891B2"/>
                  </a:solidFill>
                  <a:latin typeface="Calibri (MS) Bold"/>
                  <a:ea typeface="Calibri (MS) Bold"/>
                  <a:cs typeface="Calibri (MS) Bold"/>
                  <a:sym typeface="Calibri (MS) Bold"/>
                </a:rPr>
                <a:t>e un service permettant d’accéder aux données.</a:t>
              </a:r>
            </a:p>
          </p:txBody>
        </p:sp>
      </p:grpSp>
      <p:grpSp>
        <p:nvGrpSpPr>
          <p:cNvPr name="Group 143" id="143"/>
          <p:cNvGrpSpPr/>
          <p:nvPr/>
        </p:nvGrpSpPr>
        <p:grpSpPr>
          <a:xfrm rot="0">
            <a:off x="14575707" y="7786390"/>
            <a:ext cx="2855511" cy="1132723"/>
            <a:chOff x="0" y="0"/>
            <a:chExt cx="3807348" cy="1510297"/>
          </a:xfrm>
        </p:grpSpPr>
        <p:sp>
          <p:nvSpPr>
            <p:cNvPr name="Freeform 144" id="144"/>
            <p:cNvSpPr/>
            <p:nvPr/>
          </p:nvSpPr>
          <p:spPr>
            <a:xfrm flipH="false" flipV="false" rot="0">
              <a:off x="0" y="0"/>
              <a:ext cx="3807348" cy="1510297"/>
            </a:xfrm>
            <a:custGeom>
              <a:avLst/>
              <a:gdLst/>
              <a:ahLst/>
              <a:cxnLst/>
              <a:rect r="r" b="b" t="t" l="l"/>
              <a:pathLst>
                <a:path h="1510297" w="3807348">
                  <a:moveTo>
                    <a:pt x="0" y="0"/>
                  </a:moveTo>
                  <a:lnTo>
                    <a:pt x="3807348" y="0"/>
                  </a:lnTo>
                  <a:lnTo>
                    <a:pt x="3807348" y="1510297"/>
                  </a:lnTo>
                  <a:lnTo>
                    <a:pt x="0" y="1510297"/>
                  </a:lnTo>
                  <a:close/>
                </a:path>
              </a:pathLst>
            </a:custGeom>
            <a:blipFill>
              <a:blip r:embed="rId2">
                <a:alphaModFix amt="0"/>
              </a:blip>
              <a:stretch>
                <a:fillRect l="0" t="-22821" r="-69718" b="-43910"/>
              </a:stretch>
            </a:blipFill>
          </p:spPr>
        </p:sp>
        <p:sp>
          <p:nvSpPr>
            <p:cNvPr name="TextBox 145" id="145"/>
            <p:cNvSpPr txBox="true"/>
            <p:nvPr/>
          </p:nvSpPr>
          <p:spPr>
            <a:xfrm>
              <a:off x="0" y="-38100"/>
              <a:ext cx="3807348" cy="1548397"/>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une API permettant d’interroger les données.</a:t>
              </a:r>
            </a:p>
          </p:txBody>
        </p:sp>
      </p:grpSp>
      <p:sp>
        <p:nvSpPr>
          <p:cNvPr name="Freeform 146" id="146"/>
          <p:cNvSpPr/>
          <p:nvPr/>
        </p:nvSpPr>
        <p:spPr>
          <a:xfrm flipH="false" flipV="false" rot="0">
            <a:off x="15438805" y="6115591"/>
            <a:ext cx="1129316" cy="1004064"/>
          </a:xfrm>
          <a:custGeom>
            <a:avLst/>
            <a:gdLst/>
            <a:ahLst/>
            <a:cxnLst/>
            <a:rect r="r" b="b" t="t" l="l"/>
            <a:pathLst>
              <a:path h="1004064" w="1129316">
                <a:moveTo>
                  <a:pt x="0" y="0"/>
                </a:moveTo>
                <a:lnTo>
                  <a:pt x="1129315" y="0"/>
                </a:lnTo>
                <a:lnTo>
                  <a:pt x="1129315" y="1004065"/>
                </a:lnTo>
                <a:lnTo>
                  <a:pt x="0" y="100406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7" id="147"/>
          <p:cNvSpPr/>
          <p:nvPr/>
        </p:nvSpPr>
        <p:spPr>
          <a:xfrm flipH="false" flipV="false" rot="0">
            <a:off x="11829323" y="5903986"/>
            <a:ext cx="1377652" cy="1044510"/>
          </a:xfrm>
          <a:custGeom>
            <a:avLst/>
            <a:gdLst/>
            <a:ahLst/>
            <a:cxnLst/>
            <a:rect r="r" b="b" t="t" l="l"/>
            <a:pathLst>
              <a:path h="1044510" w="1377652">
                <a:moveTo>
                  <a:pt x="0" y="0"/>
                </a:moveTo>
                <a:lnTo>
                  <a:pt x="1377652" y="0"/>
                </a:lnTo>
                <a:lnTo>
                  <a:pt x="1377652" y="1044510"/>
                </a:lnTo>
                <a:lnTo>
                  <a:pt x="0" y="10445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8" id="148"/>
          <p:cNvSpPr txBox="true"/>
          <p:nvPr/>
        </p:nvSpPr>
        <p:spPr>
          <a:xfrm rot="0">
            <a:off x="91440" y="414157"/>
            <a:ext cx="823893" cy="1108891"/>
          </a:xfrm>
          <a:prstGeom prst="rect">
            <a:avLst/>
          </a:prstGeom>
        </p:spPr>
        <p:txBody>
          <a:bodyPr anchor="t" rtlCol="false" tIns="0" lIns="0" bIns="0" rIns="0">
            <a:spAutoFit/>
          </a:bodyPr>
          <a:lstStyle/>
          <a:p>
            <a:pPr algn="ctr">
              <a:lnSpc>
                <a:spcPts val="7920"/>
              </a:lnSpc>
            </a:pPr>
            <a:r>
              <a:rPr lang="en-US" sz="6600" spc="15">
                <a:solidFill>
                  <a:srgbClr val="000000"/>
                </a:solidFill>
                <a:latin typeface="Rosario"/>
                <a:ea typeface="Rosario"/>
                <a:cs typeface="Rosario"/>
                <a:sym typeface="Rosario"/>
              </a:rPr>
              <a:t>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0891B2"/>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0891B2"/>
            </a:solidFill>
          </p:spPr>
        </p:sp>
      </p:grpSp>
      <p:grpSp>
        <p:nvGrpSpPr>
          <p:cNvPr name="Group 5" id="5"/>
          <p:cNvGrpSpPr/>
          <p:nvPr/>
        </p:nvGrpSpPr>
        <p:grpSpPr>
          <a:xfrm rot="0">
            <a:off x="15532103" y="170183"/>
            <a:ext cx="2585723" cy="793499"/>
            <a:chOff x="0" y="0"/>
            <a:chExt cx="3447631" cy="1057999"/>
          </a:xfrm>
        </p:grpSpPr>
        <p:sp>
          <p:nvSpPr>
            <p:cNvPr name="Freeform 6" id="6"/>
            <p:cNvSpPr/>
            <p:nvPr/>
          </p:nvSpPr>
          <p:spPr>
            <a:xfrm flipH="false" flipV="false" rot="0">
              <a:off x="16891" y="16891"/>
              <a:ext cx="3413760" cy="1024128"/>
            </a:xfrm>
            <a:custGeom>
              <a:avLst/>
              <a:gdLst/>
              <a:ahLst/>
              <a:cxnLst/>
              <a:rect r="r" b="b" t="t" l="l"/>
              <a:pathLst>
                <a:path h="1024128" w="3413760">
                  <a:moveTo>
                    <a:pt x="0" y="0"/>
                  </a:moveTo>
                  <a:lnTo>
                    <a:pt x="3413760" y="0"/>
                  </a:lnTo>
                  <a:lnTo>
                    <a:pt x="3413760" y="1024128"/>
                  </a:lnTo>
                  <a:lnTo>
                    <a:pt x="0" y="1024128"/>
                  </a:lnTo>
                  <a:close/>
                </a:path>
              </a:pathLst>
            </a:custGeom>
            <a:solidFill>
              <a:srgbClr val="0891B2"/>
            </a:solidFill>
          </p:spPr>
        </p:sp>
        <p:sp>
          <p:nvSpPr>
            <p:cNvPr name="Freeform 7" id="7"/>
            <p:cNvSpPr/>
            <p:nvPr/>
          </p:nvSpPr>
          <p:spPr>
            <a:xfrm flipH="false" flipV="false" rot="0">
              <a:off x="0" y="0"/>
              <a:ext cx="3447542" cy="1057912"/>
            </a:xfrm>
            <a:custGeom>
              <a:avLst/>
              <a:gdLst/>
              <a:ahLst/>
              <a:cxnLst/>
              <a:rect r="r" b="b" t="t" l="l"/>
              <a:pathLst>
                <a:path h="1057912" w="3447542">
                  <a:moveTo>
                    <a:pt x="16891" y="0"/>
                  </a:moveTo>
                  <a:lnTo>
                    <a:pt x="3430651" y="0"/>
                  </a:lnTo>
                  <a:cubicBezTo>
                    <a:pt x="3440049" y="0"/>
                    <a:pt x="3447542" y="7620"/>
                    <a:pt x="3447542" y="16891"/>
                  </a:cubicBezTo>
                  <a:lnTo>
                    <a:pt x="3447542" y="1041019"/>
                  </a:lnTo>
                  <a:cubicBezTo>
                    <a:pt x="3447542" y="1050417"/>
                    <a:pt x="3439922" y="1057910"/>
                    <a:pt x="343065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430651" y="1024128"/>
                  </a:lnTo>
                  <a:lnTo>
                    <a:pt x="3430651" y="1041019"/>
                  </a:lnTo>
                  <a:lnTo>
                    <a:pt x="3413760" y="1041019"/>
                  </a:lnTo>
                  <a:lnTo>
                    <a:pt x="3413760" y="16891"/>
                  </a:lnTo>
                  <a:lnTo>
                    <a:pt x="3430651" y="16891"/>
                  </a:lnTo>
                  <a:lnTo>
                    <a:pt x="3430651" y="33909"/>
                  </a:lnTo>
                  <a:lnTo>
                    <a:pt x="16891" y="33909"/>
                  </a:lnTo>
                  <a:close/>
                </a:path>
              </a:pathLst>
            </a:custGeom>
            <a:solidFill>
              <a:srgbClr val="0891B2"/>
            </a:solidFill>
          </p:spPr>
        </p:sp>
      </p:grpSp>
      <p:grpSp>
        <p:nvGrpSpPr>
          <p:cNvPr name="Group 8" id="8"/>
          <p:cNvGrpSpPr/>
          <p:nvPr/>
        </p:nvGrpSpPr>
        <p:grpSpPr>
          <a:xfrm rot="0">
            <a:off x="15544800" y="182880"/>
            <a:ext cx="2560320" cy="768096"/>
            <a:chOff x="0" y="0"/>
            <a:chExt cx="3413760" cy="1024128"/>
          </a:xfrm>
        </p:grpSpPr>
        <p:sp>
          <p:nvSpPr>
            <p:cNvPr name="Freeform 9" id="9"/>
            <p:cNvSpPr/>
            <p:nvPr/>
          </p:nvSpPr>
          <p:spPr>
            <a:xfrm flipH="false" flipV="false" rot="0">
              <a:off x="0" y="0"/>
              <a:ext cx="3413760" cy="1024128"/>
            </a:xfrm>
            <a:custGeom>
              <a:avLst/>
              <a:gdLst/>
              <a:ahLst/>
              <a:cxnLst/>
              <a:rect r="r" b="b" t="t" l="l"/>
              <a:pathLst>
                <a:path h="1024128" w="3413760">
                  <a:moveTo>
                    <a:pt x="0" y="0"/>
                  </a:moveTo>
                  <a:lnTo>
                    <a:pt x="3413760" y="0"/>
                  </a:lnTo>
                  <a:lnTo>
                    <a:pt x="3413760" y="1024128"/>
                  </a:lnTo>
                  <a:lnTo>
                    <a:pt x="0" y="1024128"/>
                  </a:lnTo>
                  <a:close/>
                </a:path>
              </a:pathLst>
            </a:custGeom>
            <a:blipFill>
              <a:blip r:embed="rId2">
                <a:alphaModFix amt="0"/>
              </a:blip>
              <a:stretch>
                <a:fillRect l="0" t="-14950" r="0" b="-14950"/>
              </a:stretch>
            </a:blipFill>
          </p:spPr>
        </p:sp>
        <p:sp>
          <p:nvSpPr>
            <p:cNvPr name="TextBox 10" id="10"/>
            <p:cNvSpPr txBox="true"/>
            <p:nvPr/>
          </p:nvSpPr>
          <p:spPr>
            <a:xfrm>
              <a:off x="0" y="-38100"/>
              <a:ext cx="3413760" cy="106222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DCAT  2/3</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0891B2"/>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0891B2"/>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DCAT — Modèle de Données</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38100"/>
              <a:ext cx="21945600" cy="720852"/>
            </a:xfrm>
            <a:prstGeom prst="rect">
              <a:avLst/>
            </a:prstGeom>
          </p:spPr>
          <p:txBody>
            <a:bodyPr anchor="ctr" rtlCol="false" tIns="0" lIns="0" bIns="0" rIns="0"/>
            <a:lstStyle/>
            <a:p>
              <a:pPr algn="l">
                <a:lnSpc>
                  <a:spcPts val="2879"/>
                </a:lnSpc>
              </a:pPr>
            </a:p>
          </p:txBody>
        </p:sp>
      </p:grpSp>
      <p:grpSp>
        <p:nvGrpSpPr>
          <p:cNvPr name="Group 20" id="20"/>
          <p:cNvGrpSpPr/>
          <p:nvPr/>
        </p:nvGrpSpPr>
        <p:grpSpPr>
          <a:xfrm rot="0">
            <a:off x="9364056" y="2256663"/>
            <a:ext cx="8418102" cy="1387467"/>
            <a:chOff x="0" y="0"/>
            <a:chExt cx="10857449" cy="1789519"/>
          </a:xfrm>
        </p:grpSpPr>
        <p:sp>
          <p:nvSpPr>
            <p:cNvPr name="Freeform 21" id="21"/>
            <p:cNvSpPr/>
            <p:nvPr/>
          </p:nvSpPr>
          <p:spPr>
            <a:xfrm flipH="false" flipV="false" rot="0">
              <a:off x="8163" y="16891"/>
              <a:ext cx="10841080" cy="1755648"/>
            </a:xfrm>
            <a:custGeom>
              <a:avLst/>
              <a:gdLst/>
              <a:ahLst/>
              <a:cxnLst/>
              <a:rect r="r" b="b" t="t" l="l"/>
              <a:pathLst>
                <a:path h="1755648" w="10841080">
                  <a:moveTo>
                    <a:pt x="0" y="0"/>
                  </a:moveTo>
                  <a:lnTo>
                    <a:pt x="10841080" y="0"/>
                  </a:lnTo>
                  <a:lnTo>
                    <a:pt x="10841080" y="1755648"/>
                  </a:lnTo>
                  <a:lnTo>
                    <a:pt x="0" y="1755648"/>
                  </a:lnTo>
                  <a:close/>
                </a:path>
              </a:pathLst>
            </a:custGeom>
            <a:solidFill>
              <a:srgbClr val="F1F5F9"/>
            </a:solidFill>
          </p:spPr>
        </p:sp>
        <p:sp>
          <p:nvSpPr>
            <p:cNvPr name="Freeform 22" id="22"/>
            <p:cNvSpPr/>
            <p:nvPr/>
          </p:nvSpPr>
          <p:spPr>
            <a:xfrm flipH="false" flipV="false" rot="0">
              <a:off x="0" y="0"/>
              <a:ext cx="10857406" cy="1789430"/>
            </a:xfrm>
            <a:custGeom>
              <a:avLst/>
              <a:gdLst/>
              <a:ahLst/>
              <a:cxnLst/>
              <a:rect r="r" b="b" t="t" l="l"/>
              <a:pathLst>
                <a:path h="1789430" w="10857406">
                  <a:moveTo>
                    <a:pt x="8163" y="0"/>
                  </a:moveTo>
                  <a:lnTo>
                    <a:pt x="10849243" y="0"/>
                  </a:lnTo>
                  <a:cubicBezTo>
                    <a:pt x="10853785" y="0"/>
                    <a:pt x="10857406" y="7620"/>
                    <a:pt x="10857406" y="16891"/>
                  </a:cubicBezTo>
                  <a:lnTo>
                    <a:pt x="10857406" y="1772539"/>
                  </a:lnTo>
                  <a:cubicBezTo>
                    <a:pt x="10857406" y="1781937"/>
                    <a:pt x="10853724" y="1789430"/>
                    <a:pt x="10849243" y="1789430"/>
                  </a:cubicBezTo>
                  <a:lnTo>
                    <a:pt x="8163" y="1789430"/>
                  </a:lnTo>
                  <a:cubicBezTo>
                    <a:pt x="3621" y="1789430"/>
                    <a:pt x="0" y="1781810"/>
                    <a:pt x="0" y="1772539"/>
                  </a:cubicBezTo>
                  <a:lnTo>
                    <a:pt x="0" y="16891"/>
                  </a:lnTo>
                  <a:cubicBezTo>
                    <a:pt x="0" y="7620"/>
                    <a:pt x="3682" y="0"/>
                    <a:pt x="8163" y="0"/>
                  </a:cubicBezTo>
                  <a:moveTo>
                    <a:pt x="8163" y="33909"/>
                  </a:moveTo>
                  <a:lnTo>
                    <a:pt x="8163" y="16891"/>
                  </a:lnTo>
                  <a:lnTo>
                    <a:pt x="16387" y="16891"/>
                  </a:lnTo>
                  <a:lnTo>
                    <a:pt x="16387" y="1772539"/>
                  </a:lnTo>
                  <a:lnTo>
                    <a:pt x="8163" y="1772539"/>
                  </a:lnTo>
                  <a:lnTo>
                    <a:pt x="8163" y="1755648"/>
                  </a:lnTo>
                  <a:lnTo>
                    <a:pt x="10849243" y="1755648"/>
                  </a:lnTo>
                  <a:lnTo>
                    <a:pt x="10849243" y="1772539"/>
                  </a:lnTo>
                  <a:lnTo>
                    <a:pt x="10841081" y="1772539"/>
                  </a:lnTo>
                  <a:lnTo>
                    <a:pt x="10841081" y="16891"/>
                  </a:lnTo>
                  <a:lnTo>
                    <a:pt x="10849243" y="16891"/>
                  </a:lnTo>
                  <a:lnTo>
                    <a:pt x="10849243" y="33909"/>
                  </a:lnTo>
                  <a:lnTo>
                    <a:pt x="8163" y="33909"/>
                  </a:lnTo>
                  <a:close/>
                </a:path>
              </a:pathLst>
            </a:custGeom>
            <a:solidFill>
              <a:srgbClr val="64748B"/>
            </a:solidFill>
          </p:spPr>
        </p:sp>
      </p:grpSp>
      <p:grpSp>
        <p:nvGrpSpPr>
          <p:cNvPr name="Group 23" id="23"/>
          <p:cNvGrpSpPr/>
          <p:nvPr/>
        </p:nvGrpSpPr>
        <p:grpSpPr>
          <a:xfrm rot="0">
            <a:off x="9534853" y="2358474"/>
            <a:ext cx="8039959" cy="1146024"/>
            <a:chOff x="0" y="0"/>
            <a:chExt cx="10369729" cy="1478111"/>
          </a:xfrm>
        </p:grpSpPr>
        <p:sp>
          <p:nvSpPr>
            <p:cNvPr name="Freeform 24" id="24"/>
            <p:cNvSpPr/>
            <p:nvPr/>
          </p:nvSpPr>
          <p:spPr>
            <a:xfrm flipH="false" flipV="false" rot="0">
              <a:off x="0" y="0"/>
              <a:ext cx="10369729" cy="1478111"/>
            </a:xfrm>
            <a:custGeom>
              <a:avLst/>
              <a:gdLst/>
              <a:ahLst/>
              <a:cxnLst/>
              <a:rect r="r" b="b" t="t" l="l"/>
              <a:pathLst>
                <a:path h="1478111" w="10369729">
                  <a:moveTo>
                    <a:pt x="0" y="0"/>
                  </a:moveTo>
                  <a:lnTo>
                    <a:pt x="10369729" y="0"/>
                  </a:lnTo>
                  <a:lnTo>
                    <a:pt x="10369729" y="1478111"/>
                  </a:lnTo>
                  <a:lnTo>
                    <a:pt x="0" y="1478111"/>
                  </a:lnTo>
                  <a:close/>
                </a:path>
              </a:pathLst>
            </a:custGeom>
            <a:blipFill>
              <a:blip r:embed="rId2">
                <a:alphaModFix amt="0"/>
              </a:blip>
              <a:stretch>
                <a:fillRect l="0" t="-233376" r="-106928" b="-232356"/>
              </a:stretch>
            </a:blipFill>
          </p:spPr>
        </p:sp>
        <p:sp>
          <p:nvSpPr>
            <p:cNvPr name="TextBox 25" id="25"/>
            <p:cNvSpPr txBox="true"/>
            <p:nvPr/>
          </p:nvSpPr>
          <p:spPr>
            <a:xfrm>
              <a:off x="0" y="-47625"/>
              <a:ext cx="10369729" cy="1525736"/>
            </a:xfrm>
            <a:prstGeom prst="rect">
              <a:avLst/>
            </a:prstGeom>
          </p:spPr>
          <p:txBody>
            <a:bodyPr anchor="ctr" rtlCol="false" tIns="0" lIns="0" bIns="0" rIns="0"/>
            <a:lstStyle/>
            <a:p>
              <a:pPr algn="l">
                <a:lnSpc>
                  <a:spcPts val="2640"/>
                </a:lnSpc>
              </a:pPr>
              <a:r>
                <a:rPr lang="en-US" sz="2200">
                  <a:solidFill>
                    <a:srgbClr val="334155"/>
                  </a:solidFill>
                  <a:latin typeface="Calibri (MS)"/>
                  <a:ea typeface="Calibri (MS)"/>
                  <a:cs typeface="Calibri (MS)"/>
                  <a:sym typeface="Calibri (MS)"/>
                </a:rPr>
                <a:t>🔗  Interopérabilité : DCAT réutilise intensivement Dublin Core (dct:) pour les métadonnées : titre, description, date, auteur…</a:t>
              </a:r>
            </a:p>
          </p:txBody>
        </p:sp>
      </p:grpSp>
      <p:grpSp>
        <p:nvGrpSpPr>
          <p:cNvPr name="Group 26" id="26"/>
          <p:cNvGrpSpPr/>
          <p:nvPr/>
        </p:nvGrpSpPr>
        <p:grpSpPr>
          <a:xfrm rot="0">
            <a:off x="-6353" y="9741151"/>
            <a:ext cx="18300697" cy="552193"/>
            <a:chOff x="0" y="0"/>
            <a:chExt cx="24400929" cy="736257"/>
          </a:xfrm>
        </p:grpSpPr>
        <p:sp>
          <p:nvSpPr>
            <p:cNvPr name="Freeform 27" id="27"/>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28" id="28"/>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29" id="29"/>
          <p:cNvGrpSpPr/>
          <p:nvPr/>
        </p:nvGrpSpPr>
        <p:grpSpPr>
          <a:xfrm rot="0">
            <a:off x="15910560" y="9747504"/>
            <a:ext cx="2011680" cy="539496"/>
            <a:chOff x="0" y="0"/>
            <a:chExt cx="2682240" cy="719328"/>
          </a:xfrm>
        </p:grpSpPr>
        <p:sp>
          <p:nvSpPr>
            <p:cNvPr name="Freeform 30" id="30"/>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31" id="31"/>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6 / 18</a:t>
              </a:r>
            </a:p>
          </p:txBody>
        </p:sp>
      </p:grpSp>
      <p:grpSp>
        <p:nvGrpSpPr>
          <p:cNvPr name="Group 32" id="32"/>
          <p:cNvGrpSpPr/>
          <p:nvPr/>
        </p:nvGrpSpPr>
        <p:grpSpPr>
          <a:xfrm rot="0">
            <a:off x="548640" y="9747504"/>
            <a:ext cx="10972800" cy="539496"/>
            <a:chOff x="0" y="0"/>
            <a:chExt cx="14630400" cy="719328"/>
          </a:xfrm>
        </p:grpSpPr>
        <p:sp>
          <p:nvSpPr>
            <p:cNvPr name="Freeform 33" id="33"/>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34" id="34"/>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DCAT</a:t>
              </a:r>
            </a:p>
          </p:txBody>
        </p:sp>
      </p:grpSp>
      <p:sp>
        <p:nvSpPr>
          <p:cNvPr name="TextBox 35" id="35"/>
          <p:cNvSpPr txBox="true"/>
          <p:nvPr/>
        </p:nvSpPr>
        <p:spPr>
          <a:xfrm rot="0">
            <a:off x="91440" y="414157"/>
            <a:ext cx="823893" cy="1108891"/>
          </a:xfrm>
          <a:prstGeom prst="rect">
            <a:avLst/>
          </a:prstGeom>
        </p:spPr>
        <p:txBody>
          <a:bodyPr anchor="t" rtlCol="false" tIns="0" lIns="0" bIns="0" rIns="0">
            <a:spAutoFit/>
          </a:bodyPr>
          <a:lstStyle/>
          <a:p>
            <a:pPr algn="ctr">
              <a:lnSpc>
                <a:spcPts val="7920"/>
              </a:lnSpc>
            </a:pPr>
            <a:r>
              <a:rPr lang="en-US" sz="6600" spc="15">
                <a:solidFill>
                  <a:srgbClr val="000000"/>
                </a:solidFill>
                <a:latin typeface="Rosario"/>
                <a:ea typeface="Rosario"/>
                <a:cs typeface="Rosario"/>
                <a:sym typeface="Rosario"/>
              </a:rPr>
              <a:t>3</a:t>
            </a:r>
          </a:p>
        </p:txBody>
      </p:sp>
      <p:grpSp>
        <p:nvGrpSpPr>
          <p:cNvPr name="Group 36" id="36"/>
          <p:cNvGrpSpPr/>
          <p:nvPr/>
        </p:nvGrpSpPr>
        <p:grpSpPr>
          <a:xfrm rot="0">
            <a:off x="503387" y="3777480"/>
            <a:ext cx="4021489" cy="1800363"/>
            <a:chOff x="0" y="0"/>
            <a:chExt cx="6285813" cy="2814068"/>
          </a:xfrm>
        </p:grpSpPr>
        <p:sp>
          <p:nvSpPr>
            <p:cNvPr name="Freeform 37" id="37"/>
            <p:cNvSpPr/>
            <p:nvPr/>
          </p:nvSpPr>
          <p:spPr>
            <a:xfrm flipH="false" flipV="false" rot="0">
              <a:off x="15204" y="8075"/>
              <a:ext cx="6255325" cy="2797875"/>
            </a:xfrm>
            <a:custGeom>
              <a:avLst/>
              <a:gdLst/>
              <a:ahLst/>
              <a:cxnLst/>
              <a:rect r="r" b="b" t="t" l="l"/>
              <a:pathLst>
                <a:path h="2797875" w="6255325">
                  <a:moveTo>
                    <a:pt x="0" y="0"/>
                  </a:moveTo>
                  <a:lnTo>
                    <a:pt x="6255325" y="0"/>
                  </a:lnTo>
                  <a:lnTo>
                    <a:pt x="6255325" y="2797875"/>
                  </a:lnTo>
                  <a:lnTo>
                    <a:pt x="0" y="2797875"/>
                  </a:lnTo>
                  <a:close/>
                </a:path>
              </a:pathLst>
            </a:custGeom>
            <a:solidFill>
              <a:srgbClr val="E0F2FE"/>
            </a:solidFill>
          </p:spPr>
        </p:sp>
        <p:sp>
          <p:nvSpPr>
            <p:cNvPr name="Freeform 38" id="38"/>
            <p:cNvSpPr/>
            <p:nvPr/>
          </p:nvSpPr>
          <p:spPr>
            <a:xfrm flipH="false" flipV="false" rot="0">
              <a:off x="0" y="0"/>
              <a:ext cx="6285733" cy="2814026"/>
            </a:xfrm>
            <a:custGeom>
              <a:avLst/>
              <a:gdLst/>
              <a:ahLst/>
              <a:cxnLst/>
              <a:rect r="r" b="b" t="t" l="l"/>
              <a:pathLst>
                <a:path h="2814026" w="6285733">
                  <a:moveTo>
                    <a:pt x="15204" y="0"/>
                  </a:moveTo>
                  <a:lnTo>
                    <a:pt x="6270529" y="0"/>
                  </a:lnTo>
                  <a:cubicBezTo>
                    <a:pt x="6278988" y="0"/>
                    <a:pt x="6285733" y="3643"/>
                    <a:pt x="6285733" y="8075"/>
                  </a:cubicBezTo>
                  <a:lnTo>
                    <a:pt x="6285733" y="2805950"/>
                  </a:lnTo>
                  <a:cubicBezTo>
                    <a:pt x="6285733" y="2810443"/>
                    <a:pt x="6278874" y="2814026"/>
                    <a:pt x="6270529" y="2814026"/>
                  </a:cubicBezTo>
                  <a:lnTo>
                    <a:pt x="15204" y="2814026"/>
                  </a:lnTo>
                  <a:cubicBezTo>
                    <a:pt x="6745" y="2814026"/>
                    <a:pt x="0" y="2810383"/>
                    <a:pt x="0" y="2805950"/>
                  </a:cubicBezTo>
                  <a:lnTo>
                    <a:pt x="0" y="8075"/>
                  </a:lnTo>
                  <a:cubicBezTo>
                    <a:pt x="0" y="3643"/>
                    <a:pt x="6859" y="0"/>
                    <a:pt x="15204" y="0"/>
                  </a:cubicBezTo>
                  <a:moveTo>
                    <a:pt x="15204" y="16212"/>
                  </a:moveTo>
                  <a:lnTo>
                    <a:pt x="15204" y="8075"/>
                  </a:lnTo>
                  <a:lnTo>
                    <a:pt x="30522" y="8075"/>
                  </a:lnTo>
                  <a:lnTo>
                    <a:pt x="30522" y="2805950"/>
                  </a:lnTo>
                  <a:lnTo>
                    <a:pt x="15204" y="2805950"/>
                  </a:lnTo>
                  <a:lnTo>
                    <a:pt x="15204" y="2797875"/>
                  </a:lnTo>
                  <a:lnTo>
                    <a:pt x="6270529" y="2797875"/>
                  </a:lnTo>
                  <a:lnTo>
                    <a:pt x="6270529" y="2805950"/>
                  </a:lnTo>
                  <a:lnTo>
                    <a:pt x="6255325" y="2805950"/>
                  </a:lnTo>
                  <a:lnTo>
                    <a:pt x="6255325" y="8075"/>
                  </a:lnTo>
                  <a:lnTo>
                    <a:pt x="6270529" y="8075"/>
                  </a:lnTo>
                  <a:lnTo>
                    <a:pt x="6270529" y="16212"/>
                  </a:lnTo>
                  <a:lnTo>
                    <a:pt x="15204" y="16212"/>
                  </a:lnTo>
                  <a:close/>
                </a:path>
              </a:pathLst>
            </a:custGeom>
            <a:solidFill>
              <a:srgbClr val="0891B2"/>
            </a:solidFill>
          </p:spPr>
        </p:sp>
      </p:grpSp>
      <p:grpSp>
        <p:nvGrpSpPr>
          <p:cNvPr name="Group 39" id="39"/>
          <p:cNvGrpSpPr/>
          <p:nvPr/>
        </p:nvGrpSpPr>
        <p:grpSpPr>
          <a:xfrm rot="0">
            <a:off x="503387" y="3777480"/>
            <a:ext cx="4021489" cy="673099"/>
            <a:chOff x="0" y="0"/>
            <a:chExt cx="6285813" cy="1052091"/>
          </a:xfrm>
        </p:grpSpPr>
        <p:sp>
          <p:nvSpPr>
            <p:cNvPr name="Freeform 40" id="40"/>
            <p:cNvSpPr/>
            <p:nvPr/>
          </p:nvSpPr>
          <p:spPr>
            <a:xfrm flipH="false" flipV="false" rot="0">
              <a:off x="15204" y="16057"/>
              <a:ext cx="6255325" cy="1019894"/>
            </a:xfrm>
            <a:custGeom>
              <a:avLst/>
              <a:gdLst/>
              <a:ahLst/>
              <a:cxnLst/>
              <a:rect r="r" b="b" t="t" l="l"/>
              <a:pathLst>
                <a:path h="1019894" w="6255325">
                  <a:moveTo>
                    <a:pt x="0" y="0"/>
                  </a:moveTo>
                  <a:lnTo>
                    <a:pt x="6255325" y="0"/>
                  </a:lnTo>
                  <a:lnTo>
                    <a:pt x="6255325" y="1019893"/>
                  </a:lnTo>
                  <a:lnTo>
                    <a:pt x="0" y="1019893"/>
                  </a:lnTo>
                  <a:close/>
                </a:path>
              </a:pathLst>
            </a:custGeom>
            <a:solidFill>
              <a:srgbClr val="0891B2"/>
            </a:solidFill>
          </p:spPr>
        </p:sp>
        <p:sp>
          <p:nvSpPr>
            <p:cNvPr name="Freeform 41" id="41"/>
            <p:cNvSpPr/>
            <p:nvPr/>
          </p:nvSpPr>
          <p:spPr>
            <a:xfrm flipH="false" flipV="false" rot="0">
              <a:off x="0" y="0"/>
              <a:ext cx="6285733" cy="1052008"/>
            </a:xfrm>
            <a:custGeom>
              <a:avLst/>
              <a:gdLst/>
              <a:ahLst/>
              <a:cxnLst/>
              <a:rect r="r" b="b" t="t" l="l"/>
              <a:pathLst>
                <a:path h="1052008" w="6285733">
                  <a:moveTo>
                    <a:pt x="15204" y="0"/>
                  </a:moveTo>
                  <a:lnTo>
                    <a:pt x="6270529" y="0"/>
                  </a:lnTo>
                  <a:cubicBezTo>
                    <a:pt x="6278988" y="0"/>
                    <a:pt x="6285733" y="7244"/>
                    <a:pt x="6285733" y="16057"/>
                  </a:cubicBezTo>
                  <a:lnTo>
                    <a:pt x="6285733" y="1035950"/>
                  </a:lnTo>
                  <a:cubicBezTo>
                    <a:pt x="6285733" y="1044884"/>
                    <a:pt x="6278874" y="1052007"/>
                    <a:pt x="6270529" y="1052007"/>
                  </a:cubicBezTo>
                  <a:lnTo>
                    <a:pt x="15204" y="1052007"/>
                  </a:lnTo>
                  <a:cubicBezTo>
                    <a:pt x="6859" y="1052129"/>
                    <a:pt x="0" y="1044884"/>
                    <a:pt x="0" y="1035950"/>
                  </a:cubicBezTo>
                  <a:lnTo>
                    <a:pt x="0" y="16057"/>
                  </a:lnTo>
                  <a:cubicBezTo>
                    <a:pt x="0" y="7244"/>
                    <a:pt x="6859" y="0"/>
                    <a:pt x="15204" y="0"/>
                  </a:cubicBezTo>
                  <a:moveTo>
                    <a:pt x="15204" y="32234"/>
                  </a:moveTo>
                  <a:lnTo>
                    <a:pt x="15204" y="16057"/>
                  </a:lnTo>
                  <a:lnTo>
                    <a:pt x="30522" y="16057"/>
                  </a:lnTo>
                  <a:lnTo>
                    <a:pt x="30522" y="1035950"/>
                  </a:lnTo>
                  <a:lnTo>
                    <a:pt x="15204" y="1035950"/>
                  </a:lnTo>
                  <a:lnTo>
                    <a:pt x="15204" y="1019894"/>
                  </a:lnTo>
                  <a:lnTo>
                    <a:pt x="6270529" y="1019894"/>
                  </a:lnTo>
                  <a:lnTo>
                    <a:pt x="6270529" y="1035950"/>
                  </a:lnTo>
                  <a:lnTo>
                    <a:pt x="6255325" y="1035950"/>
                  </a:lnTo>
                  <a:lnTo>
                    <a:pt x="6255325" y="16057"/>
                  </a:lnTo>
                  <a:lnTo>
                    <a:pt x="6270529" y="16057"/>
                  </a:lnTo>
                  <a:lnTo>
                    <a:pt x="6270529" y="32234"/>
                  </a:lnTo>
                  <a:lnTo>
                    <a:pt x="15204" y="32234"/>
                  </a:lnTo>
                  <a:close/>
                </a:path>
              </a:pathLst>
            </a:custGeom>
            <a:solidFill>
              <a:srgbClr val="0891B2"/>
            </a:solidFill>
          </p:spPr>
        </p:sp>
      </p:grpSp>
      <p:grpSp>
        <p:nvGrpSpPr>
          <p:cNvPr name="Group 42" id="42"/>
          <p:cNvGrpSpPr/>
          <p:nvPr/>
        </p:nvGrpSpPr>
        <p:grpSpPr>
          <a:xfrm rot="0">
            <a:off x="513136" y="3787776"/>
            <a:ext cx="4001984" cy="652500"/>
            <a:chOff x="0" y="0"/>
            <a:chExt cx="6255325" cy="1019894"/>
          </a:xfrm>
        </p:grpSpPr>
        <p:sp>
          <p:nvSpPr>
            <p:cNvPr name="Freeform 43" id="43"/>
            <p:cNvSpPr/>
            <p:nvPr/>
          </p:nvSpPr>
          <p:spPr>
            <a:xfrm flipH="false" flipV="false" rot="0">
              <a:off x="0" y="0"/>
              <a:ext cx="6255325" cy="1019894"/>
            </a:xfrm>
            <a:custGeom>
              <a:avLst/>
              <a:gdLst/>
              <a:ahLst/>
              <a:cxnLst/>
              <a:rect r="r" b="b" t="t" l="l"/>
              <a:pathLst>
                <a:path h="1019894" w="6255325">
                  <a:moveTo>
                    <a:pt x="0" y="0"/>
                  </a:moveTo>
                  <a:lnTo>
                    <a:pt x="6255325" y="0"/>
                  </a:lnTo>
                  <a:lnTo>
                    <a:pt x="6255325" y="1019894"/>
                  </a:lnTo>
                  <a:lnTo>
                    <a:pt x="0" y="1019894"/>
                  </a:lnTo>
                  <a:close/>
                </a:path>
              </a:pathLst>
            </a:custGeom>
            <a:blipFill>
              <a:blip r:embed="rId2">
                <a:alphaModFix amt="0"/>
              </a:blip>
              <a:stretch>
                <a:fillRect l="0" t="-80170" r="-11096" b="-85367"/>
              </a:stretch>
            </a:blipFill>
          </p:spPr>
        </p:sp>
        <p:sp>
          <p:nvSpPr>
            <p:cNvPr name="TextBox 44" id="44"/>
            <p:cNvSpPr txBox="true"/>
            <p:nvPr/>
          </p:nvSpPr>
          <p:spPr>
            <a:xfrm>
              <a:off x="0" y="-38100"/>
              <a:ext cx="6255325" cy="1057994"/>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dcat:dataset</a:t>
              </a:r>
            </a:p>
          </p:txBody>
        </p:sp>
      </p:grpSp>
      <p:grpSp>
        <p:nvGrpSpPr>
          <p:cNvPr name="Group 45" id="45"/>
          <p:cNvGrpSpPr/>
          <p:nvPr/>
        </p:nvGrpSpPr>
        <p:grpSpPr>
          <a:xfrm rot="0">
            <a:off x="503387" y="4450571"/>
            <a:ext cx="4031238" cy="683404"/>
            <a:chOff x="0" y="0"/>
            <a:chExt cx="6301051" cy="1068198"/>
          </a:xfrm>
        </p:grpSpPr>
        <p:sp>
          <p:nvSpPr>
            <p:cNvPr name="Freeform 46" id="46"/>
            <p:cNvSpPr/>
            <p:nvPr/>
          </p:nvSpPr>
          <p:spPr>
            <a:xfrm flipH="false" flipV="false" rot="0">
              <a:off x="0" y="0"/>
              <a:ext cx="6301051" cy="1068198"/>
            </a:xfrm>
            <a:custGeom>
              <a:avLst/>
              <a:gdLst/>
              <a:ahLst/>
              <a:cxnLst/>
              <a:rect r="r" b="b" t="t" l="l"/>
              <a:pathLst>
                <a:path h="1068198" w="6301051">
                  <a:moveTo>
                    <a:pt x="0" y="0"/>
                  </a:moveTo>
                  <a:lnTo>
                    <a:pt x="6301051" y="0"/>
                  </a:lnTo>
                  <a:lnTo>
                    <a:pt x="6301051" y="1068198"/>
                  </a:lnTo>
                  <a:lnTo>
                    <a:pt x="0" y="1068198"/>
                  </a:lnTo>
                  <a:close/>
                </a:path>
              </a:pathLst>
            </a:custGeom>
            <a:blipFill>
              <a:blip r:embed="rId2">
                <a:alphaModFix amt="0"/>
              </a:blip>
              <a:stretch>
                <a:fillRect l="0" t="-63083" r="-2550" b="-72654"/>
              </a:stretch>
            </a:blipFill>
          </p:spPr>
        </p:sp>
        <p:sp>
          <p:nvSpPr>
            <p:cNvPr name="TextBox 47" id="47"/>
            <p:cNvSpPr txBox="true"/>
            <p:nvPr/>
          </p:nvSpPr>
          <p:spPr>
            <a:xfrm>
              <a:off x="0" y="-47625"/>
              <a:ext cx="6301051" cy="1115823"/>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Lie un catalogue à ses datasets</a:t>
              </a:r>
            </a:p>
          </p:txBody>
        </p:sp>
      </p:grpSp>
      <p:grpSp>
        <p:nvGrpSpPr>
          <p:cNvPr name="Group 48" id="48"/>
          <p:cNvGrpSpPr/>
          <p:nvPr/>
        </p:nvGrpSpPr>
        <p:grpSpPr>
          <a:xfrm rot="0">
            <a:off x="503387" y="5769114"/>
            <a:ext cx="4021489" cy="1810952"/>
            <a:chOff x="0" y="0"/>
            <a:chExt cx="6285813" cy="2830620"/>
          </a:xfrm>
        </p:grpSpPr>
        <p:sp>
          <p:nvSpPr>
            <p:cNvPr name="Freeform 49" id="49"/>
            <p:cNvSpPr/>
            <p:nvPr/>
          </p:nvSpPr>
          <p:spPr>
            <a:xfrm flipH="false" flipV="false" rot="0">
              <a:off x="15204" y="8123"/>
              <a:ext cx="6255325" cy="2814331"/>
            </a:xfrm>
            <a:custGeom>
              <a:avLst/>
              <a:gdLst/>
              <a:ahLst/>
              <a:cxnLst/>
              <a:rect r="r" b="b" t="t" l="l"/>
              <a:pathLst>
                <a:path h="2814331" w="6255325">
                  <a:moveTo>
                    <a:pt x="0" y="0"/>
                  </a:moveTo>
                  <a:lnTo>
                    <a:pt x="6255325" y="0"/>
                  </a:lnTo>
                  <a:lnTo>
                    <a:pt x="6255325" y="2814331"/>
                  </a:lnTo>
                  <a:lnTo>
                    <a:pt x="0" y="2814331"/>
                  </a:lnTo>
                  <a:close/>
                </a:path>
              </a:pathLst>
            </a:custGeom>
            <a:solidFill>
              <a:srgbClr val="E0F2FE"/>
            </a:solidFill>
          </p:spPr>
        </p:sp>
        <p:sp>
          <p:nvSpPr>
            <p:cNvPr name="Freeform 50" id="50"/>
            <p:cNvSpPr/>
            <p:nvPr/>
          </p:nvSpPr>
          <p:spPr>
            <a:xfrm flipH="false" flipV="false" rot="0">
              <a:off x="0" y="0"/>
              <a:ext cx="6285733" cy="2830577"/>
            </a:xfrm>
            <a:custGeom>
              <a:avLst/>
              <a:gdLst/>
              <a:ahLst/>
              <a:cxnLst/>
              <a:rect r="r" b="b" t="t" l="l"/>
              <a:pathLst>
                <a:path h="2830577" w="6285733">
                  <a:moveTo>
                    <a:pt x="15204" y="0"/>
                  </a:moveTo>
                  <a:lnTo>
                    <a:pt x="6270529" y="0"/>
                  </a:lnTo>
                  <a:cubicBezTo>
                    <a:pt x="6278988" y="0"/>
                    <a:pt x="6285733" y="3664"/>
                    <a:pt x="6285733" y="8123"/>
                  </a:cubicBezTo>
                  <a:lnTo>
                    <a:pt x="6285733" y="2822454"/>
                  </a:lnTo>
                  <a:cubicBezTo>
                    <a:pt x="6285733" y="2826974"/>
                    <a:pt x="6278874" y="2830577"/>
                    <a:pt x="6270529" y="2830577"/>
                  </a:cubicBezTo>
                  <a:lnTo>
                    <a:pt x="15204" y="2830577"/>
                  </a:lnTo>
                  <a:cubicBezTo>
                    <a:pt x="6745" y="2830577"/>
                    <a:pt x="0" y="2826913"/>
                    <a:pt x="0" y="2822454"/>
                  </a:cubicBezTo>
                  <a:lnTo>
                    <a:pt x="0" y="8123"/>
                  </a:lnTo>
                  <a:cubicBezTo>
                    <a:pt x="0" y="3664"/>
                    <a:pt x="6859" y="0"/>
                    <a:pt x="15204" y="0"/>
                  </a:cubicBezTo>
                  <a:moveTo>
                    <a:pt x="15204" y="16307"/>
                  </a:moveTo>
                  <a:lnTo>
                    <a:pt x="15204" y="8123"/>
                  </a:lnTo>
                  <a:lnTo>
                    <a:pt x="30522" y="8123"/>
                  </a:lnTo>
                  <a:lnTo>
                    <a:pt x="30522" y="2822454"/>
                  </a:lnTo>
                  <a:lnTo>
                    <a:pt x="15204" y="2822454"/>
                  </a:lnTo>
                  <a:lnTo>
                    <a:pt x="15204" y="2814331"/>
                  </a:lnTo>
                  <a:lnTo>
                    <a:pt x="6270529" y="2814331"/>
                  </a:lnTo>
                  <a:lnTo>
                    <a:pt x="6270529" y="2822454"/>
                  </a:lnTo>
                  <a:lnTo>
                    <a:pt x="6255325" y="2822454"/>
                  </a:lnTo>
                  <a:lnTo>
                    <a:pt x="6255325" y="8123"/>
                  </a:lnTo>
                  <a:lnTo>
                    <a:pt x="6270529" y="8123"/>
                  </a:lnTo>
                  <a:lnTo>
                    <a:pt x="6270529" y="16307"/>
                  </a:lnTo>
                  <a:lnTo>
                    <a:pt x="15204" y="16307"/>
                  </a:lnTo>
                  <a:close/>
                </a:path>
              </a:pathLst>
            </a:custGeom>
            <a:solidFill>
              <a:srgbClr val="0891B2"/>
            </a:solidFill>
          </p:spPr>
        </p:sp>
      </p:grpSp>
      <p:grpSp>
        <p:nvGrpSpPr>
          <p:cNvPr name="Group 51" id="51"/>
          <p:cNvGrpSpPr/>
          <p:nvPr/>
        </p:nvGrpSpPr>
        <p:grpSpPr>
          <a:xfrm rot="0">
            <a:off x="503387" y="5769114"/>
            <a:ext cx="4021489" cy="677058"/>
            <a:chOff x="0" y="0"/>
            <a:chExt cx="6285813" cy="1058279"/>
          </a:xfrm>
        </p:grpSpPr>
        <p:sp>
          <p:nvSpPr>
            <p:cNvPr name="Freeform 52" id="52"/>
            <p:cNvSpPr/>
            <p:nvPr/>
          </p:nvSpPr>
          <p:spPr>
            <a:xfrm flipH="false" flipV="false" rot="0">
              <a:off x="15204" y="16151"/>
              <a:ext cx="6255325" cy="1025892"/>
            </a:xfrm>
            <a:custGeom>
              <a:avLst/>
              <a:gdLst/>
              <a:ahLst/>
              <a:cxnLst/>
              <a:rect r="r" b="b" t="t" l="l"/>
              <a:pathLst>
                <a:path h="1025892" w="6255325">
                  <a:moveTo>
                    <a:pt x="0" y="0"/>
                  </a:moveTo>
                  <a:lnTo>
                    <a:pt x="6255325" y="0"/>
                  </a:lnTo>
                  <a:lnTo>
                    <a:pt x="6255325" y="1025892"/>
                  </a:lnTo>
                  <a:lnTo>
                    <a:pt x="0" y="1025892"/>
                  </a:lnTo>
                  <a:close/>
                </a:path>
              </a:pathLst>
            </a:custGeom>
            <a:solidFill>
              <a:srgbClr val="0891B2"/>
            </a:solidFill>
          </p:spPr>
        </p:sp>
        <p:sp>
          <p:nvSpPr>
            <p:cNvPr name="Freeform 53" id="53"/>
            <p:cNvSpPr/>
            <p:nvPr/>
          </p:nvSpPr>
          <p:spPr>
            <a:xfrm flipH="false" flipV="false" rot="0">
              <a:off x="0" y="0"/>
              <a:ext cx="6285733" cy="1058196"/>
            </a:xfrm>
            <a:custGeom>
              <a:avLst/>
              <a:gdLst/>
              <a:ahLst/>
              <a:cxnLst/>
              <a:rect r="r" b="b" t="t" l="l"/>
              <a:pathLst>
                <a:path h="1058196" w="6285733">
                  <a:moveTo>
                    <a:pt x="15204" y="0"/>
                  </a:moveTo>
                  <a:lnTo>
                    <a:pt x="6270529" y="0"/>
                  </a:lnTo>
                  <a:cubicBezTo>
                    <a:pt x="6278988" y="0"/>
                    <a:pt x="6285733" y="7286"/>
                    <a:pt x="6285733" y="16151"/>
                  </a:cubicBezTo>
                  <a:lnTo>
                    <a:pt x="6285733" y="1042043"/>
                  </a:lnTo>
                  <a:cubicBezTo>
                    <a:pt x="6285733" y="1051030"/>
                    <a:pt x="6278874" y="1058195"/>
                    <a:pt x="6270529" y="1058195"/>
                  </a:cubicBezTo>
                  <a:lnTo>
                    <a:pt x="15204" y="1058195"/>
                  </a:lnTo>
                  <a:cubicBezTo>
                    <a:pt x="6859" y="1058318"/>
                    <a:pt x="0" y="1051030"/>
                    <a:pt x="0" y="1042043"/>
                  </a:cubicBezTo>
                  <a:lnTo>
                    <a:pt x="0" y="16151"/>
                  </a:lnTo>
                  <a:cubicBezTo>
                    <a:pt x="0" y="7286"/>
                    <a:pt x="6859" y="0"/>
                    <a:pt x="15204" y="0"/>
                  </a:cubicBezTo>
                  <a:moveTo>
                    <a:pt x="15204" y="32423"/>
                  </a:moveTo>
                  <a:lnTo>
                    <a:pt x="15204" y="16151"/>
                  </a:lnTo>
                  <a:lnTo>
                    <a:pt x="30522" y="16151"/>
                  </a:lnTo>
                  <a:lnTo>
                    <a:pt x="30522" y="1042043"/>
                  </a:lnTo>
                  <a:lnTo>
                    <a:pt x="15204" y="1042043"/>
                  </a:lnTo>
                  <a:lnTo>
                    <a:pt x="15204" y="1025893"/>
                  </a:lnTo>
                  <a:lnTo>
                    <a:pt x="6270529" y="1025893"/>
                  </a:lnTo>
                  <a:lnTo>
                    <a:pt x="6270529" y="1042044"/>
                  </a:lnTo>
                  <a:lnTo>
                    <a:pt x="6255325" y="1042044"/>
                  </a:lnTo>
                  <a:lnTo>
                    <a:pt x="6255325" y="16151"/>
                  </a:lnTo>
                  <a:lnTo>
                    <a:pt x="6270529" y="16151"/>
                  </a:lnTo>
                  <a:lnTo>
                    <a:pt x="6270529" y="32423"/>
                  </a:lnTo>
                  <a:lnTo>
                    <a:pt x="15204" y="32423"/>
                  </a:lnTo>
                  <a:close/>
                </a:path>
              </a:pathLst>
            </a:custGeom>
            <a:solidFill>
              <a:srgbClr val="0891B2"/>
            </a:solidFill>
          </p:spPr>
        </p:sp>
      </p:grpSp>
      <p:grpSp>
        <p:nvGrpSpPr>
          <p:cNvPr name="Group 54" id="54"/>
          <p:cNvGrpSpPr/>
          <p:nvPr/>
        </p:nvGrpSpPr>
        <p:grpSpPr>
          <a:xfrm rot="0">
            <a:off x="513136" y="5779470"/>
            <a:ext cx="4001984" cy="656338"/>
            <a:chOff x="0" y="0"/>
            <a:chExt cx="6255325" cy="1025892"/>
          </a:xfrm>
        </p:grpSpPr>
        <p:sp>
          <p:nvSpPr>
            <p:cNvPr name="Freeform 55" id="55"/>
            <p:cNvSpPr/>
            <p:nvPr/>
          </p:nvSpPr>
          <p:spPr>
            <a:xfrm flipH="false" flipV="false" rot="0">
              <a:off x="0" y="0"/>
              <a:ext cx="6255325" cy="1025893"/>
            </a:xfrm>
            <a:custGeom>
              <a:avLst/>
              <a:gdLst/>
              <a:ahLst/>
              <a:cxnLst/>
              <a:rect r="r" b="b" t="t" l="l"/>
              <a:pathLst>
                <a:path h="1025893" w="6255325">
                  <a:moveTo>
                    <a:pt x="0" y="0"/>
                  </a:moveTo>
                  <a:lnTo>
                    <a:pt x="6255325" y="0"/>
                  </a:lnTo>
                  <a:lnTo>
                    <a:pt x="6255325" y="1025893"/>
                  </a:lnTo>
                  <a:lnTo>
                    <a:pt x="0" y="1025893"/>
                  </a:lnTo>
                  <a:close/>
                </a:path>
              </a:pathLst>
            </a:custGeom>
            <a:blipFill>
              <a:blip r:embed="rId2">
                <a:alphaModFix amt="0"/>
              </a:blip>
              <a:stretch>
                <a:fillRect l="0" t="-79701" r="-11096" b="-84283"/>
              </a:stretch>
            </a:blipFill>
          </p:spPr>
        </p:sp>
        <p:sp>
          <p:nvSpPr>
            <p:cNvPr name="TextBox 56" id="56"/>
            <p:cNvSpPr txBox="true"/>
            <p:nvPr/>
          </p:nvSpPr>
          <p:spPr>
            <a:xfrm>
              <a:off x="0" y="-38100"/>
              <a:ext cx="6255325" cy="10639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dcat:distribution</a:t>
              </a:r>
            </a:p>
          </p:txBody>
        </p:sp>
      </p:grpSp>
      <p:grpSp>
        <p:nvGrpSpPr>
          <p:cNvPr name="Group 57" id="57"/>
          <p:cNvGrpSpPr/>
          <p:nvPr/>
        </p:nvGrpSpPr>
        <p:grpSpPr>
          <a:xfrm rot="0">
            <a:off x="526873" y="6435093"/>
            <a:ext cx="3988247" cy="795804"/>
            <a:chOff x="0" y="0"/>
            <a:chExt cx="6233853" cy="1243887"/>
          </a:xfrm>
        </p:grpSpPr>
        <p:sp>
          <p:nvSpPr>
            <p:cNvPr name="Freeform 58" id="58"/>
            <p:cNvSpPr/>
            <p:nvPr/>
          </p:nvSpPr>
          <p:spPr>
            <a:xfrm flipH="false" flipV="false" rot="0">
              <a:off x="0" y="0"/>
              <a:ext cx="6233853" cy="1243887"/>
            </a:xfrm>
            <a:custGeom>
              <a:avLst/>
              <a:gdLst/>
              <a:ahLst/>
              <a:cxnLst/>
              <a:rect r="r" b="b" t="t" l="l"/>
              <a:pathLst>
                <a:path h="1243887" w="6233853">
                  <a:moveTo>
                    <a:pt x="0" y="0"/>
                  </a:moveTo>
                  <a:lnTo>
                    <a:pt x="6233853" y="0"/>
                  </a:lnTo>
                  <a:lnTo>
                    <a:pt x="6233853" y="1243887"/>
                  </a:lnTo>
                  <a:lnTo>
                    <a:pt x="0" y="1243887"/>
                  </a:lnTo>
                  <a:close/>
                </a:path>
              </a:pathLst>
            </a:custGeom>
            <a:blipFill>
              <a:blip r:embed="rId2">
                <a:alphaModFix amt="0"/>
              </a:blip>
              <a:stretch>
                <a:fillRect l="0" t="-54173" r="-3655" b="-48268"/>
              </a:stretch>
            </a:blipFill>
          </p:spPr>
        </p:sp>
        <p:sp>
          <p:nvSpPr>
            <p:cNvPr name="TextBox 59" id="59"/>
            <p:cNvSpPr txBox="true"/>
            <p:nvPr/>
          </p:nvSpPr>
          <p:spPr>
            <a:xfrm>
              <a:off x="0" y="-47625"/>
              <a:ext cx="6233853" cy="1291512"/>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Lie un dataset à ses distributions</a:t>
              </a:r>
            </a:p>
          </p:txBody>
        </p:sp>
      </p:grpSp>
      <p:grpSp>
        <p:nvGrpSpPr>
          <p:cNvPr name="Group 60" id="60"/>
          <p:cNvGrpSpPr/>
          <p:nvPr/>
        </p:nvGrpSpPr>
        <p:grpSpPr>
          <a:xfrm rot="0">
            <a:off x="513136" y="7780922"/>
            <a:ext cx="4021489" cy="1795910"/>
            <a:chOff x="0" y="0"/>
            <a:chExt cx="6285813" cy="2807108"/>
          </a:xfrm>
        </p:grpSpPr>
        <p:sp>
          <p:nvSpPr>
            <p:cNvPr name="Freeform 61" id="61"/>
            <p:cNvSpPr/>
            <p:nvPr/>
          </p:nvSpPr>
          <p:spPr>
            <a:xfrm flipH="false" flipV="false" rot="0">
              <a:off x="15204" y="8055"/>
              <a:ext cx="6255325" cy="2790955"/>
            </a:xfrm>
            <a:custGeom>
              <a:avLst/>
              <a:gdLst/>
              <a:ahLst/>
              <a:cxnLst/>
              <a:rect r="r" b="b" t="t" l="l"/>
              <a:pathLst>
                <a:path h="2790955" w="6255325">
                  <a:moveTo>
                    <a:pt x="0" y="0"/>
                  </a:moveTo>
                  <a:lnTo>
                    <a:pt x="6255325" y="0"/>
                  </a:lnTo>
                  <a:lnTo>
                    <a:pt x="6255325" y="2790955"/>
                  </a:lnTo>
                  <a:lnTo>
                    <a:pt x="0" y="2790955"/>
                  </a:lnTo>
                  <a:close/>
                </a:path>
              </a:pathLst>
            </a:custGeom>
            <a:solidFill>
              <a:srgbClr val="E0F2FE"/>
            </a:solidFill>
          </p:spPr>
        </p:sp>
        <p:sp>
          <p:nvSpPr>
            <p:cNvPr name="Freeform 62" id="62"/>
            <p:cNvSpPr/>
            <p:nvPr/>
          </p:nvSpPr>
          <p:spPr>
            <a:xfrm flipH="false" flipV="false" rot="0">
              <a:off x="0" y="0"/>
              <a:ext cx="6285733" cy="2807066"/>
            </a:xfrm>
            <a:custGeom>
              <a:avLst/>
              <a:gdLst/>
              <a:ahLst/>
              <a:cxnLst/>
              <a:rect r="r" b="b" t="t" l="l"/>
              <a:pathLst>
                <a:path h="2807066" w="6285733">
                  <a:moveTo>
                    <a:pt x="15204" y="0"/>
                  </a:moveTo>
                  <a:lnTo>
                    <a:pt x="6270529" y="0"/>
                  </a:lnTo>
                  <a:cubicBezTo>
                    <a:pt x="6278988" y="0"/>
                    <a:pt x="6285733" y="3634"/>
                    <a:pt x="6285733" y="8055"/>
                  </a:cubicBezTo>
                  <a:lnTo>
                    <a:pt x="6285733" y="2799010"/>
                  </a:lnTo>
                  <a:cubicBezTo>
                    <a:pt x="6285733" y="2803492"/>
                    <a:pt x="6278874" y="2807066"/>
                    <a:pt x="6270529" y="2807066"/>
                  </a:cubicBezTo>
                  <a:lnTo>
                    <a:pt x="15204" y="2807066"/>
                  </a:lnTo>
                  <a:cubicBezTo>
                    <a:pt x="6745" y="2807066"/>
                    <a:pt x="0" y="2803432"/>
                    <a:pt x="0" y="2799010"/>
                  </a:cubicBezTo>
                  <a:lnTo>
                    <a:pt x="0" y="8055"/>
                  </a:lnTo>
                  <a:cubicBezTo>
                    <a:pt x="0" y="3634"/>
                    <a:pt x="6859" y="0"/>
                    <a:pt x="15204" y="0"/>
                  </a:cubicBezTo>
                  <a:moveTo>
                    <a:pt x="15204" y="16172"/>
                  </a:moveTo>
                  <a:lnTo>
                    <a:pt x="15204" y="8055"/>
                  </a:lnTo>
                  <a:lnTo>
                    <a:pt x="30522" y="8055"/>
                  </a:lnTo>
                  <a:lnTo>
                    <a:pt x="30522" y="2799010"/>
                  </a:lnTo>
                  <a:lnTo>
                    <a:pt x="15204" y="2799010"/>
                  </a:lnTo>
                  <a:lnTo>
                    <a:pt x="15204" y="2790955"/>
                  </a:lnTo>
                  <a:lnTo>
                    <a:pt x="6270529" y="2790955"/>
                  </a:lnTo>
                  <a:lnTo>
                    <a:pt x="6270529" y="2799010"/>
                  </a:lnTo>
                  <a:lnTo>
                    <a:pt x="6255325" y="2799010"/>
                  </a:lnTo>
                  <a:lnTo>
                    <a:pt x="6255325" y="8055"/>
                  </a:lnTo>
                  <a:lnTo>
                    <a:pt x="6270529" y="8055"/>
                  </a:lnTo>
                  <a:lnTo>
                    <a:pt x="6270529" y="16172"/>
                  </a:lnTo>
                  <a:lnTo>
                    <a:pt x="15204" y="16172"/>
                  </a:lnTo>
                  <a:close/>
                </a:path>
              </a:pathLst>
            </a:custGeom>
            <a:solidFill>
              <a:srgbClr val="0891B2"/>
            </a:solidFill>
          </p:spPr>
        </p:sp>
      </p:grpSp>
      <p:grpSp>
        <p:nvGrpSpPr>
          <p:cNvPr name="Group 63" id="63"/>
          <p:cNvGrpSpPr/>
          <p:nvPr/>
        </p:nvGrpSpPr>
        <p:grpSpPr>
          <a:xfrm rot="0">
            <a:off x="513136" y="7780922"/>
            <a:ext cx="4021489" cy="671434"/>
            <a:chOff x="0" y="0"/>
            <a:chExt cx="6285813" cy="1049489"/>
          </a:xfrm>
        </p:grpSpPr>
        <p:sp>
          <p:nvSpPr>
            <p:cNvPr name="Freeform 64" id="64"/>
            <p:cNvSpPr/>
            <p:nvPr/>
          </p:nvSpPr>
          <p:spPr>
            <a:xfrm flipH="false" flipV="false" rot="0">
              <a:off x="15204" y="16017"/>
              <a:ext cx="6255325" cy="1017371"/>
            </a:xfrm>
            <a:custGeom>
              <a:avLst/>
              <a:gdLst/>
              <a:ahLst/>
              <a:cxnLst/>
              <a:rect r="r" b="b" t="t" l="l"/>
              <a:pathLst>
                <a:path h="1017371" w="6255325">
                  <a:moveTo>
                    <a:pt x="0" y="0"/>
                  </a:moveTo>
                  <a:lnTo>
                    <a:pt x="6255325" y="0"/>
                  </a:lnTo>
                  <a:lnTo>
                    <a:pt x="6255325" y="1017371"/>
                  </a:lnTo>
                  <a:lnTo>
                    <a:pt x="0" y="1017371"/>
                  </a:lnTo>
                  <a:close/>
                </a:path>
              </a:pathLst>
            </a:custGeom>
            <a:solidFill>
              <a:srgbClr val="0891B2"/>
            </a:solidFill>
          </p:spPr>
        </p:sp>
        <p:sp>
          <p:nvSpPr>
            <p:cNvPr name="Freeform 65" id="65"/>
            <p:cNvSpPr/>
            <p:nvPr/>
          </p:nvSpPr>
          <p:spPr>
            <a:xfrm flipH="false" flipV="false" rot="0">
              <a:off x="0" y="0"/>
              <a:ext cx="6285733" cy="1049406"/>
            </a:xfrm>
            <a:custGeom>
              <a:avLst/>
              <a:gdLst/>
              <a:ahLst/>
              <a:cxnLst/>
              <a:rect r="r" b="b" t="t" l="l"/>
              <a:pathLst>
                <a:path h="1049406" w="6285733">
                  <a:moveTo>
                    <a:pt x="15204" y="0"/>
                  </a:moveTo>
                  <a:lnTo>
                    <a:pt x="6270529" y="0"/>
                  </a:lnTo>
                  <a:cubicBezTo>
                    <a:pt x="6278988" y="0"/>
                    <a:pt x="6285733" y="7226"/>
                    <a:pt x="6285733" y="16017"/>
                  </a:cubicBezTo>
                  <a:lnTo>
                    <a:pt x="6285733" y="1033388"/>
                  </a:lnTo>
                  <a:cubicBezTo>
                    <a:pt x="6285733" y="1042300"/>
                    <a:pt x="6278874" y="1049405"/>
                    <a:pt x="6270529" y="1049405"/>
                  </a:cubicBezTo>
                  <a:lnTo>
                    <a:pt x="15204" y="1049405"/>
                  </a:lnTo>
                  <a:cubicBezTo>
                    <a:pt x="6859" y="1049527"/>
                    <a:pt x="0" y="1042300"/>
                    <a:pt x="0" y="1033388"/>
                  </a:cubicBezTo>
                  <a:lnTo>
                    <a:pt x="0" y="16017"/>
                  </a:lnTo>
                  <a:cubicBezTo>
                    <a:pt x="0" y="7226"/>
                    <a:pt x="6859" y="0"/>
                    <a:pt x="15204" y="0"/>
                  </a:cubicBezTo>
                  <a:moveTo>
                    <a:pt x="15204" y="32154"/>
                  </a:moveTo>
                  <a:lnTo>
                    <a:pt x="15204" y="16017"/>
                  </a:lnTo>
                  <a:lnTo>
                    <a:pt x="30522" y="16017"/>
                  </a:lnTo>
                  <a:lnTo>
                    <a:pt x="30522" y="1033388"/>
                  </a:lnTo>
                  <a:lnTo>
                    <a:pt x="15204" y="1033388"/>
                  </a:lnTo>
                  <a:lnTo>
                    <a:pt x="15204" y="1017371"/>
                  </a:lnTo>
                  <a:lnTo>
                    <a:pt x="6270529" y="1017371"/>
                  </a:lnTo>
                  <a:lnTo>
                    <a:pt x="6270529" y="1033388"/>
                  </a:lnTo>
                  <a:lnTo>
                    <a:pt x="6255325" y="1033388"/>
                  </a:lnTo>
                  <a:lnTo>
                    <a:pt x="6255325" y="16017"/>
                  </a:lnTo>
                  <a:lnTo>
                    <a:pt x="6270529" y="16017"/>
                  </a:lnTo>
                  <a:lnTo>
                    <a:pt x="6270529" y="32154"/>
                  </a:lnTo>
                  <a:lnTo>
                    <a:pt x="15204" y="32154"/>
                  </a:lnTo>
                  <a:close/>
                </a:path>
              </a:pathLst>
            </a:custGeom>
            <a:solidFill>
              <a:srgbClr val="0891B2"/>
            </a:solidFill>
          </p:spPr>
        </p:sp>
      </p:grpSp>
      <p:grpSp>
        <p:nvGrpSpPr>
          <p:cNvPr name="Group 66" id="66"/>
          <p:cNvGrpSpPr/>
          <p:nvPr/>
        </p:nvGrpSpPr>
        <p:grpSpPr>
          <a:xfrm rot="0">
            <a:off x="522885" y="7791193"/>
            <a:ext cx="4001984" cy="650886"/>
            <a:chOff x="0" y="0"/>
            <a:chExt cx="6255325" cy="1017371"/>
          </a:xfrm>
        </p:grpSpPr>
        <p:sp>
          <p:nvSpPr>
            <p:cNvPr name="Freeform 67" id="67"/>
            <p:cNvSpPr/>
            <p:nvPr/>
          </p:nvSpPr>
          <p:spPr>
            <a:xfrm flipH="false" flipV="false" rot="0">
              <a:off x="0" y="0"/>
              <a:ext cx="6255325" cy="1017371"/>
            </a:xfrm>
            <a:custGeom>
              <a:avLst/>
              <a:gdLst/>
              <a:ahLst/>
              <a:cxnLst/>
              <a:rect r="r" b="b" t="t" l="l"/>
              <a:pathLst>
                <a:path h="1017371" w="6255325">
                  <a:moveTo>
                    <a:pt x="0" y="0"/>
                  </a:moveTo>
                  <a:lnTo>
                    <a:pt x="6255325" y="0"/>
                  </a:lnTo>
                  <a:lnTo>
                    <a:pt x="6255325" y="1017371"/>
                  </a:lnTo>
                  <a:lnTo>
                    <a:pt x="0" y="1017371"/>
                  </a:lnTo>
                  <a:close/>
                </a:path>
              </a:pathLst>
            </a:custGeom>
            <a:blipFill>
              <a:blip r:embed="rId2">
                <a:alphaModFix amt="0"/>
              </a:blip>
              <a:stretch>
                <a:fillRect l="0" t="-80369" r="-11096" b="-85826"/>
              </a:stretch>
            </a:blipFill>
          </p:spPr>
        </p:sp>
        <p:sp>
          <p:nvSpPr>
            <p:cNvPr name="TextBox 68" id="68"/>
            <p:cNvSpPr txBox="true"/>
            <p:nvPr/>
          </p:nvSpPr>
          <p:spPr>
            <a:xfrm>
              <a:off x="0" y="-38100"/>
              <a:ext cx="6255325" cy="1055471"/>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dcat:accessURL</a:t>
              </a:r>
            </a:p>
          </p:txBody>
        </p:sp>
      </p:grpSp>
      <p:grpSp>
        <p:nvGrpSpPr>
          <p:cNvPr name="Group 69" id="69"/>
          <p:cNvGrpSpPr/>
          <p:nvPr/>
        </p:nvGrpSpPr>
        <p:grpSpPr>
          <a:xfrm rot="0">
            <a:off x="526873" y="8437316"/>
            <a:ext cx="3998003" cy="811459"/>
            <a:chOff x="0" y="0"/>
            <a:chExt cx="6249103" cy="1268356"/>
          </a:xfrm>
        </p:grpSpPr>
        <p:sp>
          <p:nvSpPr>
            <p:cNvPr name="Freeform 70" id="70"/>
            <p:cNvSpPr/>
            <p:nvPr/>
          </p:nvSpPr>
          <p:spPr>
            <a:xfrm flipH="false" flipV="false" rot="0">
              <a:off x="0" y="0"/>
              <a:ext cx="6249103" cy="1268356"/>
            </a:xfrm>
            <a:custGeom>
              <a:avLst/>
              <a:gdLst/>
              <a:ahLst/>
              <a:cxnLst/>
              <a:rect r="r" b="b" t="t" l="l"/>
              <a:pathLst>
                <a:path h="1268356" w="6249103">
                  <a:moveTo>
                    <a:pt x="0" y="0"/>
                  </a:moveTo>
                  <a:lnTo>
                    <a:pt x="6249103" y="0"/>
                  </a:lnTo>
                  <a:lnTo>
                    <a:pt x="6249103" y="1268356"/>
                  </a:lnTo>
                  <a:lnTo>
                    <a:pt x="0" y="1268356"/>
                  </a:lnTo>
                  <a:close/>
                </a:path>
              </a:pathLst>
            </a:custGeom>
            <a:blipFill>
              <a:blip r:embed="rId2">
                <a:alphaModFix amt="0"/>
              </a:blip>
              <a:stretch>
                <a:fillRect l="0" t="-53128" r="-3402" b="-45408"/>
              </a:stretch>
            </a:blipFill>
          </p:spPr>
        </p:sp>
        <p:sp>
          <p:nvSpPr>
            <p:cNvPr name="TextBox 71" id="71"/>
            <p:cNvSpPr txBox="true"/>
            <p:nvPr/>
          </p:nvSpPr>
          <p:spPr>
            <a:xfrm>
              <a:off x="0" y="-47625"/>
              <a:ext cx="6249103" cy="1315981"/>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UR</a:t>
              </a:r>
              <a:r>
                <a:rPr lang="en-US" sz="2200" b="true">
                  <a:solidFill>
                    <a:srgbClr val="0891B2"/>
                  </a:solidFill>
                  <a:latin typeface="Calibri (MS) Bold"/>
                  <a:ea typeface="Calibri (MS) Bold"/>
                  <a:cs typeface="Calibri (MS) Bold"/>
                  <a:sym typeface="Calibri (MS) Bold"/>
                </a:rPr>
                <a:t>L pour accéder à une distribution</a:t>
              </a:r>
            </a:p>
          </p:txBody>
        </p:sp>
      </p:grpSp>
      <p:grpSp>
        <p:nvGrpSpPr>
          <p:cNvPr name="Group 72" id="72"/>
          <p:cNvGrpSpPr/>
          <p:nvPr/>
        </p:nvGrpSpPr>
        <p:grpSpPr>
          <a:xfrm rot="0">
            <a:off x="4934208" y="3787776"/>
            <a:ext cx="4021489" cy="1800363"/>
            <a:chOff x="0" y="0"/>
            <a:chExt cx="6285813" cy="2814068"/>
          </a:xfrm>
        </p:grpSpPr>
        <p:sp>
          <p:nvSpPr>
            <p:cNvPr name="Freeform 73" id="73"/>
            <p:cNvSpPr/>
            <p:nvPr/>
          </p:nvSpPr>
          <p:spPr>
            <a:xfrm flipH="false" flipV="false" rot="0">
              <a:off x="15204" y="8075"/>
              <a:ext cx="6255325" cy="2797875"/>
            </a:xfrm>
            <a:custGeom>
              <a:avLst/>
              <a:gdLst/>
              <a:ahLst/>
              <a:cxnLst/>
              <a:rect r="r" b="b" t="t" l="l"/>
              <a:pathLst>
                <a:path h="2797875" w="6255325">
                  <a:moveTo>
                    <a:pt x="0" y="0"/>
                  </a:moveTo>
                  <a:lnTo>
                    <a:pt x="6255325" y="0"/>
                  </a:lnTo>
                  <a:lnTo>
                    <a:pt x="6255325" y="2797875"/>
                  </a:lnTo>
                  <a:lnTo>
                    <a:pt x="0" y="2797875"/>
                  </a:lnTo>
                  <a:close/>
                </a:path>
              </a:pathLst>
            </a:custGeom>
            <a:solidFill>
              <a:srgbClr val="E0F2FE"/>
            </a:solidFill>
          </p:spPr>
        </p:sp>
        <p:sp>
          <p:nvSpPr>
            <p:cNvPr name="Freeform 74" id="74"/>
            <p:cNvSpPr/>
            <p:nvPr/>
          </p:nvSpPr>
          <p:spPr>
            <a:xfrm flipH="false" flipV="false" rot="0">
              <a:off x="0" y="0"/>
              <a:ext cx="6285733" cy="2814026"/>
            </a:xfrm>
            <a:custGeom>
              <a:avLst/>
              <a:gdLst/>
              <a:ahLst/>
              <a:cxnLst/>
              <a:rect r="r" b="b" t="t" l="l"/>
              <a:pathLst>
                <a:path h="2814026" w="6285733">
                  <a:moveTo>
                    <a:pt x="15204" y="0"/>
                  </a:moveTo>
                  <a:lnTo>
                    <a:pt x="6270529" y="0"/>
                  </a:lnTo>
                  <a:cubicBezTo>
                    <a:pt x="6278988" y="0"/>
                    <a:pt x="6285733" y="3643"/>
                    <a:pt x="6285733" y="8075"/>
                  </a:cubicBezTo>
                  <a:lnTo>
                    <a:pt x="6285733" y="2805950"/>
                  </a:lnTo>
                  <a:cubicBezTo>
                    <a:pt x="6285733" y="2810443"/>
                    <a:pt x="6278874" y="2814026"/>
                    <a:pt x="6270529" y="2814026"/>
                  </a:cubicBezTo>
                  <a:lnTo>
                    <a:pt x="15204" y="2814026"/>
                  </a:lnTo>
                  <a:cubicBezTo>
                    <a:pt x="6745" y="2814026"/>
                    <a:pt x="0" y="2810383"/>
                    <a:pt x="0" y="2805950"/>
                  </a:cubicBezTo>
                  <a:lnTo>
                    <a:pt x="0" y="8075"/>
                  </a:lnTo>
                  <a:cubicBezTo>
                    <a:pt x="0" y="3643"/>
                    <a:pt x="6859" y="0"/>
                    <a:pt x="15204" y="0"/>
                  </a:cubicBezTo>
                  <a:moveTo>
                    <a:pt x="15204" y="16212"/>
                  </a:moveTo>
                  <a:lnTo>
                    <a:pt x="15204" y="8075"/>
                  </a:lnTo>
                  <a:lnTo>
                    <a:pt x="30522" y="8075"/>
                  </a:lnTo>
                  <a:lnTo>
                    <a:pt x="30522" y="2805950"/>
                  </a:lnTo>
                  <a:lnTo>
                    <a:pt x="15204" y="2805950"/>
                  </a:lnTo>
                  <a:lnTo>
                    <a:pt x="15204" y="2797875"/>
                  </a:lnTo>
                  <a:lnTo>
                    <a:pt x="6270529" y="2797875"/>
                  </a:lnTo>
                  <a:lnTo>
                    <a:pt x="6270529" y="2805950"/>
                  </a:lnTo>
                  <a:lnTo>
                    <a:pt x="6255325" y="2805950"/>
                  </a:lnTo>
                  <a:lnTo>
                    <a:pt x="6255325" y="8075"/>
                  </a:lnTo>
                  <a:lnTo>
                    <a:pt x="6270529" y="8075"/>
                  </a:lnTo>
                  <a:lnTo>
                    <a:pt x="6270529" y="16212"/>
                  </a:lnTo>
                  <a:lnTo>
                    <a:pt x="15204" y="16212"/>
                  </a:lnTo>
                  <a:close/>
                </a:path>
              </a:pathLst>
            </a:custGeom>
            <a:solidFill>
              <a:srgbClr val="0891B2"/>
            </a:solidFill>
          </p:spPr>
        </p:sp>
      </p:grpSp>
      <p:grpSp>
        <p:nvGrpSpPr>
          <p:cNvPr name="Group 75" id="75"/>
          <p:cNvGrpSpPr/>
          <p:nvPr/>
        </p:nvGrpSpPr>
        <p:grpSpPr>
          <a:xfrm rot="0">
            <a:off x="4934208" y="3787776"/>
            <a:ext cx="4021489" cy="673099"/>
            <a:chOff x="0" y="0"/>
            <a:chExt cx="6285813" cy="1052091"/>
          </a:xfrm>
        </p:grpSpPr>
        <p:sp>
          <p:nvSpPr>
            <p:cNvPr name="Freeform 76" id="76"/>
            <p:cNvSpPr/>
            <p:nvPr/>
          </p:nvSpPr>
          <p:spPr>
            <a:xfrm flipH="false" flipV="false" rot="0">
              <a:off x="15204" y="16057"/>
              <a:ext cx="6255325" cy="1019894"/>
            </a:xfrm>
            <a:custGeom>
              <a:avLst/>
              <a:gdLst/>
              <a:ahLst/>
              <a:cxnLst/>
              <a:rect r="r" b="b" t="t" l="l"/>
              <a:pathLst>
                <a:path h="1019894" w="6255325">
                  <a:moveTo>
                    <a:pt x="0" y="0"/>
                  </a:moveTo>
                  <a:lnTo>
                    <a:pt x="6255325" y="0"/>
                  </a:lnTo>
                  <a:lnTo>
                    <a:pt x="6255325" y="1019893"/>
                  </a:lnTo>
                  <a:lnTo>
                    <a:pt x="0" y="1019893"/>
                  </a:lnTo>
                  <a:close/>
                </a:path>
              </a:pathLst>
            </a:custGeom>
            <a:solidFill>
              <a:srgbClr val="0891B2"/>
            </a:solidFill>
          </p:spPr>
        </p:sp>
        <p:sp>
          <p:nvSpPr>
            <p:cNvPr name="Freeform 77" id="77"/>
            <p:cNvSpPr/>
            <p:nvPr/>
          </p:nvSpPr>
          <p:spPr>
            <a:xfrm flipH="false" flipV="false" rot="0">
              <a:off x="0" y="0"/>
              <a:ext cx="6285733" cy="1052008"/>
            </a:xfrm>
            <a:custGeom>
              <a:avLst/>
              <a:gdLst/>
              <a:ahLst/>
              <a:cxnLst/>
              <a:rect r="r" b="b" t="t" l="l"/>
              <a:pathLst>
                <a:path h="1052008" w="6285733">
                  <a:moveTo>
                    <a:pt x="15204" y="0"/>
                  </a:moveTo>
                  <a:lnTo>
                    <a:pt x="6270529" y="0"/>
                  </a:lnTo>
                  <a:cubicBezTo>
                    <a:pt x="6278988" y="0"/>
                    <a:pt x="6285733" y="7244"/>
                    <a:pt x="6285733" y="16057"/>
                  </a:cubicBezTo>
                  <a:lnTo>
                    <a:pt x="6285733" y="1035950"/>
                  </a:lnTo>
                  <a:cubicBezTo>
                    <a:pt x="6285733" y="1044884"/>
                    <a:pt x="6278874" y="1052007"/>
                    <a:pt x="6270529" y="1052007"/>
                  </a:cubicBezTo>
                  <a:lnTo>
                    <a:pt x="15204" y="1052007"/>
                  </a:lnTo>
                  <a:cubicBezTo>
                    <a:pt x="6859" y="1052129"/>
                    <a:pt x="0" y="1044884"/>
                    <a:pt x="0" y="1035950"/>
                  </a:cubicBezTo>
                  <a:lnTo>
                    <a:pt x="0" y="16057"/>
                  </a:lnTo>
                  <a:cubicBezTo>
                    <a:pt x="0" y="7244"/>
                    <a:pt x="6859" y="0"/>
                    <a:pt x="15204" y="0"/>
                  </a:cubicBezTo>
                  <a:moveTo>
                    <a:pt x="15204" y="32234"/>
                  </a:moveTo>
                  <a:lnTo>
                    <a:pt x="15204" y="16057"/>
                  </a:lnTo>
                  <a:lnTo>
                    <a:pt x="30522" y="16057"/>
                  </a:lnTo>
                  <a:lnTo>
                    <a:pt x="30522" y="1035950"/>
                  </a:lnTo>
                  <a:lnTo>
                    <a:pt x="15204" y="1035950"/>
                  </a:lnTo>
                  <a:lnTo>
                    <a:pt x="15204" y="1019894"/>
                  </a:lnTo>
                  <a:lnTo>
                    <a:pt x="6270529" y="1019894"/>
                  </a:lnTo>
                  <a:lnTo>
                    <a:pt x="6270529" y="1035950"/>
                  </a:lnTo>
                  <a:lnTo>
                    <a:pt x="6255325" y="1035950"/>
                  </a:lnTo>
                  <a:lnTo>
                    <a:pt x="6255325" y="16057"/>
                  </a:lnTo>
                  <a:lnTo>
                    <a:pt x="6270529" y="16057"/>
                  </a:lnTo>
                  <a:lnTo>
                    <a:pt x="6270529" y="32234"/>
                  </a:lnTo>
                  <a:lnTo>
                    <a:pt x="15204" y="32234"/>
                  </a:lnTo>
                  <a:close/>
                </a:path>
              </a:pathLst>
            </a:custGeom>
            <a:solidFill>
              <a:srgbClr val="0891B2"/>
            </a:solidFill>
          </p:spPr>
        </p:sp>
      </p:grpSp>
      <p:grpSp>
        <p:nvGrpSpPr>
          <p:cNvPr name="Group 78" id="78"/>
          <p:cNvGrpSpPr/>
          <p:nvPr/>
        </p:nvGrpSpPr>
        <p:grpSpPr>
          <a:xfrm rot="0">
            <a:off x="4943957" y="3798072"/>
            <a:ext cx="4001984" cy="652500"/>
            <a:chOff x="0" y="0"/>
            <a:chExt cx="6255325" cy="1019894"/>
          </a:xfrm>
        </p:grpSpPr>
        <p:sp>
          <p:nvSpPr>
            <p:cNvPr name="Freeform 79" id="79"/>
            <p:cNvSpPr/>
            <p:nvPr/>
          </p:nvSpPr>
          <p:spPr>
            <a:xfrm flipH="false" flipV="false" rot="0">
              <a:off x="0" y="0"/>
              <a:ext cx="6255325" cy="1019894"/>
            </a:xfrm>
            <a:custGeom>
              <a:avLst/>
              <a:gdLst/>
              <a:ahLst/>
              <a:cxnLst/>
              <a:rect r="r" b="b" t="t" l="l"/>
              <a:pathLst>
                <a:path h="1019894" w="6255325">
                  <a:moveTo>
                    <a:pt x="0" y="0"/>
                  </a:moveTo>
                  <a:lnTo>
                    <a:pt x="6255325" y="0"/>
                  </a:lnTo>
                  <a:lnTo>
                    <a:pt x="6255325" y="1019894"/>
                  </a:lnTo>
                  <a:lnTo>
                    <a:pt x="0" y="1019894"/>
                  </a:lnTo>
                  <a:close/>
                </a:path>
              </a:pathLst>
            </a:custGeom>
            <a:blipFill>
              <a:blip r:embed="rId2">
                <a:alphaModFix amt="0"/>
              </a:blip>
              <a:stretch>
                <a:fillRect l="0" t="-80170" r="-11096" b="-85367"/>
              </a:stretch>
            </a:blipFill>
          </p:spPr>
        </p:sp>
        <p:sp>
          <p:nvSpPr>
            <p:cNvPr name="TextBox 80" id="80"/>
            <p:cNvSpPr txBox="true"/>
            <p:nvPr/>
          </p:nvSpPr>
          <p:spPr>
            <a:xfrm>
              <a:off x="0" y="-38100"/>
              <a:ext cx="6255325" cy="1057994"/>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dcat:downloadURL</a:t>
              </a:r>
            </a:p>
          </p:txBody>
        </p:sp>
      </p:grpSp>
      <p:grpSp>
        <p:nvGrpSpPr>
          <p:cNvPr name="Group 81" id="81"/>
          <p:cNvGrpSpPr/>
          <p:nvPr/>
        </p:nvGrpSpPr>
        <p:grpSpPr>
          <a:xfrm rot="0">
            <a:off x="4934208" y="4458469"/>
            <a:ext cx="4011733" cy="613048"/>
            <a:chOff x="0" y="0"/>
            <a:chExt cx="6270563" cy="958228"/>
          </a:xfrm>
        </p:grpSpPr>
        <p:sp>
          <p:nvSpPr>
            <p:cNvPr name="Freeform 82" id="82"/>
            <p:cNvSpPr/>
            <p:nvPr/>
          </p:nvSpPr>
          <p:spPr>
            <a:xfrm flipH="false" flipV="false" rot="0">
              <a:off x="0" y="0"/>
              <a:ext cx="6270563" cy="958228"/>
            </a:xfrm>
            <a:custGeom>
              <a:avLst/>
              <a:gdLst/>
              <a:ahLst/>
              <a:cxnLst/>
              <a:rect r="r" b="b" t="t" l="l"/>
              <a:pathLst>
                <a:path h="958228" w="6270563">
                  <a:moveTo>
                    <a:pt x="0" y="0"/>
                  </a:moveTo>
                  <a:lnTo>
                    <a:pt x="6270563" y="0"/>
                  </a:lnTo>
                  <a:lnTo>
                    <a:pt x="6270563" y="958228"/>
                  </a:lnTo>
                  <a:lnTo>
                    <a:pt x="0" y="958228"/>
                  </a:lnTo>
                  <a:close/>
                </a:path>
              </a:pathLst>
            </a:custGeom>
            <a:blipFill>
              <a:blip r:embed="rId2">
                <a:alphaModFix amt="0"/>
              </a:blip>
              <a:stretch>
                <a:fillRect l="0" t="-70323" r="-3049" b="-92469"/>
              </a:stretch>
            </a:blipFill>
          </p:spPr>
        </p:sp>
        <p:sp>
          <p:nvSpPr>
            <p:cNvPr name="TextBox 83" id="83"/>
            <p:cNvSpPr txBox="true"/>
            <p:nvPr/>
          </p:nvSpPr>
          <p:spPr>
            <a:xfrm>
              <a:off x="0" y="-47625"/>
              <a:ext cx="6270563" cy="1005853"/>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UR</a:t>
              </a:r>
              <a:r>
                <a:rPr lang="en-US" sz="2200" b="true">
                  <a:solidFill>
                    <a:srgbClr val="0891B2"/>
                  </a:solidFill>
                  <a:latin typeface="Calibri (MS) Bold"/>
                  <a:ea typeface="Calibri (MS) Bold"/>
                  <a:cs typeface="Calibri (MS) Bold"/>
                  <a:sym typeface="Calibri (MS) Bold"/>
                </a:rPr>
                <a:t>L directe pour télécharger</a:t>
              </a:r>
            </a:p>
          </p:txBody>
        </p:sp>
      </p:grpSp>
      <p:grpSp>
        <p:nvGrpSpPr>
          <p:cNvPr name="Group 84" id="84"/>
          <p:cNvGrpSpPr/>
          <p:nvPr/>
        </p:nvGrpSpPr>
        <p:grpSpPr>
          <a:xfrm rot="0">
            <a:off x="4934208" y="5779470"/>
            <a:ext cx="4021489" cy="1810952"/>
            <a:chOff x="0" y="0"/>
            <a:chExt cx="6285813" cy="2830620"/>
          </a:xfrm>
        </p:grpSpPr>
        <p:sp>
          <p:nvSpPr>
            <p:cNvPr name="Freeform 85" id="85"/>
            <p:cNvSpPr/>
            <p:nvPr/>
          </p:nvSpPr>
          <p:spPr>
            <a:xfrm flipH="false" flipV="false" rot="0">
              <a:off x="15204" y="8123"/>
              <a:ext cx="6255325" cy="2814331"/>
            </a:xfrm>
            <a:custGeom>
              <a:avLst/>
              <a:gdLst/>
              <a:ahLst/>
              <a:cxnLst/>
              <a:rect r="r" b="b" t="t" l="l"/>
              <a:pathLst>
                <a:path h="2814331" w="6255325">
                  <a:moveTo>
                    <a:pt x="0" y="0"/>
                  </a:moveTo>
                  <a:lnTo>
                    <a:pt x="6255325" y="0"/>
                  </a:lnTo>
                  <a:lnTo>
                    <a:pt x="6255325" y="2814331"/>
                  </a:lnTo>
                  <a:lnTo>
                    <a:pt x="0" y="2814331"/>
                  </a:lnTo>
                  <a:close/>
                </a:path>
              </a:pathLst>
            </a:custGeom>
            <a:solidFill>
              <a:srgbClr val="E0F2FE"/>
            </a:solidFill>
          </p:spPr>
        </p:sp>
        <p:sp>
          <p:nvSpPr>
            <p:cNvPr name="Freeform 86" id="86"/>
            <p:cNvSpPr/>
            <p:nvPr/>
          </p:nvSpPr>
          <p:spPr>
            <a:xfrm flipH="false" flipV="false" rot="0">
              <a:off x="0" y="0"/>
              <a:ext cx="6285733" cy="2830577"/>
            </a:xfrm>
            <a:custGeom>
              <a:avLst/>
              <a:gdLst/>
              <a:ahLst/>
              <a:cxnLst/>
              <a:rect r="r" b="b" t="t" l="l"/>
              <a:pathLst>
                <a:path h="2830577" w="6285733">
                  <a:moveTo>
                    <a:pt x="15204" y="0"/>
                  </a:moveTo>
                  <a:lnTo>
                    <a:pt x="6270529" y="0"/>
                  </a:lnTo>
                  <a:cubicBezTo>
                    <a:pt x="6278988" y="0"/>
                    <a:pt x="6285733" y="3664"/>
                    <a:pt x="6285733" y="8123"/>
                  </a:cubicBezTo>
                  <a:lnTo>
                    <a:pt x="6285733" y="2822454"/>
                  </a:lnTo>
                  <a:cubicBezTo>
                    <a:pt x="6285733" y="2826974"/>
                    <a:pt x="6278874" y="2830577"/>
                    <a:pt x="6270529" y="2830577"/>
                  </a:cubicBezTo>
                  <a:lnTo>
                    <a:pt x="15204" y="2830577"/>
                  </a:lnTo>
                  <a:cubicBezTo>
                    <a:pt x="6745" y="2830577"/>
                    <a:pt x="0" y="2826913"/>
                    <a:pt x="0" y="2822454"/>
                  </a:cubicBezTo>
                  <a:lnTo>
                    <a:pt x="0" y="8123"/>
                  </a:lnTo>
                  <a:cubicBezTo>
                    <a:pt x="0" y="3664"/>
                    <a:pt x="6859" y="0"/>
                    <a:pt x="15204" y="0"/>
                  </a:cubicBezTo>
                  <a:moveTo>
                    <a:pt x="15204" y="16307"/>
                  </a:moveTo>
                  <a:lnTo>
                    <a:pt x="15204" y="8123"/>
                  </a:lnTo>
                  <a:lnTo>
                    <a:pt x="30522" y="8123"/>
                  </a:lnTo>
                  <a:lnTo>
                    <a:pt x="30522" y="2822454"/>
                  </a:lnTo>
                  <a:lnTo>
                    <a:pt x="15204" y="2822454"/>
                  </a:lnTo>
                  <a:lnTo>
                    <a:pt x="15204" y="2814331"/>
                  </a:lnTo>
                  <a:lnTo>
                    <a:pt x="6270529" y="2814331"/>
                  </a:lnTo>
                  <a:lnTo>
                    <a:pt x="6270529" y="2822454"/>
                  </a:lnTo>
                  <a:lnTo>
                    <a:pt x="6255325" y="2822454"/>
                  </a:lnTo>
                  <a:lnTo>
                    <a:pt x="6255325" y="8123"/>
                  </a:lnTo>
                  <a:lnTo>
                    <a:pt x="6270529" y="8123"/>
                  </a:lnTo>
                  <a:lnTo>
                    <a:pt x="6270529" y="16307"/>
                  </a:lnTo>
                  <a:lnTo>
                    <a:pt x="15204" y="16307"/>
                  </a:lnTo>
                  <a:close/>
                </a:path>
              </a:pathLst>
            </a:custGeom>
            <a:solidFill>
              <a:srgbClr val="0891B2"/>
            </a:solidFill>
          </p:spPr>
        </p:sp>
      </p:grpSp>
      <p:grpSp>
        <p:nvGrpSpPr>
          <p:cNvPr name="Group 87" id="87"/>
          <p:cNvGrpSpPr/>
          <p:nvPr/>
        </p:nvGrpSpPr>
        <p:grpSpPr>
          <a:xfrm rot="0">
            <a:off x="4934208" y="5779470"/>
            <a:ext cx="4021489" cy="677058"/>
            <a:chOff x="0" y="0"/>
            <a:chExt cx="6285813" cy="1058279"/>
          </a:xfrm>
        </p:grpSpPr>
        <p:sp>
          <p:nvSpPr>
            <p:cNvPr name="Freeform 88" id="88"/>
            <p:cNvSpPr/>
            <p:nvPr/>
          </p:nvSpPr>
          <p:spPr>
            <a:xfrm flipH="false" flipV="false" rot="0">
              <a:off x="15204" y="16151"/>
              <a:ext cx="6255325" cy="1025892"/>
            </a:xfrm>
            <a:custGeom>
              <a:avLst/>
              <a:gdLst/>
              <a:ahLst/>
              <a:cxnLst/>
              <a:rect r="r" b="b" t="t" l="l"/>
              <a:pathLst>
                <a:path h="1025892" w="6255325">
                  <a:moveTo>
                    <a:pt x="0" y="0"/>
                  </a:moveTo>
                  <a:lnTo>
                    <a:pt x="6255325" y="0"/>
                  </a:lnTo>
                  <a:lnTo>
                    <a:pt x="6255325" y="1025892"/>
                  </a:lnTo>
                  <a:lnTo>
                    <a:pt x="0" y="1025892"/>
                  </a:lnTo>
                  <a:close/>
                </a:path>
              </a:pathLst>
            </a:custGeom>
            <a:solidFill>
              <a:srgbClr val="0891B2"/>
            </a:solidFill>
          </p:spPr>
        </p:sp>
        <p:sp>
          <p:nvSpPr>
            <p:cNvPr name="Freeform 89" id="89"/>
            <p:cNvSpPr/>
            <p:nvPr/>
          </p:nvSpPr>
          <p:spPr>
            <a:xfrm flipH="false" flipV="false" rot="0">
              <a:off x="0" y="0"/>
              <a:ext cx="6285733" cy="1058196"/>
            </a:xfrm>
            <a:custGeom>
              <a:avLst/>
              <a:gdLst/>
              <a:ahLst/>
              <a:cxnLst/>
              <a:rect r="r" b="b" t="t" l="l"/>
              <a:pathLst>
                <a:path h="1058196" w="6285733">
                  <a:moveTo>
                    <a:pt x="15204" y="0"/>
                  </a:moveTo>
                  <a:lnTo>
                    <a:pt x="6270529" y="0"/>
                  </a:lnTo>
                  <a:cubicBezTo>
                    <a:pt x="6278988" y="0"/>
                    <a:pt x="6285733" y="7286"/>
                    <a:pt x="6285733" y="16151"/>
                  </a:cubicBezTo>
                  <a:lnTo>
                    <a:pt x="6285733" y="1042043"/>
                  </a:lnTo>
                  <a:cubicBezTo>
                    <a:pt x="6285733" y="1051030"/>
                    <a:pt x="6278874" y="1058195"/>
                    <a:pt x="6270529" y="1058195"/>
                  </a:cubicBezTo>
                  <a:lnTo>
                    <a:pt x="15204" y="1058195"/>
                  </a:lnTo>
                  <a:cubicBezTo>
                    <a:pt x="6859" y="1058318"/>
                    <a:pt x="0" y="1051030"/>
                    <a:pt x="0" y="1042043"/>
                  </a:cubicBezTo>
                  <a:lnTo>
                    <a:pt x="0" y="16151"/>
                  </a:lnTo>
                  <a:cubicBezTo>
                    <a:pt x="0" y="7286"/>
                    <a:pt x="6859" y="0"/>
                    <a:pt x="15204" y="0"/>
                  </a:cubicBezTo>
                  <a:moveTo>
                    <a:pt x="15204" y="32423"/>
                  </a:moveTo>
                  <a:lnTo>
                    <a:pt x="15204" y="16151"/>
                  </a:lnTo>
                  <a:lnTo>
                    <a:pt x="30522" y="16151"/>
                  </a:lnTo>
                  <a:lnTo>
                    <a:pt x="30522" y="1042043"/>
                  </a:lnTo>
                  <a:lnTo>
                    <a:pt x="15204" y="1042043"/>
                  </a:lnTo>
                  <a:lnTo>
                    <a:pt x="15204" y="1025893"/>
                  </a:lnTo>
                  <a:lnTo>
                    <a:pt x="6270529" y="1025893"/>
                  </a:lnTo>
                  <a:lnTo>
                    <a:pt x="6270529" y="1042044"/>
                  </a:lnTo>
                  <a:lnTo>
                    <a:pt x="6255325" y="1042044"/>
                  </a:lnTo>
                  <a:lnTo>
                    <a:pt x="6255325" y="16151"/>
                  </a:lnTo>
                  <a:lnTo>
                    <a:pt x="6270529" y="16151"/>
                  </a:lnTo>
                  <a:lnTo>
                    <a:pt x="6270529" y="32423"/>
                  </a:lnTo>
                  <a:lnTo>
                    <a:pt x="15204" y="32423"/>
                  </a:lnTo>
                  <a:close/>
                </a:path>
              </a:pathLst>
            </a:custGeom>
            <a:solidFill>
              <a:srgbClr val="0891B2"/>
            </a:solidFill>
          </p:spPr>
        </p:sp>
      </p:grpSp>
      <p:grpSp>
        <p:nvGrpSpPr>
          <p:cNvPr name="Group 90" id="90"/>
          <p:cNvGrpSpPr/>
          <p:nvPr/>
        </p:nvGrpSpPr>
        <p:grpSpPr>
          <a:xfrm rot="0">
            <a:off x="4943957" y="5789826"/>
            <a:ext cx="4001984" cy="656338"/>
            <a:chOff x="0" y="0"/>
            <a:chExt cx="6255325" cy="1025892"/>
          </a:xfrm>
        </p:grpSpPr>
        <p:sp>
          <p:nvSpPr>
            <p:cNvPr name="Freeform 91" id="91"/>
            <p:cNvSpPr/>
            <p:nvPr/>
          </p:nvSpPr>
          <p:spPr>
            <a:xfrm flipH="false" flipV="false" rot="0">
              <a:off x="0" y="0"/>
              <a:ext cx="6255325" cy="1025893"/>
            </a:xfrm>
            <a:custGeom>
              <a:avLst/>
              <a:gdLst/>
              <a:ahLst/>
              <a:cxnLst/>
              <a:rect r="r" b="b" t="t" l="l"/>
              <a:pathLst>
                <a:path h="1025893" w="6255325">
                  <a:moveTo>
                    <a:pt x="0" y="0"/>
                  </a:moveTo>
                  <a:lnTo>
                    <a:pt x="6255325" y="0"/>
                  </a:lnTo>
                  <a:lnTo>
                    <a:pt x="6255325" y="1025893"/>
                  </a:lnTo>
                  <a:lnTo>
                    <a:pt x="0" y="1025893"/>
                  </a:lnTo>
                  <a:close/>
                </a:path>
              </a:pathLst>
            </a:custGeom>
            <a:blipFill>
              <a:blip r:embed="rId2">
                <a:alphaModFix amt="0"/>
              </a:blip>
              <a:stretch>
                <a:fillRect l="0" t="-79701" r="-11096" b="-84283"/>
              </a:stretch>
            </a:blipFill>
          </p:spPr>
        </p:sp>
        <p:sp>
          <p:nvSpPr>
            <p:cNvPr name="TextBox 92" id="92"/>
            <p:cNvSpPr txBox="true"/>
            <p:nvPr/>
          </p:nvSpPr>
          <p:spPr>
            <a:xfrm>
              <a:off x="0" y="-38100"/>
              <a:ext cx="6255325" cy="10639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dcat:servesDataset</a:t>
              </a:r>
            </a:p>
          </p:txBody>
        </p:sp>
      </p:grpSp>
      <p:grpSp>
        <p:nvGrpSpPr>
          <p:cNvPr name="Group 93" id="93"/>
          <p:cNvGrpSpPr/>
          <p:nvPr/>
        </p:nvGrpSpPr>
        <p:grpSpPr>
          <a:xfrm rot="0">
            <a:off x="4900087" y="6455689"/>
            <a:ext cx="4031238" cy="775208"/>
            <a:chOff x="0" y="0"/>
            <a:chExt cx="6301051" cy="1211694"/>
          </a:xfrm>
        </p:grpSpPr>
        <p:sp>
          <p:nvSpPr>
            <p:cNvPr name="Freeform 94" id="94"/>
            <p:cNvSpPr/>
            <p:nvPr/>
          </p:nvSpPr>
          <p:spPr>
            <a:xfrm flipH="false" flipV="false" rot="0">
              <a:off x="0" y="0"/>
              <a:ext cx="6301051" cy="1211694"/>
            </a:xfrm>
            <a:custGeom>
              <a:avLst/>
              <a:gdLst/>
              <a:ahLst/>
              <a:cxnLst/>
              <a:rect r="r" b="b" t="t" l="l"/>
              <a:pathLst>
                <a:path h="1211694" w="6301051">
                  <a:moveTo>
                    <a:pt x="0" y="0"/>
                  </a:moveTo>
                  <a:lnTo>
                    <a:pt x="6301051" y="0"/>
                  </a:lnTo>
                  <a:lnTo>
                    <a:pt x="6301051" y="1211694"/>
                  </a:lnTo>
                  <a:lnTo>
                    <a:pt x="0" y="1211694"/>
                  </a:lnTo>
                  <a:close/>
                </a:path>
              </a:pathLst>
            </a:custGeom>
            <a:blipFill>
              <a:blip r:embed="rId2">
                <a:alphaModFix amt="0"/>
              </a:blip>
              <a:stretch>
                <a:fillRect l="0" t="-55613" r="-2550" b="-52207"/>
              </a:stretch>
            </a:blipFill>
          </p:spPr>
        </p:sp>
        <p:sp>
          <p:nvSpPr>
            <p:cNvPr name="TextBox 95" id="95"/>
            <p:cNvSpPr txBox="true"/>
            <p:nvPr/>
          </p:nvSpPr>
          <p:spPr>
            <a:xfrm>
              <a:off x="0" y="-47625"/>
              <a:ext cx="6301051" cy="1259319"/>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In</a:t>
              </a:r>
              <a:r>
                <a:rPr lang="en-US" sz="2200" b="true">
                  <a:solidFill>
                    <a:srgbClr val="0891B2"/>
                  </a:solidFill>
                  <a:latin typeface="Calibri (MS) Bold"/>
                  <a:ea typeface="Calibri (MS) Bold"/>
                  <a:cs typeface="Calibri (MS) Bold"/>
                  <a:sym typeface="Calibri (MS) Bold"/>
                </a:rPr>
                <a:t>dique qu’un service fournit un dataset</a:t>
              </a:r>
            </a:p>
          </p:txBody>
        </p:sp>
      </p:grpSp>
      <p:grpSp>
        <p:nvGrpSpPr>
          <p:cNvPr name="Group 96" id="96"/>
          <p:cNvGrpSpPr/>
          <p:nvPr/>
        </p:nvGrpSpPr>
        <p:grpSpPr>
          <a:xfrm rot="0">
            <a:off x="4943957" y="7791193"/>
            <a:ext cx="4021489" cy="1795910"/>
            <a:chOff x="0" y="0"/>
            <a:chExt cx="6285813" cy="2807108"/>
          </a:xfrm>
        </p:grpSpPr>
        <p:sp>
          <p:nvSpPr>
            <p:cNvPr name="Freeform 97" id="97"/>
            <p:cNvSpPr/>
            <p:nvPr/>
          </p:nvSpPr>
          <p:spPr>
            <a:xfrm flipH="false" flipV="false" rot="0">
              <a:off x="15204" y="8055"/>
              <a:ext cx="6255325" cy="2790955"/>
            </a:xfrm>
            <a:custGeom>
              <a:avLst/>
              <a:gdLst/>
              <a:ahLst/>
              <a:cxnLst/>
              <a:rect r="r" b="b" t="t" l="l"/>
              <a:pathLst>
                <a:path h="2790955" w="6255325">
                  <a:moveTo>
                    <a:pt x="0" y="0"/>
                  </a:moveTo>
                  <a:lnTo>
                    <a:pt x="6255325" y="0"/>
                  </a:lnTo>
                  <a:lnTo>
                    <a:pt x="6255325" y="2790955"/>
                  </a:lnTo>
                  <a:lnTo>
                    <a:pt x="0" y="2790955"/>
                  </a:lnTo>
                  <a:close/>
                </a:path>
              </a:pathLst>
            </a:custGeom>
            <a:solidFill>
              <a:srgbClr val="E0F2FE"/>
            </a:solidFill>
          </p:spPr>
        </p:sp>
        <p:sp>
          <p:nvSpPr>
            <p:cNvPr name="Freeform 98" id="98"/>
            <p:cNvSpPr/>
            <p:nvPr/>
          </p:nvSpPr>
          <p:spPr>
            <a:xfrm flipH="false" flipV="false" rot="0">
              <a:off x="0" y="0"/>
              <a:ext cx="6285733" cy="2807066"/>
            </a:xfrm>
            <a:custGeom>
              <a:avLst/>
              <a:gdLst/>
              <a:ahLst/>
              <a:cxnLst/>
              <a:rect r="r" b="b" t="t" l="l"/>
              <a:pathLst>
                <a:path h="2807066" w="6285733">
                  <a:moveTo>
                    <a:pt x="15204" y="0"/>
                  </a:moveTo>
                  <a:lnTo>
                    <a:pt x="6270529" y="0"/>
                  </a:lnTo>
                  <a:cubicBezTo>
                    <a:pt x="6278988" y="0"/>
                    <a:pt x="6285733" y="3634"/>
                    <a:pt x="6285733" y="8055"/>
                  </a:cubicBezTo>
                  <a:lnTo>
                    <a:pt x="6285733" y="2799010"/>
                  </a:lnTo>
                  <a:cubicBezTo>
                    <a:pt x="6285733" y="2803492"/>
                    <a:pt x="6278874" y="2807066"/>
                    <a:pt x="6270529" y="2807066"/>
                  </a:cubicBezTo>
                  <a:lnTo>
                    <a:pt x="15204" y="2807066"/>
                  </a:lnTo>
                  <a:cubicBezTo>
                    <a:pt x="6745" y="2807066"/>
                    <a:pt x="0" y="2803432"/>
                    <a:pt x="0" y="2799010"/>
                  </a:cubicBezTo>
                  <a:lnTo>
                    <a:pt x="0" y="8055"/>
                  </a:lnTo>
                  <a:cubicBezTo>
                    <a:pt x="0" y="3634"/>
                    <a:pt x="6859" y="0"/>
                    <a:pt x="15204" y="0"/>
                  </a:cubicBezTo>
                  <a:moveTo>
                    <a:pt x="15204" y="16172"/>
                  </a:moveTo>
                  <a:lnTo>
                    <a:pt x="15204" y="8055"/>
                  </a:lnTo>
                  <a:lnTo>
                    <a:pt x="30522" y="8055"/>
                  </a:lnTo>
                  <a:lnTo>
                    <a:pt x="30522" y="2799010"/>
                  </a:lnTo>
                  <a:lnTo>
                    <a:pt x="15204" y="2799010"/>
                  </a:lnTo>
                  <a:lnTo>
                    <a:pt x="15204" y="2790955"/>
                  </a:lnTo>
                  <a:lnTo>
                    <a:pt x="6270529" y="2790955"/>
                  </a:lnTo>
                  <a:lnTo>
                    <a:pt x="6270529" y="2799010"/>
                  </a:lnTo>
                  <a:lnTo>
                    <a:pt x="6255325" y="2799010"/>
                  </a:lnTo>
                  <a:lnTo>
                    <a:pt x="6255325" y="8055"/>
                  </a:lnTo>
                  <a:lnTo>
                    <a:pt x="6270529" y="8055"/>
                  </a:lnTo>
                  <a:lnTo>
                    <a:pt x="6270529" y="16172"/>
                  </a:lnTo>
                  <a:lnTo>
                    <a:pt x="15204" y="16172"/>
                  </a:lnTo>
                  <a:close/>
                </a:path>
              </a:pathLst>
            </a:custGeom>
            <a:solidFill>
              <a:srgbClr val="0891B2"/>
            </a:solidFill>
          </p:spPr>
        </p:sp>
      </p:grpSp>
      <p:grpSp>
        <p:nvGrpSpPr>
          <p:cNvPr name="Group 99" id="99"/>
          <p:cNvGrpSpPr/>
          <p:nvPr/>
        </p:nvGrpSpPr>
        <p:grpSpPr>
          <a:xfrm rot="0">
            <a:off x="4943957" y="7791193"/>
            <a:ext cx="4021489" cy="671434"/>
            <a:chOff x="0" y="0"/>
            <a:chExt cx="6285813" cy="1049489"/>
          </a:xfrm>
        </p:grpSpPr>
        <p:sp>
          <p:nvSpPr>
            <p:cNvPr name="Freeform 100" id="100"/>
            <p:cNvSpPr/>
            <p:nvPr/>
          </p:nvSpPr>
          <p:spPr>
            <a:xfrm flipH="false" flipV="false" rot="0">
              <a:off x="15204" y="16017"/>
              <a:ext cx="6255325" cy="1017371"/>
            </a:xfrm>
            <a:custGeom>
              <a:avLst/>
              <a:gdLst/>
              <a:ahLst/>
              <a:cxnLst/>
              <a:rect r="r" b="b" t="t" l="l"/>
              <a:pathLst>
                <a:path h="1017371" w="6255325">
                  <a:moveTo>
                    <a:pt x="0" y="0"/>
                  </a:moveTo>
                  <a:lnTo>
                    <a:pt x="6255325" y="0"/>
                  </a:lnTo>
                  <a:lnTo>
                    <a:pt x="6255325" y="1017371"/>
                  </a:lnTo>
                  <a:lnTo>
                    <a:pt x="0" y="1017371"/>
                  </a:lnTo>
                  <a:close/>
                </a:path>
              </a:pathLst>
            </a:custGeom>
            <a:solidFill>
              <a:srgbClr val="0891B2"/>
            </a:solidFill>
          </p:spPr>
        </p:sp>
        <p:sp>
          <p:nvSpPr>
            <p:cNvPr name="Freeform 101" id="101"/>
            <p:cNvSpPr/>
            <p:nvPr/>
          </p:nvSpPr>
          <p:spPr>
            <a:xfrm flipH="false" flipV="false" rot="0">
              <a:off x="0" y="0"/>
              <a:ext cx="6285733" cy="1049406"/>
            </a:xfrm>
            <a:custGeom>
              <a:avLst/>
              <a:gdLst/>
              <a:ahLst/>
              <a:cxnLst/>
              <a:rect r="r" b="b" t="t" l="l"/>
              <a:pathLst>
                <a:path h="1049406" w="6285733">
                  <a:moveTo>
                    <a:pt x="15204" y="0"/>
                  </a:moveTo>
                  <a:lnTo>
                    <a:pt x="6270529" y="0"/>
                  </a:lnTo>
                  <a:cubicBezTo>
                    <a:pt x="6278988" y="0"/>
                    <a:pt x="6285733" y="7226"/>
                    <a:pt x="6285733" y="16017"/>
                  </a:cubicBezTo>
                  <a:lnTo>
                    <a:pt x="6285733" y="1033388"/>
                  </a:lnTo>
                  <a:cubicBezTo>
                    <a:pt x="6285733" y="1042300"/>
                    <a:pt x="6278874" y="1049405"/>
                    <a:pt x="6270529" y="1049405"/>
                  </a:cubicBezTo>
                  <a:lnTo>
                    <a:pt x="15204" y="1049405"/>
                  </a:lnTo>
                  <a:cubicBezTo>
                    <a:pt x="6859" y="1049527"/>
                    <a:pt x="0" y="1042300"/>
                    <a:pt x="0" y="1033388"/>
                  </a:cubicBezTo>
                  <a:lnTo>
                    <a:pt x="0" y="16017"/>
                  </a:lnTo>
                  <a:cubicBezTo>
                    <a:pt x="0" y="7226"/>
                    <a:pt x="6859" y="0"/>
                    <a:pt x="15204" y="0"/>
                  </a:cubicBezTo>
                  <a:moveTo>
                    <a:pt x="15204" y="32154"/>
                  </a:moveTo>
                  <a:lnTo>
                    <a:pt x="15204" y="16017"/>
                  </a:lnTo>
                  <a:lnTo>
                    <a:pt x="30522" y="16017"/>
                  </a:lnTo>
                  <a:lnTo>
                    <a:pt x="30522" y="1033388"/>
                  </a:lnTo>
                  <a:lnTo>
                    <a:pt x="15204" y="1033388"/>
                  </a:lnTo>
                  <a:lnTo>
                    <a:pt x="15204" y="1017371"/>
                  </a:lnTo>
                  <a:lnTo>
                    <a:pt x="6270529" y="1017371"/>
                  </a:lnTo>
                  <a:lnTo>
                    <a:pt x="6270529" y="1033388"/>
                  </a:lnTo>
                  <a:lnTo>
                    <a:pt x="6255325" y="1033388"/>
                  </a:lnTo>
                  <a:lnTo>
                    <a:pt x="6255325" y="16017"/>
                  </a:lnTo>
                  <a:lnTo>
                    <a:pt x="6270529" y="16017"/>
                  </a:lnTo>
                  <a:lnTo>
                    <a:pt x="6270529" y="32154"/>
                  </a:lnTo>
                  <a:lnTo>
                    <a:pt x="15204" y="32154"/>
                  </a:lnTo>
                  <a:close/>
                </a:path>
              </a:pathLst>
            </a:custGeom>
            <a:solidFill>
              <a:srgbClr val="0891B2"/>
            </a:solidFill>
          </p:spPr>
        </p:sp>
      </p:grpSp>
      <p:grpSp>
        <p:nvGrpSpPr>
          <p:cNvPr name="Group 102" id="102"/>
          <p:cNvGrpSpPr/>
          <p:nvPr/>
        </p:nvGrpSpPr>
        <p:grpSpPr>
          <a:xfrm rot="0">
            <a:off x="4953706" y="7801463"/>
            <a:ext cx="4001984" cy="650886"/>
            <a:chOff x="0" y="0"/>
            <a:chExt cx="6255325" cy="1017371"/>
          </a:xfrm>
        </p:grpSpPr>
        <p:sp>
          <p:nvSpPr>
            <p:cNvPr name="Freeform 103" id="103"/>
            <p:cNvSpPr/>
            <p:nvPr/>
          </p:nvSpPr>
          <p:spPr>
            <a:xfrm flipH="false" flipV="false" rot="0">
              <a:off x="0" y="0"/>
              <a:ext cx="6255325" cy="1017371"/>
            </a:xfrm>
            <a:custGeom>
              <a:avLst/>
              <a:gdLst/>
              <a:ahLst/>
              <a:cxnLst/>
              <a:rect r="r" b="b" t="t" l="l"/>
              <a:pathLst>
                <a:path h="1017371" w="6255325">
                  <a:moveTo>
                    <a:pt x="0" y="0"/>
                  </a:moveTo>
                  <a:lnTo>
                    <a:pt x="6255325" y="0"/>
                  </a:lnTo>
                  <a:lnTo>
                    <a:pt x="6255325" y="1017371"/>
                  </a:lnTo>
                  <a:lnTo>
                    <a:pt x="0" y="1017371"/>
                  </a:lnTo>
                  <a:close/>
                </a:path>
              </a:pathLst>
            </a:custGeom>
            <a:blipFill>
              <a:blip r:embed="rId2">
                <a:alphaModFix amt="0"/>
              </a:blip>
              <a:stretch>
                <a:fillRect l="0" t="-80369" r="-11096" b="-85826"/>
              </a:stretch>
            </a:blipFill>
          </p:spPr>
        </p:sp>
        <p:sp>
          <p:nvSpPr>
            <p:cNvPr name="TextBox 104" id="104"/>
            <p:cNvSpPr txBox="true"/>
            <p:nvPr/>
          </p:nvSpPr>
          <p:spPr>
            <a:xfrm>
              <a:off x="0" y="-38100"/>
              <a:ext cx="6255325" cy="1055471"/>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dcat:service</a:t>
              </a:r>
            </a:p>
          </p:txBody>
        </p:sp>
      </p:grpSp>
      <p:grpSp>
        <p:nvGrpSpPr>
          <p:cNvPr name="Group 105" id="105"/>
          <p:cNvGrpSpPr/>
          <p:nvPr/>
        </p:nvGrpSpPr>
        <p:grpSpPr>
          <a:xfrm rot="0">
            <a:off x="4953706" y="8437316"/>
            <a:ext cx="4001984" cy="657617"/>
            <a:chOff x="0" y="0"/>
            <a:chExt cx="6255325" cy="1027893"/>
          </a:xfrm>
        </p:grpSpPr>
        <p:sp>
          <p:nvSpPr>
            <p:cNvPr name="Freeform 106" id="106"/>
            <p:cNvSpPr/>
            <p:nvPr/>
          </p:nvSpPr>
          <p:spPr>
            <a:xfrm flipH="false" flipV="false" rot="0">
              <a:off x="0" y="0"/>
              <a:ext cx="6255325" cy="1027893"/>
            </a:xfrm>
            <a:custGeom>
              <a:avLst/>
              <a:gdLst/>
              <a:ahLst/>
              <a:cxnLst/>
              <a:rect r="r" b="b" t="t" l="l"/>
              <a:pathLst>
                <a:path h="1027893" w="6255325">
                  <a:moveTo>
                    <a:pt x="0" y="0"/>
                  </a:moveTo>
                  <a:lnTo>
                    <a:pt x="6255325" y="0"/>
                  </a:lnTo>
                  <a:lnTo>
                    <a:pt x="6255325" y="1027893"/>
                  </a:lnTo>
                  <a:lnTo>
                    <a:pt x="0" y="1027893"/>
                  </a:lnTo>
                  <a:close/>
                </a:path>
              </a:pathLst>
            </a:custGeom>
            <a:blipFill>
              <a:blip r:embed="rId2">
                <a:alphaModFix amt="0"/>
              </a:blip>
              <a:stretch>
                <a:fillRect l="0" t="-65557" r="-3300" b="-79424"/>
              </a:stretch>
            </a:blipFill>
          </p:spPr>
        </p:sp>
        <p:sp>
          <p:nvSpPr>
            <p:cNvPr name="TextBox 107" id="107"/>
            <p:cNvSpPr txBox="true"/>
            <p:nvPr/>
          </p:nvSpPr>
          <p:spPr>
            <a:xfrm>
              <a:off x="0" y="-47625"/>
              <a:ext cx="6255325" cy="1075518"/>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L</a:t>
              </a:r>
              <a:r>
                <a:rPr lang="en-US" sz="2200" b="true">
                  <a:solidFill>
                    <a:srgbClr val="0891B2"/>
                  </a:solidFill>
                  <a:latin typeface="Calibri (MS) Bold"/>
                  <a:ea typeface="Calibri (MS) Bold"/>
                  <a:cs typeface="Calibri (MS) Bold"/>
                  <a:sym typeface="Calibri (MS) Bold"/>
                </a:rPr>
                <a:t>ie une distribution à un service</a:t>
              </a:r>
            </a:p>
          </p:txBody>
        </p:sp>
      </p:grpSp>
      <p:grpSp>
        <p:nvGrpSpPr>
          <p:cNvPr name="Group 108" id="108"/>
          <p:cNvGrpSpPr/>
          <p:nvPr/>
        </p:nvGrpSpPr>
        <p:grpSpPr>
          <a:xfrm rot="0">
            <a:off x="526873" y="5071517"/>
            <a:ext cx="4007752" cy="488047"/>
            <a:chOff x="0" y="0"/>
            <a:chExt cx="5259224" cy="640446"/>
          </a:xfrm>
        </p:grpSpPr>
        <p:sp>
          <p:nvSpPr>
            <p:cNvPr name="Freeform 109" id="109"/>
            <p:cNvSpPr/>
            <p:nvPr/>
          </p:nvSpPr>
          <p:spPr>
            <a:xfrm flipH="false" flipV="false" rot="0">
              <a:off x="0" y="0"/>
              <a:ext cx="5259224" cy="640446"/>
            </a:xfrm>
            <a:custGeom>
              <a:avLst/>
              <a:gdLst/>
              <a:ahLst/>
              <a:cxnLst/>
              <a:rect r="r" b="b" t="t" l="l"/>
              <a:pathLst>
                <a:path h="640446" w="5259224">
                  <a:moveTo>
                    <a:pt x="0" y="0"/>
                  </a:moveTo>
                  <a:lnTo>
                    <a:pt x="5259224" y="0"/>
                  </a:lnTo>
                  <a:lnTo>
                    <a:pt x="5259224" y="640446"/>
                  </a:lnTo>
                  <a:lnTo>
                    <a:pt x="0" y="640446"/>
                  </a:lnTo>
                  <a:close/>
                </a:path>
              </a:pathLst>
            </a:custGeom>
            <a:blipFill>
              <a:blip r:embed="rId2">
                <a:alphaModFix amt="0"/>
              </a:blip>
              <a:stretch>
                <a:fillRect l="0" t="-53818" r="-22865" b="-239369"/>
              </a:stretch>
            </a:blipFill>
          </p:spPr>
        </p:sp>
        <p:sp>
          <p:nvSpPr>
            <p:cNvPr name="TextBox 110" id="110"/>
            <p:cNvSpPr txBox="true"/>
            <p:nvPr/>
          </p:nvSpPr>
          <p:spPr>
            <a:xfrm>
              <a:off x="0" y="-38100"/>
              <a:ext cx="5259224" cy="678546"/>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Air Quality dataset</a:t>
              </a:r>
            </a:p>
          </p:txBody>
        </p:sp>
      </p:grpSp>
      <p:grpSp>
        <p:nvGrpSpPr>
          <p:cNvPr name="Group 111" id="111"/>
          <p:cNvGrpSpPr/>
          <p:nvPr/>
        </p:nvGrpSpPr>
        <p:grpSpPr>
          <a:xfrm rot="0">
            <a:off x="4953706" y="5100092"/>
            <a:ext cx="4007752" cy="488047"/>
            <a:chOff x="0" y="0"/>
            <a:chExt cx="5259224" cy="640446"/>
          </a:xfrm>
        </p:grpSpPr>
        <p:sp>
          <p:nvSpPr>
            <p:cNvPr name="Freeform 112" id="112"/>
            <p:cNvSpPr/>
            <p:nvPr/>
          </p:nvSpPr>
          <p:spPr>
            <a:xfrm flipH="false" flipV="false" rot="0">
              <a:off x="0" y="0"/>
              <a:ext cx="5259224" cy="640446"/>
            </a:xfrm>
            <a:custGeom>
              <a:avLst/>
              <a:gdLst/>
              <a:ahLst/>
              <a:cxnLst/>
              <a:rect r="r" b="b" t="t" l="l"/>
              <a:pathLst>
                <a:path h="640446" w="5259224">
                  <a:moveTo>
                    <a:pt x="0" y="0"/>
                  </a:moveTo>
                  <a:lnTo>
                    <a:pt x="5259224" y="0"/>
                  </a:lnTo>
                  <a:lnTo>
                    <a:pt x="5259224" y="640446"/>
                  </a:lnTo>
                  <a:lnTo>
                    <a:pt x="0" y="640446"/>
                  </a:lnTo>
                  <a:close/>
                </a:path>
              </a:pathLst>
            </a:custGeom>
            <a:blipFill>
              <a:blip r:embed="rId2">
                <a:alphaModFix amt="0"/>
              </a:blip>
              <a:stretch>
                <a:fillRect l="0" t="-53818" r="-22865" b="-239369"/>
              </a:stretch>
            </a:blipFill>
          </p:spPr>
        </p:sp>
        <p:sp>
          <p:nvSpPr>
            <p:cNvPr name="TextBox 113" id="113"/>
            <p:cNvSpPr txBox="true"/>
            <p:nvPr/>
          </p:nvSpPr>
          <p:spPr>
            <a:xfrm>
              <a:off x="0" y="-38100"/>
              <a:ext cx="5259224" cy="678546"/>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https://discomap.eea.euro...</a:t>
              </a:r>
            </a:p>
          </p:txBody>
        </p:sp>
      </p:grpSp>
      <p:grpSp>
        <p:nvGrpSpPr>
          <p:cNvPr name="Group 114" id="114"/>
          <p:cNvGrpSpPr/>
          <p:nvPr/>
        </p:nvGrpSpPr>
        <p:grpSpPr>
          <a:xfrm rot="0">
            <a:off x="526873" y="7102375"/>
            <a:ext cx="4007752" cy="488047"/>
            <a:chOff x="0" y="0"/>
            <a:chExt cx="5259224" cy="640446"/>
          </a:xfrm>
        </p:grpSpPr>
        <p:sp>
          <p:nvSpPr>
            <p:cNvPr name="Freeform 115" id="115"/>
            <p:cNvSpPr/>
            <p:nvPr/>
          </p:nvSpPr>
          <p:spPr>
            <a:xfrm flipH="false" flipV="false" rot="0">
              <a:off x="0" y="0"/>
              <a:ext cx="5259224" cy="640446"/>
            </a:xfrm>
            <a:custGeom>
              <a:avLst/>
              <a:gdLst/>
              <a:ahLst/>
              <a:cxnLst/>
              <a:rect r="r" b="b" t="t" l="l"/>
              <a:pathLst>
                <a:path h="640446" w="5259224">
                  <a:moveTo>
                    <a:pt x="0" y="0"/>
                  </a:moveTo>
                  <a:lnTo>
                    <a:pt x="5259224" y="0"/>
                  </a:lnTo>
                  <a:lnTo>
                    <a:pt x="5259224" y="640446"/>
                  </a:lnTo>
                  <a:lnTo>
                    <a:pt x="0" y="640446"/>
                  </a:lnTo>
                  <a:close/>
                </a:path>
              </a:pathLst>
            </a:custGeom>
            <a:blipFill>
              <a:blip r:embed="rId2">
                <a:alphaModFix amt="0"/>
              </a:blip>
              <a:stretch>
                <a:fillRect l="0" t="-53818" r="-22865" b="-239369"/>
              </a:stretch>
            </a:blipFill>
          </p:spPr>
        </p:sp>
        <p:sp>
          <p:nvSpPr>
            <p:cNvPr name="TextBox 116" id="116"/>
            <p:cNvSpPr txBox="true"/>
            <p:nvPr/>
          </p:nvSpPr>
          <p:spPr>
            <a:xfrm>
              <a:off x="0" y="-38100"/>
              <a:ext cx="5259224" cy="678546"/>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version CSV / JSON ...</a:t>
              </a:r>
            </a:p>
          </p:txBody>
        </p:sp>
      </p:grpSp>
      <p:grpSp>
        <p:nvGrpSpPr>
          <p:cNvPr name="Group 117" id="117"/>
          <p:cNvGrpSpPr/>
          <p:nvPr/>
        </p:nvGrpSpPr>
        <p:grpSpPr>
          <a:xfrm rot="0">
            <a:off x="4953706" y="7102375"/>
            <a:ext cx="4007752" cy="488047"/>
            <a:chOff x="0" y="0"/>
            <a:chExt cx="5259224" cy="640446"/>
          </a:xfrm>
        </p:grpSpPr>
        <p:sp>
          <p:nvSpPr>
            <p:cNvPr name="Freeform 118" id="118"/>
            <p:cNvSpPr/>
            <p:nvPr/>
          </p:nvSpPr>
          <p:spPr>
            <a:xfrm flipH="false" flipV="false" rot="0">
              <a:off x="0" y="0"/>
              <a:ext cx="5259224" cy="640446"/>
            </a:xfrm>
            <a:custGeom>
              <a:avLst/>
              <a:gdLst/>
              <a:ahLst/>
              <a:cxnLst/>
              <a:rect r="r" b="b" t="t" l="l"/>
              <a:pathLst>
                <a:path h="640446" w="5259224">
                  <a:moveTo>
                    <a:pt x="0" y="0"/>
                  </a:moveTo>
                  <a:lnTo>
                    <a:pt x="5259224" y="0"/>
                  </a:lnTo>
                  <a:lnTo>
                    <a:pt x="5259224" y="640446"/>
                  </a:lnTo>
                  <a:lnTo>
                    <a:pt x="0" y="640446"/>
                  </a:lnTo>
                  <a:close/>
                </a:path>
              </a:pathLst>
            </a:custGeom>
            <a:blipFill>
              <a:blip r:embed="rId2">
                <a:alphaModFix amt="0"/>
              </a:blip>
              <a:stretch>
                <a:fillRect l="0" t="-53818" r="-22865" b="-239369"/>
              </a:stretch>
            </a:blipFill>
          </p:spPr>
        </p:sp>
        <p:sp>
          <p:nvSpPr>
            <p:cNvPr name="TextBox 119" id="119"/>
            <p:cNvSpPr txBox="true"/>
            <p:nvPr/>
          </p:nvSpPr>
          <p:spPr>
            <a:xfrm>
              <a:off x="0" y="-38100"/>
              <a:ext cx="5259224" cy="678546"/>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un API real-time</a:t>
              </a:r>
            </a:p>
          </p:txBody>
        </p:sp>
      </p:grpSp>
      <p:grpSp>
        <p:nvGrpSpPr>
          <p:cNvPr name="Group 120" id="120"/>
          <p:cNvGrpSpPr/>
          <p:nvPr/>
        </p:nvGrpSpPr>
        <p:grpSpPr>
          <a:xfrm rot="0">
            <a:off x="526873" y="9094933"/>
            <a:ext cx="4007752" cy="488047"/>
            <a:chOff x="0" y="0"/>
            <a:chExt cx="5259224" cy="640446"/>
          </a:xfrm>
        </p:grpSpPr>
        <p:sp>
          <p:nvSpPr>
            <p:cNvPr name="Freeform 121" id="121"/>
            <p:cNvSpPr/>
            <p:nvPr/>
          </p:nvSpPr>
          <p:spPr>
            <a:xfrm flipH="false" flipV="false" rot="0">
              <a:off x="0" y="0"/>
              <a:ext cx="5259224" cy="640446"/>
            </a:xfrm>
            <a:custGeom>
              <a:avLst/>
              <a:gdLst/>
              <a:ahLst/>
              <a:cxnLst/>
              <a:rect r="r" b="b" t="t" l="l"/>
              <a:pathLst>
                <a:path h="640446" w="5259224">
                  <a:moveTo>
                    <a:pt x="0" y="0"/>
                  </a:moveTo>
                  <a:lnTo>
                    <a:pt x="5259224" y="0"/>
                  </a:lnTo>
                  <a:lnTo>
                    <a:pt x="5259224" y="640446"/>
                  </a:lnTo>
                  <a:lnTo>
                    <a:pt x="0" y="640446"/>
                  </a:lnTo>
                  <a:close/>
                </a:path>
              </a:pathLst>
            </a:custGeom>
            <a:blipFill>
              <a:blip r:embed="rId2">
                <a:alphaModFix amt="0"/>
              </a:blip>
              <a:stretch>
                <a:fillRect l="0" t="-53818" r="-22865" b="-239369"/>
              </a:stretch>
            </a:blipFill>
          </p:spPr>
        </p:sp>
        <p:sp>
          <p:nvSpPr>
            <p:cNvPr name="TextBox 122" id="122"/>
            <p:cNvSpPr txBox="true"/>
            <p:nvPr/>
          </p:nvSpPr>
          <p:spPr>
            <a:xfrm>
              <a:off x="0" y="-38100"/>
              <a:ext cx="5259224" cy="678546"/>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https://www.eea.europa.eu/...</a:t>
              </a:r>
            </a:p>
          </p:txBody>
        </p:sp>
      </p:grpSp>
      <p:grpSp>
        <p:nvGrpSpPr>
          <p:cNvPr name="Group 123" id="123"/>
          <p:cNvGrpSpPr/>
          <p:nvPr/>
        </p:nvGrpSpPr>
        <p:grpSpPr>
          <a:xfrm rot="0">
            <a:off x="4957694" y="9088785"/>
            <a:ext cx="4007752" cy="488047"/>
            <a:chOff x="0" y="0"/>
            <a:chExt cx="5259224" cy="640446"/>
          </a:xfrm>
        </p:grpSpPr>
        <p:sp>
          <p:nvSpPr>
            <p:cNvPr name="Freeform 124" id="124"/>
            <p:cNvSpPr/>
            <p:nvPr/>
          </p:nvSpPr>
          <p:spPr>
            <a:xfrm flipH="false" flipV="false" rot="0">
              <a:off x="0" y="0"/>
              <a:ext cx="5259224" cy="640446"/>
            </a:xfrm>
            <a:custGeom>
              <a:avLst/>
              <a:gdLst/>
              <a:ahLst/>
              <a:cxnLst/>
              <a:rect r="r" b="b" t="t" l="l"/>
              <a:pathLst>
                <a:path h="640446" w="5259224">
                  <a:moveTo>
                    <a:pt x="0" y="0"/>
                  </a:moveTo>
                  <a:lnTo>
                    <a:pt x="5259224" y="0"/>
                  </a:lnTo>
                  <a:lnTo>
                    <a:pt x="5259224" y="640446"/>
                  </a:lnTo>
                  <a:lnTo>
                    <a:pt x="0" y="640446"/>
                  </a:lnTo>
                  <a:close/>
                </a:path>
              </a:pathLst>
            </a:custGeom>
            <a:blipFill>
              <a:blip r:embed="rId2">
                <a:alphaModFix amt="0"/>
              </a:blip>
              <a:stretch>
                <a:fillRect l="0" t="-53818" r="-22865" b="-239369"/>
              </a:stretch>
            </a:blipFill>
          </p:spPr>
        </p:sp>
        <p:sp>
          <p:nvSpPr>
            <p:cNvPr name="TextBox 125" id="125"/>
            <p:cNvSpPr txBox="true"/>
            <p:nvPr/>
          </p:nvSpPr>
          <p:spPr>
            <a:xfrm>
              <a:off x="0" y="-38100"/>
              <a:ext cx="5259224" cy="678546"/>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distribution est liée → API CKAN</a:t>
              </a:r>
            </a:p>
          </p:txBody>
        </p:sp>
      </p:grpSp>
      <p:grpSp>
        <p:nvGrpSpPr>
          <p:cNvPr name="Group 126" id="126"/>
          <p:cNvGrpSpPr/>
          <p:nvPr/>
        </p:nvGrpSpPr>
        <p:grpSpPr>
          <a:xfrm rot="0">
            <a:off x="9364056" y="3787776"/>
            <a:ext cx="4007752" cy="1771788"/>
            <a:chOff x="0" y="0"/>
            <a:chExt cx="5343670" cy="2362384"/>
          </a:xfrm>
        </p:grpSpPr>
        <p:sp>
          <p:nvSpPr>
            <p:cNvPr name="Freeform 127" id="127"/>
            <p:cNvSpPr/>
            <p:nvPr/>
          </p:nvSpPr>
          <p:spPr>
            <a:xfrm flipH="false" flipV="false" rot="0">
              <a:off x="12925" y="6779"/>
              <a:ext cx="5317752" cy="2348790"/>
            </a:xfrm>
            <a:custGeom>
              <a:avLst/>
              <a:gdLst/>
              <a:ahLst/>
              <a:cxnLst/>
              <a:rect r="r" b="b" t="t" l="l"/>
              <a:pathLst>
                <a:path h="2348790" w="5317752">
                  <a:moveTo>
                    <a:pt x="0" y="0"/>
                  </a:moveTo>
                  <a:lnTo>
                    <a:pt x="5317752" y="0"/>
                  </a:lnTo>
                  <a:lnTo>
                    <a:pt x="5317752" y="2348790"/>
                  </a:lnTo>
                  <a:lnTo>
                    <a:pt x="0" y="2348790"/>
                  </a:lnTo>
                  <a:close/>
                </a:path>
              </a:pathLst>
            </a:custGeom>
            <a:solidFill>
              <a:srgbClr val="ECFDF5"/>
            </a:solidFill>
          </p:spPr>
        </p:sp>
        <p:sp>
          <p:nvSpPr>
            <p:cNvPr name="Freeform 128" id="128"/>
            <p:cNvSpPr/>
            <p:nvPr/>
          </p:nvSpPr>
          <p:spPr>
            <a:xfrm flipH="false" flipV="false" rot="0">
              <a:off x="0" y="0"/>
              <a:ext cx="5343601" cy="2362348"/>
            </a:xfrm>
            <a:custGeom>
              <a:avLst/>
              <a:gdLst/>
              <a:ahLst/>
              <a:cxnLst/>
              <a:rect r="r" b="b" t="t" l="l"/>
              <a:pathLst>
                <a:path h="2362348" w="5343601">
                  <a:moveTo>
                    <a:pt x="12925" y="0"/>
                  </a:moveTo>
                  <a:lnTo>
                    <a:pt x="5330677" y="0"/>
                  </a:lnTo>
                  <a:cubicBezTo>
                    <a:pt x="5337868" y="0"/>
                    <a:pt x="5343601" y="3058"/>
                    <a:pt x="5343601" y="6779"/>
                  </a:cubicBezTo>
                  <a:lnTo>
                    <a:pt x="5343601" y="2355569"/>
                  </a:lnTo>
                  <a:cubicBezTo>
                    <a:pt x="5343601" y="2359341"/>
                    <a:pt x="5337771" y="2362348"/>
                    <a:pt x="5330677" y="2362348"/>
                  </a:cubicBezTo>
                  <a:lnTo>
                    <a:pt x="12925" y="2362348"/>
                  </a:lnTo>
                  <a:cubicBezTo>
                    <a:pt x="5734" y="2362348"/>
                    <a:pt x="0" y="2359290"/>
                    <a:pt x="0" y="2355569"/>
                  </a:cubicBezTo>
                  <a:lnTo>
                    <a:pt x="0" y="6779"/>
                  </a:lnTo>
                  <a:cubicBezTo>
                    <a:pt x="0" y="3058"/>
                    <a:pt x="5831" y="0"/>
                    <a:pt x="12925" y="0"/>
                  </a:cubicBezTo>
                  <a:moveTo>
                    <a:pt x="12925" y="13610"/>
                  </a:moveTo>
                  <a:lnTo>
                    <a:pt x="12925" y="6779"/>
                  </a:lnTo>
                  <a:lnTo>
                    <a:pt x="25947" y="6779"/>
                  </a:lnTo>
                  <a:lnTo>
                    <a:pt x="25947" y="2355569"/>
                  </a:lnTo>
                  <a:lnTo>
                    <a:pt x="12925" y="2355569"/>
                  </a:lnTo>
                  <a:lnTo>
                    <a:pt x="12925" y="2348790"/>
                  </a:lnTo>
                  <a:lnTo>
                    <a:pt x="5330677" y="2348790"/>
                  </a:lnTo>
                  <a:lnTo>
                    <a:pt x="5330677" y="2355569"/>
                  </a:lnTo>
                  <a:lnTo>
                    <a:pt x="5317751" y="2355569"/>
                  </a:lnTo>
                  <a:lnTo>
                    <a:pt x="5317751" y="6779"/>
                  </a:lnTo>
                  <a:lnTo>
                    <a:pt x="5330677" y="6779"/>
                  </a:lnTo>
                  <a:lnTo>
                    <a:pt x="5330677" y="13610"/>
                  </a:lnTo>
                  <a:lnTo>
                    <a:pt x="12925" y="13610"/>
                  </a:lnTo>
                  <a:close/>
                </a:path>
              </a:pathLst>
            </a:custGeom>
            <a:solidFill>
              <a:srgbClr val="059669"/>
            </a:solidFill>
          </p:spPr>
        </p:sp>
      </p:grpSp>
      <p:grpSp>
        <p:nvGrpSpPr>
          <p:cNvPr name="Group 129" id="129"/>
          <p:cNvGrpSpPr/>
          <p:nvPr/>
        </p:nvGrpSpPr>
        <p:grpSpPr>
          <a:xfrm rot="0">
            <a:off x="9364056" y="3787776"/>
            <a:ext cx="4007752" cy="524191"/>
            <a:chOff x="0" y="0"/>
            <a:chExt cx="5343670" cy="698921"/>
          </a:xfrm>
        </p:grpSpPr>
        <p:sp>
          <p:nvSpPr>
            <p:cNvPr name="Freeform 130" id="130"/>
            <p:cNvSpPr/>
            <p:nvPr/>
          </p:nvSpPr>
          <p:spPr>
            <a:xfrm flipH="false" flipV="false" rot="0">
              <a:off x="12925" y="10667"/>
              <a:ext cx="5317752" cy="677532"/>
            </a:xfrm>
            <a:custGeom>
              <a:avLst/>
              <a:gdLst/>
              <a:ahLst/>
              <a:cxnLst/>
              <a:rect r="r" b="b" t="t" l="l"/>
              <a:pathLst>
                <a:path h="677532" w="5317752">
                  <a:moveTo>
                    <a:pt x="0" y="0"/>
                  </a:moveTo>
                  <a:lnTo>
                    <a:pt x="5317752" y="0"/>
                  </a:lnTo>
                  <a:lnTo>
                    <a:pt x="5317752" y="677531"/>
                  </a:lnTo>
                  <a:lnTo>
                    <a:pt x="0" y="677531"/>
                  </a:lnTo>
                  <a:close/>
                </a:path>
              </a:pathLst>
            </a:custGeom>
            <a:solidFill>
              <a:srgbClr val="059669"/>
            </a:solidFill>
          </p:spPr>
        </p:sp>
        <p:sp>
          <p:nvSpPr>
            <p:cNvPr name="Freeform 131" id="131"/>
            <p:cNvSpPr/>
            <p:nvPr/>
          </p:nvSpPr>
          <p:spPr>
            <a:xfrm flipH="false" flipV="false" rot="0">
              <a:off x="0" y="0"/>
              <a:ext cx="5343601" cy="698867"/>
            </a:xfrm>
            <a:custGeom>
              <a:avLst/>
              <a:gdLst/>
              <a:ahLst/>
              <a:cxnLst/>
              <a:rect r="r" b="b" t="t" l="l"/>
              <a:pathLst>
                <a:path h="698867" w="5343601">
                  <a:moveTo>
                    <a:pt x="12925" y="0"/>
                  </a:moveTo>
                  <a:lnTo>
                    <a:pt x="5330677" y="0"/>
                  </a:lnTo>
                  <a:cubicBezTo>
                    <a:pt x="5337868" y="0"/>
                    <a:pt x="5343601" y="4812"/>
                    <a:pt x="5343601" y="10667"/>
                  </a:cubicBezTo>
                  <a:lnTo>
                    <a:pt x="5343601" y="688198"/>
                  </a:lnTo>
                  <a:cubicBezTo>
                    <a:pt x="5343601" y="694133"/>
                    <a:pt x="5337771" y="698865"/>
                    <a:pt x="5330677" y="698865"/>
                  </a:cubicBezTo>
                  <a:lnTo>
                    <a:pt x="12925" y="698865"/>
                  </a:lnTo>
                  <a:cubicBezTo>
                    <a:pt x="5831" y="698959"/>
                    <a:pt x="0" y="694133"/>
                    <a:pt x="0" y="688198"/>
                  </a:cubicBezTo>
                  <a:lnTo>
                    <a:pt x="0" y="10667"/>
                  </a:lnTo>
                  <a:cubicBezTo>
                    <a:pt x="0" y="4812"/>
                    <a:pt x="5831" y="0"/>
                    <a:pt x="12925" y="0"/>
                  </a:cubicBezTo>
                  <a:moveTo>
                    <a:pt x="12925" y="21413"/>
                  </a:moveTo>
                  <a:lnTo>
                    <a:pt x="12925" y="10667"/>
                  </a:lnTo>
                  <a:lnTo>
                    <a:pt x="25947" y="10667"/>
                  </a:lnTo>
                  <a:lnTo>
                    <a:pt x="25947" y="688198"/>
                  </a:lnTo>
                  <a:lnTo>
                    <a:pt x="12925" y="688198"/>
                  </a:lnTo>
                  <a:lnTo>
                    <a:pt x="12925" y="677532"/>
                  </a:lnTo>
                  <a:lnTo>
                    <a:pt x="5330677" y="677532"/>
                  </a:lnTo>
                  <a:lnTo>
                    <a:pt x="5330677" y="688199"/>
                  </a:lnTo>
                  <a:lnTo>
                    <a:pt x="5317751" y="688199"/>
                  </a:lnTo>
                  <a:lnTo>
                    <a:pt x="5317751" y="10667"/>
                  </a:lnTo>
                  <a:lnTo>
                    <a:pt x="5330677" y="10667"/>
                  </a:lnTo>
                  <a:lnTo>
                    <a:pt x="5330677" y="21413"/>
                  </a:lnTo>
                  <a:lnTo>
                    <a:pt x="12925" y="21413"/>
                  </a:lnTo>
                  <a:close/>
                </a:path>
              </a:pathLst>
            </a:custGeom>
            <a:solidFill>
              <a:srgbClr val="059669"/>
            </a:solidFill>
          </p:spPr>
        </p:sp>
      </p:grpSp>
      <p:grpSp>
        <p:nvGrpSpPr>
          <p:cNvPr name="Group 132" id="132"/>
          <p:cNvGrpSpPr/>
          <p:nvPr/>
        </p:nvGrpSpPr>
        <p:grpSpPr>
          <a:xfrm rot="0">
            <a:off x="9373772" y="3795794"/>
            <a:ext cx="3988314" cy="508149"/>
            <a:chOff x="0" y="0"/>
            <a:chExt cx="5317751" cy="677532"/>
          </a:xfrm>
        </p:grpSpPr>
        <p:sp>
          <p:nvSpPr>
            <p:cNvPr name="Freeform 133" id="133"/>
            <p:cNvSpPr/>
            <p:nvPr/>
          </p:nvSpPr>
          <p:spPr>
            <a:xfrm flipH="false" flipV="false" rot="0">
              <a:off x="0" y="0"/>
              <a:ext cx="5317751" cy="677532"/>
            </a:xfrm>
            <a:custGeom>
              <a:avLst/>
              <a:gdLst/>
              <a:ahLst/>
              <a:cxnLst/>
              <a:rect r="r" b="b" t="t" l="l"/>
              <a:pathLst>
                <a:path h="677532" w="5317751">
                  <a:moveTo>
                    <a:pt x="0" y="0"/>
                  </a:moveTo>
                  <a:lnTo>
                    <a:pt x="5317751" y="0"/>
                  </a:lnTo>
                  <a:lnTo>
                    <a:pt x="5317751" y="677532"/>
                  </a:lnTo>
                  <a:lnTo>
                    <a:pt x="0" y="677532"/>
                  </a:lnTo>
                  <a:close/>
                </a:path>
              </a:pathLst>
            </a:custGeom>
            <a:blipFill>
              <a:blip r:embed="rId2">
                <a:alphaModFix amt="0"/>
              </a:blip>
              <a:stretch>
                <a:fillRect l="0" t="-120681" r="-30683" b="-179034"/>
              </a:stretch>
            </a:blipFill>
          </p:spPr>
        </p:sp>
        <p:sp>
          <p:nvSpPr>
            <p:cNvPr name="TextBox 134" id="134"/>
            <p:cNvSpPr txBox="true"/>
            <p:nvPr/>
          </p:nvSpPr>
          <p:spPr>
            <a:xfrm>
              <a:off x="0" y="-38100"/>
              <a:ext cx="5317751" cy="71563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dct:title</a:t>
              </a:r>
            </a:p>
          </p:txBody>
        </p:sp>
      </p:grpSp>
      <p:grpSp>
        <p:nvGrpSpPr>
          <p:cNvPr name="Group 135" id="135"/>
          <p:cNvGrpSpPr/>
          <p:nvPr/>
        </p:nvGrpSpPr>
        <p:grpSpPr>
          <a:xfrm rot="0">
            <a:off x="9461832" y="4408707"/>
            <a:ext cx="3708432" cy="444416"/>
            <a:chOff x="0" y="0"/>
            <a:chExt cx="4944576" cy="592555"/>
          </a:xfrm>
        </p:grpSpPr>
        <p:sp>
          <p:nvSpPr>
            <p:cNvPr name="Freeform 136" id="136"/>
            <p:cNvSpPr/>
            <p:nvPr/>
          </p:nvSpPr>
          <p:spPr>
            <a:xfrm flipH="false" flipV="false" rot="0">
              <a:off x="0" y="0"/>
              <a:ext cx="4944576" cy="592555"/>
            </a:xfrm>
            <a:custGeom>
              <a:avLst/>
              <a:gdLst/>
              <a:ahLst/>
              <a:cxnLst/>
              <a:rect r="r" b="b" t="t" l="l"/>
              <a:pathLst>
                <a:path h="592555" w="4944576">
                  <a:moveTo>
                    <a:pt x="0" y="0"/>
                  </a:moveTo>
                  <a:lnTo>
                    <a:pt x="4944576" y="0"/>
                  </a:lnTo>
                  <a:lnTo>
                    <a:pt x="4944576" y="592555"/>
                  </a:lnTo>
                  <a:lnTo>
                    <a:pt x="0" y="592555"/>
                  </a:lnTo>
                  <a:close/>
                </a:path>
              </a:pathLst>
            </a:custGeom>
            <a:blipFill>
              <a:blip r:embed="rId2">
                <a:alphaModFix amt="0"/>
              </a:blip>
              <a:stretch>
                <a:fillRect l="0" t="-113721" r="-30683" b="-211244"/>
              </a:stretch>
            </a:blipFill>
          </p:spPr>
        </p:sp>
        <p:sp>
          <p:nvSpPr>
            <p:cNvPr name="TextBox 137" id="137"/>
            <p:cNvSpPr txBox="true"/>
            <p:nvPr/>
          </p:nvSpPr>
          <p:spPr>
            <a:xfrm>
              <a:off x="0" y="-47625"/>
              <a:ext cx="4944576" cy="640180"/>
            </a:xfrm>
            <a:prstGeom prst="rect">
              <a:avLst/>
            </a:prstGeom>
          </p:spPr>
          <p:txBody>
            <a:bodyPr anchor="ctr" rtlCol="false" tIns="0" lIns="0" bIns="0" rIns="0"/>
            <a:lstStyle/>
            <a:p>
              <a:pPr algn="ctr">
                <a:lnSpc>
                  <a:spcPts val="2640"/>
                </a:lnSpc>
              </a:pPr>
              <a:r>
                <a:rPr lang="en-US" sz="2200" b="true">
                  <a:solidFill>
                    <a:srgbClr val="059669"/>
                  </a:solidFill>
                  <a:latin typeface="Calibri (MS) Bold"/>
                  <a:ea typeface="Calibri (MS) Bold"/>
                  <a:cs typeface="Calibri (MS) Bold"/>
                  <a:sym typeface="Calibri (MS) Bold"/>
                </a:rPr>
                <a:t>Le titre d’un dataset</a:t>
              </a:r>
            </a:p>
          </p:txBody>
        </p:sp>
      </p:grpSp>
      <p:grpSp>
        <p:nvGrpSpPr>
          <p:cNvPr name="Group 138" id="138"/>
          <p:cNvGrpSpPr/>
          <p:nvPr/>
        </p:nvGrpSpPr>
        <p:grpSpPr>
          <a:xfrm rot="0">
            <a:off x="9513713" y="4791000"/>
            <a:ext cx="3708432" cy="551855"/>
            <a:chOff x="0" y="0"/>
            <a:chExt cx="4944576" cy="735807"/>
          </a:xfrm>
        </p:grpSpPr>
        <p:sp>
          <p:nvSpPr>
            <p:cNvPr name="Freeform 139" id="139"/>
            <p:cNvSpPr/>
            <p:nvPr/>
          </p:nvSpPr>
          <p:spPr>
            <a:xfrm flipH="false" flipV="false" rot="0">
              <a:off x="0" y="0"/>
              <a:ext cx="4944576" cy="735807"/>
            </a:xfrm>
            <a:custGeom>
              <a:avLst/>
              <a:gdLst/>
              <a:ahLst/>
              <a:cxnLst/>
              <a:rect r="r" b="b" t="t" l="l"/>
              <a:pathLst>
                <a:path h="735807" w="4944576">
                  <a:moveTo>
                    <a:pt x="0" y="0"/>
                  </a:moveTo>
                  <a:lnTo>
                    <a:pt x="4944576" y="0"/>
                  </a:lnTo>
                  <a:lnTo>
                    <a:pt x="4944576" y="735807"/>
                  </a:lnTo>
                  <a:lnTo>
                    <a:pt x="0" y="735807"/>
                  </a:lnTo>
                  <a:close/>
                </a:path>
              </a:pathLst>
            </a:custGeom>
            <a:blipFill>
              <a:blip r:embed="rId2">
                <a:alphaModFix amt="0"/>
              </a:blip>
              <a:stretch>
                <a:fillRect l="0" t="-46843" r="-30683" b="-195386"/>
              </a:stretch>
            </a:blipFill>
          </p:spPr>
        </p:sp>
        <p:sp>
          <p:nvSpPr>
            <p:cNvPr name="TextBox 140" id="140"/>
            <p:cNvSpPr txBox="true"/>
            <p:nvPr/>
          </p:nvSpPr>
          <p:spPr>
            <a:xfrm>
              <a:off x="0" y="-38100"/>
              <a:ext cx="4944576" cy="773907"/>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Qualité de l’air en Europe</a:t>
              </a:r>
            </a:p>
          </p:txBody>
        </p:sp>
      </p:grpSp>
      <p:grpSp>
        <p:nvGrpSpPr>
          <p:cNvPr name="Group 141" id="141"/>
          <p:cNvGrpSpPr/>
          <p:nvPr/>
        </p:nvGrpSpPr>
        <p:grpSpPr>
          <a:xfrm rot="0">
            <a:off x="9364056" y="5769114"/>
            <a:ext cx="4007752" cy="1771788"/>
            <a:chOff x="0" y="0"/>
            <a:chExt cx="5343670" cy="2362384"/>
          </a:xfrm>
        </p:grpSpPr>
        <p:sp>
          <p:nvSpPr>
            <p:cNvPr name="Freeform 142" id="142"/>
            <p:cNvSpPr/>
            <p:nvPr/>
          </p:nvSpPr>
          <p:spPr>
            <a:xfrm flipH="false" flipV="false" rot="0">
              <a:off x="12925" y="6779"/>
              <a:ext cx="5317752" cy="2348790"/>
            </a:xfrm>
            <a:custGeom>
              <a:avLst/>
              <a:gdLst/>
              <a:ahLst/>
              <a:cxnLst/>
              <a:rect r="r" b="b" t="t" l="l"/>
              <a:pathLst>
                <a:path h="2348790" w="5317752">
                  <a:moveTo>
                    <a:pt x="0" y="0"/>
                  </a:moveTo>
                  <a:lnTo>
                    <a:pt x="5317752" y="0"/>
                  </a:lnTo>
                  <a:lnTo>
                    <a:pt x="5317752" y="2348790"/>
                  </a:lnTo>
                  <a:lnTo>
                    <a:pt x="0" y="2348790"/>
                  </a:lnTo>
                  <a:close/>
                </a:path>
              </a:pathLst>
            </a:custGeom>
            <a:solidFill>
              <a:srgbClr val="ECFDF5"/>
            </a:solidFill>
          </p:spPr>
        </p:sp>
        <p:sp>
          <p:nvSpPr>
            <p:cNvPr name="Freeform 143" id="143"/>
            <p:cNvSpPr/>
            <p:nvPr/>
          </p:nvSpPr>
          <p:spPr>
            <a:xfrm flipH="false" flipV="false" rot="0">
              <a:off x="0" y="0"/>
              <a:ext cx="5343601" cy="2362348"/>
            </a:xfrm>
            <a:custGeom>
              <a:avLst/>
              <a:gdLst/>
              <a:ahLst/>
              <a:cxnLst/>
              <a:rect r="r" b="b" t="t" l="l"/>
              <a:pathLst>
                <a:path h="2362348" w="5343601">
                  <a:moveTo>
                    <a:pt x="12925" y="0"/>
                  </a:moveTo>
                  <a:lnTo>
                    <a:pt x="5330677" y="0"/>
                  </a:lnTo>
                  <a:cubicBezTo>
                    <a:pt x="5337868" y="0"/>
                    <a:pt x="5343601" y="3058"/>
                    <a:pt x="5343601" y="6779"/>
                  </a:cubicBezTo>
                  <a:lnTo>
                    <a:pt x="5343601" y="2355569"/>
                  </a:lnTo>
                  <a:cubicBezTo>
                    <a:pt x="5343601" y="2359341"/>
                    <a:pt x="5337771" y="2362348"/>
                    <a:pt x="5330677" y="2362348"/>
                  </a:cubicBezTo>
                  <a:lnTo>
                    <a:pt x="12925" y="2362348"/>
                  </a:lnTo>
                  <a:cubicBezTo>
                    <a:pt x="5734" y="2362348"/>
                    <a:pt x="0" y="2359290"/>
                    <a:pt x="0" y="2355569"/>
                  </a:cubicBezTo>
                  <a:lnTo>
                    <a:pt x="0" y="6779"/>
                  </a:lnTo>
                  <a:cubicBezTo>
                    <a:pt x="0" y="3058"/>
                    <a:pt x="5831" y="0"/>
                    <a:pt x="12925" y="0"/>
                  </a:cubicBezTo>
                  <a:moveTo>
                    <a:pt x="12925" y="13610"/>
                  </a:moveTo>
                  <a:lnTo>
                    <a:pt x="12925" y="6779"/>
                  </a:lnTo>
                  <a:lnTo>
                    <a:pt x="25947" y="6779"/>
                  </a:lnTo>
                  <a:lnTo>
                    <a:pt x="25947" y="2355569"/>
                  </a:lnTo>
                  <a:lnTo>
                    <a:pt x="12925" y="2355569"/>
                  </a:lnTo>
                  <a:lnTo>
                    <a:pt x="12925" y="2348790"/>
                  </a:lnTo>
                  <a:lnTo>
                    <a:pt x="5330677" y="2348790"/>
                  </a:lnTo>
                  <a:lnTo>
                    <a:pt x="5330677" y="2355569"/>
                  </a:lnTo>
                  <a:lnTo>
                    <a:pt x="5317751" y="2355569"/>
                  </a:lnTo>
                  <a:lnTo>
                    <a:pt x="5317751" y="6779"/>
                  </a:lnTo>
                  <a:lnTo>
                    <a:pt x="5330677" y="6779"/>
                  </a:lnTo>
                  <a:lnTo>
                    <a:pt x="5330677" y="13610"/>
                  </a:lnTo>
                  <a:lnTo>
                    <a:pt x="12925" y="13610"/>
                  </a:lnTo>
                  <a:close/>
                </a:path>
              </a:pathLst>
            </a:custGeom>
            <a:solidFill>
              <a:srgbClr val="059669"/>
            </a:solidFill>
          </p:spPr>
        </p:sp>
      </p:grpSp>
      <p:grpSp>
        <p:nvGrpSpPr>
          <p:cNvPr name="Group 144" id="144"/>
          <p:cNvGrpSpPr/>
          <p:nvPr/>
        </p:nvGrpSpPr>
        <p:grpSpPr>
          <a:xfrm rot="0">
            <a:off x="9364056" y="5769114"/>
            <a:ext cx="4007752" cy="524191"/>
            <a:chOff x="0" y="0"/>
            <a:chExt cx="5343670" cy="698921"/>
          </a:xfrm>
        </p:grpSpPr>
        <p:sp>
          <p:nvSpPr>
            <p:cNvPr name="Freeform 145" id="145"/>
            <p:cNvSpPr/>
            <p:nvPr/>
          </p:nvSpPr>
          <p:spPr>
            <a:xfrm flipH="false" flipV="false" rot="0">
              <a:off x="12925" y="10667"/>
              <a:ext cx="5317752" cy="677532"/>
            </a:xfrm>
            <a:custGeom>
              <a:avLst/>
              <a:gdLst/>
              <a:ahLst/>
              <a:cxnLst/>
              <a:rect r="r" b="b" t="t" l="l"/>
              <a:pathLst>
                <a:path h="677532" w="5317752">
                  <a:moveTo>
                    <a:pt x="0" y="0"/>
                  </a:moveTo>
                  <a:lnTo>
                    <a:pt x="5317752" y="0"/>
                  </a:lnTo>
                  <a:lnTo>
                    <a:pt x="5317752" y="677531"/>
                  </a:lnTo>
                  <a:lnTo>
                    <a:pt x="0" y="677531"/>
                  </a:lnTo>
                  <a:close/>
                </a:path>
              </a:pathLst>
            </a:custGeom>
            <a:solidFill>
              <a:srgbClr val="059669"/>
            </a:solidFill>
          </p:spPr>
        </p:sp>
        <p:sp>
          <p:nvSpPr>
            <p:cNvPr name="Freeform 146" id="146"/>
            <p:cNvSpPr/>
            <p:nvPr/>
          </p:nvSpPr>
          <p:spPr>
            <a:xfrm flipH="false" flipV="false" rot="0">
              <a:off x="0" y="0"/>
              <a:ext cx="5343601" cy="698867"/>
            </a:xfrm>
            <a:custGeom>
              <a:avLst/>
              <a:gdLst/>
              <a:ahLst/>
              <a:cxnLst/>
              <a:rect r="r" b="b" t="t" l="l"/>
              <a:pathLst>
                <a:path h="698867" w="5343601">
                  <a:moveTo>
                    <a:pt x="12925" y="0"/>
                  </a:moveTo>
                  <a:lnTo>
                    <a:pt x="5330677" y="0"/>
                  </a:lnTo>
                  <a:cubicBezTo>
                    <a:pt x="5337868" y="0"/>
                    <a:pt x="5343601" y="4812"/>
                    <a:pt x="5343601" y="10667"/>
                  </a:cubicBezTo>
                  <a:lnTo>
                    <a:pt x="5343601" y="688198"/>
                  </a:lnTo>
                  <a:cubicBezTo>
                    <a:pt x="5343601" y="694133"/>
                    <a:pt x="5337771" y="698865"/>
                    <a:pt x="5330677" y="698865"/>
                  </a:cubicBezTo>
                  <a:lnTo>
                    <a:pt x="12925" y="698865"/>
                  </a:lnTo>
                  <a:cubicBezTo>
                    <a:pt x="5831" y="698959"/>
                    <a:pt x="0" y="694133"/>
                    <a:pt x="0" y="688198"/>
                  </a:cubicBezTo>
                  <a:lnTo>
                    <a:pt x="0" y="10667"/>
                  </a:lnTo>
                  <a:cubicBezTo>
                    <a:pt x="0" y="4812"/>
                    <a:pt x="5831" y="0"/>
                    <a:pt x="12925" y="0"/>
                  </a:cubicBezTo>
                  <a:moveTo>
                    <a:pt x="12925" y="21413"/>
                  </a:moveTo>
                  <a:lnTo>
                    <a:pt x="12925" y="10667"/>
                  </a:lnTo>
                  <a:lnTo>
                    <a:pt x="25947" y="10667"/>
                  </a:lnTo>
                  <a:lnTo>
                    <a:pt x="25947" y="688198"/>
                  </a:lnTo>
                  <a:lnTo>
                    <a:pt x="12925" y="688198"/>
                  </a:lnTo>
                  <a:lnTo>
                    <a:pt x="12925" y="677532"/>
                  </a:lnTo>
                  <a:lnTo>
                    <a:pt x="5330677" y="677532"/>
                  </a:lnTo>
                  <a:lnTo>
                    <a:pt x="5330677" y="688199"/>
                  </a:lnTo>
                  <a:lnTo>
                    <a:pt x="5317751" y="688199"/>
                  </a:lnTo>
                  <a:lnTo>
                    <a:pt x="5317751" y="10667"/>
                  </a:lnTo>
                  <a:lnTo>
                    <a:pt x="5330677" y="10667"/>
                  </a:lnTo>
                  <a:lnTo>
                    <a:pt x="5330677" y="21413"/>
                  </a:lnTo>
                  <a:lnTo>
                    <a:pt x="12925" y="21413"/>
                  </a:lnTo>
                  <a:close/>
                </a:path>
              </a:pathLst>
            </a:custGeom>
            <a:solidFill>
              <a:srgbClr val="059669"/>
            </a:solidFill>
          </p:spPr>
        </p:sp>
      </p:grpSp>
      <p:grpSp>
        <p:nvGrpSpPr>
          <p:cNvPr name="Group 147" id="147"/>
          <p:cNvGrpSpPr/>
          <p:nvPr/>
        </p:nvGrpSpPr>
        <p:grpSpPr>
          <a:xfrm rot="0">
            <a:off x="9373772" y="5777132"/>
            <a:ext cx="3988314" cy="508149"/>
            <a:chOff x="0" y="0"/>
            <a:chExt cx="5317751" cy="677532"/>
          </a:xfrm>
        </p:grpSpPr>
        <p:sp>
          <p:nvSpPr>
            <p:cNvPr name="Freeform 148" id="148"/>
            <p:cNvSpPr/>
            <p:nvPr/>
          </p:nvSpPr>
          <p:spPr>
            <a:xfrm flipH="false" flipV="false" rot="0">
              <a:off x="0" y="0"/>
              <a:ext cx="5317751" cy="677532"/>
            </a:xfrm>
            <a:custGeom>
              <a:avLst/>
              <a:gdLst/>
              <a:ahLst/>
              <a:cxnLst/>
              <a:rect r="r" b="b" t="t" l="l"/>
              <a:pathLst>
                <a:path h="677532" w="5317751">
                  <a:moveTo>
                    <a:pt x="0" y="0"/>
                  </a:moveTo>
                  <a:lnTo>
                    <a:pt x="5317751" y="0"/>
                  </a:lnTo>
                  <a:lnTo>
                    <a:pt x="5317751" y="677532"/>
                  </a:lnTo>
                  <a:lnTo>
                    <a:pt x="0" y="677532"/>
                  </a:lnTo>
                  <a:close/>
                </a:path>
              </a:pathLst>
            </a:custGeom>
            <a:blipFill>
              <a:blip r:embed="rId2">
                <a:alphaModFix amt="0"/>
              </a:blip>
              <a:stretch>
                <a:fillRect l="0" t="-120681" r="-30683" b="-179034"/>
              </a:stretch>
            </a:blipFill>
          </p:spPr>
        </p:sp>
        <p:sp>
          <p:nvSpPr>
            <p:cNvPr name="TextBox 149" id="149"/>
            <p:cNvSpPr txBox="true"/>
            <p:nvPr/>
          </p:nvSpPr>
          <p:spPr>
            <a:xfrm>
              <a:off x="0" y="-38100"/>
              <a:ext cx="5317751" cy="71563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dct:description</a:t>
              </a:r>
            </a:p>
          </p:txBody>
        </p:sp>
      </p:grpSp>
      <p:grpSp>
        <p:nvGrpSpPr>
          <p:cNvPr name="Group 150" id="150"/>
          <p:cNvGrpSpPr/>
          <p:nvPr/>
        </p:nvGrpSpPr>
        <p:grpSpPr>
          <a:xfrm rot="0">
            <a:off x="9461832" y="6390045"/>
            <a:ext cx="3708432" cy="444416"/>
            <a:chOff x="0" y="0"/>
            <a:chExt cx="4944576" cy="592555"/>
          </a:xfrm>
        </p:grpSpPr>
        <p:sp>
          <p:nvSpPr>
            <p:cNvPr name="Freeform 151" id="151"/>
            <p:cNvSpPr/>
            <p:nvPr/>
          </p:nvSpPr>
          <p:spPr>
            <a:xfrm flipH="false" flipV="false" rot="0">
              <a:off x="0" y="0"/>
              <a:ext cx="4944576" cy="592555"/>
            </a:xfrm>
            <a:custGeom>
              <a:avLst/>
              <a:gdLst/>
              <a:ahLst/>
              <a:cxnLst/>
              <a:rect r="r" b="b" t="t" l="l"/>
              <a:pathLst>
                <a:path h="592555" w="4944576">
                  <a:moveTo>
                    <a:pt x="0" y="0"/>
                  </a:moveTo>
                  <a:lnTo>
                    <a:pt x="4944576" y="0"/>
                  </a:lnTo>
                  <a:lnTo>
                    <a:pt x="4944576" y="592555"/>
                  </a:lnTo>
                  <a:lnTo>
                    <a:pt x="0" y="592555"/>
                  </a:lnTo>
                  <a:close/>
                </a:path>
              </a:pathLst>
            </a:custGeom>
            <a:blipFill>
              <a:blip r:embed="rId2">
                <a:alphaModFix amt="0"/>
              </a:blip>
              <a:stretch>
                <a:fillRect l="0" t="-113721" r="-30683" b="-211244"/>
              </a:stretch>
            </a:blipFill>
          </p:spPr>
        </p:sp>
        <p:sp>
          <p:nvSpPr>
            <p:cNvPr name="TextBox 152" id="152"/>
            <p:cNvSpPr txBox="true"/>
            <p:nvPr/>
          </p:nvSpPr>
          <p:spPr>
            <a:xfrm>
              <a:off x="0" y="-47625"/>
              <a:ext cx="4944576" cy="640180"/>
            </a:xfrm>
            <a:prstGeom prst="rect">
              <a:avLst/>
            </a:prstGeom>
          </p:spPr>
          <p:txBody>
            <a:bodyPr anchor="ctr" rtlCol="false" tIns="0" lIns="0" bIns="0" rIns="0"/>
            <a:lstStyle/>
            <a:p>
              <a:pPr algn="ctr">
                <a:lnSpc>
                  <a:spcPts val="2640"/>
                </a:lnSpc>
              </a:pPr>
              <a:r>
                <a:rPr lang="en-US" sz="2200" b="true">
                  <a:solidFill>
                    <a:srgbClr val="059669"/>
                  </a:solidFill>
                  <a:latin typeface="Calibri (MS) Bold"/>
                  <a:ea typeface="Calibri (MS) Bold"/>
                  <a:cs typeface="Calibri (MS) Bold"/>
                  <a:sym typeface="Calibri (MS) Bold"/>
                </a:rPr>
                <a:t>Description du dataset</a:t>
              </a:r>
            </a:p>
          </p:txBody>
        </p:sp>
      </p:grpSp>
      <p:grpSp>
        <p:nvGrpSpPr>
          <p:cNvPr name="Group 153" id="153"/>
          <p:cNvGrpSpPr/>
          <p:nvPr/>
        </p:nvGrpSpPr>
        <p:grpSpPr>
          <a:xfrm rot="0">
            <a:off x="9513713" y="6772338"/>
            <a:ext cx="3708432" cy="689149"/>
            <a:chOff x="0" y="0"/>
            <a:chExt cx="4944576" cy="918865"/>
          </a:xfrm>
        </p:grpSpPr>
        <p:sp>
          <p:nvSpPr>
            <p:cNvPr name="Freeform 154" id="154"/>
            <p:cNvSpPr/>
            <p:nvPr/>
          </p:nvSpPr>
          <p:spPr>
            <a:xfrm flipH="false" flipV="false" rot="0">
              <a:off x="0" y="0"/>
              <a:ext cx="4944576" cy="918865"/>
            </a:xfrm>
            <a:custGeom>
              <a:avLst/>
              <a:gdLst/>
              <a:ahLst/>
              <a:cxnLst/>
              <a:rect r="r" b="b" t="t" l="l"/>
              <a:pathLst>
                <a:path h="918865" w="4944576">
                  <a:moveTo>
                    <a:pt x="0" y="0"/>
                  </a:moveTo>
                  <a:lnTo>
                    <a:pt x="4944576" y="0"/>
                  </a:lnTo>
                  <a:lnTo>
                    <a:pt x="4944576" y="918865"/>
                  </a:lnTo>
                  <a:lnTo>
                    <a:pt x="0" y="918865"/>
                  </a:lnTo>
                  <a:close/>
                </a:path>
              </a:pathLst>
            </a:custGeom>
            <a:blipFill>
              <a:blip r:embed="rId2">
                <a:alphaModFix amt="0"/>
              </a:blip>
              <a:stretch>
                <a:fillRect l="0" t="-37511" r="-30683" b="-136539"/>
              </a:stretch>
            </a:blipFill>
          </p:spPr>
        </p:sp>
        <p:sp>
          <p:nvSpPr>
            <p:cNvPr name="TextBox 155" id="155"/>
            <p:cNvSpPr txBox="true"/>
            <p:nvPr/>
          </p:nvSpPr>
          <p:spPr>
            <a:xfrm>
              <a:off x="0" y="-38100"/>
              <a:ext cx="4944576" cy="956965"/>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Mesures horaires de pollution atmosphérique</a:t>
              </a:r>
            </a:p>
          </p:txBody>
        </p:sp>
      </p:grpSp>
      <p:grpSp>
        <p:nvGrpSpPr>
          <p:cNvPr name="Group 156" id="156"/>
          <p:cNvGrpSpPr/>
          <p:nvPr/>
        </p:nvGrpSpPr>
        <p:grpSpPr>
          <a:xfrm rot="0">
            <a:off x="9364056" y="7801463"/>
            <a:ext cx="4007752" cy="1771788"/>
            <a:chOff x="0" y="0"/>
            <a:chExt cx="5343670" cy="2362384"/>
          </a:xfrm>
        </p:grpSpPr>
        <p:sp>
          <p:nvSpPr>
            <p:cNvPr name="Freeform 157" id="157"/>
            <p:cNvSpPr/>
            <p:nvPr/>
          </p:nvSpPr>
          <p:spPr>
            <a:xfrm flipH="false" flipV="false" rot="0">
              <a:off x="12925" y="6779"/>
              <a:ext cx="5317752" cy="2348790"/>
            </a:xfrm>
            <a:custGeom>
              <a:avLst/>
              <a:gdLst/>
              <a:ahLst/>
              <a:cxnLst/>
              <a:rect r="r" b="b" t="t" l="l"/>
              <a:pathLst>
                <a:path h="2348790" w="5317752">
                  <a:moveTo>
                    <a:pt x="0" y="0"/>
                  </a:moveTo>
                  <a:lnTo>
                    <a:pt x="5317752" y="0"/>
                  </a:lnTo>
                  <a:lnTo>
                    <a:pt x="5317752" y="2348790"/>
                  </a:lnTo>
                  <a:lnTo>
                    <a:pt x="0" y="2348790"/>
                  </a:lnTo>
                  <a:close/>
                </a:path>
              </a:pathLst>
            </a:custGeom>
            <a:solidFill>
              <a:srgbClr val="ECFDF5"/>
            </a:solidFill>
          </p:spPr>
        </p:sp>
        <p:sp>
          <p:nvSpPr>
            <p:cNvPr name="Freeform 158" id="158"/>
            <p:cNvSpPr/>
            <p:nvPr/>
          </p:nvSpPr>
          <p:spPr>
            <a:xfrm flipH="false" flipV="false" rot="0">
              <a:off x="0" y="0"/>
              <a:ext cx="5343601" cy="2362348"/>
            </a:xfrm>
            <a:custGeom>
              <a:avLst/>
              <a:gdLst/>
              <a:ahLst/>
              <a:cxnLst/>
              <a:rect r="r" b="b" t="t" l="l"/>
              <a:pathLst>
                <a:path h="2362348" w="5343601">
                  <a:moveTo>
                    <a:pt x="12925" y="0"/>
                  </a:moveTo>
                  <a:lnTo>
                    <a:pt x="5330677" y="0"/>
                  </a:lnTo>
                  <a:cubicBezTo>
                    <a:pt x="5337868" y="0"/>
                    <a:pt x="5343601" y="3058"/>
                    <a:pt x="5343601" y="6779"/>
                  </a:cubicBezTo>
                  <a:lnTo>
                    <a:pt x="5343601" y="2355569"/>
                  </a:lnTo>
                  <a:cubicBezTo>
                    <a:pt x="5343601" y="2359341"/>
                    <a:pt x="5337771" y="2362348"/>
                    <a:pt x="5330677" y="2362348"/>
                  </a:cubicBezTo>
                  <a:lnTo>
                    <a:pt x="12925" y="2362348"/>
                  </a:lnTo>
                  <a:cubicBezTo>
                    <a:pt x="5734" y="2362348"/>
                    <a:pt x="0" y="2359290"/>
                    <a:pt x="0" y="2355569"/>
                  </a:cubicBezTo>
                  <a:lnTo>
                    <a:pt x="0" y="6779"/>
                  </a:lnTo>
                  <a:cubicBezTo>
                    <a:pt x="0" y="3058"/>
                    <a:pt x="5831" y="0"/>
                    <a:pt x="12925" y="0"/>
                  </a:cubicBezTo>
                  <a:moveTo>
                    <a:pt x="12925" y="13610"/>
                  </a:moveTo>
                  <a:lnTo>
                    <a:pt x="12925" y="6779"/>
                  </a:lnTo>
                  <a:lnTo>
                    <a:pt x="25947" y="6779"/>
                  </a:lnTo>
                  <a:lnTo>
                    <a:pt x="25947" y="2355569"/>
                  </a:lnTo>
                  <a:lnTo>
                    <a:pt x="12925" y="2355569"/>
                  </a:lnTo>
                  <a:lnTo>
                    <a:pt x="12925" y="2348790"/>
                  </a:lnTo>
                  <a:lnTo>
                    <a:pt x="5330677" y="2348790"/>
                  </a:lnTo>
                  <a:lnTo>
                    <a:pt x="5330677" y="2355569"/>
                  </a:lnTo>
                  <a:lnTo>
                    <a:pt x="5317751" y="2355569"/>
                  </a:lnTo>
                  <a:lnTo>
                    <a:pt x="5317751" y="6779"/>
                  </a:lnTo>
                  <a:lnTo>
                    <a:pt x="5330677" y="6779"/>
                  </a:lnTo>
                  <a:lnTo>
                    <a:pt x="5330677" y="13610"/>
                  </a:lnTo>
                  <a:lnTo>
                    <a:pt x="12925" y="13610"/>
                  </a:lnTo>
                  <a:close/>
                </a:path>
              </a:pathLst>
            </a:custGeom>
            <a:solidFill>
              <a:srgbClr val="059669"/>
            </a:solidFill>
          </p:spPr>
        </p:sp>
      </p:grpSp>
      <p:grpSp>
        <p:nvGrpSpPr>
          <p:cNvPr name="Group 159" id="159"/>
          <p:cNvGrpSpPr/>
          <p:nvPr/>
        </p:nvGrpSpPr>
        <p:grpSpPr>
          <a:xfrm rot="0">
            <a:off x="9364056" y="7801463"/>
            <a:ext cx="4007752" cy="524191"/>
            <a:chOff x="0" y="0"/>
            <a:chExt cx="5343670" cy="698921"/>
          </a:xfrm>
        </p:grpSpPr>
        <p:sp>
          <p:nvSpPr>
            <p:cNvPr name="Freeform 160" id="160"/>
            <p:cNvSpPr/>
            <p:nvPr/>
          </p:nvSpPr>
          <p:spPr>
            <a:xfrm flipH="false" flipV="false" rot="0">
              <a:off x="12925" y="10667"/>
              <a:ext cx="5317752" cy="677532"/>
            </a:xfrm>
            <a:custGeom>
              <a:avLst/>
              <a:gdLst/>
              <a:ahLst/>
              <a:cxnLst/>
              <a:rect r="r" b="b" t="t" l="l"/>
              <a:pathLst>
                <a:path h="677532" w="5317752">
                  <a:moveTo>
                    <a:pt x="0" y="0"/>
                  </a:moveTo>
                  <a:lnTo>
                    <a:pt x="5317752" y="0"/>
                  </a:lnTo>
                  <a:lnTo>
                    <a:pt x="5317752" y="677531"/>
                  </a:lnTo>
                  <a:lnTo>
                    <a:pt x="0" y="677531"/>
                  </a:lnTo>
                  <a:close/>
                </a:path>
              </a:pathLst>
            </a:custGeom>
            <a:solidFill>
              <a:srgbClr val="059669"/>
            </a:solidFill>
          </p:spPr>
        </p:sp>
        <p:sp>
          <p:nvSpPr>
            <p:cNvPr name="Freeform 161" id="161"/>
            <p:cNvSpPr/>
            <p:nvPr/>
          </p:nvSpPr>
          <p:spPr>
            <a:xfrm flipH="false" flipV="false" rot="0">
              <a:off x="0" y="0"/>
              <a:ext cx="5343601" cy="698867"/>
            </a:xfrm>
            <a:custGeom>
              <a:avLst/>
              <a:gdLst/>
              <a:ahLst/>
              <a:cxnLst/>
              <a:rect r="r" b="b" t="t" l="l"/>
              <a:pathLst>
                <a:path h="698867" w="5343601">
                  <a:moveTo>
                    <a:pt x="12925" y="0"/>
                  </a:moveTo>
                  <a:lnTo>
                    <a:pt x="5330677" y="0"/>
                  </a:lnTo>
                  <a:cubicBezTo>
                    <a:pt x="5337868" y="0"/>
                    <a:pt x="5343601" y="4812"/>
                    <a:pt x="5343601" y="10667"/>
                  </a:cubicBezTo>
                  <a:lnTo>
                    <a:pt x="5343601" y="688198"/>
                  </a:lnTo>
                  <a:cubicBezTo>
                    <a:pt x="5343601" y="694133"/>
                    <a:pt x="5337771" y="698865"/>
                    <a:pt x="5330677" y="698865"/>
                  </a:cubicBezTo>
                  <a:lnTo>
                    <a:pt x="12925" y="698865"/>
                  </a:lnTo>
                  <a:cubicBezTo>
                    <a:pt x="5831" y="698959"/>
                    <a:pt x="0" y="694133"/>
                    <a:pt x="0" y="688198"/>
                  </a:cubicBezTo>
                  <a:lnTo>
                    <a:pt x="0" y="10667"/>
                  </a:lnTo>
                  <a:cubicBezTo>
                    <a:pt x="0" y="4812"/>
                    <a:pt x="5831" y="0"/>
                    <a:pt x="12925" y="0"/>
                  </a:cubicBezTo>
                  <a:moveTo>
                    <a:pt x="12925" y="21413"/>
                  </a:moveTo>
                  <a:lnTo>
                    <a:pt x="12925" y="10667"/>
                  </a:lnTo>
                  <a:lnTo>
                    <a:pt x="25947" y="10667"/>
                  </a:lnTo>
                  <a:lnTo>
                    <a:pt x="25947" y="688198"/>
                  </a:lnTo>
                  <a:lnTo>
                    <a:pt x="12925" y="688198"/>
                  </a:lnTo>
                  <a:lnTo>
                    <a:pt x="12925" y="677532"/>
                  </a:lnTo>
                  <a:lnTo>
                    <a:pt x="5330677" y="677532"/>
                  </a:lnTo>
                  <a:lnTo>
                    <a:pt x="5330677" y="688199"/>
                  </a:lnTo>
                  <a:lnTo>
                    <a:pt x="5317751" y="688199"/>
                  </a:lnTo>
                  <a:lnTo>
                    <a:pt x="5317751" y="10667"/>
                  </a:lnTo>
                  <a:lnTo>
                    <a:pt x="5330677" y="10667"/>
                  </a:lnTo>
                  <a:lnTo>
                    <a:pt x="5330677" y="21413"/>
                  </a:lnTo>
                  <a:lnTo>
                    <a:pt x="12925" y="21413"/>
                  </a:lnTo>
                  <a:close/>
                </a:path>
              </a:pathLst>
            </a:custGeom>
            <a:solidFill>
              <a:srgbClr val="059669"/>
            </a:solidFill>
          </p:spPr>
        </p:sp>
      </p:grpSp>
      <p:grpSp>
        <p:nvGrpSpPr>
          <p:cNvPr name="Group 162" id="162"/>
          <p:cNvGrpSpPr/>
          <p:nvPr/>
        </p:nvGrpSpPr>
        <p:grpSpPr>
          <a:xfrm rot="0">
            <a:off x="9373772" y="7809481"/>
            <a:ext cx="3988314" cy="508149"/>
            <a:chOff x="0" y="0"/>
            <a:chExt cx="5317751" cy="677532"/>
          </a:xfrm>
        </p:grpSpPr>
        <p:sp>
          <p:nvSpPr>
            <p:cNvPr name="Freeform 163" id="163"/>
            <p:cNvSpPr/>
            <p:nvPr/>
          </p:nvSpPr>
          <p:spPr>
            <a:xfrm flipH="false" flipV="false" rot="0">
              <a:off x="0" y="0"/>
              <a:ext cx="5317751" cy="677532"/>
            </a:xfrm>
            <a:custGeom>
              <a:avLst/>
              <a:gdLst/>
              <a:ahLst/>
              <a:cxnLst/>
              <a:rect r="r" b="b" t="t" l="l"/>
              <a:pathLst>
                <a:path h="677532" w="5317751">
                  <a:moveTo>
                    <a:pt x="0" y="0"/>
                  </a:moveTo>
                  <a:lnTo>
                    <a:pt x="5317751" y="0"/>
                  </a:lnTo>
                  <a:lnTo>
                    <a:pt x="5317751" y="677532"/>
                  </a:lnTo>
                  <a:lnTo>
                    <a:pt x="0" y="677532"/>
                  </a:lnTo>
                  <a:close/>
                </a:path>
              </a:pathLst>
            </a:custGeom>
            <a:blipFill>
              <a:blip r:embed="rId2">
                <a:alphaModFix amt="0"/>
              </a:blip>
              <a:stretch>
                <a:fillRect l="0" t="-120681" r="-30683" b="-179034"/>
              </a:stretch>
            </a:blipFill>
          </p:spPr>
        </p:sp>
        <p:sp>
          <p:nvSpPr>
            <p:cNvPr name="TextBox 164" id="164"/>
            <p:cNvSpPr txBox="true"/>
            <p:nvPr/>
          </p:nvSpPr>
          <p:spPr>
            <a:xfrm>
              <a:off x="0" y="-38100"/>
              <a:ext cx="5317751" cy="71563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dct:publisher</a:t>
              </a:r>
            </a:p>
          </p:txBody>
        </p:sp>
      </p:grpSp>
      <p:grpSp>
        <p:nvGrpSpPr>
          <p:cNvPr name="Group 165" id="165"/>
          <p:cNvGrpSpPr/>
          <p:nvPr/>
        </p:nvGrpSpPr>
        <p:grpSpPr>
          <a:xfrm rot="0">
            <a:off x="9364056" y="8301543"/>
            <a:ext cx="3998029" cy="775208"/>
            <a:chOff x="0" y="0"/>
            <a:chExt cx="5330706" cy="1033611"/>
          </a:xfrm>
        </p:grpSpPr>
        <p:sp>
          <p:nvSpPr>
            <p:cNvPr name="Freeform 166" id="166"/>
            <p:cNvSpPr/>
            <p:nvPr/>
          </p:nvSpPr>
          <p:spPr>
            <a:xfrm flipH="false" flipV="false" rot="0">
              <a:off x="0" y="0"/>
              <a:ext cx="5330706" cy="1033611"/>
            </a:xfrm>
            <a:custGeom>
              <a:avLst/>
              <a:gdLst/>
              <a:ahLst/>
              <a:cxnLst/>
              <a:rect r="r" b="b" t="t" l="l"/>
              <a:pathLst>
                <a:path h="1033611" w="5330706">
                  <a:moveTo>
                    <a:pt x="0" y="0"/>
                  </a:moveTo>
                  <a:lnTo>
                    <a:pt x="5330706" y="0"/>
                  </a:lnTo>
                  <a:lnTo>
                    <a:pt x="5330706" y="1033611"/>
                  </a:lnTo>
                  <a:lnTo>
                    <a:pt x="0" y="1033611"/>
                  </a:lnTo>
                  <a:close/>
                </a:path>
              </a:pathLst>
            </a:custGeom>
            <a:blipFill>
              <a:blip r:embed="rId2">
                <a:alphaModFix amt="0"/>
              </a:blip>
              <a:stretch>
                <a:fillRect l="0" t="-65194" r="-21217" b="-78431"/>
              </a:stretch>
            </a:blipFill>
          </p:spPr>
        </p:sp>
        <p:sp>
          <p:nvSpPr>
            <p:cNvPr name="TextBox 167" id="167"/>
            <p:cNvSpPr txBox="true"/>
            <p:nvPr/>
          </p:nvSpPr>
          <p:spPr>
            <a:xfrm>
              <a:off x="0" y="-47625"/>
              <a:ext cx="5330706" cy="1081236"/>
            </a:xfrm>
            <a:prstGeom prst="rect">
              <a:avLst/>
            </a:prstGeom>
          </p:spPr>
          <p:txBody>
            <a:bodyPr anchor="ctr" rtlCol="false" tIns="0" lIns="0" bIns="0" rIns="0"/>
            <a:lstStyle/>
            <a:p>
              <a:pPr algn="ctr">
                <a:lnSpc>
                  <a:spcPts val="2640"/>
                </a:lnSpc>
              </a:pPr>
              <a:r>
                <a:rPr lang="en-US" sz="2200" b="true">
                  <a:solidFill>
                    <a:srgbClr val="059669"/>
                  </a:solidFill>
                  <a:latin typeface="Calibri (MS) Bold"/>
                  <a:ea typeface="Calibri (MS) Bold"/>
                  <a:cs typeface="Calibri (MS) Bold"/>
                  <a:sym typeface="Calibri (MS) Bold"/>
                </a:rPr>
                <a:t>Organisation qui publie les données</a:t>
              </a:r>
            </a:p>
          </p:txBody>
        </p:sp>
      </p:grpSp>
      <p:grpSp>
        <p:nvGrpSpPr>
          <p:cNvPr name="Group 168" id="168"/>
          <p:cNvGrpSpPr/>
          <p:nvPr/>
        </p:nvGrpSpPr>
        <p:grpSpPr>
          <a:xfrm rot="0">
            <a:off x="9399013" y="8904201"/>
            <a:ext cx="3963072" cy="551855"/>
            <a:chOff x="0" y="0"/>
            <a:chExt cx="5284096" cy="735807"/>
          </a:xfrm>
        </p:grpSpPr>
        <p:sp>
          <p:nvSpPr>
            <p:cNvPr name="Freeform 169" id="169"/>
            <p:cNvSpPr/>
            <p:nvPr/>
          </p:nvSpPr>
          <p:spPr>
            <a:xfrm flipH="false" flipV="false" rot="0">
              <a:off x="0" y="0"/>
              <a:ext cx="5284096" cy="735807"/>
            </a:xfrm>
            <a:custGeom>
              <a:avLst/>
              <a:gdLst/>
              <a:ahLst/>
              <a:cxnLst/>
              <a:rect r="r" b="b" t="t" l="l"/>
              <a:pathLst>
                <a:path h="735807" w="5284096">
                  <a:moveTo>
                    <a:pt x="0" y="0"/>
                  </a:moveTo>
                  <a:lnTo>
                    <a:pt x="5284096" y="0"/>
                  </a:lnTo>
                  <a:lnTo>
                    <a:pt x="5284096" y="735807"/>
                  </a:lnTo>
                  <a:lnTo>
                    <a:pt x="0" y="735807"/>
                  </a:lnTo>
                  <a:close/>
                </a:path>
              </a:pathLst>
            </a:custGeom>
            <a:blipFill>
              <a:blip r:embed="rId2">
                <a:alphaModFix amt="0"/>
              </a:blip>
              <a:stretch>
                <a:fillRect l="0" t="-46843" r="-22286" b="-195386"/>
              </a:stretch>
            </a:blipFill>
          </p:spPr>
        </p:sp>
        <p:sp>
          <p:nvSpPr>
            <p:cNvPr name="TextBox 170" id="170"/>
            <p:cNvSpPr txBox="true"/>
            <p:nvPr/>
          </p:nvSpPr>
          <p:spPr>
            <a:xfrm>
              <a:off x="0" y="-38100"/>
              <a:ext cx="5284096" cy="773907"/>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European Environment Agency</a:t>
              </a:r>
            </a:p>
          </p:txBody>
        </p:sp>
      </p:grpSp>
      <p:grpSp>
        <p:nvGrpSpPr>
          <p:cNvPr name="Group 171" id="171"/>
          <p:cNvGrpSpPr/>
          <p:nvPr/>
        </p:nvGrpSpPr>
        <p:grpSpPr>
          <a:xfrm rot="0">
            <a:off x="13774406" y="3777480"/>
            <a:ext cx="4007752" cy="1771788"/>
            <a:chOff x="0" y="0"/>
            <a:chExt cx="5343670" cy="2362384"/>
          </a:xfrm>
        </p:grpSpPr>
        <p:sp>
          <p:nvSpPr>
            <p:cNvPr name="Freeform 172" id="172"/>
            <p:cNvSpPr/>
            <p:nvPr/>
          </p:nvSpPr>
          <p:spPr>
            <a:xfrm flipH="false" flipV="false" rot="0">
              <a:off x="12925" y="6779"/>
              <a:ext cx="5317752" cy="2348790"/>
            </a:xfrm>
            <a:custGeom>
              <a:avLst/>
              <a:gdLst/>
              <a:ahLst/>
              <a:cxnLst/>
              <a:rect r="r" b="b" t="t" l="l"/>
              <a:pathLst>
                <a:path h="2348790" w="5317752">
                  <a:moveTo>
                    <a:pt x="0" y="0"/>
                  </a:moveTo>
                  <a:lnTo>
                    <a:pt x="5317752" y="0"/>
                  </a:lnTo>
                  <a:lnTo>
                    <a:pt x="5317752" y="2348790"/>
                  </a:lnTo>
                  <a:lnTo>
                    <a:pt x="0" y="2348790"/>
                  </a:lnTo>
                  <a:close/>
                </a:path>
              </a:pathLst>
            </a:custGeom>
            <a:solidFill>
              <a:srgbClr val="ECFDF5"/>
            </a:solidFill>
          </p:spPr>
        </p:sp>
        <p:sp>
          <p:nvSpPr>
            <p:cNvPr name="Freeform 173" id="173"/>
            <p:cNvSpPr/>
            <p:nvPr/>
          </p:nvSpPr>
          <p:spPr>
            <a:xfrm flipH="false" flipV="false" rot="0">
              <a:off x="0" y="0"/>
              <a:ext cx="5343601" cy="2362348"/>
            </a:xfrm>
            <a:custGeom>
              <a:avLst/>
              <a:gdLst/>
              <a:ahLst/>
              <a:cxnLst/>
              <a:rect r="r" b="b" t="t" l="l"/>
              <a:pathLst>
                <a:path h="2362348" w="5343601">
                  <a:moveTo>
                    <a:pt x="12925" y="0"/>
                  </a:moveTo>
                  <a:lnTo>
                    <a:pt x="5330677" y="0"/>
                  </a:lnTo>
                  <a:cubicBezTo>
                    <a:pt x="5337868" y="0"/>
                    <a:pt x="5343601" y="3058"/>
                    <a:pt x="5343601" y="6779"/>
                  </a:cubicBezTo>
                  <a:lnTo>
                    <a:pt x="5343601" y="2355569"/>
                  </a:lnTo>
                  <a:cubicBezTo>
                    <a:pt x="5343601" y="2359341"/>
                    <a:pt x="5337771" y="2362348"/>
                    <a:pt x="5330677" y="2362348"/>
                  </a:cubicBezTo>
                  <a:lnTo>
                    <a:pt x="12925" y="2362348"/>
                  </a:lnTo>
                  <a:cubicBezTo>
                    <a:pt x="5734" y="2362348"/>
                    <a:pt x="0" y="2359290"/>
                    <a:pt x="0" y="2355569"/>
                  </a:cubicBezTo>
                  <a:lnTo>
                    <a:pt x="0" y="6779"/>
                  </a:lnTo>
                  <a:cubicBezTo>
                    <a:pt x="0" y="3058"/>
                    <a:pt x="5831" y="0"/>
                    <a:pt x="12925" y="0"/>
                  </a:cubicBezTo>
                  <a:moveTo>
                    <a:pt x="12925" y="13610"/>
                  </a:moveTo>
                  <a:lnTo>
                    <a:pt x="12925" y="6779"/>
                  </a:lnTo>
                  <a:lnTo>
                    <a:pt x="25947" y="6779"/>
                  </a:lnTo>
                  <a:lnTo>
                    <a:pt x="25947" y="2355569"/>
                  </a:lnTo>
                  <a:lnTo>
                    <a:pt x="12925" y="2355569"/>
                  </a:lnTo>
                  <a:lnTo>
                    <a:pt x="12925" y="2348790"/>
                  </a:lnTo>
                  <a:lnTo>
                    <a:pt x="5330677" y="2348790"/>
                  </a:lnTo>
                  <a:lnTo>
                    <a:pt x="5330677" y="2355569"/>
                  </a:lnTo>
                  <a:lnTo>
                    <a:pt x="5317751" y="2355569"/>
                  </a:lnTo>
                  <a:lnTo>
                    <a:pt x="5317751" y="6779"/>
                  </a:lnTo>
                  <a:lnTo>
                    <a:pt x="5330677" y="6779"/>
                  </a:lnTo>
                  <a:lnTo>
                    <a:pt x="5330677" y="13610"/>
                  </a:lnTo>
                  <a:lnTo>
                    <a:pt x="12925" y="13610"/>
                  </a:lnTo>
                  <a:close/>
                </a:path>
              </a:pathLst>
            </a:custGeom>
            <a:solidFill>
              <a:srgbClr val="059669"/>
            </a:solidFill>
          </p:spPr>
        </p:sp>
      </p:grpSp>
      <p:grpSp>
        <p:nvGrpSpPr>
          <p:cNvPr name="Group 174" id="174"/>
          <p:cNvGrpSpPr/>
          <p:nvPr/>
        </p:nvGrpSpPr>
        <p:grpSpPr>
          <a:xfrm rot="0">
            <a:off x="13774406" y="3777480"/>
            <a:ext cx="4007752" cy="524191"/>
            <a:chOff x="0" y="0"/>
            <a:chExt cx="5343670" cy="698921"/>
          </a:xfrm>
        </p:grpSpPr>
        <p:sp>
          <p:nvSpPr>
            <p:cNvPr name="Freeform 175" id="175"/>
            <p:cNvSpPr/>
            <p:nvPr/>
          </p:nvSpPr>
          <p:spPr>
            <a:xfrm flipH="false" flipV="false" rot="0">
              <a:off x="12925" y="10667"/>
              <a:ext cx="5317752" cy="677532"/>
            </a:xfrm>
            <a:custGeom>
              <a:avLst/>
              <a:gdLst/>
              <a:ahLst/>
              <a:cxnLst/>
              <a:rect r="r" b="b" t="t" l="l"/>
              <a:pathLst>
                <a:path h="677532" w="5317752">
                  <a:moveTo>
                    <a:pt x="0" y="0"/>
                  </a:moveTo>
                  <a:lnTo>
                    <a:pt x="5317752" y="0"/>
                  </a:lnTo>
                  <a:lnTo>
                    <a:pt x="5317752" y="677531"/>
                  </a:lnTo>
                  <a:lnTo>
                    <a:pt x="0" y="677531"/>
                  </a:lnTo>
                  <a:close/>
                </a:path>
              </a:pathLst>
            </a:custGeom>
            <a:solidFill>
              <a:srgbClr val="059669"/>
            </a:solidFill>
          </p:spPr>
        </p:sp>
        <p:sp>
          <p:nvSpPr>
            <p:cNvPr name="Freeform 176" id="176"/>
            <p:cNvSpPr/>
            <p:nvPr/>
          </p:nvSpPr>
          <p:spPr>
            <a:xfrm flipH="false" flipV="false" rot="0">
              <a:off x="0" y="0"/>
              <a:ext cx="5343601" cy="698867"/>
            </a:xfrm>
            <a:custGeom>
              <a:avLst/>
              <a:gdLst/>
              <a:ahLst/>
              <a:cxnLst/>
              <a:rect r="r" b="b" t="t" l="l"/>
              <a:pathLst>
                <a:path h="698867" w="5343601">
                  <a:moveTo>
                    <a:pt x="12925" y="0"/>
                  </a:moveTo>
                  <a:lnTo>
                    <a:pt x="5330677" y="0"/>
                  </a:lnTo>
                  <a:cubicBezTo>
                    <a:pt x="5337868" y="0"/>
                    <a:pt x="5343601" y="4812"/>
                    <a:pt x="5343601" y="10667"/>
                  </a:cubicBezTo>
                  <a:lnTo>
                    <a:pt x="5343601" y="688198"/>
                  </a:lnTo>
                  <a:cubicBezTo>
                    <a:pt x="5343601" y="694133"/>
                    <a:pt x="5337771" y="698865"/>
                    <a:pt x="5330677" y="698865"/>
                  </a:cubicBezTo>
                  <a:lnTo>
                    <a:pt x="12925" y="698865"/>
                  </a:lnTo>
                  <a:cubicBezTo>
                    <a:pt x="5831" y="698959"/>
                    <a:pt x="0" y="694133"/>
                    <a:pt x="0" y="688198"/>
                  </a:cubicBezTo>
                  <a:lnTo>
                    <a:pt x="0" y="10667"/>
                  </a:lnTo>
                  <a:cubicBezTo>
                    <a:pt x="0" y="4812"/>
                    <a:pt x="5831" y="0"/>
                    <a:pt x="12925" y="0"/>
                  </a:cubicBezTo>
                  <a:moveTo>
                    <a:pt x="12925" y="21413"/>
                  </a:moveTo>
                  <a:lnTo>
                    <a:pt x="12925" y="10667"/>
                  </a:lnTo>
                  <a:lnTo>
                    <a:pt x="25947" y="10667"/>
                  </a:lnTo>
                  <a:lnTo>
                    <a:pt x="25947" y="688198"/>
                  </a:lnTo>
                  <a:lnTo>
                    <a:pt x="12925" y="688198"/>
                  </a:lnTo>
                  <a:lnTo>
                    <a:pt x="12925" y="677532"/>
                  </a:lnTo>
                  <a:lnTo>
                    <a:pt x="5330677" y="677532"/>
                  </a:lnTo>
                  <a:lnTo>
                    <a:pt x="5330677" y="688199"/>
                  </a:lnTo>
                  <a:lnTo>
                    <a:pt x="5317751" y="688199"/>
                  </a:lnTo>
                  <a:lnTo>
                    <a:pt x="5317751" y="10667"/>
                  </a:lnTo>
                  <a:lnTo>
                    <a:pt x="5330677" y="10667"/>
                  </a:lnTo>
                  <a:lnTo>
                    <a:pt x="5330677" y="21413"/>
                  </a:lnTo>
                  <a:lnTo>
                    <a:pt x="12925" y="21413"/>
                  </a:lnTo>
                  <a:close/>
                </a:path>
              </a:pathLst>
            </a:custGeom>
            <a:solidFill>
              <a:srgbClr val="059669"/>
            </a:solidFill>
          </p:spPr>
        </p:sp>
      </p:grpSp>
      <p:grpSp>
        <p:nvGrpSpPr>
          <p:cNvPr name="Group 177" id="177"/>
          <p:cNvGrpSpPr/>
          <p:nvPr/>
        </p:nvGrpSpPr>
        <p:grpSpPr>
          <a:xfrm rot="0">
            <a:off x="13784122" y="3785498"/>
            <a:ext cx="3988314" cy="508149"/>
            <a:chOff x="0" y="0"/>
            <a:chExt cx="5317751" cy="677532"/>
          </a:xfrm>
        </p:grpSpPr>
        <p:sp>
          <p:nvSpPr>
            <p:cNvPr name="Freeform 178" id="178"/>
            <p:cNvSpPr/>
            <p:nvPr/>
          </p:nvSpPr>
          <p:spPr>
            <a:xfrm flipH="false" flipV="false" rot="0">
              <a:off x="0" y="0"/>
              <a:ext cx="5317751" cy="677532"/>
            </a:xfrm>
            <a:custGeom>
              <a:avLst/>
              <a:gdLst/>
              <a:ahLst/>
              <a:cxnLst/>
              <a:rect r="r" b="b" t="t" l="l"/>
              <a:pathLst>
                <a:path h="677532" w="5317751">
                  <a:moveTo>
                    <a:pt x="0" y="0"/>
                  </a:moveTo>
                  <a:lnTo>
                    <a:pt x="5317751" y="0"/>
                  </a:lnTo>
                  <a:lnTo>
                    <a:pt x="5317751" y="677532"/>
                  </a:lnTo>
                  <a:lnTo>
                    <a:pt x="0" y="677532"/>
                  </a:lnTo>
                  <a:close/>
                </a:path>
              </a:pathLst>
            </a:custGeom>
            <a:blipFill>
              <a:blip r:embed="rId2">
                <a:alphaModFix amt="0"/>
              </a:blip>
              <a:stretch>
                <a:fillRect l="0" t="-120681" r="-30683" b="-179034"/>
              </a:stretch>
            </a:blipFill>
          </p:spPr>
        </p:sp>
        <p:sp>
          <p:nvSpPr>
            <p:cNvPr name="TextBox 179" id="179"/>
            <p:cNvSpPr txBox="true"/>
            <p:nvPr/>
          </p:nvSpPr>
          <p:spPr>
            <a:xfrm>
              <a:off x="0" y="-38100"/>
              <a:ext cx="5317751" cy="71563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dct:license</a:t>
              </a:r>
            </a:p>
          </p:txBody>
        </p:sp>
      </p:grpSp>
      <p:grpSp>
        <p:nvGrpSpPr>
          <p:cNvPr name="Group 180" id="180"/>
          <p:cNvGrpSpPr/>
          <p:nvPr/>
        </p:nvGrpSpPr>
        <p:grpSpPr>
          <a:xfrm rot="0">
            <a:off x="13774406" y="4441166"/>
            <a:ext cx="3998029" cy="444416"/>
            <a:chOff x="0" y="0"/>
            <a:chExt cx="5330706" cy="592555"/>
          </a:xfrm>
        </p:grpSpPr>
        <p:sp>
          <p:nvSpPr>
            <p:cNvPr name="Freeform 181" id="181"/>
            <p:cNvSpPr/>
            <p:nvPr/>
          </p:nvSpPr>
          <p:spPr>
            <a:xfrm flipH="false" flipV="false" rot="0">
              <a:off x="0" y="0"/>
              <a:ext cx="5330706" cy="592555"/>
            </a:xfrm>
            <a:custGeom>
              <a:avLst/>
              <a:gdLst/>
              <a:ahLst/>
              <a:cxnLst/>
              <a:rect r="r" b="b" t="t" l="l"/>
              <a:pathLst>
                <a:path h="592555" w="5330706">
                  <a:moveTo>
                    <a:pt x="0" y="0"/>
                  </a:moveTo>
                  <a:lnTo>
                    <a:pt x="5330706" y="0"/>
                  </a:lnTo>
                  <a:lnTo>
                    <a:pt x="5330706" y="592555"/>
                  </a:lnTo>
                  <a:lnTo>
                    <a:pt x="0" y="592555"/>
                  </a:lnTo>
                  <a:close/>
                </a:path>
              </a:pathLst>
            </a:custGeom>
            <a:blipFill>
              <a:blip r:embed="rId2">
                <a:alphaModFix amt="0"/>
              </a:blip>
              <a:stretch>
                <a:fillRect l="0" t="-113721" r="-21217" b="-211244"/>
              </a:stretch>
            </a:blipFill>
          </p:spPr>
        </p:sp>
        <p:sp>
          <p:nvSpPr>
            <p:cNvPr name="TextBox 182" id="182"/>
            <p:cNvSpPr txBox="true"/>
            <p:nvPr/>
          </p:nvSpPr>
          <p:spPr>
            <a:xfrm>
              <a:off x="0" y="-47625"/>
              <a:ext cx="5330706" cy="640180"/>
            </a:xfrm>
            <a:prstGeom prst="rect">
              <a:avLst/>
            </a:prstGeom>
          </p:spPr>
          <p:txBody>
            <a:bodyPr anchor="ctr" rtlCol="false" tIns="0" lIns="0" bIns="0" rIns="0"/>
            <a:lstStyle/>
            <a:p>
              <a:pPr algn="ctr">
                <a:lnSpc>
                  <a:spcPts val="2640"/>
                </a:lnSpc>
              </a:pPr>
              <a:r>
                <a:rPr lang="en-US" sz="2200" b="true">
                  <a:solidFill>
                    <a:srgbClr val="059669"/>
                  </a:solidFill>
                  <a:latin typeface="Calibri (MS) Bold"/>
                  <a:ea typeface="Calibri (MS) Bold"/>
                  <a:cs typeface="Calibri (MS) Bold"/>
                  <a:sym typeface="Calibri (MS) Bold"/>
                </a:rPr>
                <a:t>Licence d’utilisation</a:t>
              </a:r>
            </a:p>
          </p:txBody>
        </p:sp>
      </p:grpSp>
      <p:grpSp>
        <p:nvGrpSpPr>
          <p:cNvPr name="Group 183" id="183"/>
          <p:cNvGrpSpPr/>
          <p:nvPr/>
        </p:nvGrpSpPr>
        <p:grpSpPr>
          <a:xfrm rot="0">
            <a:off x="13809363" y="4880218"/>
            <a:ext cx="3963072" cy="551855"/>
            <a:chOff x="0" y="0"/>
            <a:chExt cx="5284096" cy="735807"/>
          </a:xfrm>
        </p:grpSpPr>
        <p:sp>
          <p:nvSpPr>
            <p:cNvPr name="Freeform 184" id="184"/>
            <p:cNvSpPr/>
            <p:nvPr/>
          </p:nvSpPr>
          <p:spPr>
            <a:xfrm flipH="false" flipV="false" rot="0">
              <a:off x="0" y="0"/>
              <a:ext cx="5284096" cy="735807"/>
            </a:xfrm>
            <a:custGeom>
              <a:avLst/>
              <a:gdLst/>
              <a:ahLst/>
              <a:cxnLst/>
              <a:rect r="r" b="b" t="t" l="l"/>
              <a:pathLst>
                <a:path h="735807" w="5284096">
                  <a:moveTo>
                    <a:pt x="0" y="0"/>
                  </a:moveTo>
                  <a:lnTo>
                    <a:pt x="5284096" y="0"/>
                  </a:lnTo>
                  <a:lnTo>
                    <a:pt x="5284096" y="735807"/>
                  </a:lnTo>
                  <a:lnTo>
                    <a:pt x="0" y="735807"/>
                  </a:lnTo>
                  <a:close/>
                </a:path>
              </a:pathLst>
            </a:custGeom>
            <a:blipFill>
              <a:blip r:embed="rId2">
                <a:alphaModFix amt="0"/>
              </a:blip>
              <a:stretch>
                <a:fillRect l="0" t="-46843" r="-22286" b="-195386"/>
              </a:stretch>
            </a:blipFill>
          </p:spPr>
        </p:sp>
        <p:sp>
          <p:nvSpPr>
            <p:cNvPr name="TextBox 185" id="185"/>
            <p:cNvSpPr txBox="true"/>
            <p:nvPr/>
          </p:nvSpPr>
          <p:spPr>
            <a:xfrm>
              <a:off x="0" y="-38100"/>
              <a:ext cx="5284096" cy="773907"/>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licence open data</a:t>
              </a:r>
            </a:p>
          </p:txBody>
        </p:sp>
      </p:grpSp>
      <p:grpSp>
        <p:nvGrpSpPr>
          <p:cNvPr name="Group 186" id="186"/>
          <p:cNvGrpSpPr/>
          <p:nvPr/>
        </p:nvGrpSpPr>
        <p:grpSpPr>
          <a:xfrm rot="0">
            <a:off x="13774406" y="5726359"/>
            <a:ext cx="4007752" cy="1771788"/>
            <a:chOff x="0" y="0"/>
            <a:chExt cx="5343670" cy="2362384"/>
          </a:xfrm>
        </p:grpSpPr>
        <p:sp>
          <p:nvSpPr>
            <p:cNvPr name="Freeform 187" id="187"/>
            <p:cNvSpPr/>
            <p:nvPr/>
          </p:nvSpPr>
          <p:spPr>
            <a:xfrm flipH="false" flipV="false" rot="0">
              <a:off x="12925" y="6779"/>
              <a:ext cx="5317752" cy="2348790"/>
            </a:xfrm>
            <a:custGeom>
              <a:avLst/>
              <a:gdLst/>
              <a:ahLst/>
              <a:cxnLst/>
              <a:rect r="r" b="b" t="t" l="l"/>
              <a:pathLst>
                <a:path h="2348790" w="5317752">
                  <a:moveTo>
                    <a:pt x="0" y="0"/>
                  </a:moveTo>
                  <a:lnTo>
                    <a:pt x="5317752" y="0"/>
                  </a:lnTo>
                  <a:lnTo>
                    <a:pt x="5317752" y="2348790"/>
                  </a:lnTo>
                  <a:lnTo>
                    <a:pt x="0" y="2348790"/>
                  </a:lnTo>
                  <a:close/>
                </a:path>
              </a:pathLst>
            </a:custGeom>
            <a:solidFill>
              <a:srgbClr val="ECFDF5"/>
            </a:solidFill>
          </p:spPr>
        </p:sp>
        <p:sp>
          <p:nvSpPr>
            <p:cNvPr name="Freeform 188" id="188"/>
            <p:cNvSpPr/>
            <p:nvPr/>
          </p:nvSpPr>
          <p:spPr>
            <a:xfrm flipH="false" flipV="false" rot="0">
              <a:off x="0" y="0"/>
              <a:ext cx="5343601" cy="2362348"/>
            </a:xfrm>
            <a:custGeom>
              <a:avLst/>
              <a:gdLst/>
              <a:ahLst/>
              <a:cxnLst/>
              <a:rect r="r" b="b" t="t" l="l"/>
              <a:pathLst>
                <a:path h="2362348" w="5343601">
                  <a:moveTo>
                    <a:pt x="12925" y="0"/>
                  </a:moveTo>
                  <a:lnTo>
                    <a:pt x="5330677" y="0"/>
                  </a:lnTo>
                  <a:cubicBezTo>
                    <a:pt x="5337868" y="0"/>
                    <a:pt x="5343601" y="3058"/>
                    <a:pt x="5343601" y="6779"/>
                  </a:cubicBezTo>
                  <a:lnTo>
                    <a:pt x="5343601" y="2355569"/>
                  </a:lnTo>
                  <a:cubicBezTo>
                    <a:pt x="5343601" y="2359341"/>
                    <a:pt x="5337771" y="2362348"/>
                    <a:pt x="5330677" y="2362348"/>
                  </a:cubicBezTo>
                  <a:lnTo>
                    <a:pt x="12925" y="2362348"/>
                  </a:lnTo>
                  <a:cubicBezTo>
                    <a:pt x="5734" y="2362348"/>
                    <a:pt x="0" y="2359290"/>
                    <a:pt x="0" y="2355569"/>
                  </a:cubicBezTo>
                  <a:lnTo>
                    <a:pt x="0" y="6779"/>
                  </a:lnTo>
                  <a:cubicBezTo>
                    <a:pt x="0" y="3058"/>
                    <a:pt x="5831" y="0"/>
                    <a:pt x="12925" y="0"/>
                  </a:cubicBezTo>
                  <a:moveTo>
                    <a:pt x="12925" y="13610"/>
                  </a:moveTo>
                  <a:lnTo>
                    <a:pt x="12925" y="6779"/>
                  </a:lnTo>
                  <a:lnTo>
                    <a:pt x="25947" y="6779"/>
                  </a:lnTo>
                  <a:lnTo>
                    <a:pt x="25947" y="2355569"/>
                  </a:lnTo>
                  <a:lnTo>
                    <a:pt x="12925" y="2355569"/>
                  </a:lnTo>
                  <a:lnTo>
                    <a:pt x="12925" y="2348790"/>
                  </a:lnTo>
                  <a:lnTo>
                    <a:pt x="5330677" y="2348790"/>
                  </a:lnTo>
                  <a:lnTo>
                    <a:pt x="5330677" y="2355569"/>
                  </a:lnTo>
                  <a:lnTo>
                    <a:pt x="5317751" y="2355569"/>
                  </a:lnTo>
                  <a:lnTo>
                    <a:pt x="5317751" y="6779"/>
                  </a:lnTo>
                  <a:lnTo>
                    <a:pt x="5330677" y="6779"/>
                  </a:lnTo>
                  <a:lnTo>
                    <a:pt x="5330677" y="13610"/>
                  </a:lnTo>
                  <a:lnTo>
                    <a:pt x="12925" y="13610"/>
                  </a:lnTo>
                  <a:close/>
                </a:path>
              </a:pathLst>
            </a:custGeom>
            <a:solidFill>
              <a:srgbClr val="059669"/>
            </a:solidFill>
          </p:spPr>
        </p:sp>
      </p:grpSp>
      <p:grpSp>
        <p:nvGrpSpPr>
          <p:cNvPr name="Group 189" id="189"/>
          <p:cNvGrpSpPr/>
          <p:nvPr/>
        </p:nvGrpSpPr>
        <p:grpSpPr>
          <a:xfrm rot="0">
            <a:off x="13774406" y="5726359"/>
            <a:ext cx="4007752" cy="524191"/>
            <a:chOff x="0" y="0"/>
            <a:chExt cx="5343670" cy="698921"/>
          </a:xfrm>
        </p:grpSpPr>
        <p:sp>
          <p:nvSpPr>
            <p:cNvPr name="Freeform 190" id="190"/>
            <p:cNvSpPr/>
            <p:nvPr/>
          </p:nvSpPr>
          <p:spPr>
            <a:xfrm flipH="false" flipV="false" rot="0">
              <a:off x="12925" y="10667"/>
              <a:ext cx="5317752" cy="677532"/>
            </a:xfrm>
            <a:custGeom>
              <a:avLst/>
              <a:gdLst/>
              <a:ahLst/>
              <a:cxnLst/>
              <a:rect r="r" b="b" t="t" l="l"/>
              <a:pathLst>
                <a:path h="677532" w="5317752">
                  <a:moveTo>
                    <a:pt x="0" y="0"/>
                  </a:moveTo>
                  <a:lnTo>
                    <a:pt x="5317752" y="0"/>
                  </a:lnTo>
                  <a:lnTo>
                    <a:pt x="5317752" y="677531"/>
                  </a:lnTo>
                  <a:lnTo>
                    <a:pt x="0" y="677531"/>
                  </a:lnTo>
                  <a:close/>
                </a:path>
              </a:pathLst>
            </a:custGeom>
            <a:solidFill>
              <a:srgbClr val="059669"/>
            </a:solidFill>
          </p:spPr>
        </p:sp>
        <p:sp>
          <p:nvSpPr>
            <p:cNvPr name="Freeform 191" id="191"/>
            <p:cNvSpPr/>
            <p:nvPr/>
          </p:nvSpPr>
          <p:spPr>
            <a:xfrm flipH="false" flipV="false" rot="0">
              <a:off x="0" y="0"/>
              <a:ext cx="5343601" cy="698867"/>
            </a:xfrm>
            <a:custGeom>
              <a:avLst/>
              <a:gdLst/>
              <a:ahLst/>
              <a:cxnLst/>
              <a:rect r="r" b="b" t="t" l="l"/>
              <a:pathLst>
                <a:path h="698867" w="5343601">
                  <a:moveTo>
                    <a:pt x="12925" y="0"/>
                  </a:moveTo>
                  <a:lnTo>
                    <a:pt x="5330677" y="0"/>
                  </a:lnTo>
                  <a:cubicBezTo>
                    <a:pt x="5337868" y="0"/>
                    <a:pt x="5343601" y="4812"/>
                    <a:pt x="5343601" y="10667"/>
                  </a:cubicBezTo>
                  <a:lnTo>
                    <a:pt x="5343601" y="688198"/>
                  </a:lnTo>
                  <a:cubicBezTo>
                    <a:pt x="5343601" y="694133"/>
                    <a:pt x="5337771" y="698865"/>
                    <a:pt x="5330677" y="698865"/>
                  </a:cubicBezTo>
                  <a:lnTo>
                    <a:pt x="12925" y="698865"/>
                  </a:lnTo>
                  <a:cubicBezTo>
                    <a:pt x="5831" y="698959"/>
                    <a:pt x="0" y="694133"/>
                    <a:pt x="0" y="688198"/>
                  </a:cubicBezTo>
                  <a:lnTo>
                    <a:pt x="0" y="10667"/>
                  </a:lnTo>
                  <a:cubicBezTo>
                    <a:pt x="0" y="4812"/>
                    <a:pt x="5831" y="0"/>
                    <a:pt x="12925" y="0"/>
                  </a:cubicBezTo>
                  <a:moveTo>
                    <a:pt x="12925" y="21413"/>
                  </a:moveTo>
                  <a:lnTo>
                    <a:pt x="12925" y="10667"/>
                  </a:lnTo>
                  <a:lnTo>
                    <a:pt x="25947" y="10667"/>
                  </a:lnTo>
                  <a:lnTo>
                    <a:pt x="25947" y="688198"/>
                  </a:lnTo>
                  <a:lnTo>
                    <a:pt x="12925" y="688198"/>
                  </a:lnTo>
                  <a:lnTo>
                    <a:pt x="12925" y="677532"/>
                  </a:lnTo>
                  <a:lnTo>
                    <a:pt x="5330677" y="677532"/>
                  </a:lnTo>
                  <a:lnTo>
                    <a:pt x="5330677" y="688199"/>
                  </a:lnTo>
                  <a:lnTo>
                    <a:pt x="5317751" y="688199"/>
                  </a:lnTo>
                  <a:lnTo>
                    <a:pt x="5317751" y="10667"/>
                  </a:lnTo>
                  <a:lnTo>
                    <a:pt x="5330677" y="10667"/>
                  </a:lnTo>
                  <a:lnTo>
                    <a:pt x="5330677" y="21413"/>
                  </a:lnTo>
                  <a:lnTo>
                    <a:pt x="12925" y="21413"/>
                  </a:lnTo>
                  <a:close/>
                </a:path>
              </a:pathLst>
            </a:custGeom>
            <a:solidFill>
              <a:srgbClr val="059669"/>
            </a:solidFill>
          </p:spPr>
        </p:sp>
      </p:grpSp>
      <p:grpSp>
        <p:nvGrpSpPr>
          <p:cNvPr name="Group 192" id="192"/>
          <p:cNvGrpSpPr/>
          <p:nvPr/>
        </p:nvGrpSpPr>
        <p:grpSpPr>
          <a:xfrm rot="0">
            <a:off x="13784122" y="5734377"/>
            <a:ext cx="3988314" cy="508149"/>
            <a:chOff x="0" y="0"/>
            <a:chExt cx="5317751" cy="677532"/>
          </a:xfrm>
        </p:grpSpPr>
        <p:sp>
          <p:nvSpPr>
            <p:cNvPr name="Freeform 193" id="193"/>
            <p:cNvSpPr/>
            <p:nvPr/>
          </p:nvSpPr>
          <p:spPr>
            <a:xfrm flipH="false" flipV="false" rot="0">
              <a:off x="0" y="0"/>
              <a:ext cx="5317751" cy="677532"/>
            </a:xfrm>
            <a:custGeom>
              <a:avLst/>
              <a:gdLst/>
              <a:ahLst/>
              <a:cxnLst/>
              <a:rect r="r" b="b" t="t" l="l"/>
              <a:pathLst>
                <a:path h="677532" w="5317751">
                  <a:moveTo>
                    <a:pt x="0" y="0"/>
                  </a:moveTo>
                  <a:lnTo>
                    <a:pt x="5317751" y="0"/>
                  </a:lnTo>
                  <a:lnTo>
                    <a:pt x="5317751" y="677532"/>
                  </a:lnTo>
                  <a:lnTo>
                    <a:pt x="0" y="677532"/>
                  </a:lnTo>
                  <a:close/>
                </a:path>
              </a:pathLst>
            </a:custGeom>
            <a:blipFill>
              <a:blip r:embed="rId2">
                <a:alphaModFix amt="0"/>
              </a:blip>
              <a:stretch>
                <a:fillRect l="0" t="-120681" r="-30683" b="-179034"/>
              </a:stretch>
            </a:blipFill>
          </p:spPr>
        </p:sp>
        <p:sp>
          <p:nvSpPr>
            <p:cNvPr name="TextBox 194" id="194"/>
            <p:cNvSpPr txBox="true"/>
            <p:nvPr/>
          </p:nvSpPr>
          <p:spPr>
            <a:xfrm>
              <a:off x="0" y="-38100"/>
              <a:ext cx="5317751" cy="71563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dct:creator</a:t>
              </a:r>
            </a:p>
          </p:txBody>
        </p:sp>
      </p:grpSp>
      <p:grpSp>
        <p:nvGrpSpPr>
          <p:cNvPr name="Group 195" id="195"/>
          <p:cNvGrpSpPr/>
          <p:nvPr/>
        </p:nvGrpSpPr>
        <p:grpSpPr>
          <a:xfrm rot="0">
            <a:off x="13774406" y="6390045"/>
            <a:ext cx="3998029" cy="444416"/>
            <a:chOff x="0" y="0"/>
            <a:chExt cx="5330706" cy="592555"/>
          </a:xfrm>
        </p:grpSpPr>
        <p:sp>
          <p:nvSpPr>
            <p:cNvPr name="Freeform 196" id="196"/>
            <p:cNvSpPr/>
            <p:nvPr/>
          </p:nvSpPr>
          <p:spPr>
            <a:xfrm flipH="false" flipV="false" rot="0">
              <a:off x="0" y="0"/>
              <a:ext cx="5330706" cy="592555"/>
            </a:xfrm>
            <a:custGeom>
              <a:avLst/>
              <a:gdLst/>
              <a:ahLst/>
              <a:cxnLst/>
              <a:rect r="r" b="b" t="t" l="l"/>
              <a:pathLst>
                <a:path h="592555" w="5330706">
                  <a:moveTo>
                    <a:pt x="0" y="0"/>
                  </a:moveTo>
                  <a:lnTo>
                    <a:pt x="5330706" y="0"/>
                  </a:lnTo>
                  <a:lnTo>
                    <a:pt x="5330706" y="592555"/>
                  </a:lnTo>
                  <a:lnTo>
                    <a:pt x="0" y="592555"/>
                  </a:lnTo>
                  <a:close/>
                </a:path>
              </a:pathLst>
            </a:custGeom>
            <a:blipFill>
              <a:blip r:embed="rId2">
                <a:alphaModFix amt="0"/>
              </a:blip>
              <a:stretch>
                <a:fillRect l="0" t="-113721" r="-21217" b="-211244"/>
              </a:stretch>
            </a:blipFill>
          </p:spPr>
        </p:sp>
        <p:sp>
          <p:nvSpPr>
            <p:cNvPr name="TextBox 197" id="197"/>
            <p:cNvSpPr txBox="true"/>
            <p:nvPr/>
          </p:nvSpPr>
          <p:spPr>
            <a:xfrm>
              <a:off x="0" y="-47625"/>
              <a:ext cx="5330706" cy="640180"/>
            </a:xfrm>
            <a:prstGeom prst="rect">
              <a:avLst/>
            </a:prstGeom>
          </p:spPr>
          <p:txBody>
            <a:bodyPr anchor="ctr" rtlCol="false" tIns="0" lIns="0" bIns="0" rIns="0"/>
            <a:lstStyle/>
            <a:p>
              <a:pPr algn="ctr">
                <a:lnSpc>
                  <a:spcPts val="2640"/>
                </a:lnSpc>
              </a:pPr>
              <a:r>
                <a:rPr lang="en-US" sz="2200" b="true">
                  <a:solidFill>
                    <a:srgbClr val="059669"/>
                  </a:solidFill>
                  <a:latin typeface="Calibri (MS) Bold"/>
                  <a:ea typeface="Calibri (MS) Bold"/>
                  <a:cs typeface="Calibri (MS) Bold"/>
                  <a:sym typeface="Calibri (MS) Bold"/>
                </a:rPr>
                <a:t>Créateur des données</a:t>
              </a:r>
            </a:p>
          </p:txBody>
        </p:sp>
      </p:grpSp>
      <p:grpSp>
        <p:nvGrpSpPr>
          <p:cNvPr name="Group 198" id="198"/>
          <p:cNvGrpSpPr/>
          <p:nvPr/>
        </p:nvGrpSpPr>
        <p:grpSpPr>
          <a:xfrm rot="0">
            <a:off x="13809363" y="6829097"/>
            <a:ext cx="3963072" cy="689149"/>
            <a:chOff x="0" y="0"/>
            <a:chExt cx="5284096" cy="918865"/>
          </a:xfrm>
        </p:grpSpPr>
        <p:sp>
          <p:nvSpPr>
            <p:cNvPr name="Freeform 199" id="199"/>
            <p:cNvSpPr/>
            <p:nvPr/>
          </p:nvSpPr>
          <p:spPr>
            <a:xfrm flipH="false" flipV="false" rot="0">
              <a:off x="0" y="0"/>
              <a:ext cx="5284096" cy="918865"/>
            </a:xfrm>
            <a:custGeom>
              <a:avLst/>
              <a:gdLst/>
              <a:ahLst/>
              <a:cxnLst/>
              <a:rect r="r" b="b" t="t" l="l"/>
              <a:pathLst>
                <a:path h="918865" w="5284096">
                  <a:moveTo>
                    <a:pt x="0" y="0"/>
                  </a:moveTo>
                  <a:lnTo>
                    <a:pt x="5284096" y="0"/>
                  </a:lnTo>
                  <a:lnTo>
                    <a:pt x="5284096" y="918865"/>
                  </a:lnTo>
                  <a:lnTo>
                    <a:pt x="0" y="918865"/>
                  </a:lnTo>
                  <a:close/>
                </a:path>
              </a:pathLst>
            </a:custGeom>
            <a:blipFill>
              <a:blip r:embed="rId2">
                <a:alphaModFix amt="0"/>
              </a:blip>
              <a:stretch>
                <a:fillRect l="0" t="-37511" r="-22286" b="-136539"/>
              </a:stretch>
            </a:blipFill>
          </p:spPr>
        </p:sp>
        <p:sp>
          <p:nvSpPr>
            <p:cNvPr name="TextBox 200" id="200"/>
            <p:cNvSpPr txBox="true"/>
            <p:nvPr/>
          </p:nvSpPr>
          <p:spPr>
            <a:xfrm>
              <a:off x="0" y="-38100"/>
              <a:ext cx="5284096" cy="956965"/>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laboratoire ou agence gouvernementale</a:t>
              </a:r>
            </a:p>
          </p:txBody>
        </p:sp>
      </p:grpSp>
      <p:grpSp>
        <p:nvGrpSpPr>
          <p:cNvPr name="Group 201" id="201"/>
          <p:cNvGrpSpPr/>
          <p:nvPr/>
        </p:nvGrpSpPr>
        <p:grpSpPr>
          <a:xfrm rot="0">
            <a:off x="13774406" y="7780922"/>
            <a:ext cx="4007752" cy="1771788"/>
            <a:chOff x="0" y="0"/>
            <a:chExt cx="5343670" cy="2362384"/>
          </a:xfrm>
        </p:grpSpPr>
        <p:sp>
          <p:nvSpPr>
            <p:cNvPr name="Freeform 202" id="202"/>
            <p:cNvSpPr/>
            <p:nvPr/>
          </p:nvSpPr>
          <p:spPr>
            <a:xfrm flipH="false" flipV="false" rot="0">
              <a:off x="12925" y="6779"/>
              <a:ext cx="5317752" cy="2348790"/>
            </a:xfrm>
            <a:custGeom>
              <a:avLst/>
              <a:gdLst/>
              <a:ahLst/>
              <a:cxnLst/>
              <a:rect r="r" b="b" t="t" l="l"/>
              <a:pathLst>
                <a:path h="2348790" w="5317752">
                  <a:moveTo>
                    <a:pt x="0" y="0"/>
                  </a:moveTo>
                  <a:lnTo>
                    <a:pt x="5317752" y="0"/>
                  </a:lnTo>
                  <a:lnTo>
                    <a:pt x="5317752" y="2348790"/>
                  </a:lnTo>
                  <a:lnTo>
                    <a:pt x="0" y="2348790"/>
                  </a:lnTo>
                  <a:close/>
                </a:path>
              </a:pathLst>
            </a:custGeom>
            <a:solidFill>
              <a:srgbClr val="ECFDF5"/>
            </a:solidFill>
          </p:spPr>
        </p:sp>
        <p:sp>
          <p:nvSpPr>
            <p:cNvPr name="Freeform 203" id="203"/>
            <p:cNvSpPr/>
            <p:nvPr/>
          </p:nvSpPr>
          <p:spPr>
            <a:xfrm flipH="false" flipV="false" rot="0">
              <a:off x="0" y="0"/>
              <a:ext cx="5343601" cy="2362348"/>
            </a:xfrm>
            <a:custGeom>
              <a:avLst/>
              <a:gdLst/>
              <a:ahLst/>
              <a:cxnLst/>
              <a:rect r="r" b="b" t="t" l="l"/>
              <a:pathLst>
                <a:path h="2362348" w="5343601">
                  <a:moveTo>
                    <a:pt x="12925" y="0"/>
                  </a:moveTo>
                  <a:lnTo>
                    <a:pt x="5330677" y="0"/>
                  </a:lnTo>
                  <a:cubicBezTo>
                    <a:pt x="5337868" y="0"/>
                    <a:pt x="5343601" y="3058"/>
                    <a:pt x="5343601" y="6779"/>
                  </a:cubicBezTo>
                  <a:lnTo>
                    <a:pt x="5343601" y="2355569"/>
                  </a:lnTo>
                  <a:cubicBezTo>
                    <a:pt x="5343601" y="2359341"/>
                    <a:pt x="5337771" y="2362348"/>
                    <a:pt x="5330677" y="2362348"/>
                  </a:cubicBezTo>
                  <a:lnTo>
                    <a:pt x="12925" y="2362348"/>
                  </a:lnTo>
                  <a:cubicBezTo>
                    <a:pt x="5734" y="2362348"/>
                    <a:pt x="0" y="2359290"/>
                    <a:pt x="0" y="2355569"/>
                  </a:cubicBezTo>
                  <a:lnTo>
                    <a:pt x="0" y="6779"/>
                  </a:lnTo>
                  <a:cubicBezTo>
                    <a:pt x="0" y="3058"/>
                    <a:pt x="5831" y="0"/>
                    <a:pt x="12925" y="0"/>
                  </a:cubicBezTo>
                  <a:moveTo>
                    <a:pt x="12925" y="13610"/>
                  </a:moveTo>
                  <a:lnTo>
                    <a:pt x="12925" y="6779"/>
                  </a:lnTo>
                  <a:lnTo>
                    <a:pt x="25947" y="6779"/>
                  </a:lnTo>
                  <a:lnTo>
                    <a:pt x="25947" y="2355569"/>
                  </a:lnTo>
                  <a:lnTo>
                    <a:pt x="12925" y="2355569"/>
                  </a:lnTo>
                  <a:lnTo>
                    <a:pt x="12925" y="2348790"/>
                  </a:lnTo>
                  <a:lnTo>
                    <a:pt x="5330677" y="2348790"/>
                  </a:lnTo>
                  <a:lnTo>
                    <a:pt x="5330677" y="2355569"/>
                  </a:lnTo>
                  <a:lnTo>
                    <a:pt x="5317751" y="2355569"/>
                  </a:lnTo>
                  <a:lnTo>
                    <a:pt x="5317751" y="6779"/>
                  </a:lnTo>
                  <a:lnTo>
                    <a:pt x="5330677" y="6779"/>
                  </a:lnTo>
                  <a:lnTo>
                    <a:pt x="5330677" y="13610"/>
                  </a:lnTo>
                  <a:lnTo>
                    <a:pt x="12925" y="13610"/>
                  </a:lnTo>
                  <a:close/>
                </a:path>
              </a:pathLst>
            </a:custGeom>
            <a:solidFill>
              <a:srgbClr val="059669"/>
            </a:solidFill>
          </p:spPr>
        </p:sp>
      </p:grpSp>
      <p:grpSp>
        <p:nvGrpSpPr>
          <p:cNvPr name="Group 204" id="204"/>
          <p:cNvGrpSpPr/>
          <p:nvPr/>
        </p:nvGrpSpPr>
        <p:grpSpPr>
          <a:xfrm rot="0">
            <a:off x="13774406" y="7780922"/>
            <a:ext cx="4007752" cy="524191"/>
            <a:chOff x="0" y="0"/>
            <a:chExt cx="5343670" cy="698921"/>
          </a:xfrm>
        </p:grpSpPr>
        <p:sp>
          <p:nvSpPr>
            <p:cNvPr name="Freeform 205" id="205"/>
            <p:cNvSpPr/>
            <p:nvPr/>
          </p:nvSpPr>
          <p:spPr>
            <a:xfrm flipH="false" flipV="false" rot="0">
              <a:off x="12925" y="10667"/>
              <a:ext cx="5317752" cy="677532"/>
            </a:xfrm>
            <a:custGeom>
              <a:avLst/>
              <a:gdLst/>
              <a:ahLst/>
              <a:cxnLst/>
              <a:rect r="r" b="b" t="t" l="l"/>
              <a:pathLst>
                <a:path h="677532" w="5317752">
                  <a:moveTo>
                    <a:pt x="0" y="0"/>
                  </a:moveTo>
                  <a:lnTo>
                    <a:pt x="5317752" y="0"/>
                  </a:lnTo>
                  <a:lnTo>
                    <a:pt x="5317752" y="677531"/>
                  </a:lnTo>
                  <a:lnTo>
                    <a:pt x="0" y="677531"/>
                  </a:lnTo>
                  <a:close/>
                </a:path>
              </a:pathLst>
            </a:custGeom>
            <a:solidFill>
              <a:srgbClr val="059669"/>
            </a:solidFill>
          </p:spPr>
        </p:sp>
        <p:sp>
          <p:nvSpPr>
            <p:cNvPr name="Freeform 206" id="206"/>
            <p:cNvSpPr/>
            <p:nvPr/>
          </p:nvSpPr>
          <p:spPr>
            <a:xfrm flipH="false" flipV="false" rot="0">
              <a:off x="0" y="0"/>
              <a:ext cx="5343601" cy="698867"/>
            </a:xfrm>
            <a:custGeom>
              <a:avLst/>
              <a:gdLst/>
              <a:ahLst/>
              <a:cxnLst/>
              <a:rect r="r" b="b" t="t" l="l"/>
              <a:pathLst>
                <a:path h="698867" w="5343601">
                  <a:moveTo>
                    <a:pt x="12925" y="0"/>
                  </a:moveTo>
                  <a:lnTo>
                    <a:pt x="5330677" y="0"/>
                  </a:lnTo>
                  <a:cubicBezTo>
                    <a:pt x="5337868" y="0"/>
                    <a:pt x="5343601" y="4812"/>
                    <a:pt x="5343601" y="10667"/>
                  </a:cubicBezTo>
                  <a:lnTo>
                    <a:pt x="5343601" y="688198"/>
                  </a:lnTo>
                  <a:cubicBezTo>
                    <a:pt x="5343601" y="694133"/>
                    <a:pt x="5337771" y="698865"/>
                    <a:pt x="5330677" y="698865"/>
                  </a:cubicBezTo>
                  <a:lnTo>
                    <a:pt x="12925" y="698865"/>
                  </a:lnTo>
                  <a:cubicBezTo>
                    <a:pt x="5831" y="698959"/>
                    <a:pt x="0" y="694133"/>
                    <a:pt x="0" y="688198"/>
                  </a:cubicBezTo>
                  <a:lnTo>
                    <a:pt x="0" y="10667"/>
                  </a:lnTo>
                  <a:cubicBezTo>
                    <a:pt x="0" y="4812"/>
                    <a:pt x="5831" y="0"/>
                    <a:pt x="12925" y="0"/>
                  </a:cubicBezTo>
                  <a:moveTo>
                    <a:pt x="12925" y="21413"/>
                  </a:moveTo>
                  <a:lnTo>
                    <a:pt x="12925" y="10667"/>
                  </a:lnTo>
                  <a:lnTo>
                    <a:pt x="25947" y="10667"/>
                  </a:lnTo>
                  <a:lnTo>
                    <a:pt x="25947" y="688198"/>
                  </a:lnTo>
                  <a:lnTo>
                    <a:pt x="12925" y="688198"/>
                  </a:lnTo>
                  <a:lnTo>
                    <a:pt x="12925" y="677532"/>
                  </a:lnTo>
                  <a:lnTo>
                    <a:pt x="5330677" y="677532"/>
                  </a:lnTo>
                  <a:lnTo>
                    <a:pt x="5330677" y="688199"/>
                  </a:lnTo>
                  <a:lnTo>
                    <a:pt x="5317751" y="688199"/>
                  </a:lnTo>
                  <a:lnTo>
                    <a:pt x="5317751" y="10667"/>
                  </a:lnTo>
                  <a:lnTo>
                    <a:pt x="5330677" y="10667"/>
                  </a:lnTo>
                  <a:lnTo>
                    <a:pt x="5330677" y="21413"/>
                  </a:lnTo>
                  <a:lnTo>
                    <a:pt x="12925" y="21413"/>
                  </a:lnTo>
                  <a:close/>
                </a:path>
              </a:pathLst>
            </a:custGeom>
            <a:solidFill>
              <a:srgbClr val="059669"/>
            </a:solidFill>
          </p:spPr>
        </p:sp>
      </p:grpSp>
      <p:grpSp>
        <p:nvGrpSpPr>
          <p:cNvPr name="Group 207" id="207"/>
          <p:cNvGrpSpPr/>
          <p:nvPr/>
        </p:nvGrpSpPr>
        <p:grpSpPr>
          <a:xfrm rot="0">
            <a:off x="13784122" y="7788940"/>
            <a:ext cx="3988314" cy="508149"/>
            <a:chOff x="0" y="0"/>
            <a:chExt cx="5317751" cy="677532"/>
          </a:xfrm>
        </p:grpSpPr>
        <p:sp>
          <p:nvSpPr>
            <p:cNvPr name="Freeform 208" id="208"/>
            <p:cNvSpPr/>
            <p:nvPr/>
          </p:nvSpPr>
          <p:spPr>
            <a:xfrm flipH="false" flipV="false" rot="0">
              <a:off x="0" y="0"/>
              <a:ext cx="5317751" cy="677532"/>
            </a:xfrm>
            <a:custGeom>
              <a:avLst/>
              <a:gdLst/>
              <a:ahLst/>
              <a:cxnLst/>
              <a:rect r="r" b="b" t="t" l="l"/>
              <a:pathLst>
                <a:path h="677532" w="5317751">
                  <a:moveTo>
                    <a:pt x="0" y="0"/>
                  </a:moveTo>
                  <a:lnTo>
                    <a:pt x="5317751" y="0"/>
                  </a:lnTo>
                  <a:lnTo>
                    <a:pt x="5317751" y="677532"/>
                  </a:lnTo>
                  <a:lnTo>
                    <a:pt x="0" y="677532"/>
                  </a:lnTo>
                  <a:close/>
                </a:path>
              </a:pathLst>
            </a:custGeom>
            <a:blipFill>
              <a:blip r:embed="rId2">
                <a:alphaModFix amt="0"/>
              </a:blip>
              <a:stretch>
                <a:fillRect l="0" t="-120681" r="-30683" b="-179034"/>
              </a:stretch>
            </a:blipFill>
          </p:spPr>
        </p:sp>
        <p:sp>
          <p:nvSpPr>
            <p:cNvPr name="TextBox 209" id="209"/>
            <p:cNvSpPr txBox="true"/>
            <p:nvPr/>
          </p:nvSpPr>
          <p:spPr>
            <a:xfrm>
              <a:off x="0" y="-38100"/>
              <a:ext cx="5317751" cy="71563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dct:modified</a:t>
              </a:r>
            </a:p>
          </p:txBody>
        </p:sp>
      </p:grpSp>
      <p:grpSp>
        <p:nvGrpSpPr>
          <p:cNvPr name="Group 210" id="210"/>
          <p:cNvGrpSpPr/>
          <p:nvPr/>
        </p:nvGrpSpPr>
        <p:grpSpPr>
          <a:xfrm rot="0">
            <a:off x="13774406" y="8444608"/>
            <a:ext cx="3998029" cy="444416"/>
            <a:chOff x="0" y="0"/>
            <a:chExt cx="5330706" cy="592555"/>
          </a:xfrm>
        </p:grpSpPr>
        <p:sp>
          <p:nvSpPr>
            <p:cNvPr name="Freeform 211" id="211"/>
            <p:cNvSpPr/>
            <p:nvPr/>
          </p:nvSpPr>
          <p:spPr>
            <a:xfrm flipH="false" flipV="false" rot="0">
              <a:off x="0" y="0"/>
              <a:ext cx="5330706" cy="592555"/>
            </a:xfrm>
            <a:custGeom>
              <a:avLst/>
              <a:gdLst/>
              <a:ahLst/>
              <a:cxnLst/>
              <a:rect r="r" b="b" t="t" l="l"/>
              <a:pathLst>
                <a:path h="592555" w="5330706">
                  <a:moveTo>
                    <a:pt x="0" y="0"/>
                  </a:moveTo>
                  <a:lnTo>
                    <a:pt x="5330706" y="0"/>
                  </a:lnTo>
                  <a:lnTo>
                    <a:pt x="5330706" y="592555"/>
                  </a:lnTo>
                  <a:lnTo>
                    <a:pt x="0" y="592555"/>
                  </a:lnTo>
                  <a:close/>
                </a:path>
              </a:pathLst>
            </a:custGeom>
            <a:blipFill>
              <a:blip r:embed="rId2">
                <a:alphaModFix amt="0"/>
              </a:blip>
              <a:stretch>
                <a:fillRect l="0" t="-113721" r="-21217" b="-211244"/>
              </a:stretch>
            </a:blipFill>
          </p:spPr>
        </p:sp>
        <p:sp>
          <p:nvSpPr>
            <p:cNvPr name="TextBox 212" id="212"/>
            <p:cNvSpPr txBox="true"/>
            <p:nvPr/>
          </p:nvSpPr>
          <p:spPr>
            <a:xfrm>
              <a:off x="0" y="-47625"/>
              <a:ext cx="5330706" cy="640180"/>
            </a:xfrm>
            <a:prstGeom prst="rect">
              <a:avLst/>
            </a:prstGeom>
          </p:spPr>
          <p:txBody>
            <a:bodyPr anchor="ctr" rtlCol="false" tIns="0" lIns="0" bIns="0" rIns="0"/>
            <a:lstStyle/>
            <a:p>
              <a:pPr algn="ctr">
                <a:lnSpc>
                  <a:spcPts val="2640"/>
                </a:lnSpc>
              </a:pPr>
              <a:r>
                <a:rPr lang="en-US" sz="2200" b="true">
                  <a:solidFill>
                    <a:srgbClr val="059669"/>
                  </a:solidFill>
                  <a:latin typeface="Calibri (MS) Bold"/>
                  <a:ea typeface="Calibri (MS) Bold"/>
                  <a:cs typeface="Calibri (MS) Bold"/>
                  <a:sym typeface="Calibri (MS) Bold"/>
                </a:rPr>
                <a:t>Date de dernière mise à jour</a:t>
              </a:r>
            </a:p>
          </p:txBody>
        </p:sp>
      </p:grpSp>
      <p:grpSp>
        <p:nvGrpSpPr>
          <p:cNvPr name="Group 213" id="213"/>
          <p:cNvGrpSpPr/>
          <p:nvPr/>
        </p:nvGrpSpPr>
        <p:grpSpPr>
          <a:xfrm rot="0">
            <a:off x="13809363" y="8883660"/>
            <a:ext cx="3963072" cy="551855"/>
            <a:chOff x="0" y="0"/>
            <a:chExt cx="5284096" cy="735807"/>
          </a:xfrm>
        </p:grpSpPr>
        <p:sp>
          <p:nvSpPr>
            <p:cNvPr name="Freeform 214" id="214"/>
            <p:cNvSpPr/>
            <p:nvPr/>
          </p:nvSpPr>
          <p:spPr>
            <a:xfrm flipH="false" flipV="false" rot="0">
              <a:off x="0" y="0"/>
              <a:ext cx="5284096" cy="735807"/>
            </a:xfrm>
            <a:custGeom>
              <a:avLst/>
              <a:gdLst/>
              <a:ahLst/>
              <a:cxnLst/>
              <a:rect r="r" b="b" t="t" l="l"/>
              <a:pathLst>
                <a:path h="735807" w="5284096">
                  <a:moveTo>
                    <a:pt x="0" y="0"/>
                  </a:moveTo>
                  <a:lnTo>
                    <a:pt x="5284096" y="0"/>
                  </a:lnTo>
                  <a:lnTo>
                    <a:pt x="5284096" y="735807"/>
                  </a:lnTo>
                  <a:lnTo>
                    <a:pt x="0" y="735807"/>
                  </a:lnTo>
                  <a:close/>
                </a:path>
              </a:pathLst>
            </a:custGeom>
            <a:blipFill>
              <a:blip r:embed="rId2">
                <a:alphaModFix amt="0"/>
              </a:blip>
              <a:stretch>
                <a:fillRect l="0" t="-46843" r="-22286" b="-195386"/>
              </a:stretch>
            </a:blipFill>
          </p:spPr>
        </p:sp>
        <p:sp>
          <p:nvSpPr>
            <p:cNvPr name="TextBox 215" id="215"/>
            <p:cNvSpPr txBox="true"/>
            <p:nvPr/>
          </p:nvSpPr>
          <p:spPr>
            <a:xfrm>
              <a:off x="0" y="-38100"/>
              <a:ext cx="5284096" cy="773907"/>
            </a:xfrm>
            <a:prstGeom prst="rect">
              <a:avLst/>
            </a:prstGeom>
          </p:spPr>
          <p:txBody>
            <a:bodyPr anchor="ctr" rtlCol="false" tIns="0" lIns="0" bIns="0" rIns="0"/>
            <a:lstStyle/>
            <a:p>
              <a:pPr algn="ctr">
                <a:lnSpc>
                  <a:spcPts val="2400"/>
                </a:lnSpc>
              </a:pPr>
              <a:r>
                <a:rPr lang="en-US" sz="2000" i="true">
                  <a:solidFill>
                    <a:srgbClr val="334155"/>
                  </a:solidFill>
                  <a:latin typeface="Calibri (MS) Italics"/>
                  <a:ea typeface="Calibri (MS) Italics"/>
                  <a:cs typeface="Calibri (MS) Italics"/>
                  <a:sym typeface="Calibri (MS) Italics"/>
                </a:rPr>
                <a:t>Ex: 2026-03-15</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0891B2"/>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0891B2"/>
            </a:solidFill>
          </p:spPr>
        </p:sp>
      </p:grpSp>
      <p:grpSp>
        <p:nvGrpSpPr>
          <p:cNvPr name="Group 5" id="5"/>
          <p:cNvGrpSpPr/>
          <p:nvPr/>
        </p:nvGrpSpPr>
        <p:grpSpPr>
          <a:xfrm rot="0">
            <a:off x="15532103" y="170183"/>
            <a:ext cx="2585723" cy="793499"/>
            <a:chOff x="0" y="0"/>
            <a:chExt cx="3447631" cy="1057999"/>
          </a:xfrm>
        </p:grpSpPr>
        <p:sp>
          <p:nvSpPr>
            <p:cNvPr name="Freeform 6" id="6"/>
            <p:cNvSpPr/>
            <p:nvPr/>
          </p:nvSpPr>
          <p:spPr>
            <a:xfrm flipH="false" flipV="false" rot="0">
              <a:off x="16891" y="16891"/>
              <a:ext cx="3413760" cy="1024128"/>
            </a:xfrm>
            <a:custGeom>
              <a:avLst/>
              <a:gdLst/>
              <a:ahLst/>
              <a:cxnLst/>
              <a:rect r="r" b="b" t="t" l="l"/>
              <a:pathLst>
                <a:path h="1024128" w="3413760">
                  <a:moveTo>
                    <a:pt x="0" y="0"/>
                  </a:moveTo>
                  <a:lnTo>
                    <a:pt x="3413760" y="0"/>
                  </a:lnTo>
                  <a:lnTo>
                    <a:pt x="3413760" y="1024128"/>
                  </a:lnTo>
                  <a:lnTo>
                    <a:pt x="0" y="1024128"/>
                  </a:lnTo>
                  <a:close/>
                </a:path>
              </a:pathLst>
            </a:custGeom>
            <a:solidFill>
              <a:srgbClr val="0891B2"/>
            </a:solidFill>
          </p:spPr>
        </p:sp>
        <p:sp>
          <p:nvSpPr>
            <p:cNvPr name="Freeform 7" id="7"/>
            <p:cNvSpPr/>
            <p:nvPr/>
          </p:nvSpPr>
          <p:spPr>
            <a:xfrm flipH="false" flipV="false" rot="0">
              <a:off x="0" y="0"/>
              <a:ext cx="3447542" cy="1057912"/>
            </a:xfrm>
            <a:custGeom>
              <a:avLst/>
              <a:gdLst/>
              <a:ahLst/>
              <a:cxnLst/>
              <a:rect r="r" b="b" t="t" l="l"/>
              <a:pathLst>
                <a:path h="1057912" w="3447542">
                  <a:moveTo>
                    <a:pt x="16891" y="0"/>
                  </a:moveTo>
                  <a:lnTo>
                    <a:pt x="3430651" y="0"/>
                  </a:lnTo>
                  <a:cubicBezTo>
                    <a:pt x="3440049" y="0"/>
                    <a:pt x="3447542" y="7620"/>
                    <a:pt x="3447542" y="16891"/>
                  </a:cubicBezTo>
                  <a:lnTo>
                    <a:pt x="3447542" y="1041019"/>
                  </a:lnTo>
                  <a:cubicBezTo>
                    <a:pt x="3447542" y="1050417"/>
                    <a:pt x="3439922" y="1057910"/>
                    <a:pt x="343065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430651" y="1024128"/>
                  </a:lnTo>
                  <a:lnTo>
                    <a:pt x="3430651" y="1041019"/>
                  </a:lnTo>
                  <a:lnTo>
                    <a:pt x="3413760" y="1041019"/>
                  </a:lnTo>
                  <a:lnTo>
                    <a:pt x="3413760" y="16891"/>
                  </a:lnTo>
                  <a:lnTo>
                    <a:pt x="3430651" y="16891"/>
                  </a:lnTo>
                  <a:lnTo>
                    <a:pt x="3430651" y="33909"/>
                  </a:lnTo>
                  <a:lnTo>
                    <a:pt x="16891" y="33909"/>
                  </a:lnTo>
                  <a:close/>
                </a:path>
              </a:pathLst>
            </a:custGeom>
            <a:solidFill>
              <a:srgbClr val="0891B2"/>
            </a:solidFill>
          </p:spPr>
        </p:sp>
      </p:grpSp>
      <p:grpSp>
        <p:nvGrpSpPr>
          <p:cNvPr name="Group 8" id="8"/>
          <p:cNvGrpSpPr/>
          <p:nvPr/>
        </p:nvGrpSpPr>
        <p:grpSpPr>
          <a:xfrm rot="0">
            <a:off x="15544800" y="182880"/>
            <a:ext cx="2560320" cy="768096"/>
            <a:chOff x="0" y="0"/>
            <a:chExt cx="3413760" cy="1024128"/>
          </a:xfrm>
        </p:grpSpPr>
        <p:sp>
          <p:nvSpPr>
            <p:cNvPr name="Freeform 9" id="9"/>
            <p:cNvSpPr/>
            <p:nvPr/>
          </p:nvSpPr>
          <p:spPr>
            <a:xfrm flipH="false" flipV="false" rot="0">
              <a:off x="0" y="0"/>
              <a:ext cx="3413760" cy="1024128"/>
            </a:xfrm>
            <a:custGeom>
              <a:avLst/>
              <a:gdLst/>
              <a:ahLst/>
              <a:cxnLst/>
              <a:rect r="r" b="b" t="t" l="l"/>
              <a:pathLst>
                <a:path h="1024128" w="3413760">
                  <a:moveTo>
                    <a:pt x="0" y="0"/>
                  </a:moveTo>
                  <a:lnTo>
                    <a:pt x="3413760" y="0"/>
                  </a:lnTo>
                  <a:lnTo>
                    <a:pt x="3413760" y="1024128"/>
                  </a:lnTo>
                  <a:lnTo>
                    <a:pt x="0" y="1024128"/>
                  </a:lnTo>
                  <a:close/>
                </a:path>
              </a:pathLst>
            </a:custGeom>
            <a:blipFill>
              <a:blip r:embed="rId2">
                <a:alphaModFix amt="0"/>
              </a:blip>
              <a:stretch>
                <a:fillRect l="0" t="-14950" r="0" b="-14950"/>
              </a:stretch>
            </a:blipFill>
          </p:spPr>
        </p:sp>
        <p:sp>
          <p:nvSpPr>
            <p:cNvPr name="TextBox 10" id="10"/>
            <p:cNvSpPr txBox="true"/>
            <p:nvPr/>
          </p:nvSpPr>
          <p:spPr>
            <a:xfrm>
              <a:off x="0" y="-38100"/>
              <a:ext cx="3413760" cy="106222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DCAT  3/3</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0891B2"/>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0891B2"/>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DCAT — Cas d'usage &amp; Code RDF/Turtle</a:t>
              </a:r>
            </a:p>
          </p:txBody>
        </p:sp>
      </p:grpSp>
      <p:grpSp>
        <p:nvGrpSpPr>
          <p:cNvPr name="Group 17" id="17"/>
          <p:cNvGrpSpPr/>
          <p:nvPr/>
        </p:nvGrpSpPr>
        <p:grpSpPr>
          <a:xfrm rot="0">
            <a:off x="872242" y="2367691"/>
            <a:ext cx="9258566" cy="6097019"/>
            <a:chOff x="0" y="0"/>
            <a:chExt cx="12344754" cy="8129359"/>
          </a:xfrm>
        </p:grpSpPr>
        <p:sp>
          <p:nvSpPr>
            <p:cNvPr name="Freeform 18" id="18"/>
            <p:cNvSpPr/>
            <p:nvPr/>
          </p:nvSpPr>
          <p:spPr>
            <a:xfrm flipH="false" flipV="false" rot="0">
              <a:off x="9281" y="16891"/>
              <a:ext cx="12326144" cy="8095488"/>
            </a:xfrm>
            <a:custGeom>
              <a:avLst/>
              <a:gdLst/>
              <a:ahLst/>
              <a:cxnLst/>
              <a:rect r="r" b="b" t="t" l="l"/>
              <a:pathLst>
                <a:path h="8095488" w="12326144">
                  <a:moveTo>
                    <a:pt x="0" y="0"/>
                  </a:moveTo>
                  <a:lnTo>
                    <a:pt x="12326144" y="0"/>
                  </a:lnTo>
                  <a:lnTo>
                    <a:pt x="12326144" y="8095488"/>
                  </a:lnTo>
                  <a:lnTo>
                    <a:pt x="0" y="8095488"/>
                  </a:lnTo>
                  <a:close/>
                </a:path>
              </a:pathLst>
            </a:custGeom>
            <a:solidFill>
              <a:srgbClr val="1E293B"/>
            </a:solidFill>
          </p:spPr>
        </p:sp>
        <p:sp>
          <p:nvSpPr>
            <p:cNvPr name="Freeform 19" id="19"/>
            <p:cNvSpPr/>
            <p:nvPr/>
          </p:nvSpPr>
          <p:spPr>
            <a:xfrm flipH="false" flipV="false" rot="0">
              <a:off x="0" y="0"/>
              <a:ext cx="12344706" cy="8129270"/>
            </a:xfrm>
            <a:custGeom>
              <a:avLst/>
              <a:gdLst/>
              <a:ahLst/>
              <a:cxnLst/>
              <a:rect r="r" b="b" t="t" l="l"/>
              <a:pathLst>
                <a:path h="8129270" w="12344706">
                  <a:moveTo>
                    <a:pt x="9281" y="0"/>
                  </a:moveTo>
                  <a:lnTo>
                    <a:pt x="12335425" y="0"/>
                  </a:lnTo>
                  <a:cubicBezTo>
                    <a:pt x="12340589" y="0"/>
                    <a:pt x="12344706" y="7620"/>
                    <a:pt x="12344706" y="16891"/>
                  </a:cubicBezTo>
                  <a:lnTo>
                    <a:pt x="12344706" y="8112379"/>
                  </a:lnTo>
                  <a:cubicBezTo>
                    <a:pt x="12344706" y="8121777"/>
                    <a:pt x="12340519" y="8129270"/>
                    <a:pt x="12335425" y="8129270"/>
                  </a:cubicBezTo>
                  <a:lnTo>
                    <a:pt x="9281" y="8129270"/>
                  </a:lnTo>
                  <a:cubicBezTo>
                    <a:pt x="4117" y="8129270"/>
                    <a:pt x="0" y="8121650"/>
                    <a:pt x="0" y="8112379"/>
                  </a:cubicBezTo>
                  <a:lnTo>
                    <a:pt x="0" y="16891"/>
                  </a:lnTo>
                  <a:cubicBezTo>
                    <a:pt x="0" y="7620"/>
                    <a:pt x="4187" y="0"/>
                    <a:pt x="9281" y="0"/>
                  </a:cubicBezTo>
                  <a:moveTo>
                    <a:pt x="9281" y="33909"/>
                  </a:moveTo>
                  <a:lnTo>
                    <a:pt x="9281" y="16891"/>
                  </a:lnTo>
                  <a:lnTo>
                    <a:pt x="18632" y="16891"/>
                  </a:lnTo>
                  <a:lnTo>
                    <a:pt x="18632" y="8112379"/>
                  </a:lnTo>
                  <a:lnTo>
                    <a:pt x="9281" y="8112379"/>
                  </a:lnTo>
                  <a:lnTo>
                    <a:pt x="9281" y="8095488"/>
                  </a:lnTo>
                  <a:lnTo>
                    <a:pt x="12335425" y="8095488"/>
                  </a:lnTo>
                  <a:lnTo>
                    <a:pt x="12335425" y="8112379"/>
                  </a:lnTo>
                  <a:lnTo>
                    <a:pt x="12326144" y="8112379"/>
                  </a:lnTo>
                  <a:lnTo>
                    <a:pt x="12326144" y="16891"/>
                  </a:lnTo>
                  <a:lnTo>
                    <a:pt x="12335425" y="16891"/>
                  </a:lnTo>
                  <a:lnTo>
                    <a:pt x="12335425" y="33909"/>
                  </a:lnTo>
                  <a:lnTo>
                    <a:pt x="9281" y="33909"/>
                  </a:lnTo>
                  <a:close/>
                </a:path>
              </a:pathLst>
            </a:custGeom>
            <a:solidFill>
              <a:srgbClr val="1E293B"/>
            </a:solidFill>
          </p:spPr>
        </p:sp>
      </p:grpSp>
      <p:sp>
        <p:nvSpPr>
          <p:cNvPr name="TextBox 20" id="20"/>
          <p:cNvSpPr txBox="true"/>
          <p:nvPr/>
        </p:nvSpPr>
        <p:spPr>
          <a:xfrm rot="0">
            <a:off x="1110334" y="2690903"/>
            <a:ext cx="8823779" cy="4010025"/>
          </a:xfrm>
          <a:prstGeom prst="rect">
            <a:avLst/>
          </a:prstGeom>
        </p:spPr>
        <p:txBody>
          <a:bodyPr anchor="t" rtlCol="false" tIns="0" lIns="0" bIns="0" rIns="0">
            <a:spAutoFit/>
          </a:bodyPr>
          <a:lstStyle/>
          <a:p>
            <a:pPr algn="l">
              <a:lnSpc>
                <a:spcPts val="2280"/>
              </a:lnSpc>
            </a:pPr>
            <a:r>
              <a:rPr lang="en-US" sz="1900">
                <a:solidFill>
                  <a:srgbClr val="94A3B8"/>
                </a:solidFill>
                <a:latin typeface="Courier New"/>
                <a:ea typeface="Courier New"/>
                <a:cs typeface="Courier New"/>
                <a:sym typeface="Courier New"/>
              </a:rPr>
              <a:t>@prefix dcat: &lt;http://www.w3.org/ns/dcat#&gt; .</a:t>
            </a:r>
          </a:p>
          <a:p>
            <a:pPr algn="l">
              <a:lnSpc>
                <a:spcPts val="2280"/>
              </a:lnSpc>
            </a:pPr>
            <a:r>
              <a:rPr lang="en-US" sz="1900">
                <a:solidFill>
                  <a:srgbClr val="94A3B8"/>
                </a:solidFill>
                <a:latin typeface="Courier New"/>
                <a:ea typeface="Courier New"/>
                <a:cs typeface="Courier New"/>
                <a:sym typeface="Courier New"/>
              </a:rPr>
              <a:t>@prefix dcterms: &lt;http://purl.org/dc/terms/&gt; .</a:t>
            </a:r>
          </a:p>
          <a:p>
            <a:pPr algn="l">
              <a:lnSpc>
                <a:spcPts val="2280"/>
              </a:lnSpc>
            </a:pPr>
            <a:r>
              <a:rPr lang="en-US" sz="1900">
                <a:solidFill>
                  <a:srgbClr val="FFFFFF"/>
                </a:solidFill>
                <a:latin typeface="Courier New"/>
                <a:ea typeface="Courier New"/>
                <a:cs typeface="Courier New"/>
                <a:sym typeface="Courier New"/>
              </a:rPr>
              <a:t> </a:t>
            </a:r>
          </a:p>
          <a:p>
            <a:pPr algn="l">
              <a:lnSpc>
                <a:spcPts val="2280"/>
              </a:lnSpc>
            </a:pPr>
            <a:r>
              <a:rPr lang="en-US" sz="1900">
                <a:solidFill>
                  <a:srgbClr val="FCD34D"/>
                </a:solidFill>
                <a:latin typeface="Courier New"/>
                <a:ea typeface="Courier New"/>
                <a:cs typeface="Courier New"/>
                <a:sym typeface="Courier New"/>
              </a:rPr>
              <a:t>&lt;http://mondomaine.org/catalogue&gt;</a:t>
            </a:r>
            <a:r>
              <a:rPr lang="en-US" sz="1900">
                <a:solidFill>
                  <a:srgbClr val="94A3B8"/>
                </a:solidFill>
                <a:latin typeface="Courier New"/>
                <a:ea typeface="Courier New"/>
                <a:cs typeface="Courier New"/>
                <a:sym typeface="Courier New"/>
              </a:rPr>
              <a:t> a </a:t>
            </a:r>
            <a:r>
              <a:rPr lang="en-US" sz="1900">
                <a:solidFill>
                  <a:srgbClr val="38BDF8"/>
                </a:solidFill>
                <a:latin typeface="Courier New"/>
                <a:ea typeface="Courier New"/>
                <a:cs typeface="Courier New"/>
                <a:sym typeface="Courier New"/>
              </a:rPr>
              <a:t>dcat:Catalog</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dcterms:title </a:t>
            </a:r>
            <a:r>
              <a:rPr lang="en-US" sz="1900">
                <a:solidFill>
                  <a:srgbClr val="FCA5A5"/>
                </a:solidFill>
                <a:latin typeface="Courier New"/>
                <a:ea typeface="Courier New"/>
                <a:cs typeface="Courier New"/>
                <a:sym typeface="Courier New"/>
              </a:rPr>
              <a:t>"Catalogue Open Data de la Ville"</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dcat:dataset </a:t>
            </a:r>
            <a:r>
              <a:rPr lang="en-US" sz="1900">
                <a:solidFill>
                  <a:srgbClr val="FCD34D"/>
                </a:solidFill>
                <a:latin typeface="Courier New"/>
                <a:ea typeface="Courier New"/>
                <a:cs typeface="Courier New"/>
                <a:sym typeface="Courier New"/>
              </a:rPr>
              <a:t>&lt;http://mondomaine.org/dataset/transport&gt;</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FFFFFF"/>
                </a:solidFill>
                <a:latin typeface="Courier New"/>
                <a:ea typeface="Courier New"/>
                <a:cs typeface="Courier New"/>
                <a:sym typeface="Courier New"/>
              </a:rPr>
              <a:t> </a:t>
            </a:r>
          </a:p>
          <a:p>
            <a:pPr algn="l">
              <a:lnSpc>
                <a:spcPts val="2280"/>
              </a:lnSpc>
            </a:pPr>
            <a:r>
              <a:rPr lang="en-US" sz="1900">
                <a:solidFill>
                  <a:srgbClr val="FCD34D"/>
                </a:solidFill>
                <a:latin typeface="Courier New"/>
                <a:ea typeface="Courier New"/>
                <a:cs typeface="Courier New"/>
                <a:sym typeface="Courier New"/>
              </a:rPr>
              <a:t>&lt;http://mondomaine.org/dataset/transport&gt;</a:t>
            </a:r>
            <a:r>
              <a:rPr lang="en-US" sz="1900">
                <a:solidFill>
                  <a:srgbClr val="94A3B8"/>
                </a:solidFill>
                <a:latin typeface="Courier New"/>
                <a:ea typeface="Courier New"/>
                <a:cs typeface="Courier New"/>
                <a:sym typeface="Courier New"/>
              </a:rPr>
              <a:t> a </a:t>
            </a:r>
            <a:r>
              <a:rPr lang="en-US" sz="1900">
                <a:solidFill>
                  <a:srgbClr val="38BDF8"/>
                </a:solidFill>
                <a:latin typeface="Courier New"/>
                <a:ea typeface="Courier New"/>
                <a:cs typeface="Courier New"/>
                <a:sym typeface="Courier New"/>
              </a:rPr>
              <a:t>dcat:Dataset</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dcterms:title </a:t>
            </a:r>
            <a:r>
              <a:rPr lang="en-US" sz="1900">
                <a:solidFill>
                  <a:srgbClr val="FCA5A5"/>
                </a:solidFill>
                <a:latin typeface="Courier New"/>
                <a:ea typeface="Courier New"/>
                <a:cs typeface="Courier New"/>
                <a:sym typeface="Courier New"/>
              </a:rPr>
              <a:t>"Horaires des bus"</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dcat:distribution </a:t>
            </a:r>
            <a:r>
              <a:rPr lang="en-US" sz="1900">
                <a:solidFill>
                  <a:srgbClr val="FCD34D"/>
                </a:solidFill>
                <a:latin typeface="Courier New"/>
                <a:ea typeface="Courier New"/>
                <a:cs typeface="Courier New"/>
                <a:sym typeface="Courier New"/>
              </a:rPr>
              <a:t>&lt;http://mondomaine.org/dist/bus-csv&gt;</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FFFFFF"/>
                </a:solidFill>
                <a:latin typeface="Courier New"/>
                <a:ea typeface="Courier New"/>
                <a:cs typeface="Courier New"/>
                <a:sym typeface="Courier New"/>
              </a:rPr>
              <a:t> </a:t>
            </a:r>
          </a:p>
          <a:p>
            <a:pPr algn="l">
              <a:lnSpc>
                <a:spcPts val="2280"/>
              </a:lnSpc>
            </a:pPr>
            <a:r>
              <a:rPr lang="en-US" sz="1900">
                <a:solidFill>
                  <a:srgbClr val="FCD34D"/>
                </a:solidFill>
                <a:latin typeface="Courier New"/>
                <a:ea typeface="Courier New"/>
                <a:cs typeface="Courier New"/>
                <a:sym typeface="Courier New"/>
              </a:rPr>
              <a:t>&lt;http://mondomaine.org/dist/bus-csv&gt;</a:t>
            </a:r>
            <a:r>
              <a:rPr lang="en-US" sz="1900">
                <a:solidFill>
                  <a:srgbClr val="94A3B8"/>
                </a:solidFill>
                <a:latin typeface="Courier New"/>
                <a:ea typeface="Courier New"/>
                <a:cs typeface="Courier New"/>
                <a:sym typeface="Courier New"/>
              </a:rPr>
              <a:t> a </a:t>
            </a:r>
            <a:r>
              <a:rPr lang="en-US" sz="1900">
                <a:solidFill>
                  <a:srgbClr val="38BDF8"/>
                </a:solidFill>
                <a:latin typeface="Courier New"/>
                <a:ea typeface="Courier New"/>
                <a:cs typeface="Courier New"/>
                <a:sym typeface="Courier New"/>
              </a:rPr>
              <a:t>dcat:Distribution</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dcat:downloadURL </a:t>
            </a:r>
            <a:r>
              <a:rPr lang="en-US" sz="1900">
                <a:solidFill>
                  <a:srgbClr val="A78BFA"/>
                </a:solidFill>
                <a:latin typeface="Courier New"/>
                <a:ea typeface="Courier New"/>
                <a:cs typeface="Courier New"/>
                <a:sym typeface="Courier New"/>
              </a:rPr>
              <a:t>&lt;http://mondomaine.org/files/bus.csv&gt;</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dcterms:format </a:t>
            </a:r>
            <a:r>
              <a:rPr lang="en-US" sz="1900">
                <a:solidFill>
                  <a:srgbClr val="FCA5A5"/>
                </a:solidFill>
                <a:latin typeface="Courier New"/>
                <a:ea typeface="Courier New"/>
                <a:cs typeface="Courier New"/>
                <a:sym typeface="Courier New"/>
              </a:rPr>
              <a:t>"text/csv"</a:t>
            </a:r>
            <a:r>
              <a:rPr lang="en-US" sz="1900">
                <a:solidFill>
                  <a:srgbClr val="94A3B8"/>
                </a:solidFill>
                <a:latin typeface="Courier New"/>
                <a:ea typeface="Courier New"/>
                <a:cs typeface="Courier New"/>
                <a:sym typeface="Courier New"/>
              </a:rPr>
              <a:t> .</a:t>
            </a:r>
          </a:p>
        </p:txBody>
      </p:sp>
      <p:grpSp>
        <p:nvGrpSpPr>
          <p:cNvPr name="Group 21" id="21"/>
          <p:cNvGrpSpPr/>
          <p:nvPr/>
        </p:nvGrpSpPr>
        <p:grpSpPr>
          <a:xfrm rot="0">
            <a:off x="872242" y="8828611"/>
            <a:ext cx="16824960" cy="548640"/>
            <a:chOff x="0" y="0"/>
            <a:chExt cx="22433280" cy="731520"/>
          </a:xfrm>
        </p:grpSpPr>
        <p:sp>
          <p:nvSpPr>
            <p:cNvPr name="Freeform 22" id="22"/>
            <p:cNvSpPr/>
            <p:nvPr/>
          </p:nvSpPr>
          <p:spPr>
            <a:xfrm flipH="false" flipV="false" rot="0">
              <a:off x="0" y="0"/>
              <a:ext cx="22433280" cy="731520"/>
            </a:xfrm>
            <a:custGeom>
              <a:avLst/>
              <a:gdLst/>
              <a:ahLst/>
              <a:cxnLst/>
              <a:rect r="r" b="b" t="t" l="l"/>
              <a:pathLst>
                <a:path h="731520" w="22433280">
                  <a:moveTo>
                    <a:pt x="0" y="0"/>
                  </a:moveTo>
                  <a:lnTo>
                    <a:pt x="22433280" y="0"/>
                  </a:lnTo>
                  <a:lnTo>
                    <a:pt x="22433280" y="731520"/>
                  </a:lnTo>
                  <a:lnTo>
                    <a:pt x="0" y="731520"/>
                  </a:lnTo>
                  <a:close/>
                </a:path>
              </a:pathLst>
            </a:custGeom>
            <a:blipFill>
              <a:blip r:embed="rId2">
                <a:alphaModFix amt="0"/>
              </a:blip>
              <a:stretch>
                <a:fillRect l="0" t="-547541" r="0" b="-547541"/>
              </a:stretch>
            </a:blipFill>
          </p:spPr>
        </p:sp>
        <p:sp>
          <p:nvSpPr>
            <p:cNvPr name="TextBox 23" id="23"/>
            <p:cNvSpPr txBox="true"/>
            <p:nvPr/>
          </p:nvSpPr>
          <p:spPr>
            <a:xfrm>
              <a:off x="0" y="-38100"/>
              <a:ext cx="22433280" cy="769620"/>
            </a:xfrm>
            <a:prstGeom prst="rect">
              <a:avLst/>
            </a:prstGeom>
          </p:spPr>
          <p:txBody>
            <a:bodyPr anchor="ctr" rtlCol="false" tIns="0" lIns="0" bIns="0" rIns="0"/>
            <a:lstStyle/>
            <a:p>
              <a:pPr algn="l">
                <a:lnSpc>
                  <a:spcPts val="2400"/>
                </a:lnSpc>
              </a:pPr>
              <a:r>
                <a:rPr lang="en-US" sz="2000" i="true">
                  <a:solidFill>
                    <a:srgbClr val="0891B2"/>
                  </a:solidFill>
                  <a:latin typeface="Calibri (MS) Italics"/>
                  <a:ea typeface="Calibri (MS) Italics"/>
                  <a:cs typeface="Calibri (MS) Italics"/>
                  <a:sym typeface="Calibri (MS) Italics"/>
                </a:rPr>
                <a:t>💡  Un agent logiciel peut automatiquement découvrir l'URL de téléchargement sans comprendre la langue du contenu.</a:t>
              </a:r>
            </a:p>
          </p:txBody>
        </p:sp>
      </p:grpSp>
      <p:grpSp>
        <p:nvGrpSpPr>
          <p:cNvPr name="Group 24" id="24"/>
          <p:cNvGrpSpPr/>
          <p:nvPr/>
        </p:nvGrpSpPr>
        <p:grpSpPr>
          <a:xfrm rot="0">
            <a:off x="-6353" y="9741151"/>
            <a:ext cx="18300697" cy="552193"/>
            <a:chOff x="0" y="0"/>
            <a:chExt cx="24400929" cy="736257"/>
          </a:xfrm>
        </p:grpSpPr>
        <p:sp>
          <p:nvSpPr>
            <p:cNvPr name="Freeform 25" id="25"/>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26" id="26"/>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27" id="27"/>
          <p:cNvGrpSpPr/>
          <p:nvPr/>
        </p:nvGrpSpPr>
        <p:grpSpPr>
          <a:xfrm rot="0">
            <a:off x="15910560" y="9747504"/>
            <a:ext cx="2011680" cy="539496"/>
            <a:chOff x="0" y="0"/>
            <a:chExt cx="2682240" cy="719328"/>
          </a:xfrm>
        </p:grpSpPr>
        <p:sp>
          <p:nvSpPr>
            <p:cNvPr name="Freeform 28" id="28"/>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29" id="29"/>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7 / 18</a:t>
              </a:r>
            </a:p>
          </p:txBody>
        </p:sp>
      </p:grpSp>
      <p:grpSp>
        <p:nvGrpSpPr>
          <p:cNvPr name="Group 30" id="30"/>
          <p:cNvGrpSpPr/>
          <p:nvPr/>
        </p:nvGrpSpPr>
        <p:grpSpPr>
          <a:xfrm rot="0">
            <a:off x="548640" y="9747504"/>
            <a:ext cx="10972800" cy="539496"/>
            <a:chOff x="0" y="0"/>
            <a:chExt cx="14630400" cy="719328"/>
          </a:xfrm>
        </p:grpSpPr>
        <p:sp>
          <p:nvSpPr>
            <p:cNvPr name="Freeform 31" id="31"/>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32" id="32"/>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DCAT</a:t>
              </a:r>
            </a:p>
          </p:txBody>
        </p:sp>
      </p:grpSp>
      <p:sp>
        <p:nvSpPr>
          <p:cNvPr name="TextBox 33" id="33"/>
          <p:cNvSpPr txBox="true"/>
          <p:nvPr/>
        </p:nvSpPr>
        <p:spPr>
          <a:xfrm rot="0">
            <a:off x="91440" y="414157"/>
            <a:ext cx="823893" cy="1108891"/>
          </a:xfrm>
          <a:prstGeom prst="rect">
            <a:avLst/>
          </a:prstGeom>
        </p:spPr>
        <p:txBody>
          <a:bodyPr anchor="t" rtlCol="false" tIns="0" lIns="0" bIns="0" rIns="0">
            <a:spAutoFit/>
          </a:bodyPr>
          <a:lstStyle/>
          <a:p>
            <a:pPr algn="ctr">
              <a:lnSpc>
                <a:spcPts val="7920"/>
              </a:lnSpc>
            </a:pPr>
            <a:r>
              <a:rPr lang="en-US" sz="6600" spc="15">
                <a:solidFill>
                  <a:srgbClr val="000000"/>
                </a:solidFill>
                <a:latin typeface="Rosario"/>
                <a:ea typeface="Rosario"/>
                <a:cs typeface="Rosario"/>
                <a:sym typeface="Rosario"/>
              </a:rPr>
              <a:t>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7C3AED"/>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7C3AED"/>
            </a:solidFill>
          </p:spPr>
        </p:sp>
      </p:grpSp>
      <p:grpSp>
        <p:nvGrpSpPr>
          <p:cNvPr name="Group 5" id="5"/>
          <p:cNvGrpSpPr/>
          <p:nvPr/>
        </p:nvGrpSpPr>
        <p:grpSpPr>
          <a:xfrm rot="0">
            <a:off x="15532103" y="170183"/>
            <a:ext cx="2585723" cy="793499"/>
            <a:chOff x="0" y="0"/>
            <a:chExt cx="3447631" cy="1057999"/>
          </a:xfrm>
        </p:grpSpPr>
        <p:sp>
          <p:nvSpPr>
            <p:cNvPr name="Freeform 6" id="6"/>
            <p:cNvSpPr/>
            <p:nvPr/>
          </p:nvSpPr>
          <p:spPr>
            <a:xfrm flipH="false" flipV="false" rot="0">
              <a:off x="16891" y="16891"/>
              <a:ext cx="3413760" cy="1024128"/>
            </a:xfrm>
            <a:custGeom>
              <a:avLst/>
              <a:gdLst/>
              <a:ahLst/>
              <a:cxnLst/>
              <a:rect r="r" b="b" t="t" l="l"/>
              <a:pathLst>
                <a:path h="1024128" w="3413760">
                  <a:moveTo>
                    <a:pt x="0" y="0"/>
                  </a:moveTo>
                  <a:lnTo>
                    <a:pt x="3413760" y="0"/>
                  </a:lnTo>
                  <a:lnTo>
                    <a:pt x="3413760" y="1024128"/>
                  </a:lnTo>
                  <a:lnTo>
                    <a:pt x="0" y="1024128"/>
                  </a:lnTo>
                  <a:close/>
                </a:path>
              </a:pathLst>
            </a:custGeom>
            <a:solidFill>
              <a:srgbClr val="7C3AED"/>
            </a:solidFill>
          </p:spPr>
        </p:sp>
        <p:sp>
          <p:nvSpPr>
            <p:cNvPr name="Freeform 7" id="7"/>
            <p:cNvSpPr/>
            <p:nvPr/>
          </p:nvSpPr>
          <p:spPr>
            <a:xfrm flipH="false" flipV="false" rot="0">
              <a:off x="0" y="0"/>
              <a:ext cx="3447542" cy="1057912"/>
            </a:xfrm>
            <a:custGeom>
              <a:avLst/>
              <a:gdLst/>
              <a:ahLst/>
              <a:cxnLst/>
              <a:rect r="r" b="b" t="t" l="l"/>
              <a:pathLst>
                <a:path h="1057912" w="3447542">
                  <a:moveTo>
                    <a:pt x="16891" y="0"/>
                  </a:moveTo>
                  <a:lnTo>
                    <a:pt x="3430651" y="0"/>
                  </a:lnTo>
                  <a:cubicBezTo>
                    <a:pt x="3440049" y="0"/>
                    <a:pt x="3447542" y="7620"/>
                    <a:pt x="3447542" y="16891"/>
                  </a:cubicBezTo>
                  <a:lnTo>
                    <a:pt x="3447542" y="1041019"/>
                  </a:lnTo>
                  <a:cubicBezTo>
                    <a:pt x="3447542" y="1050417"/>
                    <a:pt x="3439922" y="1057910"/>
                    <a:pt x="343065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430651" y="1024128"/>
                  </a:lnTo>
                  <a:lnTo>
                    <a:pt x="3430651" y="1041019"/>
                  </a:lnTo>
                  <a:lnTo>
                    <a:pt x="3413760" y="1041019"/>
                  </a:lnTo>
                  <a:lnTo>
                    <a:pt x="3413760" y="16891"/>
                  </a:lnTo>
                  <a:lnTo>
                    <a:pt x="3430651" y="16891"/>
                  </a:lnTo>
                  <a:lnTo>
                    <a:pt x="3430651" y="33909"/>
                  </a:lnTo>
                  <a:lnTo>
                    <a:pt x="16891" y="33909"/>
                  </a:lnTo>
                  <a:close/>
                </a:path>
              </a:pathLst>
            </a:custGeom>
            <a:solidFill>
              <a:srgbClr val="7C3AED"/>
            </a:solidFill>
          </p:spPr>
        </p:sp>
      </p:grpSp>
      <p:grpSp>
        <p:nvGrpSpPr>
          <p:cNvPr name="Group 8" id="8"/>
          <p:cNvGrpSpPr/>
          <p:nvPr/>
        </p:nvGrpSpPr>
        <p:grpSpPr>
          <a:xfrm rot="0">
            <a:off x="15544800" y="182880"/>
            <a:ext cx="2560320" cy="768096"/>
            <a:chOff x="0" y="0"/>
            <a:chExt cx="3413760" cy="1024128"/>
          </a:xfrm>
        </p:grpSpPr>
        <p:sp>
          <p:nvSpPr>
            <p:cNvPr name="Freeform 9" id="9"/>
            <p:cNvSpPr/>
            <p:nvPr/>
          </p:nvSpPr>
          <p:spPr>
            <a:xfrm flipH="false" flipV="false" rot="0">
              <a:off x="0" y="0"/>
              <a:ext cx="3413760" cy="1024128"/>
            </a:xfrm>
            <a:custGeom>
              <a:avLst/>
              <a:gdLst/>
              <a:ahLst/>
              <a:cxnLst/>
              <a:rect r="r" b="b" t="t" l="l"/>
              <a:pathLst>
                <a:path h="1024128" w="3413760">
                  <a:moveTo>
                    <a:pt x="0" y="0"/>
                  </a:moveTo>
                  <a:lnTo>
                    <a:pt x="3413760" y="0"/>
                  </a:lnTo>
                  <a:lnTo>
                    <a:pt x="3413760" y="1024128"/>
                  </a:lnTo>
                  <a:lnTo>
                    <a:pt x="0" y="1024128"/>
                  </a:lnTo>
                  <a:close/>
                </a:path>
              </a:pathLst>
            </a:custGeom>
            <a:blipFill>
              <a:blip r:embed="rId2">
                <a:alphaModFix amt="0"/>
              </a:blip>
              <a:stretch>
                <a:fillRect l="0" t="-14950" r="0" b="-14950"/>
              </a:stretch>
            </a:blipFill>
          </p:spPr>
        </p:sp>
        <p:sp>
          <p:nvSpPr>
            <p:cNvPr name="TextBox 10" id="10"/>
            <p:cNvSpPr txBox="true"/>
            <p:nvPr/>
          </p:nvSpPr>
          <p:spPr>
            <a:xfrm>
              <a:off x="0" y="-38100"/>
              <a:ext cx="3413760" cy="106222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VoID  1/3</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7C3AED"/>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7C3AED"/>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VoID — Vocabulary of Interlinked Datasets</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38100"/>
              <a:ext cx="21945600" cy="720852"/>
            </a:xfrm>
            <a:prstGeom prst="rect">
              <a:avLst/>
            </a:prstGeom>
          </p:spPr>
          <p:txBody>
            <a:bodyPr anchor="ctr" rtlCol="false" tIns="0" lIns="0" bIns="0" rIns="0"/>
            <a:lstStyle/>
            <a:p>
              <a:pPr algn="l">
                <a:lnSpc>
                  <a:spcPts val="2879"/>
                </a:lnSpc>
              </a:pPr>
              <a:r>
                <a:rPr lang="en-US" sz="2400" i="true">
                  <a:solidFill>
                    <a:srgbClr val="64748B"/>
                  </a:solidFill>
                  <a:latin typeface="Calibri (MS) Italics"/>
                  <a:ea typeface="Calibri (MS) Italics"/>
                  <a:cs typeface="Calibri (MS) Italics"/>
                  <a:sym typeface="Calibri (MS) Italics"/>
                </a:rPr>
                <a:t>Définition et Concepts de base</a:t>
              </a:r>
            </a:p>
          </p:txBody>
        </p:sp>
      </p:grpSp>
      <p:grpSp>
        <p:nvGrpSpPr>
          <p:cNvPr name="Group 20" id="20"/>
          <p:cNvGrpSpPr/>
          <p:nvPr/>
        </p:nvGrpSpPr>
        <p:grpSpPr>
          <a:xfrm rot="0">
            <a:off x="718823" y="1998983"/>
            <a:ext cx="16850363" cy="1159259"/>
            <a:chOff x="0" y="0"/>
            <a:chExt cx="22467151" cy="1545679"/>
          </a:xfrm>
        </p:grpSpPr>
        <p:sp>
          <p:nvSpPr>
            <p:cNvPr name="Freeform 21" id="21"/>
            <p:cNvSpPr/>
            <p:nvPr/>
          </p:nvSpPr>
          <p:spPr>
            <a:xfrm flipH="false" flipV="false" rot="0">
              <a:off x="16891" y="16891"/>
              <a:ext cx="22433280" cy="1511808"/>
            </a:xfrm>
            <a:custGeom>
              <a:avLst/>
              <a:gdLst/>
              <a:ahLst/>
              <a:cxnLst/>
              <a:rect r="r" b="b" t="t" l="l"/>
              <a:pathLst>
                <a:path h="1511808" w="22433280">
                  <a:moveTo>
                    <a:pt x="0" y="0"/>
                  </a:moveTo>
                  <a:lnTo>
                    <a:pt x="22433280" y="0"/>
                  </a:lnTo>
                  <a:lnTo>
                    <a:pt x="22433280" y="1511808"/>
                  </a:lnTo>
                  <a:lnTo>
                    <a:pt x="0" y="1511808"/>
                  </a:lnTo>
                  <a:close/>
                </a:path>
              </a:pathLst>
            </a:custGeom>
            <a:solidFill>
              <a:srgbClr val="F5F3FF"/>
            </a:solidFill>
          </p:spPr>
        </p:sp>
        <p:sp>
          <p:nvSpPr>
            <p:cNvPr name="Freeform 22" id="22"/>
            <p:cNvSpPr/>
            <p:nvPr/>
          </p:nvSpPr>
          <p:spPr>
            <a:xfrm flipH="false" flipV="false" rot="0">
              <a:off x="0" y="0"/>
              <a:ext cx="22467063" cy="1545590"/>
            </a:xfrm>
            <a:custGeom>
              <a:avLst/>
              <a:gdLst/>
              <a:ahLst/>
              <a:cxnLst/>
              <a:rect r="r" b="b" t="t" l="l"/>
              <a:pathLst>
                <a:path h="1545590" w="22467063">
                  <a:moveTo>
                    <a:pt x="16891" y="0"/>
                  </a:moveTo>
                  <a:lnTo>
                    <a:pt x="22450171" y="0"/>
                  </a:lnTo>
                  <a:cubicBezTo>
                    <a:pt x="22459569" y="0"/>
                    <a:pt x="22467063" y="7620"/>
                    <a:pt x="22467063" y="16891"/>
                  </a:cubicBezTo>
                  <a:lnTo>
                    <a:pt x="22467063" y="1528699"/>
                  </a:lnTo>
                  <a:cubicBezTo>
                    <a:pt x="22467063" y="1538097"/>
                    <a:pt x="22459443" y="1545590"/>
                    <a:pt x="2245017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450171" y="1511808"/>
                  </a:lnTo>
                  <a:lnTo>
                    <a:pt x="22450171" y="1528699"/>
                  </a:lnTo>
                  <a:lnTo>
                    <a:pt x="22433280" y="1528699"/>
                  </a:lnTo>
                  <a:lnTo>
                    <a:pt x="22433280" y="16891"/>
                  </a:lnTo>
                  <a:lnTo>
                    <a:pt x="22450171" y="16891"/>
                  </a:lnTo>
                  <a:lnTo>
                    <a:pt x="22450171" y="33909"/>
                  </a:lnTo>
                  <a:lnTo>
                    <a:pt x="16891" y="33909"/>
                  </a:lnTo>
                  <a:close/>
                </a:path>
              </a:pathLst>
            </a:custGeom>
            <a:solidFill>
              <a:srgbClr val="7C3AED"/>
            </a:solidFill>
          </p:spPr>
        </p:sp>
      </p:grpSp>
      <p:grpSp>
        <p:nvGrpSpPr>
          <p:cNvPr name="Group 23" id="23"/>
          <p:cNvGrpSpPr/>
          <p:nvPr/>
        </p:nvGrpSpPr>
        <p:grpSpPr>
          <a:xfrm rot="0">
            <a:off x="1097280" y="2103120"/>
            <a:ext cx="16093440" cy="914400"/>
            <a:chOff x="0" y="0"/>
            <a:chExt cx="21457920" cy="1219200"/>
          </a:xfrm>
        </p:grpSpPr>
        <p:sp>
          <p:nvSpPr>
            <p:cNvPr name="Freeform 24" id="24"/>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2">
                <a:alphaModFix amt="0"/>
              </a:blip>
              <a:stretch>
                <a:fillRect l="0" t="-292936" r="0" b="-292936"/>
              </a:stretch>
            </a:blipFill>
          </p:spPr>
        </p:sp>
        <p:sp>
          <p:nvSpPr>
            <p:cNvPr name="TextBox 25" id="25"/>
            <p:cNvSpPr txBox="true"/>
            <p:nvPr/>
          </p:nvSpPr>
          <p:spPr>
            <a:xfrm>
              <a:off x="0" y="-38100"/>
              <a:ext cx="21457920" cy="125730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Vocabulaire RDF pour décrire les métadonnées techniques d'un dataset RDF (statistiques, endpoints SPARQL, liens vers d'autres datasets).</a:t>
              </a:r>
            </a:p>
          </p:txBody>
        </p:sp>
      </p:grpSp>
      <p:grpSp>
        <p:nvGrpSpPr>
          <p:cNvPr name="Group 26" id="26"/>
          <p:cNvGrpSpPr/>
          <p:nvPr/>
        </p:nvGrpSpPr>
        <p:grpSpPr>
          <a:xfrm rot="0">
            <a:off x="718823" y="3425190"/>
            <a:ext cx="16850363" cy="1172213"/>
            <a:chOff x="0" y="0"/>
            <a:chExt cx="22467151" cy="1562951"/>
          </a:xfrm>
        </p:grpSpPr>
        <p:sp>
          <p:nvSpPr>
            <p:cNvPr name="Freeform 27" id="27"/>
            <p:cNvSpPr/>
            <p:nvPr/>
          </p:nvSpPr>
          <p:spPr>
            <a:xfrm flipH="false" flipV="false" rot="0">
              <a:off x="16891" y="16891"/>
              <a:ext cx="22433280" cy="1529080"/>
            </a:xfrm>
            <a:custGeom>
              <a:avLst/>
              <a:gdLst/>
              <a:ahLst/>
              <a:cxnLst/>
              <a:rect r="r" b="b" t="t" l="l"/>
              <a:pathLst>
                <a:path h="1529080" w="22433280">
                  <a:moveTo>
                    <a:pt x="0" y="0"/>
                  </a:moveTo>
                  <a:lnTo>
                    <a:pt x="22433280" y="0"/>
                  </a:lnTo>
                  <a:lnTo>
                    <a:pt x="22433280" y="1529080"/>
                  </a:lnTo>
                  <a:lnTo>
                    <a:pt x="0" y="1529080"/>
                  </a:lnTo>
                  <a:close/>
                </a:path>
              </a:pathLst>
            </a:custGeom>
            <a:solidFill>
              <a:srgbClr val="F1F5F9"/>
            </a:solidFill>
          </p:spPr>
        </p:sp>
        <p:sp>
          <p:nvSpPr>
            <p:cNvPr name="Freeform 28" id="28"/>
            <p:cNvSpPr/>
            <p:nvPr/>
          </p:nvSpPr>
          <p:spPr>
            <a:xfrm flipH="false" flipV="false" rot="0">
              <a:off x="0" y="0"/>
              <a:ext cx="22467063" cy="1562862"/>
            </a:xfrm>
            <a:custGeom>
              <a:avLst/>
              <a:gdLst/>
              <a:ahLst/>
              <a:cxnLst/>
              <a:rect r="r" b="b" t="t" l="l"/>
              <a:pathLst>
                <a:path h="1562862" w="22467063">
                  <a:moveTo>
                    <a:pt x="16891" y="0"/>
                  </a:moveTo>
                  <a:lnTo>
                    <a:pt x="22450171" y="0"/>
                  </a:lnTo>
                  <a:cubicBezTo>
                    <a:pt x="22459569" y="0"/>
                    <a:pt x="22467063" y="7620"/>
                    <a:pt x="22467063" y="16891"/>
                  </a:cubicBezTo>
                  <a:lnTo>
                    <a:pt x="22467063" y="1545971"/>
                  </a:lnTo>
                  <a:cubicBezTo>
                    <a:pt x="22467063" y="1555369"/>
                    <a:pt x="22459443" y="1562862"/>
                    <a:pt x="22450171" y="1562862"/>
                  </a:cubicBezTo>
                  <a:lnTo>
                    <a:pt x="16891" y="1562862"/>
                  </a:lnTo>
                  <a:cubicBezTo>
                    <a:pt x="7493" y="1562862"/>
                    <a:pt x="0" y="1555242"/>
                    <a:pt x="0" y="1545971"/>
                  </a:cubicBezTo>
                  <a:lnTo>
                    <a:pt x="0" y="16891"/>
                  </a:lnTo>
                  <a:cubicBezTo>
                    <a:pt x="0" y="7620"/>
                    <a:pt x="7620" y="0"/>
                    <a:pt x="16891" y="0"/>
                  </a:cubicBezTo>
                  <a:moveTo>
                    <a:pt x="16891" y="33909"/>
                  </a:moveTo>
                  <a:lnTo>
                    <a:pt x="16891" y="16891"/>
                  </a:lnTo>
                  <a:lnTo>
                    <a:pt x="33909" y="16891"/>
                  </a:lnTo>
                  <a:lnTo>
                    <a:pt x="33909" y="1545971"/>
                  </a:lnTo>
                  <a:lnTo>
                    <a:pt x="16891" y="1545971"/>
                  </a:lnTo>
                  <a:lnTo>
                    <a:pt x="16891" y="1529080"/>
                  </a:lnTo>
                  <a:lnTo>
                    <a:pt x="22450171" y="1529080"/>
                  </a:lnTo>
                  <a:lnTo>
                    <a:pt x="22450171" y="1545971"/>
                  </a:lnTo>
                  <a:lnTo>
                    <a:pt x="22433280" y="1545971"/>
                  </a:lnTo>
                  <a:lnTo>
                    <a:pt x="22433280" y="16891"/>
                  </a:lnTo>
                  <a:lnTo>
                    <a:pt x="22450171" y="16891"/>
                  </a:lnTo>
                  <a:lnTo>
                    <a:pt x="22450171" y="33909"/>
                  </a:lnTo>
                  <a:lnTo>
                    <a:pt x="16891" y="33909"/>
                  </a:lnTo>
                  <a:close/>
                </a:path>
              </a:pathLst>
            </a:custGeom>
            <a:solidFill>
              <a:srgbClr val="7C3AED"/>
            </a:solidFill>
          </p:spPr>
        </p:sp>
      </p:grpSp>
      <p:grpSp>
        <p:nvGrpSpPr>
          <p:cNvPr name="Group 29" id="29"/>
          <p:cNvGrpSpPr/>
          <p:nvPr/>
        </p:nvGrpSpPr>
        <p:grpSpPr>
          <a:xfrm rot="0">
            <a:off x="718823" y="3425190"/>
            <a:ext cx="180337" cy="1172213"/>
            <a:chOff x="0" y="0"/>
            <a:chExt cx="240449" cy="1562951"/>
          </a:xfrm>
        </p:grpSpPr>
        <p:sp>
          <p:nvSpPr>
            <p:cNvPr name="Freeform 30" id="30"/>
            <p:cNvSpPr/>
            <p:nvPr/>
          </p:nvSpPr>
          <p:spPr>
            <a:xfrm flipH="false" flipV="false" rot="0">
              <a:off x="16891" y="16891"/>
              <a:ext cx="206629" cy="1529080"/>
            </a:xfrm>
            <a:custGeom>
              <a:avLst/>
              <a:gdLst/>
              <a:ahLst/>
              <a:cxnLst/>
              <a:rect r="r" b="b" t="t" l="l"/>
              <a:pathLst>
                <a:path h="1529080" w="206629">
                  <a:moveTo>
                    <a:pt x="0" y="0"/>
                  </a:moveTo>
                  <a:lnTo>
                    <a:pt x="206629" y="0"/>
                  </a:lnTo>
                  <a:lnTo>
                    <a:pt x="206629" y="1529080"/>
                  </a:lnTo>
                  <a:lnTo>
                    <a:pt x="0" y="1529080"/>
                  </a:lnTo>
                  <a:close/>
                </a:path>
              </a:pathLst>
            </a:custGeom>
            <a:solidFill>
              <a:srgbClr val="7C3AED"/>
            </a:solidFill>
          </p:spPr>
        </p:sp>
        <p:sp>
          <p:nvSpPr>
            <p:cNvPr name="Freeform 31" id="31"/>
            <p:cNvSpPr/>
            <p:nvPr/>
          </p:nvSpPr>
          <p:spPr>
            <a:xfrm flipH="false" flipV="false" rot="0">
              <a:off x="0" y="0"/>
              <a:ext cx="240411" cy="1562862"/>
            </a:xfrm>
            <a:custGeom>
              <a:avLst/>
              <a:gdLst/>
              <a:ahLst/>
              <a:cxnLst/>
              <a:rect r="r" b="b" t="t" l="l"/>
              <a:pathLst>
                <a:path h="1562862" w="240411">
                  <a:moveTo>
                    <a:pt x="16891" y="0"/>
                  </a:moveTo>
                  <a:lnTo>
                    <a:pt x="223520" y="0"/>
                  </a:lnTo>
                  <a:cubicBezTo>
                    <a:pt x="232918" y="0"/>
                    <a:pt x="240411" y="7620"/>
                    <a:pt x="240411" y="16891"/>
                  </a:cubicBezTo>
                  <a:lnTo>
                    <a:pt x="240411" y="1545971"/>
                  </a:lnTo>
                  <a:cubicBezTo>
                    <a:pt x="240411" y="1555369"/>
                    <a:pt x="232791" y="1562862"/>
                    <a:pt x="223520" y="1562862"/>
                  </a:cubicBezTo>
                  <a:lnTo>
                    <a:pt x="16891" y="1562862"/>
                  </a:lnTo>
                  <a:cubicBezTo>
                    <a:pt x="7493" y="1562862"/>
                    <a:pt x="0" y="1555242"/>
                    <a:pt x="0" y="1545971"/>
                  </a:cubicBezTo>
                  <a:lnTo>
                    <a:pt x="0" y="16891"/>
                  </a:lnTo>
                  <a:cubicBezTo>
                    <a:pt x="0" y="7620"/>
                    <a:pt x="7620" y="0"/>
                    <a:pt x="16891" y="0"/>
                  </a:cubicBezTo>
                  <a:moveTo>
                    <a:pt x="16891" y="33909"/>
                  </a:moveTo>
                  <a:lnTo>
                    <a:pt x="16891" y="16891"/>
                  </a:lnTo>
                  <a:lnTo>
                    <a:pt x="33909" y="16891"/>
                  </a:lnTo>
                  <a:lnTo>
                    <a:pt x="33909" y="1545971"/>
                  </a:lnTo>
                  <a:lnTo>
                    <a:pt x="16891" y="1545971"/>
                  </a:lnTo>
                  <a:lnTo>
                    <a:pt x="16891" y="1529080"/>
                  </a:lnTo>
                  <a:lnTo>
                    <a:pt x="223520" y="1529080"/>
                  </a:lnTo>
                  <a:lnTo>
                    <a:pt x="223520" y="1545971"/>
                  </a:lnTo>
                  <a:lnTo>
                    <a:pt x="206629" y="1545971"/>
                  </a:lnTo>
                  <a:lnTo>
                    <a:pt x="206629" y="16891"/>
                  </a:lnTo>
                  <a:lnTo>
                    <a:pt x="223520" y="16891"/>
                  </a:lnTo>
                  <a:lnTo>
                    <a:pt x="223520" y="33909"/>
                  </a:lnTo>
                  <a:lnTo>
                    <a:pt x="16891" y="33909"/>
                  </a:lnTo>
                  <a:close/>
                </a:path>
              </a:pathLst>
            </a:custGeom>
            <a:solidFill>
              <a:srgbClr val="7C3AED"/>
            </a:solidFill>
          </p:spPr>
        </p:sp>
      </p:grpSp>
      <p:grpSp>
        <p:nvGrpSpPr>
          <p:cNvPr name="Group 32" id="32"/>
          <p:cNvGrpSpPr/>
          <p:nvPr/>
        </p:nvGrpSpPr>
        <p:grpSpPr>
          <a:xfrm rot="0">
            <a:off x="1060447" y="3474720"/>
            <a:ext cx="5852160" cy="387353"/>
            <a:chOff x="0" y="0"/>
            <a:chExt cx="7802880" cy="516471"/>
          </a:xfrm>
        </p:grpSpPr>
        <p:sp>
          <p:nvSpPr>
            <p:cNvPr name="Freeform 33" id="33"/>
            <p:cNvSpPr/>
            <p:nvPr/>
          </p:nvSpPr>
          <p:spPr>
            <a:xfrm flipH="false" flipV="false" rot="0">
              <a:off x="0" y="0"/>
              <a:ext cx="7802880" cy="516467"/>
            </a:xfrm>
            <a:custGeom>
              <a:avLst/>
              <a:gdLst/>
              <a:ahLst/>
              <a:cxnLst/>
              <a:rect r="r" b="b" t="t" l="l"/>
              <a:pathLst>
                <a:path h="516467" w="7802880">
                  <a:moveTo>
                    <a:pt x="0" y="0"/>
                  </a:moveTo>
                  <a:lnTo>
                    <a:pt x="7802880" y="0"/>
                  </a:lnTo>
                  <a:lnTo>
                    <a:pt x="7802880" y="516467"/>
                  </a:lnTo>
                  <a:lnTo>
                    <a:pt x="0" y="516467"/>
                  </a:lnTo>
                  <a:close/>
                </a:path>
              </a:pathLst>
            </a:custGeom>
            <a:blipFill>
              <a:blip r:embed="rId2">
                <a:alphaModFix amt="0"/>
              </a:blip>
              <a:stretch>
                <a:fillRect l="0" t="-244383" r="0" b="-244384"/>
              </a:stretch>
            </a:blipFill>
          </p:spPr>
        </p:sp>
        <p:sp>
          <p:nvSpPr>
            <p:cNvPr name="TextBox 34" id="34"/>
            <p:cNvSpPr txBox="true"/>
            <p:nvPr/>
          </p:nvSpPr>
          <p:spPr>
            <a:xfrm>
              <a:off x="0" y="-38100"/>
              <a:ext cx="7802880" cy="554571"/>
            </a:xfrm>
            <a:prstGeom prst="rect">
              <a:avLst/>
            </a:prstGeom>
          </p:spPr>
          <p:txBody>
            <a:bodyPr anchor="ctr" rtlCol="false" tIns="0" lIns="0" bIns="0" rIns="0"/>
            <a:lstStyle/>
            <a:p>
              <a:pPr algn="l">
                <a:lnSpc>
                  <a:spcPts val="2879"/>
                </a:lnSpc>
              </a:pPr>
              <a:r>
                <a:rPr lang="en-US" sz="2400" b="true">
                  <a:solidFill>
                    <a:srgbClr val="7C3AED"/>
                  </a:solidFill>
                  <a:latin typeface="Calibri (MS) Bold"/>
                  <a:ea typeface="Calibri (MS) Bold"/>
                  <a:cs typeface="Calibri (MS) Bold"/>
                  <a:sym typeface="Calibri (MS) Bold"/>
                </a:rPr>
                <a:t>🔍  Rôle principal</a:t>
              </a:r>
            </a:p>
          </p:txBody>
        </p:sp>
      </p:grpSp>
      <p:grpSp>
        <p:nvGrpSpPr>
          <p:cNvPr name="Group 35" id="35"/>
          <p:cNvGrpSpPr/>
          <p:nvPr/>
        </p:nvGrpSpPr>
        <p:grpSpPr>
          <a:xfrm rot="0">
            <a:off x="1097280" y="3949703"/>
            <a:ext cx="16092173" cy="556260"/>
            <a:chOff x="0" y="0"/>
            <a:chExt cx="21456231" cy="741680"/>
          </a:xfrm>
        </p:grpSpPr>
        <p:sp>
          <p:nvSpPr>
            <p:cNvPr name="Freeform 36" id="36"/>
            <p:cNvSpPr/>
            <p:nvPr/>
          </p:nvSpPr>
          <p:spPr>
            <a:xfrm flipH="false" flipV="false" rot="0">
              <a:off x="0" y="0"/>
              <a:ext cx="21456227" cy="741680"/>
            </a:xfrm>
            <a:custGeom>
              <a:avLst/>
              <a:gdLst/>
              <a:ahLst/>
              <a:cxnLst/>
              <a:rect r="r" b="b" t="t" l="l"/>
              <a:pathLst>
                <a:path h="741680" w="21456227">
                  <a:moveTo>
                    <a:pt x="0" y="0"/>
                  </a:moveTo>
                  <a:lnTo>
                    <a:pt x="21456227" y="0"/>
                  </a:lnTo>
                  <a:lnTo>
                    <a:pt x="21456227" y="741680"/>
                  </a:lnTo>
                  <a:lnTo>
                    <a:pt x="0" y="741680"/>
                  </a:lnTo>
                  <a:close/>
                </a:path>
              </a:pathLst>
            </a:custGeom>
            <a:blipFill>
              <a:blip r:embed="rId2">
                <a:alphaModFix amt="0"/>
              </a:blip>
              <a:stretch>
                <a:fillRect l="0" t="-513687" r="0" b="-513687"/>
              </a:stretch>
            </a:blipFill>
          </p:spPr>
        </p:sp>
        <p:sp>
          <p:nvSpPr>
            <p:cNvPr name="TextBox 37" id="37"/>
            <p:cNvSpPr txBox="true"/>
            <p:nvPr/>
          </p:nvSpPr>
          <p:spPr>
            <a:xfrm>
              <a:off x="0" y="-47625"/>
              <a:ext cx="21456231" cy="78930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Constituer un « pont » entre les éditeurs de datasets RDF et leurs consommateurs — permettre la découverte automatique d'endpoints SPARQL.</a:t>
              </a:r>
            </a:p>
          </p:txBody>
        </p:sp>
      </p:grpSp>
      <p:grpSp>
        <p:nvGrpSpPr>
          <p:cNvPr name="Group 38" id="38"/>
          <p:cNvGrpSpPr/>
          <p:nvPr/>
        </p:nvGrpSpPr>
        <p:grpSpPr>
          <a:xfrm rot="0">
            <a:off x="755647" y="7905750"/>
            <a:ext cx="16850363" cy="1342387"/>
            <a:chOff x="0" y="0"/>
            <a:chExt cx="22467151" cy="1789849"/>
          </a:xfrm>
        </p:grpSpPr>
        <p:sp>
          <p:nvSpPr>
            <p:cNvPr name="Freeform 39" id="39"/>
            <p:cNvSpPr/>
            <p:nvPr/>
          </p:nvSpPr>
          <p:spPr>
            <a:xfrm flipH="false" flipV="false" rot="0">
              <a:off x="16891" y="16891"/>
              <a:ext cx="22433280" cy="1756029"/>
            </a:xfrm>
            <a:custGeom>
              <a:avLst/>
              <a:gdLst/>
              <a:ahLst/>
              <a:cxnLst/>
              <a:rect r="r" b="b" t="t" l="l"/>
              <a:pathLst>
                <a:path h="1756029" w="22433280">
                  <a:moveTo>
                    <a:pt x="0" y="0"/>
                  </a:moveTo>
                  <a:lnTo>
                    <a:pt x="22433280" y="0"/>
                  </a:lnTo>
                  <a:lnTo>
                    <a:pt x="22433280" y="1756029"/>
                  </a:lnTo>
                  <a:lnTo>
                    <a:pt x="0" y="1756029"/>
                  </a:lnTo>
                  <a:close/>
                </a:path>
              </a:pathLst>
            </a:custGeom>
            <a:solidFill>
              <a:srgbClr val="F1F5F9"/>
            </a:solidFill>
          </p:spPr>
        </p:sp>
        <p:sp>
          <p:nvSpPr>
            <p:cNvPr name="Freeform 40" id="40"/>
            <p:cNvSpPr/>
            <p:nvPr/>
          </p:nvSpPr>
          <p:spPr>
            <a:xfrm flipH="false" flipV="false" rot="0">
              <a:off x="0" y="0"/>
              <a:ext cx="22467063" cy="1789811"/>
            </a:xfrm>
            <a:custGeom>
              <a:avLst/>
              <a:gdLst/>
              <a:ahLst/>
              <a:cxnLst/>
              <a:rect r="r" b="b" t="t" l="l"/>
              <a:pathLst>
                <a:path h="1789811" w="22467063">
                  <a:moveTo>
                    <a:pt x="16891" y="0"/>
                  </a:moveTo>
                  <a:lnTo>
                    <a:pt x="22450171" y="0"/>
                  </a:lnTo>
                  <a:cubicBezTo>
                    <a:pt x="22459569" y="0"/>
                    <a:pt x="22467063" y="7620"/>
                    <a:pt x="22467063" y="16891"/>
                  </a:cubicBezTo>
                  <a:lnTo>
                    <a:pt x="22467063" y="1772920"/>
                  </a:lnTo>
                  <a:cubicBezTo>
                    <a:pt x="22467063" y="1782318"/>
                    <a:pt x="22459443" y="1789811"/>
                    <a:pt x="22450171" y="1789811"/>
                  </a:cubicBezTo>
                  <a:lnTo>
                    <a:pt x="16891" y="1789811"/>
                  </a:lnTo>
                  <a:cubicBezTo>
                    <a:pt x="7493" y="1789811"/>
                    <a:pt x="0" y="1782191"/>
                    <a:pt x="0" y="1772920"/>
                  </a:cubicBezTo>
                  <a:lnTo>
                    <a:pt x="0" y="16891"/>
                  </a:lnTo>
                  <a:cubicBezTo>
                    <a:pt x="0" y="7620"/>
                    <a:pt x="7620" y="0"/>
                    <a:pt x="16891" y="0"/>
                  </a:cubicBezTo>
                  <a:moveTo>
                    <a:pt x="16891" y="33909"/>
                  </a:moveTo>
                  <a:lnTo>
                    <a:pt x="16891" y="16891"/>
                  </a:lnTo>
                  <a:lnTo>
                    <a:pt x="33909" y="16891"/>
                  </a:lnTo>
                  <a:lnTo>
                    <a:pt x="33909" y="1772920"/>
                  </a:lnTo>
                  <a:lnTo>
                    <a:pt x="16891" y="1772920"/>
                  </a:lnTo>
                  <a:lnTo>
                    <a:pt x="16891" y="1756029"/>
                  </a:lnTo>
                  <a:lnTo>
                    <a:pt x="22450171" y="1756029"/>
                  </a:lnTo>
                  <a:lnTo>
                    <a:pt x="22450171" y="1772920"/>
                  </a:lnTo>
                  <a:lnTo>
                    <a:pt x="22433280" y="1772920"/>
                  </a:lnTo>
                  <a:lnTo>
                    <a:pt x="22433280" y="16891"/>
                  </a:lnTo>
                  <a:lnTo>
                    <a:pt x="22450171" y="16891"/>
                  </a:lnTo>
                  <a:lnTo>
                    <a:pt x="22450171" y="33909"/>
                  </a:lnTo>
                  <a:lnTo>
                    <a:pt x="16891" y="33909"/>
                  </a:lnTo>
                  <a:close/>
                </a:path>
              </a:pathLst>
            </a:custGeom>
            <a:solidFill>
              <a:srgbClr val="7C3AED"/>
            </a:solidFill>
          </p:spPr>
        </p:sp>
      </p:grpSp>
      <p:grpSp>
        <p:nvGrpSpPr>
          <p:cNvPr name="Group 41" id="41"/>
          <p:cNvGrpSpPr/>
          <p:nvPr/>
        </p:nvGrpSpPr>
        <p:grpSpPr>
          <a:xfrm rot="0">
            <a:off x="755647" y="7905750"/>
            <a:ext cx="177803" cy="1342387"/>
            <a:chOff x="0" y="0"/>
            <a:chExt cx="237071" cy="1789849"/>
          </a:xfrm>
        </p:grpSpPr>
        <p:sp>
          <p:nvSpPr>
            <p:cNvPr name="Freeform 42" id="42"/>
            <p:cNvSpPr/>
            <p:nvPr/>
          </p:nvSpPr>
          <p:spPr>
            <a:xfrm flipH="false" flipV="false" rot="0">
              <a:off x="16891" y="16891"/>
              <a:ext cx="203200" cy="1756029"/>
            </a:xfrm>
            <a:custGeom>
              <a:avLst/>
              <a:gdLst/>
              <a:ahLst/>
              <a:cxnLst/>
              <a:rect r="r" b="b" t="t" l="l"/>
              <a:pathLst>
                <a:path h="1756029" w="203200">
                  <a:moveTo>
                    <a:pt x="0" y="0"/>
                  </a:moveTo>
                  <a:lnTo>
                    <a:pt x="203200" y="0"/>
                  </a:lnTo>
                  <a:lnTo>
                    <a:pt x="203200" y="1756029"/>
                  </a:lnTo>
                  <a:lnTo>
                    <a:pt x="0" y="1756029"/>
                  </a:lnTo>
                  <a:close/>
                </a:path>
              </a:pathLst>
            </a:custGeom>
            <a:solidFill>
              <a:srgbClr val="7C3AED"/>
            </a:solidFill>
          </p:spPr>
        </p:sp>
        <p:sp>
          <p:nvSpPr>
            <p:cNvPr name="Freeform 43" id="43"/>
            <p:cNvSpPr/>
            <p:nvPr/>
          </p:nvSpPr>
          <p:spPr>
            <a:xfrm flipH="false" flipV="false" rot="0">
              <a:off x="0" y="0"/>
              <a:ext cx="236982" cy="1789811"/>
            </a:xfrm>
            <a:custGeom>
              <a:avLst/>
              <a:gdLst/>
              <a:ahLst/>
              <a:cxnLst/>
              <a:rect r="r" b="b" t="t" l="l"/>
              <a:pathLst>
                <a:path h="1789811" w="236982">
                  <a:moveTo>
                    <a:pt x="16891" y="0"/>
                  </a:moveTo>
                  <a:lnTo>
                    <a:pt x="220091" y="0"/>
                  </a:lnTo>
                  <a:cubicBezTo>
                    <a:pt x="229489" y="0"/>
                    <a:pt x="236982" y="7620"/>
                    <a:pt x="236982" y="16891"/>
                  </a:cubicBezTo>
                  <a:lnTo>
                    <a:pt x="236982" y="1772920"/>
                  </a:lnTo>
                  <a:cubicBezTo>
                    <a:pt x="236982" y="1782318"/>
                    <a:pt x="229362" y="1789811"/>
                    <a:pt x="220091" y="1789811"/>
                  </a:cubicBezTo>
                  <a:lnTo>
                    <a:pt x="16891" y="1789811"/>
                  </a:lnTo>
                  <a:cubicBezTo>
                    <a:pt x="7493" y="1789811"/>
                    <a:pt x="0" y="1782191"/>
                    <a:pt x="0" y="1772920"/>
                  </a:cubicBezTo>
                  <a:lnTo>
                    <a:pt x="0" y="16891"/>
                  </a:lnTo>
                  <a:cubicBezTo>
                    <a:pt x="0" y="7620"/>
                    <a:pt x="7620" y="0"/>
                    <a:pt x="16891" y="0"/>
                  </a:cubicBezTo>
                  <a:moveTo>
                    <a:pt x="16891" y="33909"/>
                  </a:moveTo>
                  <a:lnTo>
                    <a:pt x="16891" y="16891"/>
                  </a:lnTo>
                  <a:lnTo>
                    <a:pt x="33909" y="16891"/>
                  </a:lnTo>
                  <a:lnTo>
                    <a:pt x="33909" y="1772920"/>
                  </a:lnTo>
                  <a:lnTo>
                    <a:pt x="16891" y="1772920"/>
                  </a:lnTo>
                  <a:lnTo>
                    <a:pt x="16891" y="1756029"/>
                  </a:lnTo>
                  <a:lnTo>
                    <a:pt x="220091" y="1756029"/>
                  </a:lnTo>
                  <a:lnTo>
                    <a:pt x="220091" y="1772920"/>
                  </a:lnTo>
                  <a:lnTo>
                    <a:pt x="203200" y="1772920"/>
                  </a:lnTo>
                  <a:lnTo>
                    <a:pt x="203200" y="16891"/>
                  </a:lnTo>
                  <a:lnTo>
                    <a:pt x="220091" y="16891"/>
                  </a:lnTo>
                  <a:lnTo>
                    <a:pt x="220091" y="33909"/>
                  </a:lnTo>
                  <a:lnTo>
                    <a:pt x="16891" y="33909"/>
                  </a:lnTo>
                  <a:close/>
                </a:path>
              </a:pathLst>
            </a:custGeom>
            <a:solidFill>
              <a:srgbClr val="7C3AED"/>
            </a:solidFill>
          </p:spPr>
        </p:sp>
      </p:grpSp>
      <p:grpSp>
        <p:nvGrpSpPr>
          <p:cNvPr name="Group 44" id="44"/>
          <p:cNvGrpSpPr/>
          <p:nvPr/>
        </p:nvGrpSpPr>
        <p:grpSpPr>
          <a:xfrm rot="0">
            <a:off x="1097280" y="8064503"/>
            <a:ext cx="5852160" cy="444503"/>
            <a:chOff x="0" y="0"/>
            <a:chExt cx="7802880" cy="592671"/>
          </a:xfrm>
        </p:grpSpPr>
        <p:sp>
          <p:nvSpPr>
            <p:cNvPr name="Freeform 45" id="45"/>
            <p:cNvSpPr/>
            <p:nvPr/>
          </p:nvSpPr>
          <p:spPr>
            <a:xfrm flipH="false" flipV="false" rot="0">
              <a:off x="0" y="0"/>
              <a:ext cx="7802880" cy="592667"/>
            </a:xfrm>
            <a:custGeom>
              <a:avLst/>
              <a:gdLst/>
              <a:ahLst/>
              <a:cxnLst/>
              <a:rect r="r" b="b" t="t" l="l"/>
              <a:pathLst>
                <a:path h="592667" w="7802880">
                  <a:moveTo>
                    <a:pt x="0" y="0"/>
                  </a:moveTo>
                  <a:lnTo>
                    <a:pt x="7802880" y="0"/>
                  </a:lnTo>
                  <a:lnTo>
                    <a:pt x="7802880" y="592667"/>
                  </a:lnTo>
                  <a:lnTo>
                    <a:pt x="0" y="592667"/>
                  </a:lnTo>
                  <a:close/>
                </a:path>
              </a:pathLst>
            </a:custGeom>
            <a:blipFill>
              <a:blip r:embed="rId2">
                <a:alphaModFix amt="0"/>
              </a:blip>
              <a:stretch>
                <a:fillRect l="0" t="-206534" r="0" b="-206534"/>
              </a:stretch>
            </a:blipFill>
          </p:spPr>
        </p:sp>
        <p:sp>
          <p:nvSpPr>
            <p:cNvPr name="TextBox 46" id="46"/>
            <p:cNvSpPr txBox="true"/>
            <p:nvPr/>
          </p:nvSpPr>
          <p:spPr>
            <a:xfrm>
              <a:off x="0" y="-38100"/>
              <a:ext cx="7802880" cy="630771"/>
            </a:xfrm>
            <a:prstGeom prst="rect">
              <a:avLst/>
            </a:prstGeom>
          </p:spPr>
          <p:txBody>
            <a:bodyPr anchor="ctr" rtlCol="false" tIns="0" lIns="0" bIns="0" rIns="0"/>
            <a:lstStyle/>
            <a:p>
              <a:pPr algn="l">
                <a:lnSpc>
                  <a:spcPts val="2879"/>
                </a:lnSpc>
              </a:pPr>
              <a:r>
                <a:rPr lang="en-US" sz="2400" b="true">
                  <a:solidFill>
                    <a:srgbClr val="7C3AED"/>
                  </a:solidFill>
                  <a:latin typeface="Calibri (MS) Bold"/>
                  <a:ea typeface="Calibri (MS) Bold"/>
                  <a:cs typeface="Calibri (MS) Bold"/>
                  <a:sym typeface="Calibri (MS) Bold"/>
                </a:rPr>
                <a:t>🆚  Différence avec DCAT</a:t>
              </a:r>
            </a:p>
          </p:txBody>
        </p:sp>
      </p:grpSp>
      <p:grpSp>
        <p:nvGrpSpPr>
          <p:cNvPr name="Group 47" id="47"/>
          <p:cNvGrpSpPr/>
          <p:nvPr/>
        </p:nvGrpSpPr>
        <p:grpSpPr>
          <a:xfrm rot="0">
            <a:off x="1097280" y="8686800"/>
            <a:ext cx="16093440" cy="637537"/>
            <a:chOff x="0" y="0"/>
            <a:chExt cx="21457920" cy="850049"/>
          </a:xfrm>
        </p:grpSpPr>
        <p:sp>
          <p:nvSpPr>
            <p:cNvPr name="Freeform 48" id="48"/>
            <p:cNvSpPr/>
            <p:nvPr/>
          </p:nvSpPr>
          <p:spPr>
            <a:xfrm flipH="false" flipV="false" rot="0">
              <a:off x="0" y="0"/>
              <a:ext cx="21457920" cy="850053"/>
            </a:xfrm>
            <a:custGeom>
              <a:avLst/>
              <a:gdLst/>
              <a:ahLst/>
              <a:cxnLst/>
              <a:rect r="r" b="b" t="t" l="l"/>
              <a:pathLst>
                <a:path h="850053" w="21457920">
                  <a:moveTo>
                    <a:pt x="0" y="0"/>
                  </a:moveTo>
                  <a:lnTo>
                    <a:pt x="21457920" y="0"/>
                  </a:lnTo>
                  <a:lnTo>
                    <a:pt x="21457920" y="850053"/>
                  </a:lnTo>
                  <a:lnTo>
                    <a:pt x="0" y="850053"/>
                  </a:lnTo>
                  <a:close/>
                </a:path>
              </a:pathLst>
            </a:custGeom>
            <a:blipFill>
              <a:blip r:embed="rId2">
                <a:alphaModFix amt="0"/>
              </a:blip>
              <a:stretch>
                <a:fillRect l="0" t="-441861" r="0" b="-441861"/>
              </a:stretch>
            </a:blipFill>
          </p:spPr>
        </p:sp>
        <p:sp>
          <p:nvSpPr>
            <p:cNvPr name="TextBox 49" id="49"/>
            <p:cNvSpPr txBox="true"/>
            <p:nvPr/>
          </p:nvSpPr>
          <p:spPr>
            <a:xfrm>
              <a:off x="0" y="-47625"/>
              <a:ext cx="21457920" cy="897674"/>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DCAT couvre tous les types de données (CSV, PDF, API). VoID est exclusivement pensé pour les graphes RDF du Linked Open Data.</a:t>
              </a:r>
            </a:p>
          </p:txBody>
        </p:sp>
      </p:grpSp>
      <p:grpSp>
        <p:nvGrpSpPr>
          <p:cNvPr name="Group 50" id="50"/>
          <p:cNvGrpSpPr/>
          <p:nvPr/>
        </p:nvGrpSpPr>
        <p:grpSpPr>
          <a:xfrm rot="0">
            <a:off x="735330" y="6266183"/>
            <a:ext cx="16850363" cy="1371600"/>
            <a:chOff x="0" y="0"/>
            <a:chExt cx="22467151" cy="1828800"/>
          </a:xfrm>
        </p:grpSpPr>
        <p:sp>
          <p:nvSpPr>
            <p:cNvPr name="Freeform 51" id="51"/>
            <p:cNvSpPr/>
            <p:nvPr/>
          </p:nvSpPr>
          <p:spPr>
            <a:xfrm flipH="false" flipV="false" rot="0">
              <a:off x="16891" y="16891"/>
              <a:ext cx="22433280" cy="1795018"/>
            </a:xfrm>
            <a:custGeom>
              <a:avLst/>
              <a:gdLst/>
              <a:ahLst/>
              <a:cxnLst/>
              <a:rect r="r" b="b" t="t" l="l"/>
              <a:pathLst>
                <a:path h="1795018" w="22433280">
                  <a:moveTo>
                    <a:pt x="0" y="0"/>
                  </a:moveTo>
                  <a:lnTo>
                    <a:pt x="22433280" y="0"/>
                  </a:lnTo>
                  <a:lnTo>
                    <a:pt x="22433280" y="1795018"/>
                  </a:lnTo>
                  <a:lnTo>
                    <a:pt x="0" y="1795018"/>
                  </a:lnTo>
                  <a:close/>
                </a:path>
              </a:pathLst>
            </a:custGeom>
            <a:solidFill>
              <a:srgbClr val="F1F5F9"/>
            </a:solidFill>
          </p:spPr>
        </p:sp>
        <p:sp>
          <p:nvSpPr>
            <p:cNvPr name="Freeform 52" id="52"/>
            <p:cNvSpPr/>
            <p:nvPr/>
          </p:nvSpPr>
          <p:spPr>
            <a:xfrm flipH="false" flipV="false" rot="0">
              <a:off x="0" y="0"/>
              <a:ext cx="22467063" cy="1828800"/>
            </a:xfrm>
            <a:custGeom>
              <a:avLst/>
              <a:gdLst/>
              <a:ahLst/>
              <a:cxnLst/>
              <a:rect r="r" b="b" t="t" l="l"/>
              <a:pathLst>
                <a:path h="1828800" w="22467063">
                  <a:moveTo>
                    <a:pt x="16891" y="0"/>
                  </a:moveTo>
                  <a:lnTo>
                    <a:pt x="22450171" y="0"/>
                  </a:lnTo>
                  <a:cubicBezTo>
                    <a:pt x="22459569" y="0"/>
                    <a:pt x="22467063" y="7620"/>
                    <a:pt x="22467063" y="16891"/>
                  </a:cubicBezTo>
                  <a:lnTo>
                    <a:pt x="22467063" y="1811909"/>
                  </a:lnTo>
                  <a:cubicBezTo>
                    <a:pt x="22467063" y="1821307"/>
                    <a:pt x="22459443" y="1828800"/>
                    <a:pt x="22450171" y="1828800"/>
                  </a:cubicBezTo>
                  <a:lnTo>
                    <a:pt x="16891" y="1828800"/>
                  </a:lnTo>
                  <a:cubicBezTo>
                    <a:pt x="7620" y="1828800"/>
                    <a:pt x="0" y="1821180"/>
                    <a:pt x="0" y="1811909"/>
                  </a:cubicBezTo>
                  <a:lnTo>
                    <a:pt x="0" y="16891"/>
                  </a:lnTo>
                  <a:cubicBezTo>
                    <a:pt x="0" y="7620"/>
                    <a:pt x="7620" y="0"/>
                    <a:pt x="16891" y="0"/>
                  </a:cubicBezTo>
                  <a:moveTo>
                    <a:pt x="16891" y="33909"/>
                  </a:moveTo>
                  <a:lnTo>
                    <a:pt x="16891" y="16891"/>
                  </a:lnTo>
                  <a:lnTo>
                    <a:pt x="33909" y="16891"/>
                  </a:lnTo>
                  <a:lnTo>
                    <a:pt x="33909" y="1811909"/>
                  </a:lnTo>
                  <a:lnTo>
                    <a:pt x="16891" y="1811909"/>
                  </a:lnTo>
                  <a:lnTo>
                    <a:pt x="16891" y="1795018"/>
                  </a:lnTo>
                  <a:lnTo>
                    <a:pt x="22450171" y="1795018"/>
                  </a:lnTo>
                  <a:lnTo>
                    <a:pt x="22450171" y="1811909"/>
                  </a:lnTo>
                  <a:lnTo>
                    <a:pt x="22433280" y="1811909"/>
                  </a:lnTo>
                  <a:lnTo>
                    <a:pt x="22433280" y="16891"/>
                  </a:lnTo>
                  <a:lnTo>
                    <a:pt x="22450171" y="16891"/>
                  </a:lnTo>
                  <a:lnTo>
                    <a:pt x="22450171" y="33909"/>
                  </a:lnTo>
                  <a:lnTo>
                    <a:pt x="16891" y="33909"/>
                  </a:lnTo>
                  <a:close/>
                </a:path>
              </a:pathLst>
            </a:custGeom>
            <a:solidFill>
              <a:srgbClr val="7C3AED"/>
            </a:solidFill>
          </p:spPr>
        </p:sp>
      </p:grpSp>
      <p:grpSp>
        <p:nvGrpSpPr>
          <p:cNvPr name="Group 53" id="53"/>
          <p:cNvGrpSpPr/>
          <p:nvPr/>
        </p:nvGrpSpPr>
        <p:grpSpPr>
          <a:xfrm rot="0">
            <a:off x="755647" y="6266183"/>
            <a:ext cx="177803" cy="1371600"/>
            <a:chOff x="0" y="0"/>
            <a:chExt cx="237071" cy="1828800"/>
          </a:xfrm>
        </p:grpSpPr>
        <p:sp>
          <p:nvSpPr>
            <p:cNvPr name="Freeform 54" id="54"/>
            <p:cNvSpPr/>
            <p:nvPr/>
          </p:nvSpPr>
          <p:spPr>
            <a:xfrm flipH="false" flipV="false" rot="0">
              <a:off x="16891" y="16891"/>
              <a:ext cx="203200" cy="1795018"/>
            </a:xfrm>
            <a:custGeom>
              <a:avLst/>
              <a:gdLst/>
              <a:ahLst/>
              <a:cxnLst/>
              <a:rect r="r" b="b" t="t" l="l"/>
              <a:pathLst>
                <a:path h="1795018" w="203200">
                  <a:moveTo>
                    <a:pt x="0" y="0"/>
                  </a:moveTo>
                  <a:lnTo>
                    <a:pt x="203200" y="0"/>
                  </a:lnTo>
                  <a:lnTo>
                    <a:pt x="203200" y="1795018"/>
                  </a:lnTo>
                  <a:lnTo>
                    <a:pt x="0" y="1795018"/>
                  </a:lnTo>
                  <a:close/>
                </a:path>
              </a:pathLst>
            </a:custGeom>
            <a:solidFill>
              <a:srgbClr val="7C3AED"/>
            </a:solidFill>
          </p:spPr>
        </p:sp>
        <p:sp>
          <p:nvSpPr>
            <p:cNvPr name="Freeform 55" id="55"/>
            <p:cNvSpPr/>
            <p:nvPr/>
          </p:nvSpPr>
          <p:spPr>
            <a:xfrm flipH="false" flipV="false" rot="0">
              <a:off x="0" y="0"/>
              <a:ext cx="236982" cy="1828800"/>
            </a:xfrm>
            <a:custGeom>
              <a:avLst/>
              <a:gdLst/>
              <a:ahLst/>
              <a:cxnLst/>
              <a:rect r="r" b="b" t="t" l="l"/>
              <a:pathLst>
                <a:path h="1828800" w="236982">
                  <a:moveTo>
                    <a:pt x="16891" y="0"/>
                  </a:moveTo>
                  <a:lnTo>
                    <a:pt x="220091" y="0"/>
                  </a:lnTo>
                  <a:cubicBezTo>
                    <a:pt x="229489" y="0"/>
                    <a:pt x="236982" y="7620"/>
                    <a:pt x="236982" y="16891"/>
                  </a:cubicBezTo>
                  <a:lnTo>
                    <a:pt x="236982" y="1811909"/>
                  </a:lnTo>
                  <a:cubicBezTo>
                    <a:pt x="236982" y="1821307"/>
                    <a:pt x="229362" y="1828800"/>
                    <a:pt x="220091" y="1828800"/>
                  </a:cubicBezTo>
                  <a:lnTo>
                    <a:pt x="16891" y="1828800"/>
                  </a:lnTo>
                  <a:cubicBezTo>
                    <a:pt x="7620" y="1828800"/>
                    <a:pt x="0" y="1821180"/>
                    <a:pt x="0" y="1811909"/>
                  </a:cubicBezTo>
                  <a:lnTo>
                    <a:pt x="0" y="16891"/>
                  </a:lnTo>
                  <a:cubicBezTo>
                    <a:pt x="0" y="7620"/>
                    <a:pt x="7620" y="0"/>
                    <a:pt x="16891" y="0"/>
                  </a:cubicBezTo>
                  <a:moveTo>
                    <a:pt x="16891" y="33909"/>
                  </a:moveTo>
                  <a:lnTo>
                    <a:pt x="16891" y="16891"/>
                  </a:lnTo>
                  <a:lnTo>
                    <a:pt x="33909" y="16891"/>
                  </a:lnTo>
                  <a:lnTo>
                    <a:pt x="33909" y="1811909"/>
                  </a:lnTo>
                  <a:lnTo>
                    <a:pt x="16891" y="1811909"/>
                  </a:lnTo>
                  <a:lnTo>
                    <a:pt x="16891" y="1795018"/>
                  </a:lnTo>
                  <a:lnTo>
                    <a:pt x="220091" y="1795018"/>
                  </a:lnTo>
                  <a:lnTo>
                    <a:pt x="220091" y="1811909"/>
                  </a:lnTo>
                  <a:lnTo>
                    <a:pt x="203200" y="1811909"/>
                  </a:lnTo>
                  <a:lnTo>
                    <a:pt x="203200" y="16891"/>
                  </a:lnTo>
                  <a:lnTo>
                    <a:pt x="220091" y="16891"/>
                  </a:lnTo>
                  <a:lnTo>
                    <a:pt x="220091" y="33909"/>
                  </a:lnTo>
                  <a:lnTo>
                    <a:pt x="16891" y="33909"/>
                  </a:lnTo>
                  <a:close/>
                </a:path>
              </a:pathLst>
            </a:custGeom>
            <a:solidFill>
              <a:srgbClr val="7C3AED"/>
            </a:solidFill>
          </p:spPr>
        </p:sp>
      </p:grpSp>
      <p:grpSp>
        <p:nvGrpSpPr>
          <p:cNvPr name="Group 56" id="56"/>
          <p:cNvGrpSpPr/>
          <p:nvPr/>
        </p:nvGrpSpPr>
        <p:grpSpPr>
          <a:xfrm rot="0">
            <a:off x="1122683" y="6515100"/>
            <a:ext cx="5852160" cy="454657"/>
            <a:chOff x="0" y="0"/>
            <a:chExt cx="7802880" cy="606209"/>
          </a:xfrm>
        </p:grpSpPr>
        <p:sp>
          <p:nvSpPr>
            <p:cNvPr name="Freeform 57" id="57"/>
            <p:cNvSpPr/>
            <p:nvPr/>
          </p:nvSpPr>
          <p:spPr>
            <a:xfrm flipH="false" flipV="false" rot="0">
              <a:off x="0" y="0"/>
              <a:ext cx="7802880" cy="606213"/>
            </a:xfrm>
            <a:custGeom>
              <a:avLst/>
              <a:gdLst/>
              <a:ahLst/>
              <a:cxnLst/>
              <a:rect r="r" b="b" t="t" l="l"/>
              <a:pathLst>
                <a:path h="606213" w="7802880">
                  <a:moveTo>
                    <a:pt x="0" y="0"/>
                  </a:moveTo>
                  <a:lnTo>
                    <a:pt x="7802880" y="0"/>
                  </a:lnTo>
                  <a:lnTo>
                    <a:pt x="7802880" y="606213"/>
                  </a:lnTo>
                  <a:lnTo>
                    <a:pt x="0" y="606213"/>
                  </a:lnTo>
                  <a:close/>
                </a:path>
              </a:pathLst>
            </a:custGeom>
            <a:blipFill>
              <a:blip r:embed="rId2">
                <a:alphaModFix amt="0"/>
              </a:blip>
              <a:stretch>
                <a:fillRect l="0" t="-200802" r="0" b="-200801"/>
              </a:stretch>
            </a:blipFill>
          </p:spPr>
        </p:sp>
        <p:sp>
          <p:nvSpPr>
            <p:cNvPr name="TextBox 58" id="58"/>
            <p:cNvSpPr txBox="true"/>
            <p:nvPr/>
          </p:nvSpPr>
          <p:spPr>
            <a:xfrm>
              <a:off x="0" y="-38100"/>
              <a:ext cx="7802880" cy="644309"/>
            </a:xfrm>
            <a:prstGeom prst="rect">
              <a:avLst/>
            </a:prstGeom>
          </p:spPr>
          <p:txBody>
            <a:bodyPr anchor="ctr" rtlCol="false" tIns="0" lIns="0" bIns="0" rIns="0"/>
            <a:lstStyle/>
            <a:p>
              <a:pPr algn="l">
                <a:lnSpc>
                  <a:spcPts val="2879"/>
                </a:lnSpc>
              </a:pPr>
              <a:r>
                <a:rPr lang="en-US" sz="2400" b="true">
                  <a:solidFill>
                    <a:srgbClr val="7C3AED"/>
                  </a:solidFill>
                  <a:latin typeface="Calibri (MS) Bold"/>
                  <a:ea typeface="Calibri (MS) Bold"/>
                  <a:cs typeface="Calibri (MS) Bold"/>
                  <a:sym typeface="Calibri (MS) Bold"/>
                </a:rPr>
                <a:t>📈  Statistiques</a:t>
              </a:r>
            </a:p>
          </p:txBody>
        </p:sp>
      </p:grpSp>
      <p:grpSp>
        <p:nvGrpSpPr>
          <p:cNvPr name="Group 59" id="59"/>
          <p:cNvGrpSpPr/>
          <p:nvPr/>
        </p:nvGrpSpPr>
        <p:grpSpPr>
          <a:xfrm rot="0">
            <a:off x="1080773" y="7137397"/>
            <a:ext cx="16093440" cy="403860"/>
            <a:chOff x="0" y="0"/>
            <a:chExt cx="21457920" cy="538480"/>
          </a:xfrm>
        </p:grpSpPr>
        <p:sp>
          <p:nvSpPr>
            <p:cNvPr name="Freeform 60" id="60"/>
            <p:cNvSpPr/>
            <p:nvPr/>
          </p:nvSpPr>
          <p:spPr>
            <a:xfrm flipH="false" flipV="false" rot="0">
              <a:off x="0" y="0"/>
              <a:ext cx="21457920" cy="538480"/>
            </a:xfrm>
            <a:custGeom>
              <a:avLst/>
              <a:gdLst/>
              <a:ahLst/>
              <a:cxnLst/>
              <a:rect r="r" b="b" t="t" l="l"/>
              <a:pathLst>
                <a:path h="538480" w="21457920">
                  <a:moveTo>
                    <a:pt x="0" y="0"/>
                  </a:moveTo>
                  <a:lnTo>
                    <a:pt x="21457920" y="0"/>
                  </a:lnTo>
                  <a:lnTo>
                    <a:pt x="21457920" y="538480"/>
                  </a:lnTo>
                  <a:lnTo>
                    <a:pt x="0" y="538480"/>
                  </a:lnTo>
                  <a:close/>
                </a:path>
              </a:pathLst>
            </a:custGeom>
            <a:blipFill>
              <a:blip r:embed="rId2">
                <a:alphaModFix amt="0"/>
              </a:blip>
              <a:stretch>
                <a:fillRect l="0" t="-726460" r="0" b="-726460"/>
              </a:stretch>
            </a:blipFill>
          </p:spPr>
        </p:sp>
        <p:sp>
          <p:nvSpPr>
            <p:cNvPr name="TextBox 61" id="61"/>
            <p:cNvSpPr txBox="true"/>
            <p:nvPr/>
          </p:nvSpPr>
          <p:spPr>
            <a:xfrm>
              <a:off x="0" y="-47625"/>
              <a:ext cx="21457920" cy="58610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VoID permet de publier des statistiques utiles : nombre de triplets, de sujets distincts, de classes utilisées — très pratique pour l'optimisation de requêtes.</a:t>
              </a:r>
            </a:p>
          </p:txBody>
        </p:sp>
      </p:grpSp>
      <p:grpSp>
        <p:nvGrpSpPr>
          <p:cNvPr name="Group 62" id="62"/>
          <p:cNvGrpSpPr/>
          <p:nvPr/>
        </p:nvGrpSpPr>
        <p:grpSpPr>
          <a:xfrm rot="0">
            <a:off x="-6353" y="9741151"/>
            <a:ext cx="18300697" cy="552193"/>
            <a:chOff x="0" y="0"/>
            <a:chExt cx="24400929" cy="736257"/>
          </a:xfrm>
        </p:grpSpPr>
        <p:sp>
          <p:nvSpPr>
            <p:cNvPr name="Freeform 63" id="63"/>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64" id="64"/>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65" id="65"/>
          <p:cNvGrpSpPr/>
          <p:nvPr/>
        </p:nvGrpSpPr>
        <p:grpSpPr>
          <a:xfrm rot="0">
            <a:off x="15910560" y="9747504"/>
            <a:ext cx="2011680" cy="539496"/>
            <a:chOff x="0" y="0"/>
            <a:chExt cx="2682240" cy="719328"/>
          </a:xfrm>
        </p:grpSpPr>
        <p:sp>
          <p:nvSpPr>
            <p:cNvPr name="Freeform 66" id="66"/>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67" id="67"/>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8 / 18</a:t>
              </a:r>
            </a:p>
          </p:txBody>
        </p:sp>
      </p:grpSp>
      <p:grpSp>
        <p:nvGrpSpPr>
          <p:cNvPr name="Group 68" id="68"/>
          <p:cNvGrpSpPr/>
          <p:nvPr/>
        </p:nvGrpSpPr>
        <p:grpSpPr>
          <a:xfrm rot="0">
            <a:off x="548640" y="9747504"/>
            <a:ext cx="10972800" cy="539496"/>
            <a:chOff x="0" y="0"/>
            <a:chExt cx="14630400" cy="719328"/>
          </a:xfrm>
        </p:grpSpPr>
        <p:sp>
          <p:nvSpPr>
            <p:cNvPr name="Freeform 69" id="69"/>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70" id="70"/>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VoID</a:t>
              </a:r>
            </a:p>
          </p:txBody>
        </p:sp>
      </p:grpSp>
      <p:grpSp>
        <p:nvGrpSpPr>
          <p:cNvPr name="Group 71" id="71"/>
          <p:cNvGrpSpPr/>
          <p:nvPr/>
        </p:nvGrpSpPr>
        <p:grpSpPr>
          <a:xfrm rot="0">
            <a:off x="873757" y="4827270"/>
            <a:ext cx="16682723" cy="1281427"/>
            <a:chOff x="0" y="0"/>
            <a:chExt cx="22243631" cy="1708569"/>
          </a:xfrm>
        </p:grpSpPr>
        <p:sp>
          <p:nvSpPr>
            <p:cNvPr name="Freeform 72" id="72"/>
            <p:cNvSpPr/>
            <p:nvPr/>
          </p:nvSpPr>
          <p:spPr>
            <a:xfrm flipH="false" flipV="false" rot="0">
              <a:off x="16891" y="16891"/>
              <a:ext cx="22209760" cy="1674749"/>
            </a:xfrm>
            <a:custGeom>
              <a:avLst/>
              <a:gdLst/>
              <a:ahLst/>
              <a:cxnLst/>
              <a:rect r="r" b="b" t="t" l="l"/>
              <a:pathLst>
                <a:path h="1674749" w="22209760">
                  <a:moveTo>
                    <a:pt x="0" y="0"/>
                  </a:moveTo>
                  <a:lnTo>
                    <a:pt x="22209760" y="0"/>
                  </a:lnTo>
                  <a:lnTo>
                    <a:pt x="22209760" y="1674749"/>
                  </a:lnTo>
                  <a:lnTo>
                    <a:pt x="0" y="1674749"/>
                  </a:lnTo>
                  <a:close/>
                </a:path>
              </a:pathLst>
            </a:custGeom>
            <a:solidFill>
              <a:srgbClr val="F1F5F9"/>
            </a:solidFill>
          </p:spPr>
        </p:sp>
        <p:sp>
          <p:nvSpPr>
            <p:cNvPr name="Freeform 73" id="73"/>
            <p:cNvSpPr/>
            <p:nvPr/>
          </p:nvSpPr>
          <p:spPr>
            <a:xfrm flipH="false" flipV="false" rot="0">
              <a:off x="0" y="0"/>
              <a:ext cx="22243543" cy="1708531"/>
            </a:xfrm>
            <a:custGeom>
              <a:avLst/>
              <a:gdLst/>
              <a:ahLst/>
              <a:cxnLst/>
              <a:rect r="r" b="b" t="t" l="l"/>
              <a:pathLst>
                <a:path h="1708531" w="22243543">
                  <a:moveTo>
                    <a:pt x="16891" y="0"/>
                  </a:moveTo>
                  <a:lnTo>
                    <a:pt x="22226651" y="0"/>
                  </a:lnTo>
                  <a:cubicBezTo>
                    <a:pt x="22236049" y="0"/>
                    <a:pt x="22243543" y="7620"/>
                    <a:pt x="22243543" y="16891"/>
                  </a:cubicBezTo>
                  <a:lnTo>
                    <a:pt x="22243543" y="1691640"/>
                  </a:lnTo>
                  <a:cubicBezTo>
                    <a:pt x="22243543" y="1701038"/>
                    <a:pt x="22235923" y="1708531"/>
                    <a:pt x="22226651" y="1708531"/>
                  </a:cubicBezTo>
                  <a:lnTo>
                    <a:pt x="16891" y="1708531"/>
                  </a:lnTo>
                  <a:cubicBezTo>
                    <a:pt x="7493" y="1708531"/>
                    <a:pt x="0" y="1700911"/>
                    <a:pt x="0" y="1691640"/>
                  </a:cubicBezTo>
                  <a:lnTo>
                    <a:pt x="0" y="16891"/>
                  </a:lnTo>
                  <a:cubicBezTo>
                    <a:pt x="0" y="7620"/>
                    <a:pt x="7620" y="0"/>
                    <a:pt x="16891" y="0"/>
                  </a:cubicBezTo>
                  <a:moveTo>
                    <a:pt x="16891" y="33909"/>
                  </a:moveTo>
                  <a:lnTo>
                    <a:pt x="16891" y="16891"/>
                  </a:lnTo>
                  <a:lnTo>
                    <a:pt x="33909" y="16891"/>
                  </a:lnTo>
                  <a:lnTo>
                    <a:pt x="33909" y="1691640"/>
                  </a:lnTo>
                  <a:lnTo>
                    <a:pt x="16891" y="1691640"/>
                  </a:lnTo>
                  <a:lnTo>
                    <a:pt x="16891" y="1674749"/>
                  </a:lnTo>
                  <a:lnTo>
                    <a:pt x="22226651" y="1674749"/>
                  </a:lnTo>
                  <a:lnTo>
                    <a:pt x="22226651" y="1691640"/>
                  </a:lnTo>
                  <a:lnTo>
                    <a:pt x="22209761" y="1691640"/>
                  </a:lnTo>
                  <a:lnTo>
                    <a:pt x="22209761" y="16891"/>
                  </a:lnTo>
                  <a:lnTo>
                    <a:pt x="22226651" y="16891"/>
                  </a:lnTo>
                  <a:lnTo>
                    <a:pt x="22226651" y="33909"/>
                  </a:lnTo>
                  <a:lnTo>
                    <a:pt x="16891" y="33909"/>
                  </a:lnTo>
                  <a:close/>
                </a:path>
              </a:pathLst>
            </a:custGeom>
            <a:solidFill>
              <a:srgbClr val="7C3AED"/>
            </a:solidFill>
          </p:spPr>
        </p:sp>
      </p:grpSp>
      <p:grpSp>
        <p:nvGrpSpPr>
          <p:cNvPr name="Group 74" id="74"/>
          <p:cNvGrpSpPr/>
          <p:nvPr/>
        </p:nvGrpSpPr>
        <p:grpSpPr>
          <a:xfrm rot="0">
            <a:off x="715013" y="4827270"/>
            <a:ext cx="177803" cy="1280160"/>
            <a:chOff x="0" y="0"/>
            <a:chExt cx="237071" cy="1706880"/>
          </a:xfrm>
        </p:grpSpPr>
        <p:sp>
          <p:nvSpPr>
            <p:cNvPr name="Freeform 75" id="75"/>
            <p:cNvSpPr/>
            <p:nvPr/>
          </p:nvSpPr>
          <p:spPr>
            <a:xfrm flipH="false" flipV="false" rot="0">
              <a:off x="16891" y="16891"/>
              <a:ext cx="203200" cy="1673098"/>
            </a:xfrm>
            <a:custGeom>
              <a:avLst/>
              <a:gdLst/>
              <a:ahLst/>
              <a:cxnLst/>
              <a:rect r="r" b="b" t="t" l="l"/>
              <a:pathLst>
                <a:path h="1673098" w="203200">
                  <a:moveTo>
                    <a:pt x="0" y="0"/>
                  </a:moveTo>
                  <a:lnTo>
                    <a:pt x="203200" y="0"/>
                  </a:lnTo>
                  <a:lnTo>
                    <a:pt x="203200" y="1673098"/>
                  </a:lnTo>
                  <a:lnTo>
                    <a:pt x="0" y="1673098"/>
                  </a:lnTo>
                  <a:close/>
                </a:path>
              </a:pathLst>
            </a:custGeom>
            <a:solidFill>
              <a:srgbClr val="7C3AED"/>
            </a:solidFill>
          </p:spPr>
        </p:sp>
        <p:sp>
          <p:nvSpPr>
            <p:cNvPr name="Freeform 76" id="76"/>
            <p:cNvSpPr/>
            <p:nvPr/>
          </p:nvSpPr>
          <p:spPr>
            <a:xfrm flipH="false" flipV="false" rot="0">
              <a:off x="0" y="0"/>
              <a:ext cx="236982" cy="1706880"/>
            </a:xfrm>
            <a:custGeom>
              <a:avLst/>
              <a:gdLst/>
              <a:ahLst/>
              <a:cxnLst/>
              <a:rect r="r" b="b" t="t" l="l"/>
              <a:pathLst>
                <a:path h="1706880" w="236982">
                  <a:moveTo>
                    <a:pt x="16891" y="0"/>
                  </a:moveTo>
                  <a:lnTo>
                    <a:pt x="220091" y="0"/>
                  </a:lnTo>
                  <a:cubicBezTo>
                    <a:pt x="229489" y="0"/>
                    <a:pt x="236982" y="7620"/>
                    <a:pt x="236982" y="16891"/>
                  </a:cubicBezTo>
                  <a:lnTo>
                    <a:pt x="236982" y="1689989"/>
                  </a:lnTo>
                  <a:cubicBezTo>
                    <a:pt x="236982" y="1699387"/>
                    <a:pt x="229362" y="1706880"/>
                    <a:pt x="220091" y="1706880"/>
                  </a:cubicBezTo>
                  <a:lnTo>
                    <a:pt x="16891" y="1706880"/>
                  </a:lnTo>
                  <a:cubicBezTo>
                    <a:pt x="7493" y="1706880"/>
                    <a:pt x="0" y="1699260"/>
                    <a:pt x="0" y="1689989"/>
                  </a:cubicBezTo>
                  <a:lnTo>
                    <a:pt x="0" y="16891"/>
                  </a:lnTo>
                  <a:cubicBezTo>
                    <a:pt x="0" y="7620"/>
                    <a:pt x="7620" y="0"/>
                    <a:pt x="16891" y="0"/>
                  </a:cubicBezTo>
                  <a:moveTo>
                    <a:pt x="16891" y="33909"/>
                  </a:moveTo>
                  <a:lnTo>
                    <a:pt x="16891" y="16891"/>
                  </a:lnTo>
                  <a:lnTo>
                    <a:pt x="33909" y="16891"/>
                  </a:lnTo>
                  <a:lnTo>
                    <a:pt x="33909" y="1689989"/>
                  </a:lnTo>
                  <a:lnTo>
                    <a:pt x="16891" y="1689989"/>
                  </a:lnTo>
                  <a:lnTo>
                    <a:pt x="16891" y="1673098"/>
                  </a:lnTo>
                  <a:lnTo>
                    <a:pt x="220091" y="1673098"/>
                  </a:lnTo>
                  <a:lnTo>
                    <a:pt x="220091" y="1689989"/>
                  </a:lnTo>
                  <a:lnTo>
                    <a:pt x="203200" y="1689989"/>
                  </a:lnTo>
                  <a:lnTo>
                    <a:pt x="203200" y="16891"/>
                  </a:lnTo>
                  <a:lnTo>
                    <a:pt x="220091" y="16891"/>
                  </a:lnTo>
                  <a:lnTo>
                    <a:pt x="220091" y="33909"/>
                  </a:lnTo>
                  <a:lnTo>
                    <a:pt x="16891" y="33909"/>
                  </a:lnTo>
                  <a:close/>
                </a:path>
              </a:pathLst>
            </a:custGeom>
            <a:solidFill>
              <a:srgbClr val="7C3AED"/>
            </a:solidFill>
          </p:spPr>
        </p:sp>
      </p:grpSp>
      <p:grpSp>
        <p:nvGrpSpPr>
          <p:cNvPr name="Group 77" id="77"/>
          <p:cNvGrpSpPr/>
          <p:nvPr/>
        </p:nvGrpSpPr>
        <p:grpSpPr>
          <a:xfrm rot="0">
            <a:off x="920753" y="4885687"/>
            <a:ext cx="5852160" cy="422910"/>
            <a:chOff x="0" y="0"/>
            <a:chExt cx="7802880" cy="563880"/>
          </a:xfrm>
        </p:grpSpPr>
        <p:sp>
          <p:nvSpPr>
            <p:cNvPr name="Freeform 78" id="78"/>
            <p:cNvSpPr/>
            <p:nvPr/>
          </p:nvSpPr>
          <p:spPr>
            <a:xfrm flipH="false" flipV="false" rot="0">
              <a:off x="0" y="0"/>
              <a:ext cx="7802880" cy="563880"/>
            </a:xfrm>
            <a:custGeom>
              <a:avLst/>
              <a:gdLst/>
              <a:ahLst/>
              <a:cxnLst/>
              <a:rect r="r" b="b" t="t" l="l"/>
              <a:pathLst>
                <a:path h="563880" w="7802880">
                  <a:moveTo>
                    <a:pt x="0" y="0"/>
                  </a:moveTo>
                  <a:lnTo>
                    <a:pt x="7802880" y="0"/>
                  </a:lnTo>
                  <a:lnTo>
                    <a:pt x="7802880" y="563880"/>
                  </a:lnTo>
                  <a:lnTo>
                    <a:pt x="0" y="563880"/>
                  </a:lnTo>
                  <a:close/>
                </a:path>
              </a:pathLst>
            </a:custGeom>
            <a:blipFill>
              <a:blip r:embed="rId2">
                <a:alphaModFix amt="0"/>
              </a:blip>
              <a:stretch>
                <a:fillRect l="0" t="-219630" r="0" b="-219630"/>
              </a:stretch>
            </a:blipFill>
          </p:spPr>
        </p:sp>
        <p:sp>
          <p:nvSpPr>
            <p:cNvPr name="TextBox 79" id="79"/>
            <p:cNvSpPr txBox="true"/>
            <p:nvPr/>
          </p:nvSpPr>
          <p:spPr>
            <a:xfrm>
              <a:off x="0" y="-38100"/>
              <a:ext cx="7802880" cy="601980"/>
            </a:xfrm>
            <a:prstGeom prst="rect">
              <a:avLst/>
            </a:prstGeom>
          </p:spPr>
          <p:txBody>
            <a:bodyPr anchor="ctr" rtlCol="false" tIns="0" lIns="0" bIns="0" rIns="0"/>
            <a:lstStyle/>
            <a:p>
              <a:pPr algn="l">
                <a:lnSpc>
                  <a:spcPts val="2879"/>
                </a:lnSpc>
              </a:pPr>
              <a:r>
                <a:rPr lang="en-US" sz="2400" b="true">
                  <a:solidFill>
                    <a:srgbClr val="7C3AED"/>
                  </a:solidFill>
                  <a:latin typeface="Calibri (MS) Bold"/>
                  <a:ea typeface="Calibri (MS) Bold"/>
                  <a:cs typeface="Calibri (MS) Bold"/>
                  <a:sym typeface="Calibri (MS) Bold"/>
                </a:rPr>
                <a:t>🌐  SPARQL Endpoint</a:t>
              </a:r>
            </a:p>
          </p:txBody>
        </p:sp>
      </p:grpSp>
      <p:grpSp>
        <p:nvGrpSpPr>
          <p:cNvPr name="Group 80" id="80"/>
          <p:cNvGrpSpPr/>
          <p:nvPr/>
        </p:nvGrpSpPr>
        <p:grpSpPr>
          <a:xfrm rot="0">
            <a:off x="1122683" y="5608320"/>
            <a:ext cx="13257533" cy="450847"/>
            <a:chOff x="0" y="0"/>
            <a:chExt cx="17676711" cy="601129"/>
          </a:xfrm>
        </p:grpSpPr>
        <p:sp>
          <p:nvSpPr>
            <p:cNvPr name="Freeform 81" id="81"/>
            <p:cNvSpPr/>
            <p:nvPr/>
          </p:nvSpPr>
          <p:spPr>
            <a:xfrm flipH="false" flipV="false" rot="0">
              <a:off x="0" y="0"/>
              <a:ext cx="17676707" cy="601133"/>
            </a:xfrm>
            <a:custGeom>
              <a:avLst/>
              <a:gdLst/>
              <a:ahLst/>
              <a:cxnLst/>
              <a:rect r="r" b="b" t="t" l="l"/>
              <a:pathLst>
                <a:path h="601133" w="17676707">
                  <a:moveTo>
                    <a:pt x="0" y="0"/>
                  </a:moveTo>
                  <a:lnTo>
                    <a:pt x="17676707" y="0"/>
                  </a:lnTo>
                  <a:lnTo>
                    <a:pt x="17676707" y="601133"/>
                  </a:lnTo>
                  <a:lnTo>
                    <a:pt x="0" y="601133"/>
                  </a:lnTo>
                  <a:close/>
                </a:path>
              </a:pathLst>
            </a:custGeom>
            <a:blipFill>
              <a:blip r:embed="rId2">
                <a:alphaModFix amt="0"/>
              </a:blip>
              <a:stretch>
                <a:fillRect l="0" t="-522970" r="0" b="-522969"/>
              </a:stretch>
            </a:blipFill>
          </p:spPr>
        </p:sp>
        <p:sp>
          <p:nvSpPr>
            <p:cNvPr name="TextBox 82" id="82"/>
            <p:cNvSpPr txBox="true"/>
            <p:nvPr/>
          </p:nvSpPr>
          <p:spPr>
            <a:xfrm>
              <a:off x="0" y="-47625"/>
              <a:ext cx="17676711" cy="648754"/>
            </a:xfrm>
            <a:prstGeom prst="rect">
              <a:avLst/>
            </a:prstGeom>
          </p:spPr>
          <p:txBody>
            <a:bodyPr anchor="ctr" rtlCol="false" tIns="0" lIns="0" bIns="0" rIns="0"/>
            <a:lstStyle/>
            <a:p>
              <a:pPr algn="l">
                <a:lnSpc>
                  <a:spcPts val="2520"/>
                </a:lnSpc>
              </a:pPr>
              <a:r>
                <a:rPr lang="en-US" sz="2100">
                  <a:solidFill>
                    <a:srgbClr val="000000"/>
                  </a:solidFill>
                  <a:latin typeface="Calibri (MS)"/>
                  <a:ea typeface="Calibri (MS)"/>
                  <a:cs typeface="Calibri (MS)"/>
                  <a:sym typeface="Calibri (MS)"/>
                </a:rPr>
                <a:t>SPARQL endpoint est un service web (URL) qui permet d’interroger un dataset RDF en utilisant le langage SPARQL.</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7C3AED"/>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7C3AED"/>
            </a:solidFill>
          </p:spPr>
        </p:sp>
      </p:grpSp>
      <p:grpSp>
        <p:nvGrpSpPr>
          <p:cNvPr name="Group 5" id="5"/>
          <p:cNvGrpSpPr/>
          <p:nvPr/>
        </p:nvGrpSpPr>
        <p:grpSpPr>
          <a:xfrm rot="0">
            <a:off x="15532103" y="170183"/>
            <a:ext cx="2585723" cy="793499"/>
            <a:chOff x="0" y="0"/>
            <a:chExt cx="3447631" cy="1057999"/>
          </a:xfrm>
        </p:grpSpPr>
        <p:sp>
          <p:nvSpPr>
            <p:cNvPr name="Freeform 6" id="6"/>
            <p:cNvSpPr/>
            <p:nvPr/>
          </p:nvSpPr>
          <p:spPr>
            <a:xfrm flipH="false" flipV="false" rot="0">
              <a:off x="16891" y="16891"/>
              <a:ext cx="3413760" cy="1024128"/>
            </a:xfrm>
            <a:custGeom>
              <a:avLst/>
              <a:gdLst/>
              <a:ahLst/>
              <a:cxnLst/>
              <a:rect r="r" b="b" t="t" l="l"/>
              <a:pathLst>
                <a:path h="1024128" w="3413760">
                  <a:moveTo>
                    <a:pt x="0" y="0"/>
                  </a:moveTo>
                  <a:lnTo>
                    <a:pt x="3413760" y="0"/>
                  </a:lnTo>
                  <a:lnTo>
                    <a:pt x="3413760" y="1024128"/>
                  </a:lnTo>
                  <a:lnTo>
                    <a:pt x="0" y="1024128"/>
                  </a:lnTo>
                  <a:close/>
                </a:path>
              </a:pathLst>
            </a:custGeom>
            <a:solidFill>
              <a:srgbClr val="7C3AED"/>
            </a:solidFill>
          </p:spPr>
        </p:sp>
        <p:sp>
          <p:nvSpPr>
            <p:cNvPr name="Freeform 7" id="7"/>
            <p:cNvSpPr/>
            <p:nvPr/>
          </p:nvSpPr>
          <p:spPr>
            <a:xfrm flipH="false" flipV="false" rot="0">
              <a:off x="0" y="0"/>
              <a:ext cx="3447542" cy="1057912"/>
            </a:xfrm>
            <a:custGeom>
              <a:avLst/>
              <a:gdLst/>
              <a:ahLst/>
              <a:cxnLst/>
              <a:rect r="r" b="b" t="t" l="l"/>
              <a:pathLst>
                <a:path h="1057912" w="3447542">
                  <a:moveTo>
                    <a:pt x="16891" y="0"/>
                  </a:moveTo>
                  <a:lnTo>
                    <a:pt x="3430651" y="0"/>
                  </a:lnTo>
                  <a:cubicBezTo>
                    <a:pt x="3440049" y="0"/>
                    <a:pt x="3447542" y="7620"/>
                    <a:pt x="3447542" y="16891"/>
                  </a:cubicBezTo>
                  <a:lnTo>
                    <a:pt x="3447542" y="1041019"/>
                  </a:lnTo>
                  <a:cubicBezTo>
                    <a:pt x="3447542" y="1050417"/>
                    <a:pt x="3439922" y="1057910"/>
                    <a:pt x="343065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430651" y="1024128"/>
                  </a:lnTo>
                  <a:lnTo>
                    <a:pt x="3430651" y="1041019"/>
                  </a:lnTo>
                  <a:lnTo>
                    <a:pt x="3413760" y="1041019"/>
                  </a:lnTo>
                  <a:lnTo>
                    <a:pt x="3413760" y="16891"/>
                  </a:lnTo>
                  <a:lnTo>
                    <a:pt x="3430651" y="16891"/>
                  </a:lnTo>
                  <a:lnTo>
                    <a:pt x="3430651" y="33909"/>
                  </a:lnTo>
                  <a:lnTo>
                    <a:pt x="16891" y="33909"/>
                  </a:lnTo>
                  <a:close/>
                </a:path>
              </a:pathLst>
            </a:custGeom>
            <a:solidFill>
              <a:srgbClr val="7C3AED"/>
            </a:solidFill>
          </p:spPr>
        </p:sp>
      </p:grpSp>
      <p:grpSp>
        <p:nvGrpSpPr>
          <p:cNvPr name="Group 8" id="8"/>
          <p:cNvGrpSpPr/>
          <p:nvPr/>
        </p:nvGrpSpPr>
        <p:grpSpPr>
          <a:xfrm rot="0">
            <a:off x="15544800" y="182880"/>
            <a:ext cx="2560320" cy="768096"/>
            <a:chOff x="0" y="0"/>
            <a:chExt cx="3413760" cy="1024128"/>
          </a:xfrm>
        </p:grpSpPr>
        <p:sp>
          <p:nvSpPr>
            <p:cNvPr name="Freeform 9" id="9"/>
            <p:cNvSpPr/>
            <p:nvPr/>
          </p:nvSpPr>
          <p:spPr>
            <a:xfrm flipH="false" flipV="false" rot="0">
              <a:off x="0" y="0"/>
              <a:ext cx="3413760" cy="1024128"/>
            </a:xfrm>
            <a:custGeom>
              <a:avLst/>
              <a:gdLst/>
              <a:ahLst/>
              <a:cxnLst/>
              <a:rect r="r" b="b" t="t" l="l"/>
              <a:pathLst>
                <a:path h="1024128" w="3413760">
                  <a:moveTo>
                    <a:pt x="0" y="0"/>
                  </a:moveTo>
                  <a:lnTo>
                    <a:pt x="3413760" y="0"/>
                  </a:lnTo>
                  <a:lnTo>
                    <a:pt x="3413760" y="1024128"/>
                  </a:lnTo>
                  <a:lnTo>
                    <a:pt x="0" y="1024128"/>
                  </a:lnTo>
                  <a:close/>
                </a:path>
              </a:pathLst>
            </a:custGeom>
            <a:blipFill>
              <a:blip r:embed="rId2">
                <a:alphaModFix amt="0"/>
              </a:blip>
              <a:stretch>
                <a:fillRect l="0" t="-14950" r="0" b="-14950"/>
              </a:stretch>
            </a:blipFill>
          </p:spPr>
        </p:sp>
        <p:sp>
          <p:nvSpPr>
            <p:cNvPr name="TextBox 10" id="10"/>
            <p:cNvSpPr txBox="true"/>
            <p:nvPr/>
          </p:nvSpPr>
          <p:spPr>
            <a:xfrm>
              <a:off x="0" y="-38100"/>
              <a:ext cx="3413760" cy="106222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VoID  2/3</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7C3AED"/>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7C3AED"/>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VoID — Classes &amp; Propriétés Techniques</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38100"/>
              <a:ext cx="21945600" cy="720852"/>
            </a:xfrm>
            <a:prstGeom prst="rect">
              <a:avLst/>
            </a:prstGeom>
          </p:spPr>
          <p:txBody>
            <a:bodyPr anchor="ctr" rtlCol="false" tIns="0" lIns="0" bIns="0" rIns="0"/>
            <a:lstStyle/>
            <a:p>
              <a:pPr algn="l">
                <a:lnSpc>
                  <a:spcPts val="2879"/>
                </a:lnSpc>
              </a:pPr>
              <a:r>
                <a:rPr lang="en-US" sz="2400" i="true">
                  <a:solidFill>
                    <a:srgbClr val="64748B"/>
                  </a:solidFill>
                  <a:latin typeface="Calibri (MS) Italics"/>
                  <a:ea typeface="Calibri (MS) Italics"/>
                  <a:cs typeface="Calibri (MS) Italics"/>
                  <a:sym typeface="Calibri (MS) Italics"/>
                </a:rPr>
                <a:t>L'anatomie d'un descripteur de dataset RDF</a:t>
              </a:r>
            </a:p>
          </p:txBody>
        </p:sp>
      </p:grpSp>
      <p:grpSp>
        <p:nvGrpSpPr>
          <p:cNvPr name="Group 20" id="20"/>
          <p:cNvGrpSpPr/>
          <p:nvPr/>
        </p:nvGrpSpPr>
        <p:grpSpPr>
          <a:xfrm rot="0">
            <a:off x="718823" y="2035559"/>
            <a:ext cx="8255003" cy="2256539"/>
            <a:chOff x="0" y="0"/>
            <a:chExt cx="11006671" cy="3008719"/>
          </a:xfrm>
        </p:grpSpPr>
        <p:sp>
          <p:nvSpPr>
            <p:cNvPr name="Freeform 21" id="21"/>
            <p:cNvSpPr/>
            <p:nvPr/>
          </p:nvSpPr>
          <p:spPr>
            <a:xfrm flipH="false" flipV="false" rot="0">
              <a:off x="16891" y="16891"/>
              <a:ext cx="10972800" cy="2974848"/>
            </a:xfrm>
            <a:custGeom>
              <a:avLst/>
              <a:gdLst/>
              <a:ahLst/>
              <a:cxnLst/>
              <a:rect r="r" b="b" t="t" l="l"/>
              <a:pathLst>
                <a:path h="2974848" w="10972800">
                  <a:moveTo>
                    <a:pt x="0" y="0"/>
                  </a:moveTo>
                  <a:lnTo>
                    <a:pt x="10972800" y="0"/>
                  </a:lnTo>
                  <a:lnTo>
                    <a:pt x="10972800" y="2974848"/>
                  </a:lnTo>
                  <a:lnTo>
                    <a:pt x="0" y="2974848"/>
                  </a:lnTo>
                  <a:close/>
                </a:path>
              </a:pathLst>
            </a:custGeom>
            <a:solidFill>
              <a:srgbClr val="F5F3FF"/>
            </a:solidFill>
          </p:spPr>
        </p:sp>
        <p:sp>
          <p:nvSpPr>
            <p:cNvPr name="Freeform 22" id="22"/>
            <p:cNvSpPr/>
            <p:nvPr/>
          </p:nvSpPr>
          <p:spPr>
            <a:xfrm flipH="false" flipV="false" rot="0">
              <a:off x="0" y="0"/>
              <a:ext cx="11006582" cy="3008630"/>
            </a:xfrm>
            <a:custGeom>
              <a:avLst/>
              <a:gdLst/>
              <a:ahLst/>
              <a:cxnLst/>
              <a:rect r="r" b="b" t="t" l="l"/>
              <a:pathLst>
                <a:path h="3008630" w="11006582">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7C3AED"/>
            </a:solidFill>
          </p:spPr>
        </p:sp>
      </p:grpSp>
      <p:grpSp>
        <p:nvGrpSpPr>
          <p:cNvPr name="Group 23" id="23"/>
          <p:cNvGrpSpPr/>
          <p:nvPr/>
        </p:nvGrpSpPr>
        <p:grpSpPr>
          <a:xfrm rot="0">
            <a:off x="718823" y="2035559"/>
            <a:ext cx="135131" cy="2256539"/>
            <a:chOff x="0" y="0"/>
            <a:chExt cx="180175" cy="3008719"/>
          </a:xfrm>
        </p:grpSpPr>
        <p:sp>
          <p:nvSpPr>
            <p:cNvPr name="Freeform 24" id="24"/>
            <p:cNvSpPr/>
            <p:nvPr/>
          </p:nvSpPr>
          <p:spPr>
            <a:xfrm flipH="false" flipV="false" rot="0">
              <a:off x="16891" y="16891"/>
              <a:ext cx="146304" cy="2974848"/>
            </a:xfrm>
            <a:custGeom>
              <a:avLst/>
              <a:gdLst/>
              <a:ahLst/>
              <a:cxnLst/>
              <a:rect r="r" b="b" t="t" l="l"/>
              <a:pathLst>
                <a:path h="2974848" w="146304">
                  <a:moveTo>
                    <a:pt x="0" y="0"/>
                  </a:moveTo>
                  <a:lnTo>
                    <a:pt x="146304" y="0"/>
                  </a:lnTo>
                  <a:lnTo>
                    <a:pt x="146304" y="2974848"/>
                  </a:lnTo>
                  <a:lnTo>
                    <a:pt x="0" y="2974848"/>
                  </a:lnTo>
                  <a:close/>
                </a:path>
              </a:pathLst>
            </a:custGeom>
            <a:solidFill>
              <a:srgbClr val="7C3AED"/>
            </a:solidFill>
          </p:spPr>
        </p:sp>
        <p:sp>
          <p:nvSpPr>
            <p:cNvPr name="Freeform 25" id="25"/>
            <p:cNvSpPr/>
            <p:nvPr/>
          </p:nvSpPr>
          <p:spPr>
            <a:xfrm flipH="false" flipV="false" rot="0">
              <a:off x="0" y="0"/>
              <a:ext cx="180086" cy="3008630"/>
            </a:xfrm>
            <a:custGeom>
              <a:avLst/>
              <a:gdLst/>
              <a:ahLst/>
              <a:cxnLst/>
              <a:rect r="r" b="b" t="t" l="l"/>
              <a:pathLst>
                <a:path h="3008630" w="180086">
                  <a:moveTo>
                    <a:pt x="16891" y="0"/>
                  </a:moveTo>
                  <a:lnTo>
                    <a:pt x="163195" y="0"/>
                  </a:lnTo>
                  <a:cubicBezTo>
                    <a:pt x="172593" y="0"/>
                    <a:pt x="180086" y="7620"/>
                    <a:pt x="180086" y="16891"/>
                  </a:cubicBezTo>
                  <a:lnTo>
                    <a:pt x="180086" y="2991739"/>
                  </a:lnTo>
                  <a:cubicBezTo>
                    <a:pt x="180086" y="3001137"/>
                    <a:pt x="172466" y="3008630"/>
                    <a:pt x="163195"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63195" y="2974848"/>
                  </a:lnTo>
                  <a:lnTo>
                    <a:pt x="163195" y="2991739"/>
                  </a:lnTo>
                  <a:lnTo>
                    <a:pt x="146304" y="2991739"/>
                  </a:lnTo>
                  <a:lnTo>
                    <a:pt x="146304" y="16891"/>
                  </a:lnTo>
                  <a:lnTo>
                    <a:pt x="163195" y="16891"/>
                  </a:lnTo>
                  <a:lnTo>
                    <a:pt x="163195" y="33909"/>
                  </a:lnTo>
                  <a:lnTo>
                    <a:pt x="16891" y="33909"/>
                  </a:lnTo>
                  <a:close/>
                </a:path>
              </a:pathLst>
            </a:custGeom>
            <a:solidFill>
              <a:srgbClr val="7C3AED"/>
            </a:solidFill>
          </p:spPr>
        </p:sp>
      </p:grpSp>
      <p:grpSp>
        <p:nvGrpSpPr>
          <p:cNvPr name="Group 26" id="26"/>
          <p:cNvGrpSpPr/>
          <p:nvPr/>
        </p:nvGrpSpPr>
        <p:grpSpPr>
          <a:xfrm rot="0">
            <a:off x="1005840" y="2176272"/>
            <a:ext cx="7680960" cy="621792"/>
            <a:chOff x="0" y="0"/>
            <a:chExt cx="10241280" cy="829056"/>
          </a:xfrm>
        </p:grpSpPr>
        <p:sp>
          <p:nvSpPr>
            <p:cNvPr name="Freeform 27" id="27"/>
            <p:cNvSpPr/>
            <p:nvPr/>
          </p:nvSpPr>
          <p:spPr>
            <a:xfrm flipH="false" flipV="false" rot="0">
              <a:off x="0" y="0"/>
              <a:ext cx="10241280" cy="829056"/>
            </a:xfrm>
            <a:custGeom>
              <a:avLst/>
              <a:gdLst/>
              <a:ahLst/>
              <a:cxnLst/>
              <a:rect r="r" b="b" t="t" l="l"/>
              <a:pathLst>
                <a:path h="829056" w="10241280">
                  <a:moveTo>
                    <a:pt x="0" y="0"/>
                  </a:moveTo>
                  <a:lnTo>
                    <a:pt x="10241280" y="0"/>
                  </a:lnTo>
                  <a:lnTo>
                    <a:pt x="10241280" y="829056"/>
                  </a:lnTo>
                  <a:lnTo>
                    <a:pt x="0" y="829056"/>
                  </a:lnTo>
                  <a:close/>
                </a:path>
              </a:pathLst>
            </a:custGeom>
            <a:blipFill>
              <a:blip r:embed="rId2">
                <a:alphaModFix amt="0"/>
              </a:blip>
              <a:stretch>
                <a:fillRect l="0" t="-190697" r="0" b="-190697"/>
              </a:stretch>
            </a:blipFill>
          </p:spPr>
        </p:sp>
        <p:sp>
          <p:nvSpPr>
            <p:cNvPr name="TextBox 28" id="28"/>
            <p:cNvSpPr txBox="true"/>
            <p:nvPr/>
          </p:nvSpPr>
          <p:spPr>
            <a:xfrm>
              <a:off x="0" y="-47625"/>
              <a:ext cx="10241280" cy="876681"/>
            </a:xfrm>
            <a:prstGeom prst="rect">
              <a:avLst/>
            </a:prstGeom>
          </p:spPr>
          <p:txBody>
            <a:bodyPr anchor="ctr" rtlCol="false" tIns="0" lIns="0" bIns="0" rIns="0"/>
            <a:lstStyle/>
            <a:p>
              <a:pPr algn="l">
                <a:lnSpc>
                  <a:spcPts val="2640"/>
                </a:lnSpc>
              </a:pPr>
              <a:r>
                <a:rPr lang="en-US" sz="2200" b="true">
                  <a:solidFill>
                    <a:srgbClr val="7C3AED"/>
                  </a:solidFill>
                  <a:latin typeface="Calibri (MS) Bold"/>
                  <a:ea typeface="Calibri (MS) Bold"/>
                  <a:cs typeface="Calibri (MS) Bold"/>
                  <a:sym typeface="Calibri (MS) Bold"/>
                </a:rPr>
                <a:t>📂  void:Dataset</a:t>
              </a:r>
            </a:p>
          </p:txBody>
        </p:sp>
      </p:grpSp>
      <p:grpSp>
        <p:nvGrpSpPr>
          <p:cNvPr name="Group 29" id="29"/>
          <p:cNvGrpSpPr/>
          <p:nvPr/>
        </p:nvGrpSpPr>
        <p:grpSpPr>
          <a:xfrm rot="0">
            <a:off x="1005840" y="2816352"/>
            <a:ext cx="7680960" cy="1316736"/>
            <a:chOff x="0" y="0"/>
            <a:chExt cx="10241280" cy="1755648"/>
          </a:xfrm>
        </p:grpSpPr>
        <p:sp>
          <p:nvSpPr>
            <p:cNvPr name="Freeform 30" id="30"/>
            <p:cNvSpPr/>
            <p:nvPr/>
          </p:nvSpPr>
          <p:spPr>
            <a:xfrm flipH="false" flipV="false" rot="0">
              <a:off x="0" y="0"/>
              <a:ext cx="10241280" cy="1755648"/>
            </a:xfrm>
            <a:custGeom>
              <a:avLst/>
              <a:gdLst/>
              <a:ahLst/>
              <a:cxnLst/>
              <a:rect r="r" b="b" t="t" l="l"/>
              <a:pathLst>
                <a:path h="1755648" w="10241280">
                  <a:moveTo>
                    <a:pt x="0" y="0"/>
                  </a:moveTo>
                  <a:lnTo>
                    <a:pt x="10241280" y="0"/>
                  </a:lnTo>
                  <a:lnTo>
                    <a:pt x="10241280" y="1755648"/>
                  </a:lnTo>
                  <a:lnTo>
                    <a:pt x="0" y="1755648"/>
                  </a:lnTo>
                  <a:close/>
                </a:path>
              </a:pathLst>
            </a:custGeom>
            <a:blipFill>
              <a:blip r:embed="rId2">
                <a:alphaModFix amt="0"/>
              </a:blip>
              <a:stretch>
                <a:fillRect l="0" t="-63662" r="0" b="-63662"/>
              </a:stretch>
            </a:blipFill>
          </p:spPr>
        </p:sp>
        <p:sp>
          <p:nvSpPr>
            <p:cNvPr name="TextBox 31" id="31"/>
            <p:cNvSpPr txBox="true"/>
            <p:nvPr/>
          </p:nvSpPr>
          <p:spPr>
            <a:xfrm>
              <a:off x="0" y="-47625"/>
              <a:ext cx="1024128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Classe principale — le jeu de données RDF décrit.</a:t>
              </a:r>
            </a:p>
          </p:txBody>
        </p:sp>
      </p:grpSp>
      <p:grpSp>
        <p:nvGrpSpPr>
          <p:cNvPr name="Group 32" id="32"/>
          <p:cNvGrpSpPr/>
          <p:nvPr/>
        </p:nvGrpSpPr>
        <p:grpSpPr>
          <a:xfrm rot="0">
            <a:off x="9588503" y="2035559"/>
            <a:ext cx="8255003" cy="2256539"/>
            <a:chOff x="0" y="0"/>
            <a:chExt cx="11006671" cy="3008719"/>
          </a:xfrm>
        </p:grpSpPr>
        <p:sp>
          <p:nvSpPr>
            <p:cNvPr name="Freeform 33" id="33"/>
            <p:cNvSpPr/>
            <p:nvPr/>
          </p:nvSpPr>
          <p:spPr>
            <a:xfrm flipH="false" flipV="false" rot="0">
              <a:off x="16891" y="16891"/>
              <a:ext cx="10972800" cy="2974848"/>
            </a:xfrm>
            <a:custGeom>
              <a:avLst/>
              <a:gdLst/>
              <a:ahLst/>
              <a:cxnLst/>
              <a:rect r="r" b="b" t="t" l="l"/>
              <a:pathLst>
                <a:path h="2974848" w="10972800">
                  <a:moveTo>
                    <a:pt x="0" y="0"/>
                  </a:moveTo>
                  <a:lnTo>
                    <a:pt x="10972800" y="0"/>
                  </a:lnTo>
                  <a:lnTo>
                    <a:pt x="10972800" y="2974848"/>
                  </a:lnTo>
                  <a:lnTo>
                    <a:pt x="0" y="2974848"/>
                  </a:lnTo>
                  <a:close/>
                </a:path>
              </a:pathLst>
            </a:custGeom>
            <a:solidFill>
              <a:srgbClr val="F5F3FF"/>
            </a:solidFill>
          </p:spPr>
        </p:sp>
        <p:sp>
          <p:nvSpPr>
            <p:cNvPr name="Freeform 34" id="34"/>
            <p:cNvSpPr/>
            <p:nvPr/>
          </p:nvSpPr>
          <p:spPr>
            <a:xfrm flipH="false" flipV="false" rot="0">
              <a:off x="0" y="0"/>
              <a:ext cx="11006582" cy="3008630"/>
            </a:xfrm>
            <a:custGeom>
              <a:avLst/>
              <a:gdLst/>
              <a:ahLst/>
              <a:cxnLst/>
              <a:rect r="r" b="b" t="t" l="l"/>
              <a:pathLst>
                <a:path h="3008630" w="11006582">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7C3AED"/>
            </a:solidFill>
          </p:spPr>
        </p:sp>
      </p:grpSp>
      <p:grpSp>
        <p:nvGrpSpPr>
          <p:cNvPr name="Group 35" id="35"/>
          <p:cNvGrpSpPr/>
          <p:nvPr/>
        </p:nvGrpSpPr>
        <p:grpSpPr>
          <a:xfrm rot="0">
            <a:off x="9588503" y="2035559"/>
            <a:ext cx="135131" cy="2256539"/>
            <a:chOff x="0" y="0"/>
            <a:chExt cx="180175" cy="3008719"/>
          </a:xfrm>
        </p:grpSpPr>
        <p:sp>
          <p:nvSpPr>
            <p:cNvPr name="Freeform 36" id="36"/>
            <p:cNvSpPr/>
            <p:nvPr/>
          </p:nvSpPr>
          <p:spPr>
            <a:xfrm flipH="false" flipV="false" rot="0">
              <a:off x="16891" y="16891"/>
              <a:ext cx="146304" cy="2974848"/>
            </a:xfrm>
            <a:custGeom>
              <a:avLst/>
              <a:gdLst/>
              <a:ahLst/>
              <a:cxnLst/>
              <a:rect r="r" b="b" t="t" l="l"/>
              <a:pathLst>
                <a:path h="2974848" w="146304">
                  <a:moveTo>
                    <a:pt x="0" y="0"/>
                  </a:moveTo>
                  <a:lnTo>
                    <a:pt x="146304" y="0"/>
                  </a:lnTo>
                  <a:lnTo>
                    <a:pt x="146304" y="2974848"/>
                  </a:lnTo>
                  <a:lnTo>
                    <a:pt x="0" y="2974848"/>
                  </a:lnTo>
                  <a:close/>
                </a:path>
              </a:pathLst>
            </a:custGeom>
            <a:solidFill>
              <a:srgbClr val="7C3AED"/>
            </a:solidFill>
          </p:spPr>
        </p:sp>
        <p:sp>
          <p:nvSpPr>
            <p:cNvPr name="Freeform 37" id="37"/>
            <p:cNvSpPr/>
            <p:nvPr/>
          </p:nvSpPr>
          <p:spPr>
            <a:xfrm flipH="false" flipV="false" rot="0">
              <a:off x="0" y="0"/>
              <a:ext cx="180086" cy="3008630"/>
            </a:xfrm>
            <a:custGeom>
              <a:avLst/>
              <a:gdLst/>
              <a:ahLst/>
              <a:cxnLst/>
              <a:rect r="r" b="b" t="t" l="l"/>
              <a:pathLst>
                <a:path h="3008630" w="180086">
                  <a:moveTo>
                    <a:pt x="16891" y="0"/>
                  </a:moveTo>
                  <a:lnTo>
                    <a:pt x="163195" y="0"/>
                  </a:lnTo>
                  <a:cubicBezTo>
                    <a:pt x="172593" y="0"/>
                    <a:pt x="180086" y="7620"/>
                    <a:pt x="180086" y="16891"/>
                  </a:cubicBezTo>
                  <a:lnTo>
                    <a:pt x="180086" y="2991739"/>
                  </a:lnTo>
                  <a:cubicBezTo>
                    <a:pt x="180086" y="3001137"/>
                    <a:pt x="172466" y="3008630"/>
                    <a:pt x="163195"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63195" y="2974848"/>
                  </a:lnTo>
                  <a:lnTo>
                    <a:pt x="163195" y="2991739"/>
                  </a:lnTo>
                  <a:lnTo>
                    <a:pt x="146304" y="2991739"/>
                  </a:lnTo>
                  <a:lnTo>
                    <a:pt x="146304" y="16891"/>
                  </a:lnTo>
                  <a:lnTo>
                    <a:pt x="163195" y="16891"/>
                  </a:lnTo>
                  <a:lnTo>
                    <a:pt x="163195" y="33909"/>
                  </a:lnTo>
                  <a:lnTo>
                    <a:pt x="16891" y="33909"/>
                  </a:lnTo>
                  <a:close/>
                </a:path>
              </a:pathLst>
            </a:custGeom>
            <a:solidFill>
              <a:srgbClr val="7C3AED"/>
            </a:solidFill>
          </p:spPr>
        </p:sp>
      </p:grpSp>
      <p:grpSp>
        <p:nvGrpSpPr>
          <p:cNvPr name="Group 38" id="38"/>
          <p:cNvGrpSpPr/>
          <p:nvPr/>
        </p:nvGrpSpPr>
        <p:grpSpPr>
          <a:xfrm rot="0">
            <a:off x="9875520" y="2176272"/>
            <a:ext cx="7680960" cy="621792"/>
            <a:chOff x="0" y="0"/>
            <a:chExt cx="10241280" cy="829056"/>
          </a:xfrm>
        </p:grpSpPr>
        <p:sp>
          <p:nvSpPr>
            <p:cNvPr name="Freeform 39" id="39"/>
            <p:cNvSpPr/>
            <p:nvPr/>
          </p:nvSpPr>
          <p:spPr>
            <a:xfrm flipH="false" flipV="false" rot="0">
              <a:off x="0" y="0"/>
              <a:ext cx="10241280" cy="829056"/>
            </a:xfrm>
            <a:custGeom>
              <a:avLst/>
              <a:gdLst/>
              <a:ahLst/>
              <a:cxnLst/>
              <a:rect r="r" b="b" t="t" l="l"/>
              <a:pathLst>
                <a:path h="829056" w="10241280">
                  <a:moveTo>
                    <a:pt x="0" y="0"/>
                  </a:moveTo>
                  <a:lnTo>
                    <a:pt x="10241280" y="0"/>
                  </a:lnTo>
                  <a:lnTo>
                    <a:pt x="10241280" y="829056"/>
                  </a:lnTo>
                  <a:lnTo>
                    <a:pt x="0" y="829056"/>
                  </a:lnTo>
                  <a:close/>
                </a:path>
              </a:pathLst>
            </a:custGeom>
            <a:blipFill>
              <a:blip r:embed="rId2">
                <a:alphaModFix amt="0"/>
              </a:blip>
              <a:stretch>
                <a:fillRect l="0" t="-190697" r="0" b="-190697"/>
              </a:stretch>
            </a:blipFill>
          </p:spPr>
        </p:sp>
        <p:sp>
          <p:nvSpPr>
            <p:cNvPr name="TextBox 40" id="40"/>
            <p:cNvSpPr txBox="true"/>
            <p:nvPr/>
          </p:nvSpPr>
          <p:spPr>
            <a:xfrm>
              <a:off x="0" y="-47625"/>
              <a:ext cx="10241280" cy="876681"/>
            </a:xfrm>
            <a:prstGeom prst="rect">
              <a:avLst/>
            </a:prstGeom>
          </p:spPr>
          <p:txBody>
            <a:bodyPr anchor="ctr" rtlCol="false" tIns="0" lIns="0" bIns="0" rIns="0"/>
            <a:lstStyle/>
            <a:p>
              <a:pPr algn="l">
                <a:lnSpc>
                  <a:spcPts val="2640"/>
                </a:lnSpc>
              </a:pPr>
              <a:r>
                <a:rPr lang="en-US" sz="2200" b="true">
                  <a:solidFill>
                    <a:srgbClr val="7C3AED"/>
                  </a:solidFill>
                  <a:latin typeface="Calibri (MS) Bold"/>
                  <a:ea typeface="Calibri (MS) Bold"/>
                  <a:cs typeface="Calibri (MS) Bold"/>
                  <a:sym typeface="Calibri (MS) Bold"/>
                </a:rPr>
                <a:t>🔗  void:Linkset</a:t>
              </a:r>
            </a:p>
          </p:txBody>
        </p:sp>
      </p:grpSp>
      <p:grpSp>
        <p:nvGrpSpPr>
          <p:cNvPr name="Group 41" id="41"/>
          <p:cNvGrpSpPr/>
          <p:nvPr/>
        </p:nvGrpSpPr>
        <p:grpSpPr>
          <a:xfrm rot="0">
            <a:off x="9875520" y="2816352"/>
            <a:ext cx="7680960" cy="1316736"/>
            <a:chOff x="0" y="0"/>
            <a:chExt cx="10241280" cy="1755648"/>
          </a:xfrm>
        </p:grpSpPr>
        <p:sp>
          <p:nvSpPr>
            <p:cNvPr name="Freeform 42" id="42"/>
            <p:cNvSpPr/>
            <p:nvPr/>
          </p:nvSpPr>
          <p:spPr>
            <a:xfrm flipH="false" flipV="false" rot="0">
              <a:off x="0" y="0"/>
              <a:ext cx="10241280" cy="1755648"/>
            </a:xfrm>
            <a:custGeom>
              <a:avLst/>
              <a:gdLst/>
              <a:ahLst/>
              <a:cxnLst/>
              <a:rect r="r" b="b" t="t" l="l"/>
              <a:pathLst>
                <a:path h="1755648" w="10241280">
                  <a:moveTo>
                    <a:pt x="0" y="0"/>
                  </a:moveTo>
                  <a:lnTo>
                    <a:pt x="10241280" y="0"/>
                  </a:lnTo>
                  <a:lnTo>
                    <a:pt x="10241280" y="1755648"/>
                  </a:lnTo>
                  <a:lnTo>
                    <a:pt x="0" y="1755648"/>
                  </a:lnTo>
                  <a:close/>
                </a:path>
              </a:pathLst>
            </a:custGeom>
            <a:blipFill>
              <a:blip r:embed="rId2">
                <a:alphaModFix amt="0"/>
              </a:blip>
              <a:stretch>
                <a:fillRect l="0" t="-63662" r="0" b="-63662"/>
              </a:stretch>
            </a:blipFill>
          </p:spPr>
        </p:sp>
        <p:sp>
          <p:nvSpPr>
            <p:cNvPr name="TextBox 43" id="43"/>
            <p:cNvSpPr txBox="true"/>
            <p:nvPr/>
          </p:nvSpPr>
          <p:spPr>
            <a:xfrm>
              <a:off x="0" y="-47625"/>
              <a:ext cx="1024128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Un ensemble de liens owl:sameAs reliant deux datasets (ex: DBpedia ↔ Wikidata).</a:t>
              </a:r>
            </a:p>
          </p:txBody>
        </p:sp>
      </p:grpSp>
      <p:grpSp>
        <p:nvGrpSpPr>
          <p:cNvPr name="Group 44" id="44"/>
          <p:cNvGrpSpPr/>
          <p:nvPr/>
        </p:nvGrpSpPr>
        <p:grpSpPr>
          <a:xfrm rot="0">
            <a:off x="718823" y="4559303"/>
            <a:ext cx="8255003" cy="2256539"/>
            <a:chOff x="0" y="0"/>
            <a:chExt cx="11006671" cy="3008719"/>
          </a:xfrm>
        </p:grpSpPr>
        <p:sp>
          <p:nvSpPr>
            <p:cNvPr name="Freeform 45" id="45"/>
            <p:cNvSpPr/>
            <p:nvPr/>
          </p:nvSpPr>
          <p:spPr>
            <a:xfrm flipH="false" flipV="false" rot="0">
              <a:off x="16891" y="16891"/>
              <a:ext cx="10972800" cy="2974848"/>
            </a:xfrm>
            <a:custGeom>
              <a:avLst/>
              <a:gdLst/>
              <a:ahLst/>
              <a:cxnLst/>
              <a:rect r="r" b="b" t="t" l="l"/>
              <a:pathLst>
                <a:path h="2974848" w="10972800">
                  <a:moveTo>
                    <a:pt x="0" y="0"/>
                  </a:moveTo>
                  <a:lnTo>
                    <a:pt x="10972800" y="0"/>
                  </a:lnTo>
                  <a:lnTo>
                    <a:pt x="10972800" y="2974848"/>
                  </a:lnTo>
                  <a:lnTo>
                    <a:pt x="0" y="2974848"/>
                  </a:lnTo>
                  <a:close/>
                </a:path>
              </a:pathLst>
            </a:custGeom>
            <a:solidFill>
              <a:srgbClr val="F5F3FF"/>
            </a:solidFill>
          </p:spPr>
        </p:sp>
        <p:sp>
          <p:nvSpPr>
            <p:cNvPr name="Freeform 46" id="46"/>
            <p:cNvSpPr/>
            <p:nvPr/>
          </p:nvSpPr>
          <p:spPr>
            <a:xfrm flipH="false" flipV="false" rot="0">
              <a:off x="0" y="0"/>
              <a:ext cx="11006582" cy="3008630"/>
            </a:xfrm>
            <a:custGeom>
              <a:avLst/>
              <a:gdLst/>
              <a:ahLst/>
              <a:cxnLst/>
              <a:rect r="r" b="b" t="t" l="l"/>
              <a:pathLst>
                <a:path h="3008630" w="11006582">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7C3AED"/>
            </a:solidFill>
          </p:spPr>
        </p:sp>
      </p:grpSp>
      <p:grpSp>
        <p:nvGrpSpPr>
          <p:cNvPr name="Group 47" id="47"/>
          <p:cNvGrpSpPr/>
          <p:nvPr/>
        </p:nvGrpSpPr>
        <p:grpSpPr>
          <a:xfrm rot="0">
            <a:off x="718823" y="4559303"/>
            <a:ext cx="135131" cy="2256539"/>
            <a:chOff x="0" y="0"/>
            <a:chExt cx="180175" cy="3008719"/>
          </a:xfrm>
        </p:grpSpPr>
        <p:sp>
          <p:nvSpPr>
            <p:cNvPr name="Freeform 48" id="48"/>
            <p:cNvSpPr/>
            <p:nvPr/>
          </p:nvSpPr>
          <p:spPr>
            <a:xfrm flipH="false" flipV="false" rot="0">
              <a:off x="16891" y="16891"/>
              <a:ext cx="146304" cy="2974848"/>
            </a:xfrm>
            <a:custGeom>
              <a:avLst/>
              <a:gdLst/>
              <a:ahLst/>
              <a:cxnLst/>
              <a:rect r="r" b="b" t="t" l="l"/>
              <a:pathLst>
                <a:path h="2974848" w="146304">
                  <a:moveTo>
                    <a:pt x="0" y="0"/>
                  </a:moveTo>
                  <a:lnTo>
                    <a:pt x="146304" y="0"/>
                  </a:lnTo>
                  <a:lnTo>
                    <a:pt x="146304" y="2974848"/>
                  </a:lnTo>
                  <a:lnTo>
                    <a:pt x="0" y="2974848"/>
                  </a:lnTo>
                  <a:close/>
                </a:path>
              </a:pathLst>
            </a:custGeom>
            <a:solidFill>
              <a:srgbClr val="7C3AED"/>
            </a:solidFill>
          </p:spPr>
        </p:sp>
        <p:sp>
          <p:nvSpPr>
            <p:cNvPr name="Freeform 49" id="49"/>
            <p:cNvSpPr/>
            <p:nvPr/>
          </p:nvSpPr>
          <p:spPr>
            <a:xfrm flipH="false" flipV="false" rot="0">
              <a:off x="0" y="0"/>
              <a:ext cx="180086" cy="3008630"/>
            </a:xfrm>
            <a:custGeom>
              <a:avLst/>
              <a:gdLst/>
              <a:ahLst/>
              <a:cxnLst/>
              <a:rect r="r" b="b" t="t" l="l"/>
              <a:pathLst>
                <a:path h="3008630" w="180086">
                  <a:moveTo>
                    <a:pt x="16891" y="0"/>
                  </a:moveTo>
                  <a:lnTo>
                    <a:pt x="163195" y="0"/>
                  </a:lnTo>
                  <a:cubicBezTo>
                    <a:pt x="172593" y="0"/>
                    <a:pt x="180086" y="7620"/>
                    <a:pt x="180086" y="16891"/>
                  </a:cubicBezTo>
                  <a:lnTo>
                    <a:pt x="180086" y="2991739"/>
                  </a:lnTo>
                  <a:cubicBezTo>
                    <a:pt x="180086" y="3001137"/>
                    <a:pt x="172466" y="3008630"/>
                    <a:pt x="163195"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63195" y="2974848"/>
                  </a:lnTo>
                  <a:lnTo>
                    <a:pt x="163195" y="2991739"/>
                  </a:lnTo>
                  <a:lnTo>
                    <a:pt x="146304" y="2991739"/>
                  </a:lnTo>
                  <a:lnTo>
                    <a:pt x="146304" y="16891"/>
                  </a:lnTo>
                  <a:lnTo>
                    <a:pt x="163195" y="16891"/>
                  </a:lnTo>
                  <a:lnTo>
                    <a:pt x="163195" y="33909"/>
                  </a:lnTo>
                  <a:lnTo>
                    <a:pt x="16891" y="33909"/>
                  </a:lnTo>
                  <a:close/>
                </a:path>
              </a:pathLst>
            </a:custGeom>
            <a:solidFill>
              <a:srgbClr val="7C3AED"/>
            </a:solidFill>
          </p:spPr>
        </p:sp>
      </p:grpSp>
      <p:grpSp>
        <p:nvGrpSpPr>
          <p:cNvPr name="Group 50" id="50"/>
          <p:cNvGrpSpPr/>
          <p:nvPr/>
        </p:nvGrpSpPr>
        <p:grpSpPr>
          <a:xfrm rot="0">
            <a:off x="1005840" y="4700016"/>
            <a:ext cx="7680960" cy="621792"/>
            <a:chOff x="0" y="0"/>
            <a:chExt cx="10241280" cy="829056"/>
          </a:xfrm>
        </p:grpSpPr>
        <p:sp>
          <p:nvSpPr>
            <p:cNvPr name="Freeform 51" id="51"/>
            <p:cNvSpPr/>
            <p:nvPr/>
          </p:nvSpPr>
          <p:spPr>
            <a:xfrm flipH="false" flipV="false" rot="0">
              <a:off x="0" y="0"/>
              <a:ext cx="10241280" cy="829056"/>
            </a:xfrm>
            <a:custGeom>
              <a:avLst/>
              <a:gdLst/>
              <a:ahLst/>
              <a:cxnLst/>
              <a:rect r="r" b="b" t="t" l="l"/>
              <a:pathLst>
                <a:path h="829056" w="10241280">
                  <a:moveTo>
                    <a:pt x="0" y="0"/>
                  </a:moveTo>
                  <a:lnTo>
                    <a:pt x="10241280" y="0"/>
                  </a:lnTo>
                  <a:lnTo>
                    <a:pt x="10241280" y="829056"/>
                  </a:lnTo>
                  <a:lnTo>
                    <a:pt x="0" y="829056"/>
                  </a:lnTo>
                  <a:close/>
                </a:path>
              </a:pathLst>
            </a:custGeom>
            <a:blipFill>
              <a:blip r:embed="rId2">
                <a:alphaModFix amt="0"/>
              </a:blip>
              <a:stretch>
                <a:fillRect l="0" t="-190697" r="0" b="-190697"/>
              </a:stretch>
            </a:blipFill>
          </p:spPr>
        </p:sp>
        <p:sp>
          <p:nvSpPr>
            <p:cNvPr name="TextBox 52" id="52"/>
            <p:cNvSpPr txBox="true"/>
            <p:nvPr/>
          </p:nvSpPr>
          <p:spPr>
            <a:xfrm>
              <a:off x="0" y="-47625"/>
              <a:ext cx="10241280" cy="876681"/>
            </a:xfrm>
            <a:prstGeom prst="rect">
              <a:avLst/>
            </a:prstGeom>
          </p:spPr>
          <p:txBody>
            <a:bodyPr anchor="ctr" rtlCol="false" tIns="0" lIns="0" bIns="0" rIns="0"/>
            <a:lstStyle/>
            <a:p>
              <a:pPr algn="l">
                <a:lnSpc>
                  <a:spcPts val="2640"/>
                </a:lnSpc>
              </a:pPr>
              <a:r>
                <a:rPr lang="en-US" sz="2200" b="true">
                  <a:solidFill>
                    <a:srgbClr val="7C3AED"/>
                  </a:solidFill>
                  <a:latin typeface="Calibri (MS) Bold"/>
                  <a:ea typeface="Calibri (MS) Bold"/>
                  <a:cs typeface="Calibri (MS) Bold"/>
                  <a:sym typeface="Calibri (MS) Bold"/>
                </a:rPr>
                <a:t>🖥️  void:sparqlEndpoint</a:t>
              </a:r>
            </a:p>
          </p:txBody>
        </p:sp>
      </p:grpSp>
      <p:grpSp>
        <p:nvGrpSpPr>
          <p:cNvPr name="Group 53" id="53"/>
          <p:cNvGrpSpPr/>
          <p:nvPr/>
        </p:nvGrpSpPr>
        <p:grpSpPr>
          <a:xfrm rot="0">
            <a:off x="1005840" y="5340096"/>
            <a:ext cx="7680960" cy="1316736"/>
            <a:chOff x="0" y="0"/>
            <a:chExt cx="10241280" cy="1755648"/>
          </a:xfrm>
        </p:grpSpPr>
        <p:sp>
          <p:nvSpPr>
            <p:cNvPr name="Freeform 54" id="54"/>
            <p:cNvSpPr/>
            <p:nvPr/>
          </p:nvSpPr>
          <p:spPr>
            <a:xfrm flipH="false" flipV="false" rot="0">
              <a:off x="0" y="0"/>
              <a:ext cx="10241280" cy="1755648"/>
            </a:xfrm>
            <a:custGeom>
              <a:avLst/>
              <a:gdLst/>
              <a:ahLst/>
              <a:cxnLst/>
              <a:rect r="r" b="b" t="t" l="l"/>
              <a:pathLst>
                <a:path h="1755648" w="10241280">
                  <a:moveTo>
                    <a:pt x="0" y="0"/>
                  </a:moveTo>
                  <a:lnTo>
                    <a:pt x="10241280" y="0"/>
                  </a:lnTo>
                  <a:lnTo>
                    <a:pt x="10241280" y="1755648"/>
                  </a:lnTo>
                  <a:lnTo>
                    <a:pt x="0" y="1755648"/>
                  </a:lnTo>
                  <a:close/>
                </a:path>
              </a:pathLst>
            </a:custGeom>
            <a:blipFill>
              <a:blip r:embed="rId2">
                <a:alphaModFix amt="0"/>
              </a:blip>
              <a:stretch>
                <a:fillRect l="0" t="-63662" r="0" b="-63662"/>
              </a:stretch>
            </a:blipFill>
          </p:spPr>
        </p:sp>
        <p:sp>
          <p:nvSpPr>
            <p:cNvPr name="TextBox 55" id="55"/>
            <p:cNvSpPr txBox="true"/>
            <p:nvPr/>
          </p:nvSpPr>
          <p:spPr>
            <a:xfrm>
              <a:off x="0" y="-47625"/>
              <a:ext cx="1024128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URL de l'endpoint SPARQL permettant d'interroger le dataset.</a:t>
              </a:r>
            </a:p>
          </p:txBody>
        </p:sp>
      </p:grpSp>
      <p:grpSp>
        <p:nvGrpSpPr>
          <p:cNvPr name="Group 56" id="56"/>
          <p:cNvGrpSpPr/>
          <p:nvPr/>
        </p:nvGrpSpPr>
        <p:grpSpPr>
          <a:xfrm rot="0">
            <a:off x="9588503" y="4559303"/>
            <a:ext cx="8255003" cy="2256539"/>
            <a:chOff x="0" y="0"/>
            <a:chExt cx="11006671" cy="3008719"/>
          </a:xfrm>
        </p:grpSpPr>
        <p:sp>
          <p:nvSpPr>
            <p:cNvPr name="Freeform 57" id="57"/>
            <p:cNvSpPr/>
            <p:nvPr/>
          </p:nvSpPr>
          <p:spPr>
            <a:xfrm flipH="false" flipV="false" rot="0">
              <a:off x="16891" y="16891"/>
              <a:ext cx="10972800" cy="2974848"/>
            </a:xfrm>
            <a:custGeom>
              <a:avLst/>
              <a:gdLst/>
              <a:ahLst/>
              <a:cxnLst/>
              <a:rect r="r" b="b" t="t" l="l"/>
              <a:pathLst>
                <a:path h="2974848" w="10972800">
                  <a:moveTo>
                    <a:pt x="0" y="0"/>
                  </a:moveTo>
                  <a:lnTo>
                    <a:pt x="10972800" y="0"/>
                  </a:lnTo>
                  <a:lnTo>
                    <a:pt x="10972800" y="2974848"/>
                  </a:lnTo>
                  <a:lnTo>
                    <a:pt x="0" y="2974848"/>
                  </a:lnTo>
                  <a:close/>
                </a:path>
              </a:pathLst>
            </a:custGeom>
            <a:solidFill>
              <a:srgbClr val="F5F3FF"/>
            </a:solidFill>
          </p:spPr>
        </p:sp>
        <p:sp>
          <p:nvSpPr>
            <p:cNvPr name="Freeform 58" id="58"/>
            <p:cNvSpPr/>
            <p:nvPr/>
          </p:nvSpPr>
          <p:spPr>
            <a:xfrm flipH="false" flipV="false" rot="0">
              <a:off x="0" y="0"/>
              <a:ext cx="11006582" cy="3008630"/>
            </a:xfrm>
            <a:custGeom>
              <a:avLst/>
              <a:gdLst/>
              <a:ahLst/>
              <a:cxnLst/>
              <a:rect r="r" b="b" t="t" l="l"/>
              <a:pathLst>
                <a:path h="3008630" w="11006582">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7C3AED"/>
            </a:solidFill>
          </p:spPr>
        </p:sp>
      </p:grpSp>
      <p:grpSp>
        <p:nvGrpSpPr>
          <p:cNvPr name="Group 59" id="59"/>
          <p:cNvGrpSpPr/>
          <p:nvPr/>
        </p:nvGrpSpPr>
        <p:grpSpPr>
          <a:xfrm rot="0">
            <a:off x="9588503" y="4559303"/>
            <a:ext cx="135131" cy="2256539"/>
            <a:chOff x="0" y="0"/>
            <a:chExt cx="180175" cy="3008719"/>
          </a:xfrm>
        </p:grpSpPr>
        <p:sp>
          <p:nvSpPr>
            <p:cNvPr name="Freeform 60" id="60"/>
            <p:cNvSpPr/>
            <p:nvPr/>
          </p:nvSpPr>
          <p:spPr>
            <a:xfrm flipH="false" flipV="false" rot="0">
              <a:off x="16891" y="16891"/>
              <a:ext cx="146304" cy="2974848"/>
            </a:xfrm>
            <a:custGeom>
              <a:avLst/>
              <a:gdLst/>
              <a:ahLst/>
              <a:cxnLst/>
              <a:rect r="r" b="b" t="t" l="l"/>
              <a:pathLst>
                <a:path h="2974848" w="146304">
                  <a:moveTo>
                    <a:pt x="0" y="0"/>
                  </a:moveTo>
                  <a:lnTo>
                    <a:pt x="146304" y="0"/>
                  </a:lnTo>
                  <a:lnTo>
                    <a:pt x="146304" y="2974848"/>
                  </a:lnTo>
                  <a:lnTo>
                    <a:pt x="0" y="2974848"/>
                  </a:lnTo>
                  <a:close/>
                </a:path>
              </a:pathLst>
            </a:custGeom>
            <a:solidFill>
              <a:srgbClr val="7C3AED"/>
            </a:solidFill>
          </p:spPr>
        </p:sp>
        <p:sp>
          <p:nvSpPr>
            <p:cNvPr name="Freeform 61" id="61"/>
            <p:cNvSpPr/>
            <p:nvPr/>
          </p:nvSpPr>
          <p:spPr>
            <a:xfrm flipH="false" flipV="false" rot="0">
              <a:off x="0" y="0"/>
              <a:ext cx="180086" cy="3008630"/>
            </a:xfrm>
            <a:custGeom>
              <a:avLst/>
              <a:gdLst/>
              <a:ahLst/>
              <a:cxnLst/>
              <a:rect r="r" b="b" t="t" l="l"/>
              <a:pathLst>
                <a:path h="3008630" w="180086">
                  <a:moveTo>
                    <a:pt x="16891" y="0"/>
                  </a:moveTo>
                  <a:lnTo>
                    <a:pt x="163195" y="0"/>
                  </a:lnTo>
                  <a:cubicBezTo>
                    <a:pt x="172593" y="0"/>
                    <a:pt x="180086" y="7620"/>
                    <a:pt x="180086" y="16891"/>
                  </a:cubicBezTo>
                  <a:lnTo>
                    <a:pt x="180086" y="2991739"/>
                  </a:lnTo>
                  <a:cubicBezTo>
                    <a:pt x="180086" y="3001137"/>
                    <a:pt x="172466" y="3008630"/>
                    <a:pt x="163195"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63195" y="2974848"/>
                  </a:lnTo>
                  <a:lnTo>
                    <a:pt x="163195" y="2991739"/>
                  </a:lnTo>
                  <a:lnTo>
                    <a:pt x="146304" y="2991739"/>
                  </a:lnTo>
                  <a:lnTo>
                    <a:pt x="146304" y="16891"/>
                  </a:lnTo>
                  <a:lnTo>
                    <a:pt x="163195" y="16891"/>
                  </a:lnTo>
                  <a:lnTo>
                    <a:pt x="163195" y="33909"/>
                  </a:lnTo>
                  <a:lnTo>
                    <a:pt x="16891" y="33909"/>
                  </a:lnTo>
                  <a:close/>
                </a:path>
              </a:pathLst>
            </a:custGeom>
            <a:solidFill>
              <a:srgbClr val="7C3AED"/>
            </a:solidFill>
          </p:spPr>
        </p:sp>
      </p:grpSp>
      <p:grpSp>
        <p:nvGrpSpPr>
          <p:cNvPr name="Group 62" id="62"/>
          <p:cNvGrpSpPr/>
          <p:nvPr/>
        </p:nvGrpSpPr>
        <p:grpSpPr>
          <a:xfrm rot="0">
            <a:off x="9875520" y="4700016"/>
            <a:ext cx="7680960" cy="621792"/>
            <a:chOff x="0" y="0"/>
            <a:chExt cx="10241280" cy="829056"/>
          </a:xfrm>
        </p:grpSpPr>
        <p:sp>
          <p:nvSpPr>
            <p:cNvPr name="Freeform 63" id="63"/>
            <p:cNvSpPr/>
            <p:nvPr/>
          </p:nvSpPr>
          <p:spPr>
            <a:xfrm flipH="false" flipV="false" rot="0">
              <a:off x="0" y="0"/>
              <a:ext cx="10241280" cy="829056"/>
            </a:xfrm>
            <a:custGeom>
              <a:avLst/>
              <a:gdLst/>
              <a:ahLst/>
              <a:cxnLst/>
              <a:rect r="r" b="b" t="t" l="l"/>
              <a:pathLst>
                <a:path h="829056" w="10241280">
                  <a:moveTo>
                    <a:pt x="0" y="0"/>
                  </a:moveTo>
                  <a:lnTo>
                    <a:pt x="10241280" y="0"/>
                  </a:lnTo>
                  <a:lnTo>
                    <a:pt x="10241280" y="829056"/>
                  </a:lnTo>
                  <a:lnTo>
                    <a:pt x="0" y="829056"/>
                  </a:lnTo>
                  <a:close/>
                </a:path>
              </a:pathLst>
            </a:custGeom>
            <a:blipFill>
              <a:blip r:embed="rId2">
                <a:alphaModFix amt="0"/>
              </a:blip>
              <a:stretch>
                <a:fillRect l="0" t="-190697" r="0" b="-190697"/>
              </a:stretch>
            </a:blipFill>
          </p:spPr>
        </p:sp>
        <p:sp>
          <p:nvSpPr>
            <p:cNvPr name="TextBox 64" id="64"/>
            <p:cNvSpPr txBox="true"/>
            <p:nvPr/>
          </p:nvSpPr>
          <p:spPr>
            <a:xfrm>
              <a:off x="0" y="-47625"/>
              <a:ext cx="10241280" cy="876681"/>
            </a:xfrm>
            <a:prstGeom prst="rect">
              <a:avLst/>
            </a:prstGeom>
          </p:spPr>
          <p:txBody>
            <a:bodyPr anchor="ctr" rtlCol="false" tIns="0" lIns="0" bIns="0" rIns="0"/>
            <a:lstStyle/>
            <a:p>
              <a:pPr algn="l">
                <a:lnSpc>
                  <a:spcPts val="2640"/>
                </a:lnSpc>
              </a:pPr>
              <a:r>
                <a:rPr lang="en-US" sz="2200" b="true">
                  <a:solidFill>
                    <a:srgbClr val="7C3AED"/>
                  </a:solidFill>
                  <a:latin typeface="Calibri (MS) Bold"/>
                  <a:ea typeface="Calibri (MS) Bold"/>
                  <a:cs typeface="Calibri (MS) Bold"/>
                  <a:sym typeface="Calibri (MS) Bold"/>
                </a:rPr>
                <a:t>🔢  void:triples</a:t>
              </a:r>
            </a:p>
          </p:txBody>
        </p:sp>
      </p:grpSp>
      <p:grpSp>
        <p:nvGrpSpPr>
          <p:cNvPr name="Group 65" id="65"/>
          <p:cNvGrpSpPr/>
          <p:nvPr/>
        </p:nvGrpSpPr>
        <p:grpSpPr>
          <a:xfrm rot="0">
            <a:off x="9875520" y="5340096"/>
            <a:ext cx="7680960" cy="1316736"/>
            <a:chOff x="0" y="0"/>
            <a:chExt cx="10241280" cy="1755648"/>
          </a:xfrm>
        </p:grpSpPr>
        <p:sp>
          <p:nvSpPr>
            <p:cNvPr name="Freeform 66" id="66"/>
            <p:cNvSpPr/>
            <p:nvPr/>
          </p:nvSpPr>
          <p:spPr>
            <a:xfrm flipH="false" flipV="false" rot="0">
              <a:off x="0" y="0"/>
              <a:ext cx="10241280" cy="1755648"/>
            </a:xfrm>
            <a:custGeom>
              <a:avLst/>
              <a:gdLst/>
              <a:ahLst/>
              <a:cxnLst/>
              <a:rect r="r" b="b" t="t" l="l"/>
              <a:pathLst>
                <a:path h="1755648" w="10241280">
                  <a:moveTo>
                    <a:pt x="0" y="0"/>
                  </a:moveTo>
                  <a:lnTo>
                    <a:pt x="10241280" y="0"/>
                  </a:lnTo>
                  <a:lnTo>
                    <a:pt x="10241280" y="1755648"/>
                  </a:lnTo>
                  <a:lnTo>
                    <a:pt x="0" y="1755648"/>
                  </a:lnTo>
                  <a:close/>
                </a:path>
              </a:pathLst>
            </a:custGeom>
            <a:blipFill>
              <a:blip r:embed="rId2">
                <a:alphaModFix amt="0"/>
              </a:blip>
              <a:stretch>
                <a:fillRect l="0" t="-63662" r="0" b="-63662"/>
              </a:stretch>
            </a:blipFill>
          </p:spPr>
        </p:sp>
        <p:sp>
          <p:nvSpPr>
            <p:cNvPr name="TextBox 67" id="67"/>
            <p:cNvSpPr txBox="true"/>
            <p:nvPr/>
          </p:nvSpPr>
          <p:spPr>
            <a:xfrm>
              <a:off x="0" y="-47625"/>
              <a:ext cx="1024128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Nombre total de triplets dans le dataset.</a:t>
              </a:r>
            </a:p>
          </p:txBody>
        </p:sp>
      </p:grpSp>
      <p:grpSp>
        <p:nvGrpSpPr>
          <p:cNvPr name="Group 68" id="68"/>
          <p:cNvGrpSpPr/>
          <p:nvPr/>
        </p:nvGrpSpPr>
        <p:grpSpPr>
          <a:xfrm rot="0">
            <a:off x="718823" y="7083047"/>
            <a:ext cx="8255003" cy="2256539"/>
            <a:chOff x="0" y="0"/>
            <a:chExt cx="11006671" cy="3008719"/>
          </a:xfrm>
        </p:grpSpPr>
        <p:sp>
          <p:nvSpPr>
            <p:cNvPr name="Freeform 69" id="69"/>
            <p:cNvSpPr/>
            <p:nvPr/>
          </p:nvSpPr>
          <p:spPr>
            <a:xfrm flipH="false" flipV="false" rot="0">
              <a:off x="16891" y="16891"/>
              <a:ext cx="10972800" cy="2974848"/>
            </a:xfrm>
            <a:custGeom>
              <a:avLst/>
              <a:gdLst/>
              <a:ahLst/>
              <a:cxnLst/>
              <a:rect r="r" b="b" t="t" l="l"/>
              <a:pathLst>
                <a:path h="2974848" w="10972800">
                  <a:moveTo>
                    <a:pt x="0" y="0"/>
                  </a:moveTo>
                  <a:lnTo>
                    <a:pt x="10972800" y="0"/>
                  </a:lnTo>
                  <a:lnTo>
                    <a:pt x="10972800" y="2974848"/>
                  </a:lnTo>
                  <a:lnTo>
                    <a:pt x="0" y="2974848"/>
                  </a:lnTo>
                  <a:close/>
                </a:path>
              </a:pathLst>
            </a:custGeom>
            <a:solidFill>
              <a:srgbClr val="F5F3FF"/>
            </a:solidFill>
          </p:spPr>
        </p:sp>
        <p:sp>
          <p:nvSpPr>
            <p:cNvPr name="Freeform 70" id="70"/>
            <p:cNvSpPr/>
            <p:nvPr/>
          </p:nvSpPr>
          <p:spPr>
            <a:xfrm flipH="false" flipV="false" rot="0">
              <a:off x="0" y="0"/>
              <a:ext cx="11006582" cy="3008630"/>
            </a:xfrm>
            <a:custGeom>
              <a:avLst/>
              <a:gdLst/>
              <a:ahLst/>
              <a:cxnLst/>
              <a:rect r="r" b="b" t="t" l="l"/>
              <a:pathLst>
                <a:path h="3008630" w="11006582">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7C3AED"/>
            </a:solidFill>
          </p:spPr>
        </p:sp>
      </p:grpSp>
      <p:grpSp>
        <p:nvGrpSpPr>
          <p:cNvPr name="Group 71" id="71"/>
          <p:cNvGrpSpPr/>
          <p:nvPr/>
        </p:nvGrpSpPr>
        <p:grpSpPr>
          <a:xfrm rot="0">
            <a:off x="718823" y="7083047"/>
            <a:ext cx="135131" cy="2256539"/>
            <a:chOff x="0" y="0"/>
            <a:chExt cx="180175" cy="3008719"/>
          </a:xfrm>
        </p:grpSpPr>
        <p:sp>
          <p:nvSpPr>
            <p:cNvPr name="Freeform 72" id="72"/>
            <p:cNvSpPr/>
            <p:nvPr/>
          </p:nvSpPr>
          <p:spPr>
            <a:xfrm flipH="false" flipV="false" rot="0">
              <a:off x="16891" y="16891"/>
              <a:ext cx="146304" cy="2974848"/>
            </a:xfrm>
            <a:custGeom>
              <a:avLst/>
              <a:gdLst/>
              <a:ahLst/>
              <a:cxnLst/>
              <a:rect r="r" b="b" t="t" l="l"/>
              <a:pathLst>
                <a:path h="2974848" w="146304">
                  <a:moveTo>
                    <a:pt x="0" y="0"/>
                  </a:moveTo>
                  <a:lnTo>
                    <a:pt x="146304" y="0"/>
                  </a:lnTo>
                  <a:lnTo>
                    <a:pt x="146304" y="2974848"/>
                  </a:lnTo>
                  <a:lnTo>
                    <a:pt x="0" y="2974848"/>
                  </a:lnTo>
                  <a:close/>
                </a:path>
              </a:pathLst>
            </a:custGeom>
            <a:solidFill>
              <a:srgbClr val="7C3AED"/>
            </a:solidFill>
          </p:spPr>
        </p:sp>
        <p:sp>
          <p:nvSpPr>
            <p:cNvPr name="Freeform 73" id="73"/>
            <p:cNvSpPr/>
            <p:nvPr/>
          </p:nvSpPr>
          <p:spPr>
            <a:xfrm flipH="false" flipV="false" rot="0">
              <a:off x="0" y="0"/>
              <a:ext cx="180086" cy="3008630"/>
            </a:xfrm>
            <a:custGeom>
              <a:avLst/>
              <a:gdLst/>
              <a:ahLst/>
              <a:cxnLst/>
              <a:rect r="r" b="b" t="t" l="l"/>
              <a:pathLst>
                <a:path h="3008630" w="180086">
                  <a:moveTo>
                    <a:pt x="16891" y="0"/>
                  </a:moveTo>
                  <a:lnTo>
                    <a:pt x="163195" y="0"/>
                  </a:lnTo>
                  <a:cubicBezTo>
                    <a:pt x="172593" y="0"/>
                    <a:pt x="180086" y="7620"/>
                    <a:pt x="180086" y="16891"/>
                  </a:cubicBezTo>
                  <a:lnTo>
                    <a:pt x="180086" y="2991739"/>
                  </a:lnTo>
                  <a:cubicBezTo>
                    <a:pt x="180086" y="3001137"/>
                    <a:pt x="172466" y="3008630"/>
                    <a:pt x="163195"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63195" y="2974848"/>
                  </a:lnTo>
                  <a:lnTo>
                    <a:pt x="163195" y="2991739"/>
                  </a:lnTo>
                  <a:lnTo>
                    <a:pt x="146304" y="2991739"/>
                  </a:lnTo>
                  <a:lnTo>
                    <a:pt x="146304" y="16891"/>
                  </a:lnTo>
                  <a:lnTo>
                    <a:pt x="163195" y="16891"/>
                  </a:lnTo>
                  <a:lnTo>
                    <a:pt x="163195" y="33909"/>
                  </a:lnTo>
                  <a:lnTo>
                    <a:pt x="16891" y="33909"/>
                  </a:lnTo>
                  <a:close/>
                </a:path>
              </a:pathLst>
            </a:custGeom>
            <a:solidFill>
              <a:srgbClr val="7C3AED"/>
            </a:solidFill>
          </p:spPr>
        </p:sp>
      </p:grpSp>
      <p:grpSp>
        <p:nvGrpSpPr>
          <p:cNvPr name="Group 74" id="74"/>
          <p:cNvGrpSpPr/>
          <p:nvPr/>
        </p:nvGrpSpPr>
        <p:grpSpPr>
          <a:xfrm rot="0">
            <a:off x="1005840" y="7223760"/>
            <a:ext cx="7680960" cy="621792"/>
            <a:chOff x="0" y="0"/>
            <a:chExt cx="10241280" cy="829056"/>
          </a:xfrm>
        </p:grpSpPr>
        <p:sp>
          <p:nvSpPr>
            <p:cNvPr name="Freeform 75" id="75"/>
            <p:cNvSpPr/>
            <p:nvPr/>
          </p:nvSpPr>
          <p:spPr>
            <a:xfrm flipH="false" flipV="false" rot="0">
              <a:off x="0" y="0"/>
              <a:ext cx="10241280" cy="829056"/>
            </a:xfrm>
            <a:custGeom>
              <a:avLst/>
              <a:gdLst/>
              <a:ahLst/>
              <a:cxnLst/>
              <a:rect r="r" b="b" t="t" l="l"/>
              <a:pathLst>
                <a:path h="829056" w="10241280">
                  <a:moveTo>
                    <a:pt x="0" y="0"/>
                  </a:moveTo>
                  <a:lnTo>
                    <a:pt x="10241280" y="0"/>
                  </a:lnTo>
                  <a:lnTo>
                    <a:pt x="10241280" y="829056"/>
                  </a:lnTo>
                  <a:lnTo>
                    <a:pt x="0" y="829056"/>
                  </a:lnTo>
                  <a:close/>
                </a:path>
              </a:pathLst>
            </a:custGeom>
            <a:blipFill>
              <a:blip r:embed="rId2">
                <a:alphaModFix amt="0"/>
              </a:blip>
              <a:stretch>
                <a:fillRect l="0" t="-190697" r="0" b="-190697"/>
              </a:stretch>
            </a:blipFill>
          </p:spPr>
        </p:sp>
        <p:sp>
          <p:nvSpPr>
            <p:cNvPr name="TextBox 76" id="76"/>
            <p:cNvSpPr txBox="true"/>
            <p:nvPr/>
          </p:nvSpPr>
          <p:spPr>
            <a:xfrm>
              <a:off x="0" y="-47625"/>
              <a:ext cx="10241280" cy="876681"/>
            </a:xfrm>
            <a:prstGeom prst="rect">
              <a:avLst/>
            </a:prstGeom>
          </p:spPr>
          <p:txBody>
            <a:bodyPr anchor="ctr" rtlCol="false" tIns="0" lIns="0" bIns="0" rIns="0"/>
            <a:lstStyle/>
            <a:p>
              <a:pPr algn="l">
                <a:lnSpc>
                  <a:spcPts val="2640"/>
                </a:lnSpc>
              </a:pPr>
              <a:r>
                <a:rPr lang="en-US" sz="2200" b="true">
                  <a:solidFill>
                    <a:srgbClr val="7C3AED"/>
                  </a:solidFill>
                  <a:latin typeface="Calibri (MS) Bold"/>
                  <a:ea typeface="Calibri (MS) Bold"/>
                  <a:cs typeface="Calibri (MS) Bold"/>
                  <a:sym typeface="Calibri (MS) Bold"/>
                </a:rPr>
                <a:t>📐  void:classes</a:t>
              </a:r>
            </a:p>
          </p:txBody>
        </p:sp>
      </p:grpSp>
      <p:grpSp>
        <p:nvGrpSpPr>
          <p:cNvPr name="Group 77" id="77"/>
          <p:cNvGrpSpPr/>
          <p:nvPr/>
        </p:nvGrpSpPr>
        <p:grpSpPr>
          <a:xfrm rot="0">
            <a:off x="1005840" y="7863840"/>
            <a:ext cx="7680960" cy="1316736"/>
            <a:chOff x="0" y="0"/>
            <a:chExt cx="10241280" cy="1755648"/>
          </a:xfrm>
        </p:grpSpPr>
        <p:sp>
          <p:nvSpPr>
            <p:cNvPr name="Freeform 78" id="78"/>
            <p:cNvSpPr/>
            <p:nvPr/>
          </p:nvSpPr>
          <p:spPr>
            <a:xfrm flipH="false" flipV="false" rot="0">
              <a:off x="0" y="0"/>
              <a:ext cx="10241280" cy="1755648"/>
            </a:xfrm>
            <a:custGeom>
              <a:avLst/>
              <a:gdLst/>
              <a:ahLst/>
              <a:cxnLst/>
              <a:rect r="r" b="b" t="t" l="l"/>
              <a:pathLst>
                <a:path h="1755648" w="10241280">
                  <a:moveTo>
                    <a:pt x="0" y="0"/>
                  </a:moveTo>
                  <a:lnTo>
                    <a:pt x="10241280" y="0"/>
                  </a:lnTo>
                  <a:lnTo>
                    <a:pt x="10241280" y="1755648"/>
                  </a:lnTo>
                  <a:lnTo>
                    <a:pt x="0" y="1755648"/>
                  </a:lnTo>
                  <a:close/>
                </a:path>
              </a:pathLst>
            </a:custGeom>
            <a:blipFill>
              <a:blip r:embed="rId2">
                <a:alphaModFix amt="0"/>
              </a:blip>
              <a:stretch>
                <a:fillRect l="0" t="-63662" r="0" b="-63662"/>
              </a:stretch>
            </a:blipFill>
          </p:spPr>
        </p:sp>
        <p:sp>
          <p:nvSpPr>
            <p:cNvPr name="TextBox 79" id="79"/>
            <p:cNvSpPr txBox="true"/>
            <p:nvPr/>
          </p:nvSpPr>
          <p:spPr>
            <a:xfrm>
              <a:off x="0" y="-47625"/>
              <a:ext cx="1024128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Nombre de classes distinctes utilisées dans le dataset.</a:t>
              </a:r>
            </a:p>
          </p:txBody>
        </p:sp>
      </p:grpSp>
      <p:grpSp>
        <p:nvGrpSpPr>
          <p:cNvPr name="Group 80" id="80"/>
          <p:cNvGrpSpPr/>
          <p:nvPr/>
        </p:nvGrpSpPr>
        <p:grpSpPr>
          <a:xfrm rot="0">
            <a:off x="9588503" y="7083047"/>
            <a:ext cx="8255003" cy="2256539"/>
            <a:chOff x="0" y="0"/>
            <a:chExt cx="11006671" cy="3008719"/>
          </a:xfrm>
        </p:grpSpPr>
        <p:sp>
          <p:nvSpPr>
            <p:cNvPr name="Freeform 81" id="81"/>
            <p:cNvSpPr/>
            <p:nvPr/>
          </p:nvSpPr>
          <p:spPr>
            <a:xfrm flipH="false" flipV="false" rot="0">
              <a:off x="16891" y="16891"/>
              <a:ext cx="10972800" cy="2974848"/>
            </a:xfrm>
            <a:custGeom>
              <a:avLst/>
              <a:gdLst/>
              <a:ahLst/>
              <a:cxnLst/>
              <a:rect r="r" b="b" t="t" l="l"/>
              <a:pathLst>
                <a:path h="2974848" w="10972800">
                  <a:moveTo>
                    <a:pt x="0" y="0"/>
                  </a:moveTo>
                  <a:lnTo>
                    <a:pt x="10972800" y="0"/>
                  </a:lnTo>
                  <a:lnTo>
                    <a:pt x="10972800" y="2974848"/>
                  </a:lnTo>
                  <a:lnTo>
                    <a:pt x="0" y="2974848"/>
                  </a:lnTo>
                  <a:close/>
                </a:path>
              </a:pathLst>
            </a:custGeom>
            <a:solidFill>
              <a:srgbClr val="F5F3FF"/>
            </a:solidFill>
          </p:spPr>
        </p:sp>
        <p:sp>
          <p:nvSpPr>
            <p:cNvPr name="Freeform 82" id="82"/>
            <p:cNvSpPr/>
            <p:nvPr/>
          </p:nvSpPr>
          <p:spPr>
            <a:xfrm flipH="false" flipV="false" rot="0">
              <a:off x="0" y="0"/>
              <a:ext cx="11006582" cy="3008630"/>
            </a:xfrm>
            <a:custGeom>
              <a:avLst/>
              <a:gdLst/>
              <a:ahLst/>
              <a:cxnLst/>
              <a:rect r="r" b="b" t="t" l="l"/>
              <a:pathLst>
                <a:path h="3008630" w="11006582">
                  <a:moveTo>
                    <a:pt x="16891" y="0"/>
                  </a:moveTo>
                  <a:lnTo>
                    <a:pt x="10989691" y="0"/>
                  </a:lnTo>
                  <a:cubicBezTo>
                    <a:pt x="10999089" y="0"/>
                    <a:pt x="11006582" y="7620"/>
                    <a:pt x="11006582" y="16891"/>
                  </a:cubicBezTo>
                  <a:lnTo>
                    <a:pt x="11006582" y="2991739"/>
                  </a:lnTo>
                  <a:cubicBezTo>
                    <a:pt x="11006582" y="3001137"/>
                    <a:pt x="10998962" y="3008630"/>
                    <a:pt x="10989691"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0989691" y="2974848"/>
                  </a:lnTo>
                  <a:lnTo>
                    <a:pt x="10989691" y="2991739"/>
                  </a:lnTo>
                  <a:lnTo>
                    <a:pt x="10972800" y="2991739"/>
                  </a:lnTo>
                  <a:lnTo>
                    <a:pt x="10972800" y="16891"/>
                  </a:lnTo>
                  <a:lnTo>
                    <a:pt x="10989691" y="16891"/>
                  </a:lnTo>
                  <a:lnTo>
                    <a:pt x="10989691" y="33909"/>
                  </a:lnTo>
                  <a:lnTo>
                    <a:pt x="16891" y="33909"/>
                  </a:lnTo>
                  <a:close/>
                </a:path>
              </a:pathLst>
            </a:custGeom>
            <a:solidFill>
              <a:srgbClr val="7C3AED"/>
            </a:solidFill>
          </p:spPr>
        </p:sp>
      </p:grpSp>
      <p:grpSp>
        <p:nvGrpSpPr>
          <p:cNvPr name="Group 83" id="83"/>
          <p:cNvGrpSpPr/>
          <p:nvPr/>
        </p:nvGrpSpPr>
        <p:grpSpPr>
          <a:xfrm rot="0">
            <a:off x="9588503" y="7083047"/>
            <a:ext cx="135131" cy="2256539"/>
            <a:chOff x="0" y="0"/>
            <a:chExt cx="180175" cy="3008719"/>
          </a:xfrm>
        </p:grpSpPr>
        <p:sp>
          <p:nvSpPr>
            <p:cNvPr name="Freeform 84" id="84"/>
            <p:cNvSpPr/>
            <p:nvPr/>
          </p:nvSpPr>
          <p:spPr>
            <a:xfrm flipH="false" flipV="false" rot="0">
              <a:off x="16891" y="16891"/>
              <a:ext cx="146304" cy="2974848"/>
            </a:xfrm>
            <a:custGeom>
              <a:avLst/>
              <a:gdLst/>
              <a:ahLst/>
              <a:cxnLst/>
              <a:rect r="r" b="b" t="t" l="l"/>
              <a:pathLst>
                <a:path h="2974848" w="146304">
                  <a:moveTo>
                    <a:pt x="0" y="0"/>
                  </a:moveTo>
                  <a:lnTo>
                    <a:pt x="146304" y="0"/>
                  </a:lnTo>
                  <a:lnTo>
                    <a:pt x="146304" y="2974848"/>
                  </a:lnTo>
                  <a:lnTo>
                    <a:pt x="0" y="2974848"/>
                  </a:lnTo>
                  <a:close/>
                </a:path>
              </a:pathLst>
            </a:custGeom>
            <a:solidFill>
              <a:srgbClr val="7C3AED"/>
            </a:solidFill>
          </p:spPr>
        </p:sp>
        <p:sp>
          <p:nvSpPr>
            <p:cNvPr name="Freeform 85" id="85"/>
            <p:cNvSpPr/>
            <p:nvPr/>
          </p:nvSpPr>
          <p:spPr>
            <a:xfrm flipH="false" flipV="false" rot="0">
              <a:off x="0" y="0"/>
              <a:ext cx="180086" cy="3008630"/>
            </a:xfrm>
            <a:custGeom>
              <a:avLst/>
              <a:gdLst/>
              <a:ahLst/>
              <a:cxnLst/>
              <a:rect r="r" b="b" t="t" l="l"/>
              <a:pathLst>
                <a:path h="3008630" w="180086">
                  <a:moveTo>
                    <a:pt x="16891" y="0"/>
                  </a:moveTo>
                  <a:lnTo>
                    <a:pt x="163195" y="0"/>
                  </a:lnTo>
                  <a:cubicBezTo>
                    <a:pt x="172593" y="0"/>
                    <a:pt x="180086" y="7620"/>
                    <a:pt x="180086" y="16891"/>
                  </a:cubicBezTo>
                  <a:lnTo>
                    <a:pt x="180086" y="2991739"/>
                  </a:lnTo>
                  <a:cubicBezTo>
                    <a:pt x="180086" y="3001137"/>
                    <a:pt x="172466" y="3008630"/>
                    <a:pt x="163195" y="3008630"/>
                  </a:cubicBezTo>
                  <a:lnTo>
                    <a:pt x="16891" y="3008630"/>
                  </a:lnTo>
                  <a:cubicBezTo>
                    <a:pt x="7493" y="3008630"/>
                    <a:pt x="0" y="3001010"/>
                    <a:pt x="0" y="2991739"/>
                  </a:cubicBezTo>
                  <a:lnTo>
                    <a:pt x="0" y="16891"/>
                  </a:lnTo>
                  <a:cubicBezTo>
                    <a:pt x="0" y="7620"/>
                    <a:pt x="7620" y="0"/>
                    <a:pt x="16891" y="0"/>
                  </a:cubicBezTo>
                  <a:moveTo>
                    <a:pt x="16891" y="33909"/>
                  </a:moveTo>
                  <a:lnTo>
                    <a:pt x="16891" y="16891"/>
                  </a:lnTo>
                  <a:lnTo>
                    <a:pt x="33909" y="16891"/>
                  </a:lnTo>
                  <a:lnTo>
                    <a:pt x="33909" y="2991739"/>
                  </a:lnTo>
                  <a:lnTo>
                    <a:pt x="16891" y="2991739"/>
                  </a:lnTo>
                  <a:lnTo>
                    <a:pt x="16891" y="2974848"/>
                  </a:lnTo>
                  <a:lnTo>
                    <a:pt x="163195" y="2974848"/>
                  </a:lnTo>
                  <a:lnTo>
                    <a:pt x="163195" y="2991739"/>
                  </a:lnTo>
                  <a:lnTo>
                    <a:pt x="146304" y="2991739"/>
                  </a:lnTo>
                  <a:lnTo>
                    <a:pt x="146304" y="16891"/>
                  </a:lnTo>
                  <a:lnTo>
                    <a:pt x="163195" y="16891"/>
                  </a:lnTo>
                  <a:lnTo>
                    <a:pt x="163195" y="33909"/>
                  </a:lnTo>
                  <a:lnTo>
                    <a:pt x="16891" y="33909"/>
                  </a:lnTo>
                  <a:close/>
                </a:path>
              </a:pathLst>
            </a:custGeom>
            <a:solidFill>
              <a:srgbClr val="7C3AED"/>
            </a:solidFill>
          </p:spPr>
        </p:sp>
      </p:grpSp>
      <p:grpSp>
        <p:nvGrpSpPr>
          <p:cNvPr name="Group 86" id="86"/>
          <p:cNvGrpSpPr/>
          <p:nvPr/>
        </p:nvGrpSpPr>
        <p:grpSpPr>
          <a:xfrm rot="0">
            <a:off x="9875520" y="7223760"/>
            <a:ext cx="7680960" cy="621792"/>
            <a:chOff x="0" y="0"/>
            <a:chExt cx="10241280" cy="829056"/>
          </a:xfrm>
        </p:grpSpPr>
        <p:sp>
          <p:nvSpPr>
            <p:cNvPr name="Freeform 87" id="87"/>
            <p:cNvSpPr/>
            <p:nvPr/>
          </p:nvSpPr>
          <p:spPr>
            <a:xfrm flipH="false" flipV="false" rot="0">
              <a:off x="0" y="0"/>
              <a:ext cx="10241280" cy="829056"/>
            </a:xfrm>
            <a:custGeom>
              <a:avLst/>
              <a:gdLst/>
              <a:ahLst/>
              <a:cxnLst/>
              <a:rect r="r" b="b" t="t" l="l"/>
              <a:pathLst>
                <a:path h="829056" w="10241280">
                  <a:moveTo>
                    <a:pt x="0" y="0"/>
                  </a:moveTo>
                  <a:lnTo>
                    <a:pt x="10241280" y="0"/>
                  </a:lnTo>
                  <a:lnTo>
                    <a:pt x="10241280" y="829056"/>
                  </a:lnTo>
                  <a:lnTo>
                    <a:pt x="0" y="829056"/>
                  </a:lnTo>
                  <a:close/>
                </a:path>
              </a:pathLst>
            </a:custGeom>
            <a:blipFill>
              <a:blip r:embed="rId2">
                <a:alphaModFix amt="0"/>
              </a:blip>
              <a:stretch>
                <a:fillRect l="0" t="-190697" r="0" b="-190697"/>
              </a:stretch>
            </a:blipFill>
          </p:spPr>
        </p:sp>
        <p:sp>
          <p:nvSpPr>
            <p:cNvPr name="TextBox 88" id="88"/>
            <p:cNvSpPr txBox="true"/>
            <p:nvPr/>
          </p:nvSpPr>
          <p:spPr>
            <a:xfrm>
              <a:off x="0" y="-47625"/>
              <a:ext cx="10241280" cy="876681"/>
            </a:xfrm>
            <a:prstGeom prst="rect">
              <a:avLst/>
            </a:prstGeom>
          </p:spPr>
          <p:txBody>
            <a:bodyPr anchor="ctr" rtlCol="false" tIns="0" lIns="0" bIns="0" rIns="0"/>
            <a:lstStyle/>
            <a:p>
              <a:pPr algn="l">
                <a:lnSpc>
                  <a:spcPts val="2640"/>
                </a:lnSpc>
              </a:pPr>
              <a:r>
                <a:rPr lang="en-US" sz="2200" b="true">
                  <a:solidFill>
                    <a:srgbClr val="7C3AED"/>
                  </a:solidFill>
                  <a:latin typeface="Calibri (MS) Bold"/>
                  <a:ea typeface="Calibri (MS) Bold"/>
                  <a:cs typeface="Calibri (MS) Bold"/>
                  <a:sym typeface="Calibri (MS) Bold"/>
                </a:rPr>
                <a:t>🏷️  void:entities</a:t>
              </a:r>
            </a:p>
          </p:txBody>
        </p:sp>
      </p:grpSp>
      <p:grpSp>
        <p:nvGrpSpPr>
          <p:cNvPr name="Group 89" id="89"/>
          <p:cNvGrpSpPr/>
          <p:nvPr/>
        </p:nvGrpSpPr>
        <p:grpSpPr>
          <a:xfrm rot="0">
            <a:off x="9875520" y="7863840"/>
            <a:ext cx="7680960" cy="1316736"/>
            <a:chOff x="0" y="0"/>
            <a:chExt cx="10241280" cy="1755648"/>
          </a:xfrm>
        </p:grpSpPr>
        <p:sp>
          <p:nvSpPr>
            <p:cNvPr name="Freeform 90" id="90"/>
            <p:cNvSpPr/>
            <p:nvPr/>
          </p:nvSpPr>
          <p:spPr>
            <a:xfrm flipH="false" flipV="false" rot="0">
              <a:off x="0" y="0"/>
              <a:ext cx="10241280" cy="1755648"/>
            </a:xfrm>
            <a:custGeom>
              <a:avLst/>
              <a:gdLst/>
              <a:ahLst/>
              <a:cxnLst/>
              <a:rect r="r" b="b" t="t" l="l"/>
              <a:pathLst>
                <a:path h="1755648" w="10241280">
                  <a:moveTo>
                    <a:pt x="0" y="0"/>
                  </a:moveTo>
                  <a:lnTo>
                    <a:pt x="10241280" y="0"/>
                  </a:lnTo>
                  <a:lnTo>
                    <a:pt x="10241280" y="1755648"/>
                  </a:lnTo>
                  <a:lnTo>
                    <a:pt x="0" y="1755648"/>
                  </a:lnTo>
                  <a:close/>
                </a:path>
              </a:pathLst>
            </a:custGeom>
            <a:blipFill>
              <a:blip r:embed="rId2">
                <a:alphaModFix amt="0"/>
              </a:blip>
              <a:stretch>
                <a:fillRect l="0" t="-63662" r="0" b="-63662"/>
              </a:stretch>
            </a:blipFill>
          </p:spPr>
        </p:sp>
        <p:sp>
          <p:nvSpPr>
            <p:cNvPr name="TextBox 91" id="91"/>
            <p:cNvSpPr txBox="true"/>
            <p:nvPr/>
          </p:nvSpPr>
          <p:spPr>
            <a:xfrm>
              <a:off x="0" y="-47625"/>
              <a:ext cx="10241280" cy="1803273"/>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Nombre d'entités (sujets URI) dans le dataset.</a:t>
              </a:r>
            </a:p>
          </p:txBody>
        </p:sp>
      </p:grpSp>
      <p:grpSp>
        <p:nvGrpSpPr>
          <p:cNvPr name="Group 92" id="92"/>
          <p:cNvGrpSpPr/>
          <p:nvPr/>
        </p:nvGrpSpPr>
        <p:grpSpPr>
          <a:xfrm rot="0">
            <a:off x="-6353" y="9727187"/>
            <a:ext cx="18300697" cy="552193"/>
            <a:chOff x="0" y="0"/>
            <a:chExt cx="24400929" cy="736257"/>
          </a:xfrm>
        </p:grpSpPr>
        <p:sp>
          <p:nvSpPr>
            <p:cNvPr name="Freeform 93" id="93"/>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94" id="94"/>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95" id="95"/>
          <p:cNvGrpSpPr/>
          <p:nvPr/>
        </p:nvGrpSpPr>
        <p:grpSpPr>
          <a:xfrm rot="0">
            <a:off x="15910560" y="9747504"/>
            <a:ext cx="2011680" cy="539496"/>
            <a:chOff x="0" y="0"/>
            <a:chExt cx="2682240" cy="719328"/>
          </a:xfrm>
        </p:grpSpPr>
        <p:sp>
          <p:nvSpPr>
            <p:cNvPr name="Freeform 96" id="96"/>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97" id="97"/>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9 / 18</a:t>
              </a:r>
            </a:p>
          </p:txBody>
        </p:sp>
      </p:grpSp>
      <p:grpSp>
        <p:nvGrpSpPr>
          <p:cNvPr name="Group 98" id="98"/>
          <p:cNvGrpSpPr/>
          <p:nvPr/>
        </p:nvGrpSpPr>
        <p:grpSpPr>
          <a:xfrm rot="0">
            <a:off x="548640" y="9747504"/>
            <a:ext cx="10972800" cy="539496"/>
            <a:chOff x="0" y="0"/>
            <a:chExt cx="14630400" cy="719328"/>
          </a:xfrm>
        </p:grpSpPr>
        <p:sp>
          <p:nvSpPr>
            <p:cNvPr name="Freeform 99" id="99"/>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100" id="100"/>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VoID</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7C3AED"/>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7C3AED"/>
            </a:solidFill>
          </p:spPr>
        </p:sp>
      </p:grpSp>
      <p:grpSp>
        <p:nvGrpSpPr>
          <p:cNvPr name="Group 5" id="5"/>
          <p:cNvGrpSpPr/>
          <p:nvPr/>
        </p:nvGrpSpPr>
        <p:grpSpPr>
          <a:xfrm rot="0">
            <a:off x="15532103" y="170183"/>
            <a:ext cx="2585723" cy="793499"/>
            <a:chOff x="0" y="0"/>
            <a:chExt cx="3447631" cy="1057999"/>
          </a:xfrm>
        </p:grpSpPr>
        <p:sp>
          <p:nvSpPr>
            <p:cNvPr name="Freeform 6" id="6"/>
            <p:cNvSpPr/>
            <p:nvPr/>
          </p:nvSpPr>
          <p:spPr>
            <a:xfrm flipH="false" flipV="false" rot="0">
              <a:off x="16891" y="16891"/>
              <a:ext cx="3413760" cy="1024128"/>
            </a:xfrm>
            <a:custGeom>
              <a:avLst/>
              <a:gdLst/>
              <a:ahLst/>
              <a:cxnLst/>
              <a:rect r="r" b="b" t="t" l="l"/>
              <a:pathLst>
                <a:path h="1024128" w="3413760">
                  <a:moveTo>
                    <a:pt x="0" y="0"/>
                  </a:moveTo>
                  <a:lnTo>
                    <a:pt x="3413760" y="0"/>
                  </a:lnTo>
                  <a:lnTo>
                    <a:pt x="3413760" y="1024128"/>
                  </a:lnTo>
                  <a:lnTo>
                    <a:pt x="0" y="1024128"/>
                  </a:lnTo>
                  <a:close/>
                </a:path>
              </a:pathLst>
            </a:custGeom>
            <a:solidFill>
              <a:srgbClr val="7C3AED"/>
            </a:solidFill>
          </p:spPr>
        </p:sp>
        <p:sp>
          <p:nvSpPr>
            <p:cNvPr name="Freeform 7" id="7"/>
            <p:cNvSpPr/>
            <p:nvPr/>
          </p:nvSpPr>
          <p:spPr>
            <a:xfrm flipH="false" flipV="false" rot="0">
              <a:off x="0" y="0"/>
              <a:ext cx="3447542" cy="1057912"/>
            </a:xfrm>
            <a:custGeom>
              <a:avLst/>
              <a:gdLst/>
              <a:ahLst/>
              <a:cxnLst/>
              <a:rect r="r" b="b" t="t" l="l"/>
              <a:pathLst>
                <a:path h="1057912" w="3447542">
                  <a:moveTo>
                    <a:pt x="16891" y="0"/>
                  </a:moveTo>
                  <a:lnTo>
                    <a:pt x="3430651" y="0"/>
                  </a:lnTo>
                  <a:cubicBezTo>
                    <a:pt x="3440049" y="0"/>
                    <a:pt x="3447542" y="7620"/>
                    <a:pt x="3447542" y="16891"/>
                  </a:cubicBezTo>
                  <a:lnTo>
                    <a:pt x="3447542" y="1041019"/>
                  </a:lnTo>
                  <a:cubicBezTo>
                    <a:pt x="3447542" y="1050417"/>
                    <a:pt x="3439922" y="1057910"/>
                    <a:pt x="343065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430651" y="1024128"/>
                  </a:lnTo>
                  <a:lnTo>
                    <a:pt x="3430651" y="1041019"/>
                  </a:lnTo>
                  <a:lnTo>
                    <a:pt x="3413760" y="1041019"/>
                  </a:lnTo>
                  <a:lnTo>
                    <a:pt x="3413760" y="16891"/>
                  </a:lnTo>
                  <a:lnTo>
                    <a:pt x="3430651" y="16891"/>
                  </a:lnTo>
                  <a:lnTo>
                    <a:pt x="3430651" y="33909"/>
                  </a:lnTo>
                  <a:lnTo>
                    <a:pt x="16891" y="33909"/>
                  </a:lnTo>
                  <a:close/>
                </a:path>
              </a:pathLst>
            </a:custGeom>
            <a:solidFill>
              <a:srgbClr val="7C3AED"/>
            </a:solidFill>
          </p:spPr>
        </p:sp>
      </p:grpSp>
      <p:grpSp>
        <p:nvGrpSpPr>
          <p:cNvPr name="Group 8" id="8"/>
          <p:cNvGrpSpPr/>
          <p:nvPr/>
        </p:nvGrpSpPr>
        <p:grpSpPr>
          <a:xfrm rot="0">
            <a:off x="15544800" y="182880"/>
            <a:ext cx="2560320" cy="768096"/>
            <a:chOff x="0" y="0"/>
            <a:chExt cx="3413760" cy="1024128"/>
          </a:xfrm>
        </p:grpSpPr>
        <p:sp>
          <p:nvSpPr>
            <p:cNvPr name="Freeform 9" id="9"/>
            <p:cNvSpPr/>
            <p:nvPr/>
          </p:nvSpPr>
          <p:spPr>
            <a:xfrm flipH="false" flipV="false" rot="0">
              <a:off x="0" y="0"/>
              <a:ext cx="3413760" cy="1024128"/>
            </a:xfrm>
            <a:custGeom>
              <a:avLst/>
              <a:gdLst/>
              <a:ahLst/>
              <a:cxnLst/>
              <a:rect r="r" b="b" t="t" l="l"/>
              <a:pathLst>
                <a:path h="1024128" w="3413760">
                  <a:moveTo>
                    <a:pt x="0" y="0"/>
                  </a:moveTo>
                  <a:lnTo>
                    <a:pt x="3413760" y="0"/>
                  </a:lnTo>
                  <a:lnTo>
                    <a:pt x="3413760" y="1024128"/>
                  </a:lnTo>
                  <a:lnTo>
                    <a:pt x="0" y="1024128"/>
                  </a:lnTo>
                  <a:close/>
                </a:path>
              </a:pathLst>
            </a:custGeom>
            <a:blipFill>
              <a:blip r:embed="rId2">
                <a:alphaModFix amt="0"/>
              </a:blip>
              <a:stretch>
                <a:fillRect l="0" t="-14950" r="0" b="-14950"/>
              </a:stretch>
            </a:blipFill>
          </p:spPr>
        </p:sp>
        <p:sp>
          <p:nvSpPr>
            <p:cNvPr name="TextBox 10" id="10"/>
            <p:cNvSpPr txBox="true"/>
            <p:nvPr/>
          </p:nvSpPr>
          <p:spPr>
            <a:xfrm>
              <a:off x="0" y="-38100"/>
              <a:ext cx="3413760" cy="106222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VoID  3/3</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7C3AED"/>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7C3AED"/>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VoID — Requête SPARQL de Découverte</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38100"/>
              <a:ext cx="21945600" cy="720852"/>
            </a:xfrm>
            <a:prstGeom prst="rect">
              <a:avLst/>
            </a:prstGeom>
          </p:spPr>
          <p:txBody>
            <a:bodyPr anchor="ctr" rtlCol="false" tIns="0" lIns="0" bIns="0" rIns="0"/>
            <a:lstStyle/>
            <a:p>
              <a:pPr algn="l">
                <a:lnSpc>
                  <a:spcPts val="2879"/>
                </a:lnSpc>
              </a:pPr>
              <a:r>
                <a:rPr lang="en-US" sz="2400" i="true">
                  <a:solidFill>
                    <a:srgbClr val="64748B"/>
                  </a:solidFill>
                  <a:latin typeface="Calibri (MS) Italics"/>
                  <a:ea typeface="Calibri (MS) Italics"/>
                  <a:cs typeface="Calibri (MS) Italics"/>
                  <a:sym typeface="Calibri (MS) Italics"/>
                </a:rPr>
                <a:t>Cas réel : LOD Cloud — cartographie des datasets interconnectés</a:t>
              </a:r>
            </a:p>
          </p:txBody>
        </p:sp>
      </p:grpSp>
      <p:grpSp>
        <p:nvGrpSpPr>
          <p:cNvPr name="Group 20" id="20"/>
          <p:cNvGrpSpPr/>
          <p:nvPr/>
        </p:nvGrpSpPr>
        <p:grpSpPr>
          <a:xfrm rot="0">
            <a:off x="718823" y="1998983"/>
            <a:ext cx="16850363" cy="976379"/>
            <a:chOff x="0" y="0"/>
            <a:chExt cx="22467151" cy="1301839"/>
          </a:xfrm>
        </p:grpSpPr>
        <p:sp>
          <p:nvSpPr>
            <p:cNvPr name="Freeform 21" id="21"/>
            <p:cNvSpPr/>
            <p:nvPr/>
          </p:nvSpPr>
          <p:spPr>
            <a:xfrm flipH="false" flipV="false" rot="0">
              <a:off x="16891" y="16891"/>
              <a:ext cx="22433280" cy="1267968"/>
            </a:xfrm>
            <a:custGeom>
              <a:avLst/>
              <a:gdLst/>
              <a:ahLst/>
              <a:cxnLst/>
              <a:rect r="r" b="b" t="t" l="l"/>
              <a:pathLst>
                <a:path h="1267968" w="22433280">
                  <a:moveTo>
                    <a:pt x="0" y="0"/>
                  </a:moveTo>
                  <a:lnTo>
                    <a:pt x="22433280" y="0"/>
                  </a:lnTo>
                  <a:lnTo>
                    <a:pt x="22433280" y="1267968"/>
                  </a:lnTo>
                  <a:lnTo>
                    <a:pt x="0" y="1267968"/>
                  </a:lnTo>
                  <a:close/>
                </a:path>
              </a:pathLst>
            </a:custGeom>
            <a:solidFill>
              <a:srgbClr val="F5F3FF"/>
            </a:solidFill>
          </p:spPr>
        </p:sp>
        <p:sp>
          <p:nvSpPr>
            <p:cNvPr name="Freeform 22" id="22"/>
            <p:cNvSpPr/>
            <p:nvPr/>
          </p:nvSpPr>
          <p:spPr>
            <a:xfrm flipH="false" flipV="false" rot="0">
              <a:off x="0" y="0"/>
              <a:ext cx="22467063" cy="1301750"/>
            </a:xfrm>
            <a:custGeom>
              <a:avLst/>
              <a:gdLst/>
              <a:ahLst/>
              <a:cxnLst/>
              <a:rect r="r" b="b" t="t" l="l"/>
              <a:pathLst>
                <a:path h="1301750" w="22467063">
                  <a:moveTo>
                    <a:pt x="16891" y="0"/>
                  </a:moveTo>
                  <a:lnTo>
                    <a:pt x="22450171" y="0"/>
                  </a:lnTo>
                  <a:cubicBezTo>
                    <a:pt x="22459569" y="0"/>
                    <a:pt x="22467063" y="7620"/>
                    <a:pt x="22467063" y="16891"/>
                  </a:cubicBezTo>
                  <a:lnTo>
                    <a:pt x="22467063" y="1284859"/>
                  </a:lnTo>
                  <a:cubicBezTo>
                    <a:pt x="22467063" y="1294257"/>
                    <a:pt x="22459443" y="1301750"/>
                    <a:pt x="22450171"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22450171" y="1267968"/>
                  </a:lnTo>
                  <a:lnTo>
                    <a:pt x="22450171" y="1284859"/>
                  </a:lnTo>
                  <a:lnTo>
                    <a:pt x="22433280" y="1284859"/>
                  </a:lnTo>
                  <a:lnTo>
                    <a:pt x="22433280" y="16891"/>
                  </a:lnTo>
                  <a:lnTo>
                    <a:pt x="22450171" y="16891"/>
                  </a:lnTo>
                  <a:lnTo>
                    <a:pt x="22450171" y="33909"/>
                  </a:lnTo>
                  <a:lnTo>
                    <a:pt x="16891" y="33909"/>
                  </a:lnTo>
                  <a:close/>
                </a:path>
              </a:pathLst>
            </a:custGeom>
            <a:solidFill>
              <a:srgbClr val="7C3AED"/>
            </a:solidFill>
          </p:spPr>
        </p:sp>
      </p:grpSp>
      <p:grpSp>
        <p:nvGrpSpPr>
          <p:cNvPr name="Group 23" id="23"/>
          <p:cNvGrpSpPr/>
          <p:nvPr/>
        </p:nvGrpSpPr>
        <p:grpSpPr>
          <a:xfrm rot="0">
            <a:off x="1097280" y="2084832"/>
            <a:ext cx="16093440" cy="768096"/>
            <a:chOff x="0" y="0"/>
            <a:chExt cx="21457920" cy="1024128"/>
          </a:xfrm>
        </p:grpSpPr>
        <p:sp>
          <p:nvSpPr>
            <p:cNvPr name="Freeform 24" id="24"/>
            <p:cNvSpPr/>
            <p:nvPr/>
          </p:nvSpPr>
          <p:spPr>
            <a:xfrm flipH="false" flipV="false" rot="0">
              <a:off x="0" y="0"/>
              <a:ext cx="21457920" cy="1024128"/>
            </a:xfrm>
            <a:custGeom>
              <a:avLst/>
              <a:gdLst/>
              <a:ahLst/>
              <a:cxnLst/>
              <a:rect r="r" b="b" t="t" l="l"/>
              <a:pathLst>
                <a:path h="1024128" w="21457920">
                  <a:moveTo>
                    <a:pt x="0" y="0"/>
                  </a:moveTo>
                  <a:lnTo>
                    <a:pt x="21457920" y="0"/>
                  </a:lnTo>
                  <a:lnTo>
                    <a:pt x="21457920" y="1024128"/>
                  </a:lnTo>
                  <a:lnTo>
                    <a:pt x="0" y="1024128"/>
                  </a:lnTo>
                  <a:close/>
                </a:path>
              </a:pathLst>
            </a:custGeom>
            <a:blipFill>
              <a:blip r:embed="rId2">
                <a:alphaModFix amt="0"/>
              </a:blip>
              <a:stretch>
                <a:fillRect l="0" t="-358257" r="0" b="-358257"/>
              </a:stretch>
            </a:blipFill>
          </p:spPr>
        </p:sp>
        <p:sp>
          <p:nvSpPr>
            <p:cNvPr name="TextBox 25" id="25"/>
            <p:cNvSpPr txBox="true"/>
            <p:nvPr/>
          </p:nvSpPr>
          <p:spPr>
            <a:xfrm>
              <a:off x="0" y="-47625"/>
              <a:ext cx="21457920" cy="1071753"/>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  Cas réel : Le LOD Cloud (lod-cloud.net) utilise VoID pour cartographier comment DBpedia, GeoNames et Wikidata sont interconnectés.</a:t>
              </a:r>
            </a:p>
          </p:txBody>
        </p:sp>
      </p:grpSp>
      <p:grpSp>
        <p:nvGrpSpPr>
          <p:cNvPr name="Group 26" id="26"/>
          <p:cNvGrpSpPr/>
          <p:nvPr/>
        </p:nvGrpSpPr>
        <p:grpSpPr>
          <a:xfrm rot="0">
            <a:off x="718823" y="3133087"/>
            <a:ext cx="8704583" cy="5511803"/>
            <a:chOff x="0" y="0"/>
            <a:chExt cx="11606111" cy="7349071"/>
          </a:xfrm>
        </p:grpSpPr>
        <p:sp>
          <p:nvSpPr>
            <p:cNvPr name="Freeform 27" id="27"/>
            <p:cNvSpPr/>
            <p:nvPr/>
          </p:nvSpPr>
          <p:spPr>
            <a:xfrm flipH="false" flipV="false" rot="0">
              <a:off x="16891" y="16891"/>
              <a:ext cx="11572240" cy="7315200"/>
            </a:xfrm>
            <a:custGeom>
              <a:avLst/>
              <a:gdLst/>
              <a:ahLst/>
              <a:cxnLst/>
              <a:rect r="r" b="b" t="t" l="l"/>
              <a:pathLst>
                <a:path h="7315200" w="11572240">
                  <a:moveTo>
                    <a:pt x="0" y="0"/>
                  </a:moveTo>
                  <a:lnTo>
                    <a:pt x="11572240" y="0"/>
                  </a:lnTo>
                  <a:lnTo>
                    <a:pt x="11572240" y="7315200"/>
                  </a:lnTo>
                  <a:lnTo>
                    <a:pt x="0" y="7315200"/>
                  </a:lnTo>
                  <a:close/>
                </a:path>
              </a:pathLst>
            </a:custGeom>
            <a:solidFill>
              <a:srgbClr val="1E293B"/>
            </a:solidFill>
          </p:spPr>
        </p:sp>
        <p:sp>
          <p:nvSpPr>
            <p:cNvPr name="Freeform 28" id="28"/>
            <p:cNvSpPr/>
            <p:nvPr/>
          </p:nvSpPr>
          <p:spPr>
            <a:xfrm flipH="false" flipV="false" rot="0">
              <a:off x="0" y="0"/>
              <a:ext cx="11606022" cy="7348982"/>
            </a:xfrm>
            <a:custGeom>
              <a:avLst/>
              <a:gdLst/>
              <a:ahLst/>
              <a:cxnLst/>
              <a:rect r="r" b="b" t="t" l="l"/>
              <a:pathLst>
                <a:path h="7348982" w="11606022">
                  <a:moveTo>
                    <a:pt x="16891" y="0"/>
                  </a:moveTo>
                  <a:lnTo>
                    <a:pt x="11589131" y="0"/>
                  </a:lnTo>
                  <a:cubicBezTo>
                    <a:pt x="11598529" y="0"/>
                    <a:pt x="11606022" y="7620"/>
                    <a:pt x="11606022" y="16891"/>
                  </a:cubicBezTo>
                  <a:lnTo>
                    <a:pt x="11606022" y="7332091"/>
                  </a:lnTo>
                  <a:cubicBezTo>
                    <a:pt x="11606022" y="7341489"/>
                    <a:pt x="11598402" y="7348982"/>
                    <a:pt x="11589131" y="7348982"/>
                  </a:cubicBezTo>
                  <a:lnTo>
                    <a:pt x="16891" y="7348982"/>
                  </a:lnTo>
                  <a:cubicBezTo>
                    <a:pt x="7493" y="7348982"/>
                    <a:pt x="0" y="7341362"/>
                    <a:pt x="0" y="7332091"/>
                  </a:cubicBezTo>
                  <a:lnTo>
                    <a:pt x="0" y="16891"/>
                  </a:lnTo>
                  <a:cubicBezTo>
                    <a:pt x="0" y="7620"/>
                    <a:pt x="7620" y="0"/>
                    <a:pt x="16891" y="0"/>
                  </a:cubicBezTo>
                  <a:moveTo>
                    <a:pt x="16891" y="33909"/>
                  </a:moveTo>
                  <a:lnTo>
                    <a:pt x="16891" y="16891"/>
                  </a:lnTo>
                  <a:lnTo>
                    <a:pt x="33909" y="16891"/>
                  </a:lnTo>
                  <a:lnTo>
                    <a:pt x="33909" y="7332091"/>
                  </a:lnTo>
                  <a:lnTo>
                    <a:pt x="16891" y="7332091"/>
                  </a:lnTo>
                  <a:lnTo>
                    <a:pt x="16891" y="7315200"/>
                  </a:lnTo>
                  <a:lnTo>
                    <a:pt x="11589131" y="7315200"/>
                  </a:lnTo>
                  <a:lnTo>
                    <a:pt x="11589131" y="7332091"/>
                  </a:lnTo>
                  <a:lnTo>
                    <a:pt x="11572240" y="7332091"/>
                  </a:lnTo>
                  <a:lnTo>
                    <a:pt x="11572240" y="16891"/>
                  </a:lnTo>
                  <a:lnTo>
                    <a:pt x="11589131" y="16891"/>
                  </a:lnTo>
                  <a:lnTo>
                    <a:pt x="11589131" y="33909"/>
                  </a:lnTo>
                  <a:lnTo>
                    <a:pt x="16891" y="33909"/>
                  </a:lnTo>
                  <a:close/>
                </a:path>
              </a:pathLst>
            </a:custGeom>
            <a:solidFill>
              <a:srgbClr val="1E293B"/>
            </a:solidFill>
          </p:spPr>
        </p:sp>
      </p:grpSp>
      <p:sp>
        <p:nvSpPr>
          <p:cNvPr name="TextBox 29" id="29"/>
          <p:cNvSpPr txBox="true"/>
          <p:nvPr/>
        </p:nvSpPr>
        <p:spPr>
          <a:xfrm rot="0">
            <a:off x="1152144" y="3456051"/>
            <a:ext cx="16130016" cy="5038725"/>
          </a:xfrm>
          <a:prstGeom prst="rect">
            <a:avLst/>
          </a:prstGeom>
        </p:spPr>
        <p:txBody>
          <a:bodyPr anchor="t" rtlCol="false" tIns="0" lIns="0" bIns="0" rIns="0">
            <a:spAutoFit/>
          </a:bodyPr>
          <a:lstStyle/>
          <a:p>
            <a:pPr algn="l">
              <a:lnSpc>
                <a:spcPts val="2280"/>
              </a:lnSpc>
            </a:pPr>
            <a:r>
              <a:rPr lang="en-US" sz="1900">
                <a:solidFill>
                  <a:srgbClr val="94A3B8"/>
                </a:solidFill>
                <a:latin typeface="Courier New"/>
                <a:ea typeface="Courier New"/>
                <a:cs typeface="Courier New"/>
                <a:sym typeface="Courier New"/>
              </a:rPr>
              <a:t>PREFIX void: &lt;http://rdfs.org/ns/void#&gt;</a:t>
            </a:r>
          </a:p>
          <a:p>
            <a:pPr algn="l">
              <a:lnSpc>
                <a:spcPts val="2280"/>
              </a:lnSpc>
            </a:pPr>
            <a:r>
              <a:rPr lang="en-US" sz="1900">
                <a:solidFill>
                  <a:srgbClr val="94A3B8"/>
                </a:solidFill>
                <a:latin typeface="Courier New"/>
                <a:ea typeface="Courier New"/>
                <a:cs typeface="Courier New"/>
                <a:sym typeface="Courier New"/>
              </a:rPr>
              <a:t>PREFIX dcterms: &lt;http://purl.org/dc/terms/&gt;</a:t>
            </a:r>
          </a:p>
          <a:p>
            <a:pPr algn="l">
              <a:lnSpc>
                <a:spcPts val="2280"/>
              </a:lnSpc>
            </a:pPr>
            <a:r>
              <a:rPr lang="en-US" sz="1900">
                <a:solidFill>
                  <a:srgbClr val="FFFFFF"/>
                </a:solidFill>
                <a:latin typeface="Courier New"/>
                <a:ea typeface="Courier New"/>
                <a:cs typeface="Courier New"/>
                <a:sym typeface="Courier New"/>
              </a:rPr>
              <a:t> </a:t>
            </a:r>
          </a:p>
          <a:p>
            <a:pPr algn="l">
              <a:lnSpc>
                <a:spcPts val="2280"/>
              </a:lnSpc>
            </a:pPr>
            <a:r>
              <a:rPr lang="en-US" sz="1900">
                <a:solidFill>
                  <a:srgbClr val="38BDF8"/>
                </a:solidFill>
                <a:latin typeface="Courier New"/>
                <a:ea typeface="Courier New"/>
                <a:cs typeface="Courier New"/>
                <a:sym typeface="Courier New"/>
              </a:rPr>
              <a:t>SELECT </a:t>
            </a:r>
            <a:r>
              <a:rPr lang="en-US" sz="1900">
                <a:solidFill>
                  <a:srgbClr val="FCD34D"/>
                </a:solidFill>
                <a:latin typeface="Courier New"/>
                <a:ea typeface="Courier New"/>
                <a:cs typeface="Courier New"/>
                <a:sym typeface="Courier New"/>
              </a:rPr>
              <a:t>?dataset ?titre ?endpoint ?triplets</a:t>
            </a:r>
          </a:p>
          <a:p>
            <a:pPr algn="l">
              <a:lnSpc>
                <a:spcPts val="2280"/>
              </a:lnSpc>
            </a:pPr>
            <a:r>
              <a:rPr lang="en-US" sz="1900">
                <a:solidFill>
                  <a:srgbClr val="38BDF8"/>
                </a:solidFill>
                <a:latin typeface="Courier New"/>
                <a:ea typeface="Courier New"/>
                <a:cs typeface="Courier New"/>
                <a:sym typeface="Courier New"/>
              </a:rPr>
              <a:t>WHERE</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FCD34D"/>
                </a:solidFill>
                <a:latin typeface="Courier New"/>
                <a:ea typeface="Courier New"/>
                <a:cs typeface="Courier New"/>
                <a:sym typeface="Courier New"/>
              </a:rPr>
              <a:t>  ?dataset </a:t>
            </a:r>
            <a:r>
              <a:rPr lang="en-US" sz="1900">
                <a:solidFill>
                  <a:srgbClr val="38BDF8"/>
                </a:solidFill>
                <a:latin typeface="Courier New"/>
                <a:ea typeface="Courier New"/>
                <a:cs typeface="Courier New"/>
                <a:sym typeface="Courier New"/>
              </a:rPr>
              <a:t>a </a:t>
            </a:r>
            <a:r>
              <a:rPr lang="en-US" sz="1900">
                <a:solidFill>
                  <a:srgbClr val="34D399"/>
                </a:solidFill>
                <a:latin typeface="Courier New"/>
                <a:ea typeface="Courier New"/>
                <a:cs typeface="Courier New"/>
                <a:sym typeface="Courier New"/>
              </a:rPr>
              <a:t>void:Dataset</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dcterms:title </a:t>
            </a:r>
            <a:r>
              <a:rPr lang="en-US" sz="1900">
                <a:solidFill>
                  <a:srgbClr val="FCD34D"/>
                </a:solidFill>
                <a:latin typeface="Courier New"/>
                <a:ea typeface="Courier New"/>
                <a:cs typeface="Courier New"/>
                <a:sym typeface="Courier New"/>
              </a:rPr>
              <a:t>?titre</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void:sparqlEndpoint </a:t>
            </a:r>
            <a:r>
              <a:rPr lang="en-US" sz="1900">
                <a:solidFill>
                  <a:srgbClr val="FCD34D"/>
                </a:solidFill>
                <a:latin typeface="Courier New"/>
                <a:ea typeface="Courier New"/>
                <a:cs typeface="Courier New"/>
                <a:sym typeface="Courier New"/>
              </a:rPr>
              <a:t>?endpoint</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void:triples </a:t>
            </a:r>
            <a:r>
              <a:rPr lang="en-US" sz="1900">
                <a:solidFill>
                  <a:srgbClr val="FCD34D"/>
                </a:solidFill>
                <a:latin typeface="Courier New"/>
                <a:ea typeface="Courier New"/>
                <a:cs typeface="Courier New"/>
                <a:sym typeface="Courier New"/>
              </a:rPr>
              <a:t>?triplets</a:t>
            </a:r>
          </a:p>
          <a:p>
            <a:pPr algn="l">
              <a:lnSpc>
                <a:spcPts val="2280"/>
              </a:lnSpc>
            </a:pPr>
            <a:r>
              <a:rPr lang="en-US" sz="1900">
                <a:solidFill>
                  <a:srgbClr val="94A3B8"/>
                </a:solidFill>
                <a:latin typeface="Courier New"/>
                <a:ea typeface="Courier New"/>
                <a:cs typeface="Courier New"/>
                <a:sym typeface="Courier New"/>
              </a:rPr>
              <a:t>  FILTER(</a:t>
            </a:r>
            <a:r>
              <a:rPr lang="en-US" sz="1900">
                <a:solidFill>
                  <a:srgbClr val="FCD34D"/>
                </a:solidFill>
                <a:latin typeface="Courier New"/>
                <a:ea typeface="Courier New"/>
                <a:cs typeface="Courier New"/>
                <a:sym typeface="Courier New"/>
              </a:rPr>
              <a:t>?triplets</a:t>
            </a:r>
            <a:r>
              <a:rPr lang="en-US" sz="1900">
                <a:solidFill>
                  <a:srgbClr val="94A3B8"/>
                </a:solidFill>
                <a:latin typeface="Courier New"/>
                <a:ea typeface="Courier New"/>
                <a:cs typeface="Courier New"/>
                <a:sym typeface="Courier New"/>
              </a:rPr>
              <a:t> &gt; </a:t>
            </a:r>
            <a:r>
              <a:rPr lang="en-US" sz="1900">
                <a:solidFill>
                  <a:srgbClr val="FCA5A5"/>
                </a:solidFill>
                <a:latin typeface="Courier New"/>
                <a:ea typeface="Courier New"/>
                <a:cs typeface="Courier New"/>
                <a:sym typeface="Courier New"/>
              </a:rPr>
              <a:t>1000000</a:t>
            </a:r>
            <a:r>
              <a:rPr lang="en-US" sz="1900">
                <a:solidFill>
                  <a:srgbClr val="94A3B8"/>
                </a:solidFill>
                <a:latin typeface="Courier New"/>
                <a:ea typeface="Courier New"/>
                <a:cs typeface="Courier New"/>
                <a:sym typeface="Courier New"/>
              </a:rPr>
              <a:t>)</a:t>
            </a:r>
          </a:p>
          <a:p>
            <a:pPr algn="l">
              <a:lnSpc>
                <a:spcPts val="2280"/>
              </a:lnSpc>
            </a:pPr>
            <a:r>
              <a:rPr lang="en-US" sz="1900">
                <a:solidFill>
                  <a:srgbClr val="94A3B8"/>
                </a:solidFill>
                <a:latin typeface="Courier New"/>
                <a:ea typeface="Courier New"/>
                <a:cs typeface="Courier New"/>
                <a:sym typeface="Courier New"/>
              </a:rPr>
              <a:t>}</a:t>
            </a:r>
          </a:p>
        </p:txBody>
      </p:sp>
      <p:grpSp>
        <p:nvGrpSpPr>
          <p:cNvPr name="Group 30" id="30"/>
          <p:cNvGrpSpPr/>
          <p:nvPr/>
        </p:nvGrpSpPr>
        <p:grpSpPr>
          <a:xfrm rot="0">
            <a:off x="-6353" y="9741151"/>
            <a:ext cx="18300697" cy="552193"/>
            <a:chOff x="0" y="0"/>
            <a:chExt cx="24400929" cy="736257"/>
          </a:xfrm>
        </p:grpSpPr>
        <p:sp>
          <p:nvSpPr>
            <p:cNvPr name="Freeform 31" id="31"/>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32" id="32"/>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33" id="33"/>
          <p:cNvGrpSpPr/>
          <p:nvPr/>
        </p:nvGrpSpPr>
        <p:grpSpPr>
          <a:xfrm rot="0">
            <a:off x="15910560" y="9747504"/>
            <a:ext cx="2011680" cy="539496"/>
            <a:chOff x="0" y="0"/>
            <a:chExt cx="2682240" cy="719328"/>
          </a:xfrm>
        </p:grpSpPr>
        <p:sp>
          <p:nvSpPr>
            <p:cNvPr name="Freeform 34" id="34"/>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35" id="35"/>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10 / 18</a:t>
              </a:r>
            </a:p>
          </p:txBody>
        </p:sp>
      </p:grpSp>
      <p:grpSp>
        <p:nvGrpSpPr>
          <p:cNvPr name="Group 36" id="36"/>
          <p:cNvGrpSpPr/>
          <p:nvPr/>
        </p:nvGrpSpPr>
        <p:grpSpPr>
          <a:xfrm rot="0">
            <a:off x="548640" y="9747504"/>
            <a:ext cx="10972800" cy="539496"/>
            <a:chOff x="0" y="0"/>
            <a:chExt cx="14630400" cy="719328"/>
          </a:xfrm>
        </p:grpSpPr>
        <p:sp>
          <p:nvSpPr>
            <p:cNvPr name="Freeform 37" id="37"/>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38" id="38"/>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VoID</a:t>
              </a:r>
            </a:p>
          </p:txBody>
        </p:sp>
      </p:grpSp>
      <p:grpSp>
        <p:nvGrpSpPr>
          <p:cNvPr name="Group 39" id="39"/>
          <p:cNvGrpSpPr/>
          <p:nvPr/>
        </p:nvGrpSpPr>
        <p:grpSpPr>
          <a:xfrm rot="0">
            <a:off x="10041893" y="3503933"/>
            <a:ext cx="6967223" cy="4768853"/>
            <a:chOff x="0" y="0"/>
            <a:chExt cx="9289631" cy="6358471"/>
          </a:xfrm>
        </p:grpSpPr>
        <p:sp>
          <p:nvSpPr>
            <p:cNvPr name="Freeform 40" id="40"/>
            <p:cNvSpPr/>
            <p:nvPr/>
          </p:nvSpPr>
          <p:spPr>
            <a:xfrm flipH="false" flipV="false" rot="0">
              <a:off x="0" y="0"/>
              <a:ext cx="9289669" cy="6358509"/>
            </a:xfrm>
            <a:custGeom>
              <a:avLst/>
              <a:gdLst/>
              <a:ahLst/>
              <a:cxnLst/>
              <a:rect r="r" b="b" t="t" l="l"/>
              <a:pathLst>
                <a:path h="6358509" w="9289669">
                  <a:moveTo>
                    <a:pt x="0" y="0"/>
                  </a:moveTo>
                  <a:lnTo>
                    <a:pt x="9289669" y="0"/>
                  </a:lnTo>
                  <a:lnTo>
                    <a:pt x="9289669" y="6358509"/>
                  </a:lnTo>
                  <a:lnTo>
                    <a:pt x="0" y="6358509"/>
                  </a:lnTo>
                  <a:lnTo>
                    <a:pt x="0" y="0"/>
                  </a:lnTo>
                  <a:close/>
                </a:path>
              </a:pathLst>
            </a:custGeom>
            <a:blipFill>
              <a:blip r:embed="rId3"/>
              <a:stretch>
                <a:fillRect l="-12061" t="0" r="-12061"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059669"/>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059669"/>
            </a:solidFill>
          </p:spPr>
        </p:sp>
      </p:grpSp>
      <p:grpSp>
        <p:nvGrpSpPr>
          <p:cNvPr name="Group 5" id="5"/>
          <p:cNvGrpSpPr/>
          <p:nvPr/>
        </p:nvGrpSpPr>
        <p:grpSpPr>
          <a:xfrm rot="0">
            <a:off x="15532103" y="170183"/>
            <a:ext cx="2585723" cy="793499"/>
            <a:chOff x="0" y="0"/>
            <a:chExt cx="3447631" cy="1057999"/>
          </a:xfrm>
        </p:grpSpPr>
        <p:sp>
          <p:nvSpPr>
            <p:cNvPr name="Freeform 6" id="6"/>
            <p:cNvSpPr/>
            <p:nvPr/>
          </p:nvSpPr>
          <p:spPr>
            <a:xfrm flipH="false" flipV="false" rot="0">
              <a:off x="16891" y="16891"/>
              <a:ext cx="3413760" cy="1024128"/>
            </a:xfrm>
            <a:custGeom>
              <a:avLst/>
              <a:gdLst/>
              <a:ahLst/>
              <a:cxnLst/>
              <a:rect r="r" b="b" t="t" l="l"/>
              <a:pathLst>
                <a:path h="1024128" w="3413760">
                  <a:moveTo>
                    <a:pt x="0" y="0"/>
                  </a:moveTo>
                  <a:lnTo>
                    <a:pt x="3413760" y="0"/>
                  </a:lnTo>
                  <a:lnTo>
                    <a:pt x="3413760" y="1024128"/>
                  </a:lnTo>
                  <a:lnTo>
                    <a:pt x="0" y="1024128"/>
                  </a:lnTo>
                  <a:close/>
                </a:path>
              </a:pathLst>
            </a:custGeom>
            <a:solidFill>
              <a:srgbClr val="059669"/>
            </a:solidFill>
          </p:spPr>
        </p:sp>
        <p:sp>
          <p:nvSpPr>
            <p:cNvPr name="Freeform 7" id="7"/>
            <p:cNvSpPr/>
            <p:nvPr/>
          </p:nvSpPr>
          <p:spPr>
            <a:xfrm flipH="false" flipV="false" rot="0">
              <a:off x="0" y="0"/>
              <a:ext cx="3447542" cy="1057912"/>
            </a:xfrm>
            <a:custGeom>
              <a:avLst/>
              <a:gdLst/>
              <a:ahLst/>
              <a:cxnLst/>
              <a:rect r="r" b="b" t="t" l="l"/>
              <a:pathLst>
                <a:path h="1057912" w="3447542">
                  <a:moveTo>
                    <a:pt x="16891" y="0"/>
                  </a:moveTo>
                  <a:lnTo>
                    <a:pt x="3430651" y="0"/>
                  </a:lnTo>
                  <a:cubicBezTo>
                    <a:pt x="3440049" y="0"/>
                    <a:pt x="3447542" y="7620"/>
                    <a:pt x="3447542" y="16891"/>
                  </a:cubicBezTo>
                  <a:lnTo>
                    <a:pt x="3447542" y="1041019"/>
                  </a:lnTo>
                  <a:cubicBezTo>
                    <a:pt x="3447542" y="1050417"/>
                    <a:pt x="3439922" y="1057910"/>
                    <a:pt x="343065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430651" y="1024128"/>
                  </a:lnTo>
                  <a:lnTo>
                    <a:pt x="3430651" y="1041019"/>
                  </a:lnTo>
                  <a:lnTo>
                    <a:pt x="3413760" y="1041019"/>
                  </a:lnTo>
                  <a:lnTo>
                    <a:pt x="3413760" y="16891"/>
                  </a:lnTo>
                  <a:lnTo>
                    <a:pt x="3430651" y="16891"/>
                  </a:lnTo>
                  <a:lnTo>
                    <a:pt x="3430651" y="33909"/>
                  </a:lnTo>
                  <a:lnTo>
                    <a:pt x="16891" y="33909"/>
                  </a:lnTo>
                  <a:close/>
                </a:path>
              </a:pathLst>
            </a:custGeom>
            <a:solidFill>
              <a:srgbClr val="059669"/>
            </a:solidFill>
          </p:spPr>
        </p:sp>
      </p:grpSp>
      <p:grpSp>
        <p:nvGrpSpPr>
          <p:cNvPr name="Group 8" id="8"/>
          <p:cNvGrpSpPr/>
          <p:nvPr/>
        </p:nvGrpSpPr>
        <p:grpSpPr>
          <a:xfrm rot="0">
            <a:off x="15544800" y="182880"/>
            <a:ext cx="2560320" cy="768096"/>
            <a:chOff x="0" y="0"/>
            <a:chExt cx="3413760" cy="1024128"/>
          </a:xfrm>
        </p:grpSpPr>
        <p:sp>
          <p:nvSpPr>
            <p:cNvPr name="Freeform 9" id="9"/>
            <p:cNvSpPr/>
            <p:nvPr/>
          </p:nvSpPr>
          <p:spPr>
            <a:xfrm flipH="false" flipV="false" rot="0">
              <a:off x="0" y="0"/>
              <a:ext cx="3413760" cy="1024128"/>
            </a:xfrm>
            <a:custGeom>
              <a:avLst/>
              <a:gdLst/>
              <a:ahLst/>
              <a:cxnLst/>
              <a:rect r="r" b="b" t="t" l="l"/>
              <a:pathLst>
                <a:path h="1024128" w="3413760">
                  <a:moveTo>
                    <a:pt x="0" y="0"/>
                  </a:moveTo>
                  <a:lnTo>
                    <a:pt x="3413760" y="0"/>
                  </a:lnTo>
                  <a:lnTo>
                    <a:pt x="3413760" y="1024128"/>
                  </a:lnTo>
                  <a:lnTo>
                    <a:pt x="0" y="1024128"/>
                  </a:lnTo>
                  <a:close/>
                </a:path>
              </a:pathLst>
            </a:custGeom>
            <a:blipFill>
              <a:blip r:embed="rId2">
                <a:alphaModFix amt="0"/>
              </a:blip>
              <a:stretch>
                <a:fillRect l="0" t="-14950" r="0" b="-14950"/>
              </a:stretch>
            </a:blipFill>
          </p:spPr>
        </p:sp>
        <p:sp>
          <p:nvSpPr>
            <p:cNvPr name="TextBox 10" id="10"/>
            <p:cNvSpPr txBox="true"/>
            <p:nvPr/>
          </p:nvSpPr>
          <p:spPr>
            <a:xfrm>
              <a:off x="0" y="-38100"/>
              <a:ext cx="3413760" cy="106222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FOAF  1/3</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059669"/>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059669"/>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FOAF — Friend of a Friend</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38100"/>
              <a:ext cx="21945600" cy="720852"/>
            </a:xfrm>
            <a:prstGeom prst="rect">
              <a:avLst/>
            </a:prstGeom>
          </p:spPr>
          <p:txBody>
            <a:bodyPr anchor="ctr" rtlCol="false" tIns="0" lIns="0" bIns="0" rIns="0"/>
            <a:lstStyle/>
            <a:p>
              <a:pPr algn="l">
                <a:lnSpc>
                  <a:spcPts val="2879"/>
                </a:lnSpc>
              </a:pPr>
              <a:r>
                <a:rPr lang="en-US" sz="2400" i="true">
                  <a:solidFill>
                    <a:srgbClr val="64748B"/>
                  </a:solidFill>
                  <a:latin typeface="Calibri (MS) Italics"/>
                  <a:ea typeface="Calibri (MS) Italics"/>
                  <a:cs typeface="Calibri (MS) Italics"/>
                  <a:sym typeface="Calibri (MS) Italics"/>
                </a:rPr>
                <a:t>Définition et Concepts de base</a:t>
              </a:r>
            </a:p>
          </p:txBody>
        </p:sp>
      </p:grpSp>
      <p:grpSp>
        <p:nvGrpSpPr>
          <p:cNvPr name="Group 20" id="20"/>
          <p:cNvGrpSpPr/>
          <p:nvPr/>
        </p:nvGrpSpPr>
        <p:grpSpPr>
          <a:xfrm rot="0">
            <a:off x="718823" y="1998983"/>
            <a:ext cx="16850363" cy="1159259"/>
            <a:chOff x="0" y="0"/>
            <a:chExt cx="22467151" cy="1545679"/>
          </a:xfrm>
        </p:grpSpPr>
        <p:sp>
          <p:nvSpPr>
            <p:cNvPr name="Freeform 21" id="21"/>
            <p:cNvSpPr/>
            <p:nvPr/>
          </p:nvSpPr>
          <p:spPr>
            <a:xfrm flipH="false" flipV="false" rot="0">
              <a:off x="16891" y="16891"/>
              <a:ext cx="22433280" cy="1511808"/>
            </a:xfrm>
            <a:custGeom>
              <a:avLst/>
              <a:gdLst/>
              <a:ahLst/>
              <a:cxnLst/>
              <a:rect r="r" b="b" t="t" l="l"/>
              <a:pathLst>
                <a:path h="1511808" w="22433280">
                  <a:moveTo>
                    <a:pt x="0" y="0"/>
                  </a:moveTo>
                  <a:lnTo>
                    <a:pt x="22433280" y="0"/>
                  </a:lnTo>
                  <a:lnTo>
                    <a:pt x="22433280" y="1511808"/>
                  </a:lnTo>
                  <a:lnTo>
                    <a:pt x="0" y="1511808"/>
                  </a:lnTo>
                  <a:close/>
                </a:path>
              </a:pathLst>
            </a:custGeom>
            <a:solidFill>
              <a:srgbClr val="ECFDF5"/>
            </a:solidFill>
          </p:spPr>
        </p:sp>
        <p:sp>
          <p:nvSpPr>
            <p:cNvPr name="Freeform 22" id="22"/>
            <p:cNvSpPr/>
            <p:nvPr/>
          </p:nvSpPr>
          <p:spPr>
            <a:xfrm flipH="false" flipV="false" rot="0">
              <a:off x="0" y="0"/>
              <a:ext cx="22467063" cy="1545590"/>
            </a:xfrm>
            <a:custGeom>
              <a:avLst/>
              <a:gdLst/>
              <a:ahLst/>
              <a:cxnLst/>
              <a:rect r="r" b="b" t="t" l="l"/>
              <a:pathLst>
                <a:path h="1545590" w="22467063">
                  <a:moveTo>
                    <a:pt x="16891" y="0"/>
                  </a:moveTo>
                  <a:lnTo>
                    <a:pt x="22450171" y="0"/>
                  </a:lnTo>
                  <a:cubicBezTo>
                    <a:pt x="22459569" y="0"/>
                    <a:pt x="22467063" y="7620"/>
                    <a:pt x="22467063" y="16891"/>
                  </a:cubicBezTo>
                  <a:lnTo>
                    <a:pt x="22467063" y="1528699"/>
                  </a:lnTo>
                  <a:cubicBezTo>
                    <a:pt x="22467063" y="1538097"/>
                    <a:pt x="22459443" y="1545590"/>
                    <a:pt x="2245017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450171" y="1511808"/>
                  </a:lnTo>
                  <a:lnTo>
                    <a:pt x="22450171" y="1528699"/>
                  </a:lnTo>
                  <a:lnTo>
                    <a:pt x="22433280" y="1528699"/>
                  </a:lnTo>
                  <a:lnTo>
                    <a:pt x="22433280" y="16891"/>
                  </a:lnTo>
                  <a:lnTo>
                    <a:pt x="22450171" y="16891"/>
                  </a:lnTo>
                  <a:lnTo>
                    <a:pt x="22450171" y="33909"/>
                  </a:lnTo>
                  <a:lnTo>
                    <a:pt x="16891" y="33909"/>
                  </a:lnTo>
                  <a:close/>
                </a:path>
              </a:pathLst>
            </a:custGeom>
            <a:solidFill>
              <a:srgbClr val="059669"/>
            </a:solidFill>
          </p:spPr>
        </p:sp>
      </p:grpSp>
      <p:grpSp>
        <p:nvGrpSpPr>
          <p:cNvPr name="Group 23" id="23"/>
          <p:cNvGrpSpPr/>
          <p:nvPr/>
        </p:nvGrpSpPr>
        <p:grpSpPr>
          <a:xfrm rot="0">
            <a:off x="1097280" y="2103120"/>
            <a:ext cx="16093440" cy="914400"/>
            <a:chOff x="0" y="0"/>
            <a:chExt cx="21457920" cy="1219200"/>
          </a:xfrm>
        </p:grpSpPr>
        <p:sp>
          <p:nvSpPr>
            <p:cNvPr name="Freeform 24" id="24"/>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2">
                <a:alphaModFix amt="0"/>
              </a:blip>
              <a:stretch>
                <a:fillRect l="0" t="-292936" r="0" b="-292936"/>
              </a:stretch>
            </a:blipFill>
          </p:spPr>
        </p:sp>
        <p:sp>
          <p:nvSpPr>
            <p:cNvPr name="TextBox 25" id="25"/>
            <p:cNvSpPr txBox="true"/>
            <p:nvPr/>
          </p:nvSpPr>
          <p:spPr>
            <a:xfrm>
              <a:off x="0" y="-38100"/>
              <a:ext cx="21457920" cy="1257300"/>
            </a:xfrm>
            <a:prstGeom prst="rect">
              <a:avLst/>
            </a:prstGeom>
          </p:spPr>
          <p:txBody>
            <a:bodyPr anchor="ctr" rtlCol="false" tIns="0" lIns="0" bIns="0" rIns="0"/>
            <a:lstStyle/>
            <a:p>
              <a:pPr algn="l">
                <a:lnSpc>
                  <a:spcPts val="2879"/>
                </a:lnSpc>
              </a:pPr>
              <a:r>
                <a:rPr lang="en-US" sz="2400">
                  <a:solidFill>
                    <a:srgbClr val="1E293B"/>
                  </a:solidFill>
                  <a:latin typeface="Calibri (MS)"/>
                  <a:ea typeface="Calibri (MS)"/>
                  <a:cs typeface="Calibri (MS)"/>
                  <a:sym typeface="Calibri (MS)"/>
                </a:rPr>
                <a:t>📌  Vocabulaire RDF conçu pour décrire des personnes, leurs attributs et leurs relations sociales de façon décentralisée.</a:t>
              </a:r>
            </a:p>
          </p:txBody>
        </p:sp>
      </p:grpSp>
      <p:grpSp>
        <p:nvGrpSpPr>
          <p:cNvPr name="Group 26" id="26"/>
          <p:cNvGrpSpPr/>
          <p:nvPr/>
        </p:nvGrpSpPr>
        <p:grpSpPr>
          <a:xfrm rot="0">
            <a:off x="718823" y="3425447"/>
            <a:ext cx="16850363" cy="1762763"/>
            <a:chOff x="0" y="0"/>
            <a:chExt cx="22467151" cy="2350351"/>
          </a:xfrm>
        </p:grpSpPr>
        <p:sp>
          <p:nvSpPr>
            <p:cNvPr name="Freeform 27" id="27"/>
            <p:cNvSpPr/>
            <p:nvPr/>
          </p:nvSpPr>
          <p:spPr>
            <a:xfrm flipH="false" flipV="false" rot="0">
              <a:off x="16891" y="16891"/>
              <a:ext cx="22433280" cy="2316480"/>
            </a:xfrm>
            <a:custGeom>
              <a:avLst/>
              <a:gdLst/>
              <a:ahLst/>
              <a:cxnLst/>
              <a:rect r="r" b="b" t="t" l="l"/>
              <a:pathLst>
                <a:path h="2316480" w="22433280">
                  <a:moveTo>
                    <a:pt x="0" y="0"/>
                  </a:moveTo>
                  <a:lnTo>
                    <a:pt x="22433280" y="0"/>
                  </a:lnTo>
                  <a:lnTo>
                    <a:pt x="22433280" y="2316480"/>
                  </a:lnTo>
                  <a:lnTo>
                    <a:pt x="0" y="2316480"/>
                  </a:lnTo>
                  <a:close/>
                </a:path>
              </a:pathLst>
            </a:custGeom>
            <a:solidFill>
              <a:srgbClr val="F1F5F9"/>
            </a:solidFill>
          </p:spPr>
        </p:sp>
        <p:sp>
          <p:nvSpPr>
            <p:cNvPr name="Freeform 28" id="28"/>
            <p:cNvSpPr/>
            <p:nvPr/>
          </p:nvSpPr>
          <p:spPr>
            <a:xfrm flipH="false" flipV="false" rot="0">
              <a:off x="0" y="0"/>
              <a:ext cx="22467063" cy="2350262"/>
            </a:xfrm>
            <a:custGeom>
              <a:avLst/>
              <a:gdLst/>
              <a:ahLst/>
              <a:cxnLst/>
              <a:rect r="r" b="b" t="t" l="l"/>
              <a:pathLst>
                <a:path h="2350262" w="22467063">
                  <a:moveTo>
                    <a:pt x="16891" y="0"/>
                  </a:moveTo>
                  <a:lnTo>
                    <a:pt x="22450171" y="0"/>
                  </a:lnTo>
                  <a:cubicBezTo>
                    <a:pt x="22459569" y="0"/>
                    <a:pt x="22467063" y="7620"/>
                    <a:pt x="22467063" y="16891"/>
                  </a:cubicBezTo>
                  <a:lnTo>
                    <a:pt x="22467063" y="2333371"/>
                  </a:lnTo>
                  <a:cubicBezTo>
                    <a:pt x="22467063" y="2342769"/>
                    <a:pt x="22459443" y="2350262"/>
                    <a:pt x="224501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22450171" y="2316480"/>
                  </a:lnTo>
                  <a:lnTo>
                    <a:pt x="22450171" y="2333371"/>
                  </a:lnTo>
                  <a:lnTo>
                    <a:pt x="22433280" y="2333371"/>
                  </a:lnTo>
                  <a:lnTo>
                    <a:pt x="22433280" y="16891"/>
                  </a:lnTo>
                  <a:lnTo>
                    <a:pt x="22450171" y="16891"/>
                  </a:lnTo>
                  <a:lnTo>
                    <a:pt x="22450171" y="33909"/>
                  </a:lnTo>
                  <a:lnTo>
                    <a:pt x="16891" y="33909"/>
                  </a:lnTo>
                  <a:close/>
                </a:path>
              </a:pathLst>
            </a:custGeom>
            <a:solidFill>
              <a:srgbClr val="059669"/>
            </a:solidFill>
          </p:spPr>
        </p:sp>
      </p:grpSp>
      <p:grpSp>
        <p:nvGrpSpPr>
          <p:cNvPr name="Group 29" id="29"/>
          <p:cNvGrpSpPr/>
          <p:nvPr/>
        </p:nvGrpSpPr>
        <p:grpSpPr>
          <a:xfrm rot="0">
            <a:off x="718823" y="3425447"/>
            <a:ext cx="135131" cy="1762763"/>
            <a:chOff x="0" y="0"/>
            <a:chExt cx="180175" cy="2350351"/>
          </a:xfrm>
        </p:grpSpPr>
        <p:sp>
          <p:nvSpPr>
            <p:cNvPr name="Freeform 30" id="30"/>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059669"/>
            </a:solidFill>
          </p:spPr>
        </p:sp>
        <p:sp>
          <p:nvSpPr>
            <p:cNvPr name="Freeform 31" id="31"/>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059669"/>
            </a:solidFill>
          </p:spPr>
        </p:sp>
      </p:grpSp>
      <p:grpSp>
        <p:nvGrpSpPr>
          <p:cNvPr name="Group 32" id="32"/>
          <p:cNvGrpSpPr/>
          <p:nvPr/>
        </p:nvGrpSpPr>
        <p:grpSpPr>
          <a:xfrm rot="0">
            <a:off x="1060704" y="3584448"/>
            <a:ext cx="5852160" cy="585216"/>
            <a:chOff x="0" y="0"/>
            <a:chExt cx="7802880" cy="780288"/>
          </a:xfrm>
        </p:grpSpPr>
        <p:sp>
          <p:nvSpPr>
            <p:cNvPr name="Freeform 33" id="33"/>
            <p:cNvSpPr/>
            <p:nvPr/>
          </p:nvSpPr>
          <p:spPr>
            <a:xfrm flipH="false" flipV="false" rot="0">
              <a:off x="0" y="0"/>
              <a:ext cx="7802880" cy="780288"/>
            </a:xfrm>
            <a:custGeom>
              <a:avLst/>
              <a:gdLst/>
              <a:ahLst/>
              <a:cxnLst/>
              <a:rect r="r" b="b" t="t" l="l"/>
              <a:pathLst>
                <a:path h="780288" w="7802880">
                  <a:moveTo>
                    <a:pt x="0" y="0"/>
                  </a:moveTo>
                  <a:lnTo>
                    <a:pt x="7802880" y="0"/>
                  </a:lnTo>
                  <a:lnTo>
                    <a:pt x="7802880" y="780288"/>
                  </a:lnTo>
                  <a:lnTo>
                    <a:pt x="0" y="780288"/>
                  </a:lnTo>
                  <a:close/>
                </a:path>
              </a:pathLst>
            </a:custGeom>
            <a:blipFill>
              <a:blip r:embed="rId2">
                <a:alphaModFix amt="0"/>
              </a:blip>
              <a:stretch>
                <a:fillRect l="0" t="-144850" r="0" b="-144850"/>
              </a:stretch>
            </a:blipFill>
          </p:spPr>
        </p:sp>
        <p:sp>
          <p:nvSpPr>
            <p:cNvPr name="TextBox 34" id="34"/>
            <p:cNvSpPr txBox="true"/>
            <p:nvPr/>
          </p:nvSpPr>
          <p:spPr>
            <a:xfrm>
              <a:off x="0" y="-38100"/>
              <a:ext cx="7802880" cy="818388"/>
            </a:xfrm>
            <a:prstGeom prst="rect">
              <a:avLst/>
            </a:prstGeom>
          </p:spPr>
          <p:txBody>
            <a:bodyPr anchor="ctr" rtlCol="false" tIns="0" lIns="0" bIns="0" rIns="0"/>
            <a:lstStyle/>
            <a:p>
              <a:pPr algn="l">
                <a:lnSpc>
                  <a:spcPts val="2879"/>
                </a:lnSpc>
              </a:pPr>
              <a:r>
                <a:rPr lang="en-US" sz="2400" b="true">
                  <a:solidFill>
                    <a:srgbClr val="059669"/>
                  </a:solidFill>
                  <a:latin typeface="Calibri (MS) Bold"/>
                  <a:ea typeface="Calibri (MS) Bold"/>
                  <a:cs typeface="Calibri (MS) Bold"/>
                  <a:sym typeface="Calibri (MS) Bold"/>
                </a:rPr>
                <a:t>🌍  Vision décentralisée</a:t>
              </a:r>
            </a:p>
          </p:txBody>
        </p:sp>
      </p:grpSp>
      <p:grpSp>
        <p:nvGrpSpPr>
          <p:cNvPr name="Group 35" id="35"/>
          <p:cNvGrpSpPr/>
          <p:nvPr/>
        </p:nvGrpSpPr>
        <p:grpSpPr>
          <a:xfrm rot="0">
            <a:off x="1060704" y="4206240"/>
            <a:ext cx="16093440" cy="841248"/>
            <a:chOff x="0" y="0"/>
            <a:chExt cx="21457920" cy="1121664"/>
          </a:xfrm>
        </p:grpSpPr>
        <p:sp>
          <p:nvSpPr>
            <p:cNvPr name="Freeform 36" id="36"/>
            <p:cNvSpPr/>
            <p:nvPr/>
          </p:nvSpPr>
          <p:spPr>
            <a:xfrm flipH="false" flipV="false" rot="0">
              <a:off x="0" y="0"/>
              <a:ext cx="21457920" cy="1121664"/>
            </a:xfrm>
            <a:custGeom>
              <a:avLst/>
              <a:gdLst/>
              <a:ahLst/>
              <a:cxnLst/>
              <a:rect r="r" b="b" t="t" l="l"/>
              <a:pathLst>
                <a:path h="1121664" w="21457920">
                  <a:moveTo>
                    <a:pt x="0" y="0"/>
                  </a:moveTo>
                  <a:lnTo>
                    <a:pt x="21457920" y="0"/>
                  </a:lnTo>
                  <a:lnTo>
                    <a:pt x="21457920" y="1121664"/>
                  </a:lnTo>
                  <a:lnTo>
                    <a:pt x="0" y="1121664"/>
                  </a:lnTo>
                  <a:close/>
                </a:path>
              </a:pathLst>
            </a:custGeom>
            <a:blipFill>
              <a:blip r:embed="rId2">
                <a:alphaModFix amt="0"/>
              </a:blip>
              <a:stretch>
                <a:fillRect l="0" t="-322757" r="0" b="-322757"/>
              </a:stretch>
            </a:blipFill>
          </p:spPr>
        </p:sp>
        <p:sp>
          <p:nvSpPr>
            <p:cNvPr name="TextBox 37" id="37"/>
            <p:cNvSpPr txBox="true"/>
            <p:nvPr/>
          </p:nvSpPr>
          <p:spPr>
            <a:xfrm>
              <a:off x="0" y="-47625"/>
              <a:ext cx="21457920" cy="1169289"/>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Chaque personne héberge son propre fichier FOAF. Ces fichiers se lient entre eux, créant un graphe social mondial distribué — sans dépendance à une plateforme centralisée.</a:t>
              </a:r>
            </a:p>
          </p:txBody>
        </p:sp>
      </p:grpSp>
      <p:grpSp>
        <p:nvGrpSpPr>
          <p:cNvPr name="Group 38" id="38"/>
          <p:cNvGrpSpPr/>
          <p:nvPr/>
        </p:nvGrpSpPr>
        <p:grpSpPr>
          <a:xfrm rot="0">
            <a:off x="718823" y="5437127"/>
            <a:ext cx="16850363" cy="1762763"/>
            <a:chOff x="0" y="0"/>
            <a:chExt cx="22467151" cy="2350351"/>
          </a:xfrm>
        </p:grpSpPr>
        <p:sp>
          <p:nvSpPr>
            <p:cNvPr name="Freeform 39" id="39"/>
            <p:cNvSpPr/>
            <p:nvPr/>
          </p:nvSpPr>
          <p:spPr>
            <a:xfrm flipH="false" flipV="false" rot="0">
              <a:off x="16891" y="16891"/>
              <a:ext cx="22433280" cy="2316480"/>
            </a:xfrm>
            <a:custGeom>
              <a:avLst/>
              <a:gdLst/>
              <a:ahLst/>
              <a:cxnLst/>
              <a:rect r="r" b="b" t="t" l="l"/>
              <a:pathLst>
                <a:path h="2316480" w="22433280">
                  <a:moveTo>
                    <a:pt x="0" y="0"/>
                  </a:moveTo>
                  <a:lnTo>
                    <a:pt x="22433280" y="0"/>
                  </a:lnTo>
                  <a:lnTo>
                    <a:pt x="22433280" y="2316480"/>
                  </a:lnTo>
                  <a:lnTo>
                    <a:pt x="0" y="2316480"/>
                  </a:lnTo>
                  <a:close/>
                </a:path>
              </a:pathLst>
            </a:custGeom>
            <a:solidFill>
              <a:srgbClr val="F1F5F9"/>
            </a:solidFill>
          </p:spPr>
        </p:sp>
        <p:sp>
          <p:nvSpPr>
            <p:cNvPr name="Freeform 40" id="40"/>
            <p:cNvSpPr/>
            <p:nvPr/>
          </p:nvSpPr>
          <p:spPr>
            <a:xfrm flipH="false" flipV="false" rot="0">
              <a:off x="0" y="0"/>
              <a:ext cx="22467063" cy="2350262"/>
            </a:xfrm>
            <a:custGeom>
              <a:avLst/>
              <a:gdLst/>
              <a:ahLst/>
              <a:cxnLst/>
              <a:rect r="r" b="b" t="t" l="l"/>
              <a:pathLst>
                <a:path h="2350262" w="22467063">
                  <a:moveTo>
                    <a:pt x="16891" y="0"/>
                  </a:moveTo>
                  <a:lnTo>
                    <a:pt x="22450171" y="0"/>
                  </a:lnTo>
                  <a:cubicBezTo>
                    <a:pt x="22459569" y="0"/>
                    <a:pt x="22467063" y="7620"/>
                    <a:pt x="22467063" y="16891"/>
                  </a:cubicBezTo>
                  <a:lnTo>
                    <a:pt x="22467063" y="2333371"/>
                  </a:lnTo>
                  <a:cubicBezTo>
                    <a:pt x="22467063" y="2342769"/>
                    <a:pt x="22459443" y="2350262"/>
                    <a:pt x="224501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22450171" y="2316480"/>
                  </a:lnTo>
                  <a:lnTo>
                    <a:pt x="22450171" y="2333371"/>
                  </a:lnTo>
                  <a:lnTo>
                    <a:pt x="22433280" y="2333371"/>
                  </a:lnTo>
                  <a:lnTo>
                    <a:pt x="22433280" y="16891"/>
                  </a:lnTo>
                  <a:lnTo>
                    <a:pt x="22450171" y="16891"/>
                  </a:lnTo>
                  <a:lnTo>
                    <a:pt x="22450171" y="33909"/>
                  </a:lnTo>
                  <a:lnTo>
                    <a:pt x="16891" y="33909"/>
                  </a:lnTo>
                  <a:close/>
                </a:path>
              </a:pathLst>
            </a:custGeom>
            <a:solidFill>
              <a:srgbClr val="059669"/>
            </a:solidFill>
          </p:spPr>
        </p:sp>
      </p:grpSp>
      <p:grpSp>
        <p:nvGrpSpPr>
          <p:cNvPr name="Group 41" id="41"/>
          <p:cNvGrpSpPr/>
          <p:nvPr/>
        </p:nvGrpSpPr>
        <p:grpSpPr>
          <a:xfrm rot="0">
            <a:off x="718823" y="5437127"/>
            <a:ext cx="135131" cy="1762763"/>
            <a:chOff x="0" y="0"/>
            <a:chExt cx="180175" cy="2350351"/>
          </a:xfrm>
        </p:grpSpPr>
        <p:sp>
          <p:nvSpPr>
            <p:cNvPr name="Freeform 42" id="42"/>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059669"/>
            </a:solidFill>
          </p:spPr>
        </p:sp>
        <p:sp>
          <p:nvSpPr>
            <p:cNvPr name="Freeform 43" id="43"/>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059669"/>
            </a:solidFill>
          </p:spPr>
        </p:sp>
      </p:grpSp>
      <p:grpSp>
        <p:nvGrpSpPr>
          <p:cNvPr name="Group 44" id="44"/>
          <p:cNvGrpSpPr/>
          <p:nvPr/>
        </p:nvGrpSpPr>
        <p:grpSpPr>
          <a:xfrm rot="0">
            <a:off x="1060704" y="5596128"/>
            <a:ext cx="5852160" cy="585216"/>
            <a:chOff x="0" y="0"/>
            <a:chExt cx="7802880" cy="780288"/>
          </a:xfrm>
        </p:grpSpPr>
        <p:sp>
          <p:nvSpPr>
            <p:cNvPr name="Freeform 45" id="45"/>
            <p:cNvSpPr/>
            <p:nvPr/>
          </p:nvSpPr>
          <p:spPr>
            <a:xfrm flipH="false" flipV="false" rot="0">
              <a:off x="0" y="0"/>
              <a:ext cx="7802880" cy="780288"/>
            </a:xfrm>
            <a:custGeom>
              <a:avLst/>
              <a:gdLst/>
              <a:ahLst/>
              <a:cxnLst/>
              <a:rect r="r" b="b" t="t" l="l"/>
              <a:pathLst>
                <a:path h="780288" w="7802880">
                  <a:moveTo>
                    <a:pt x="0" y="0"/>
                  </a:moveTo>
                  <a:lnTo>
                    <a:pt x="7802880" y="0"/>
                  </a:lnTo>
                  <a:lnTo>
                    <a:pt x="7802880" y="780288"/>
                  </a:lnTo>
                  <a:lnTo>
                    <a:pt x="0" y="780288"/>
                  </a:lnTo>
                  <a:close/>
                </a:path>
              </a:pathLst>
            </a:custGeom>
            <a:blipFill>
              <a:blip r:embed="rId2">
                <a:alphaModFix amt="0"/>
              </a:blip>
              <a:stretch>
                <a:fillRect l="0" t="-144850" r="0" b="-144850"/>
              </a:stretch>
            </a:blipFill>
          </p:spPr>
        </p:sp>
        <p:sp>
          <p:nvSpPr>
            <p:cNvPr name="TextBox 46" id="46"/>
            <p:cNvSpPr txBox="true"/>
            <p:nvPr/>
          </p:nvSpPr>
          <p:spPr>
            <a:xfrm>
              <a:off x="0" y="-38100"/>
              <a:ext cx="7802880" cy="818388"/>
            </a:xfrm>
            <a:prstGeom prst="rect">
              <a:avLst/>
            </a:prstGeom>
          </p:spPr>
          <p:txBody>
            <a:bodyPr anchor="ctr" rtlCol="false" tIns="0" lIns="0" bIns="0" rIns="0"/>
            <a:lstStyle/>
            <a:p>
              <a:pPr algn="l">
                <a:lnSpc>
                  <a:spcPts val="2879"/>
                </a:lnSpc>
              </a:pPr>
              <a:r>
                <a:rPr lang="en-US" sz="2400" b="true">
                  <a:solidFill>
                    <a:srgbClr val="059669"/>
                  </a:solidFill>
                  <a:latin typeface="Calibri (MS) Bold"/>
                  <a:ea typeface="Calibri (MS) Bold"/>
                  <a:cs typeface="Calibri (MS) Bold"/>
                  <a:sym typeface="Calibri (MS) Bold"/>
                </a:rPr>
                <a:t>📅  Contexte d’utlisation</a:t>
              </a:r>
            </a:p>
          </p:txBody>
        </p:sp>
      </p:grpSp>
      <p:grpSp>
        <p:nvGrpSpPr>
          <p:cNvPr name="Group 47" id="47"/>
          <p:cNvGrpSpPr/>
          <p:nvPr/>
        </p:nvGrpSpPr>
        <p:grpSpPr>
          <a:xfrm rot="0">
            <a:off x="1060704" y="6217920"/>
            <a:ext cx="16093440" cy="841248"/>
            <a:chOff x="0" y="0"/>
            <a:chExt cx="21457920" cy="1121664"/>
          </a:xfrm>
        </p:grpSpPr>
        <p:sp>
          <p:nvSpPr>
            <p:cNvPr name="Freeform 48" id="48"/>
            <p:cNvSpPr/>
            <p:nvPr/>
          </p:nvSpPr>
          <p:spPr>
            <a:xfrm flipH="false" flipV="false" rot="0">
              <a:off x="0" y="0"/>
              <a:ext cx="21457920" cy="1121664"/>
            </a:xfrm>
            <a:custGeom>
              <a:avLst/>
              <a:gdLst/>
              <a:ahLst/>
              <a:cxnLst/>
              <a:rect r="r" b="b" t="t" l="l"/>
              <a:pathLst>
                <a:path h="1121664" w="21457920">
                  <a:moveTo>
                    <a:pt x="0" y="0"/>
                  </a:moveTo>
                  <a:lnTo>
                    <a:pt x="21457920" y="0"/>
                  </a:lnTo>
                  <a:lnTo>
                    <a:pt x="21457920" y="1121664"/>
                  </a:lnTo>
                  <a:lnTo>
                    <a:pt x="0" y="1121664"/>
                  </a:lnTo>
                  <a:close/>
                </a:path>
              </a:pathLst>
            </a:custGeom>
            <a:blipFill>
              <a:blip r:embed="rId2">
                <a:alphaModFix amt="0"/>
              </a:blip>
              <a:stretch>
                <a:fillRect l="0" t="-322757" r="0" b="-322757"/>
              </a:stretch>
            </a:blipFill>
          </p:spPr>
        </p:sp>
        <p:sp>
          <p:nvSpPr>
            <p:cNvPr name="TextBox 49" id="49"/>
            <p:cNvSpPr txBox="true"/>
            <p:nvPr/>
          </p:nvSpPr>
          <p:spPr>
            <a:xfrm>
              <a:off x="0" y="-47625"/>
              <a:ext cx="21457920" cy="1169289"/>
            </a:xfrm>
            <a:prstGeom prst="rect">
              <a:avLst/>
            </a:prstGeom>
          </p:spPr>
          <p:txBody>
            <a:bodyPr anchor="ctr" rtlCol="false" tIns="0" lIns="0" bIns="0" rIns="0"/>
            <a:lstStyle/>
            <a:p>
              <a:pPr algn="l">
                <a:lnSpc>
                  <a:spcPts val="2520"/>
                </a:lnSpc>
              </a:pPr>
              <a:r>
                <a:rPr lang="en-US" sz="2100">
                  <a:solidFill>
                    <a:srgbClr val="000000"/>
                  </a:solidFill>
                  <a:latin typeface="Calibri (MS)"/>
                  <a:ea typeface="Calibri (MS)"/>
                  <a:cs typeface="Calibri (MS)"/>
                  <a:sym typeface="Calibri (MS)"/>
                </a:rPr>
                <a:t> La création de profils d'identité numériques ouverts, permettant de lier nos données sociales sans dépendre des plateformes propriétaires fermées</a:t>
              </a:r>
            </a:p>
          </p:txBody>
        </p:sp>
      </p:grpSp>
      <p:grpSp>
        <p:nvGrpSpPr>
          <p:cNvPr name="Group 50" id="50"/>
          <p:cNvGrpSpPr/>
          <p:nvPr/>
        </p:nvGrpSpPr>
        <p:grpSpPr>
          <a:xfrm rot="0">
            <a:off x="718823" y="7448807"/>
            <a:ext cx="16850363" cy="1762763"/>
            <a:chOff x="0" y="0"/>
            <a:chExt cx="22467151" cy="2350351"/>
          </a:xfrm>
        </p:grpSpPr>
        <p:sp>
          <p:nvSpPr>
            <p:cNvPr name="Freeform 51" id="51"/>
            <p:cNvSpPr/>
            <p:nvPr/>
          </p:nvSpPr>
          <p:spPr>
            <a:xfrm flipH="false" flipV="false" rot="0">
              <a:off x="16891" y="16891"/>
              <a:ext cx="22433280" cy="2316480"/>
            </a:xfrm>
            <a:custGeom>
              <a:avLst/>
              <a:gdLst/>
              <a:ahLst/>
              <a:cxnLst/>
              <a:rect r="r" b="b" t="t" l="l"/>
              <a:pathLst>
                <a:path h="2316480" w="22433280">
                  <a:moveTo>
                    <a:pt x="0" y="0"/>
                  </a:moveTo>
                  <a:lnTo>
                    <a:pt x="22433280" y="0"/>
                  </a:lnTo>
                  <a:lnTo>
                    <a:pt x="22433280" y="2316480"/>
                  </a:lnTo>
                  <a:lnTo>
                    <a:pt x="0" y="2316480"/>
                  </a:lnTo>
                  <a:close/>
                </a:path>
              </a:pathLst>
            </a:custGeom>
            <a:solidFill>
              <a:srgbClr val="F1F5F9"/>
            </a:solidFill>
          </p:spPr>
        </p:sp>
        <p:sp>
          <p:nvSpPr>
            <p:cNvPr name="Freeform 52" id="52"/>
            <p:cNvSpPr/>
            <p:nvPr/>
          </p:nvSpPr>
          <p:spPr>
            <a:xfrm flipH="false" flipV="false" rot="0">
              <a:off x="0" y="0"/>
              <a:ext cx="22467063" cy="2350262"/>
            </a:xfrm>
            <a:custGeom>
              <a:avLst/>
              <a:gdLst/>
              <a:ahLst/>
              <a:cxnLst/>
              <a:rect r="r" b="b" t="t" l="l"/>
              <a:pathLst>
                <a:path h="2350262" w="22467063">
                  <a:moveTo>
                    <a:pt x="16891" y="0"/>
                  </a:moveTo>
                  <a:lnTo>
                    <a:pt x="22450171" y="0"/>
                  </a:lnTo>
                  <a:cubicBezTo>
                    <a:pt x="22459569" y="0"/>
                    <a:pt x="22467063" y="7620"/>
                    <a:pt x="22467063" y="16891"/>
                  </a:cubicBezTo>
                  <a:lnTo>
                    <a:pt x="22467063" y="2333371"/>
                  </a:lnTo>
                  <a:cubicBezTo>
                    <a:pt x="22467063" y="2342769"/>
                    <a:pt x="22459443" y="2350262"/>
                    <a:pt x="224501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22450171" y="2316480"/>
                  </a:lnTo>
                  <a:lnTo>
                    <a:pt x="22450171" y="2333371"/>
                  </a:lnTo>
                  <a:lnTo>
                    <a:pt x="22433280" y="2333371"/>
                  </a:lnTo>
                  <a:lnTo>
                    <a:pt x="22433280" y="16891"/>
                  </a:lnTo>
                  <a:lnTo>
                    <a:pt x="22450171" y="16891"/>
                  </a:lnTo>
                  <a:lnTo>
                    <a:pt x="22450171" y="33909"/>
                  </a:lnTo>
                  <a:lnTo>
                    <a:pt x="16891" y="33909"/>
                  </a:lnTo>
                  <a:close/>
                </a:path>
              </a:pathLst>
            </a:custGeom>
            <a:solidFill>
              <a:srgbClr val="059669"/>
            </a:solidFill>
          </p:spPr>
        </p:sp>
      </p:grpSp>
      <p:grpSp>
        <p:nvGrpSpPr>
          <p:cNvPr name="Group 53" id="53"/>
          <p:cNvGrpSpPr/>
          <p:nvPr/>
        </p:nvGrpSpPr>
        <p:grpSpPr>
          <a:xfrm rot="0">
            <a:off x="718823" y="7448807"/>
            <a:ext cx="135131" cy="1762763"/>
            <a:chOff x="0" y="0"/>
            <a:chExt cx="180175" cy="2350351"/>
          </a:xfrm>
        </p:grpSpPr>
        <p:sp>
          <p:nvSpPr>
            <p:cNvPr name="Freeform 54" id="54"/>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059669"/>
            </a:solidFill>
          </p:spPr>
        </p:sp>
        <p:sp>
          <p:nvSpPr>
            <p:cNvPr name="Freeform 55" id="55"/>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059669"/>
            </a:solidFill>
          </p:spPr>
        </p:sp>
      </p:grpSp>
      <p:grpSp>
        <p:nvGrpSpPr>
          <p:cNvPr name="Group 56" id="56"/>
          <p:cNvGrpSpPr/>
          <p:nvPr/>
        </p:nvGrpSpPr>
        <p:grpSpPr>
          <a:xfrm rot="0">
            <a:off x="1060704" y="7607808"/>
            <a:ext cx="5852160" cy="585216"/>
            <a:chOff x="0" y="0"/>
            <a:chExt cx="7802880" cy="780288"/>
          </a:xfrm>
        </p:grpSpPr>
        <p:sp>
          <p:nvSpPr>
            <p:cNvPr name="Freeform 57" id="57"/>
            <p:cNvSpPr/>
            <p:nvPr/>
          </p:nvSpPr>
          <p:spPr>
            <a:xfrm flipH="false" flipV="false" rot="0">
              <a:off x="0" y="0"/>
              <a:ext cx="7802880" cy="780288"/>
            </a:xfrm>
            <a:custGeom>
              <a:avLst/>
              <a:gdLst/>
              <a:ahLst/>
              <a:cxnLst/>
              <a:rect r="r" b="b" t="t" l="l"/>
              <a:pathLst>
                <a:path h="780288" w="7802880">
                  <a:moveTo>
                    <a:pt x="0" y="0"/>
                  </a:moveTo>
                  <a:lnTo>
                    <a:pt x="7802880" y="0"/>
                  </a:lnTo>
                  <a:lnTo>
                    <a:pt x="7802880" y="780288"/>
                  </a:lnTo>
                  <a:lnTo>
                    <a:pt x="0" y="780288"/>
                  </a:lnTo>
                  <a:close/>
                </a:path>
              </a:pathLst>
            </a:custGeom>
            <a:blipFill>
              <a:blip r:embed="rId2">
                <a:alphaModFix amt="0"/>
              </a:blip>
              <a:stretch>
                <a:fillRect l="0" t="-144850" r="0" b="-144850"/>
              </a:stretch>
            </a:blipFill>
          </p:spPr>
        </p:sp>
        <p:sp>
          <p:nvSpPr>
            <p:cNvPr name="TextBox 58" id="58"/>
            <p:cNvSpPr txBox="true"/>
            <p:nvPr/>
          </p:nvSpPr>
          <p:spPr>
            <a:xfrm>
              <a:off x="0" y="-38100"/>
              <a:ext cx="7802880" cy="818388"/>
            </a:xfrm>
            <a:prstGeom prst="rect">
              <a:avLst/>
            </a:prstGeom>
          </p:spPr>
          <p:txBody>
            <a:bodyPr anchor="ctr" rtlCol="false" tIns="0" lIns="0" bIns="0" rIns="0"/>
            <a:lstStyle/>
            <a:p>
              <a:pPr algn="l">
                <a:lnSpc>
                  <a:spcPts val="2879"/>
                </a:lnSpc>
              </a:pPr>
              <a:r>
                <a:rPr lang="en-US" sz="2400" b="true">
                  <a:solidFill>
                    <a:srgbClr val="059669"/>
                  </a:solidFill>
                  <a:latin typeface="Calibri (MS) Bold"/>
                  <a:ea typeface="Calibri (MS) Bold"/>
                  <a:cs typeface="Calibri (MS) Bold"/>
                  <a:sym typeface="Calibri (MS) Bold"/>
                </a:rPr>
                <a:t>   Interopérabilité</a:t>
              </a:r>
            </a:p>
          </p:txBody>
        </p:sp>
      </p:grpSp>
      <p:grpSp>
        <p:nvGrpSpPr>
          <p:cNvPr name="Group 59" id="59"/>
          <p:cNvGrpSpPr/>
          <p:nvPr/>
        </p:nvGrpSpPr>
        <p:grpSpPr>
          <a:xfrm rot="0">
            <a:off x="1060704" y="8229600"/>
            <a:ext cx="16093440" cy="841248"/>
            <a:chOff x="0" y="0"/>
            <a:chExt cx="21457920" cy="1121664"/>
          </a:xfrm>
        </p:grpSpPr>
        <p:sp>
          <p:nvSpPr>
            <p:cNvPr name="Freeform 60" id="60"/>
            <p:cNvSpPr/>
            <p:nvPr/>
          </p:nvSpPr>
          <p:spPr>
            <a:xfrm flipH="false" flipV="false" rot="0">
              <a:off x="0" y="0"/>
              <a:ext cx="21457920" cy="1121664"/>
            </a:xfrm>
            <a:custGeom>
              <a:avLst/>
              <a:gdLst/>
              <a:ahLst/>
              <a:cxnLst/>
              <a:rect r="r" b="b" t="t" l="l"/>
              <a:pathLst>
                <a:path h="1121664" w="21457920">
                  <a:moveTo>
                    <a:pt x="0" y="0"/>
                  </a:moveTo>
                  <a:lnTo>
                    <a:pt x="21457920" y="0"/>
                  </a:lnTo>
                  <a:lnTo>
                    <a:pt x="21457920" y="1121664"/>
                  </a:lnTo>
                  <a:lnTo>
                    <a:pt x="0" y="1121664"/>
                  </a:lnTo>
                  <a:close/>
                </a:path>
              </a:pathLst>
            </a:custGeom>
            <a:blipFill>
              <a:blip r:embed="rId2">
                <a:alphaModFix amt="0"/>
              </a:blip>
              <a:stretch>
                <a:fillRect l="0" t="-322757" r="0" b="-322757"/>
              </a:stretch>
            </a:blipFill>
          </p:spPr>
        </p:sp>
        <p:sp>
          <p:nvSpPr>
            <p:cNvPr name="TextBox 61" id="61"/>
            <p:cNvSpPr txBox="true"/>
            <p:nvPr/>
          </p:nvSpPr>
          <p:spPr>
            <a:xfrm>
              <a:off x="0" y="-47625"/>
              <a:ext cx="21457920" cy="1169289"/>
            </a:xfrm>
            <a:prstGeom prst="rect">
              <a:avLst/>
            </a:prstGeom>
          </p:spPr>
          <p:txBody>
            <a:bodyPr anchor="ctr" rtlCol="false" tIns="0" lIns="0" bIns="0" rIns="0"/>
            <a:lstStyle/>
            <a:p>
              <a:pPr algn="l">
                <a:lnSpc>
                  <a:spcPts val="2520"/>
                </a:lnSpc>
              </a:pPr>
              <a:r>
                <a:rPr lang="en-US" sz="2100">
                  <a:solidFill>
                    <a:srgbClr val="000000"/>
                  </a:solidFill>
                  <a:latin typeface="Calibri (MS)"/>
                  <a:ea typeface="Calibri (MS)"/>
                  <a:cs typeface="Calibri (MS)"/>
                  <a:sym typeface="Calibri (MS)"/>
                </a:rPr>
                <a:t>Conçu pour le Web de données, FOAF ne fonctionne pas en vase clos. Il se combine facilement avec d'autres vocabulaires et ontologies standards (comme Dublin Core ou Schema.org) pour enrichir et interconnecter les graphes de connaissances.</a:t>
              </a:r>
            </a:p>
          </p:txBody>
        </p:sp>
      </p:grpSp>
      <p:grpSp>
        <p:nvGrpSpPr>
          <p:cNvPr name="Group 62" id="62"/>
          <p:cNvGrpSpPr/>
          <p:nvPr/>
        </p:nvGrpSpPr>
        <p:grpSpPr>
          <a:xfrm rot="0">
            <a:off x="-6353" y="9741151"/>
            <a:ext cx="18300697" cy="552193"/>
            <a:chOff x="0" y="0"/>
            <a:chExt cx="24400929" cy="736257"/>
          </a:xfrm>
        </p:grpSpPr>
        <p:sp>
          <p:nvSpPr>
            <p:cNvPr name="Freeform 63" id="63"/>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64" id="64"/>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65" id="65"/>
          <p:cNvGrpSpPr/>
          <p:nvPr/>
        </p:nvGrpSpPr>
        <p:grpSpPr>
          <a:xfrm rot="0">
            <a:off x="15910560" y="9747504"/>
            <a:ext cx="2011680" cy="539496"/>
            <a:chOff x="0" y="0"/>
            <a:chExt cx="2682240" cy="719328"/>
          </a:xfrm>
        </p:grpSpPr>
        <p:sp>
          <p:nvSpPr>
            <p:cNvPr name="Freeform 66" id="66"/>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67" id="67"/>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11 / 18</a:t>
              </a:r>
            </a:p>
          </p:txBody>
        </p:sp>
      </p:grpSp>
      <p:grpSp>
        <p:nvGrpSpPr>
          <p:cNvPr name="Group 68" id="68"/>
          <p:cNvGrpSpPr/>
          <p:nvPr/>
        </p:nvGrpSpPr>
        <p:grpSpPr>
          <a:xfrm rot="0">
            <a:off x="548640" y="9747504"/>
            <a:ext cx="10972800" cy="539496"/>
            <a:chOff x="0" y="0"/>
            <a:chExt cx="14630400" cy="719328"/>
          </a:xfrm>
        </p:grpSpPr>
        <p:sp>
          <p:nvSpPr>
            <p:cNvPr name="Freeform 69" id="69"/>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70" id="70"/>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FOAF</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059669"/>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059669"/>
            </a:solidFill>
          </p:spPr>
        </p:sp>
      </p:grpSp>
      <p:grpSp>
        <p:nvGrpSpPr>
          <p:cNvPr name="Group 5" id="5"/>
          <p:cNvGrpSpPr/>
          <p:nvPr/>
        </p:nvGrpSpPr>
        <p:grpSpPr>
          <a:xfrm rot="0">
            <a:off x="15532103" y="170183"/>
            <a:ext cx="2585723" cy="793499"/>
            <a:chOff x="0" y="0"/>
            <a:chExt cx="3447631" cy="1057999"/>
          </a:xfrm>
        </p:grpSpPr>
        <p:sp>
          <p:nvSpPr>
            <p:cNvPr name="Freeform 6" id="6"/>
            <p:cNvSpPr/>
            <p:nvPr/>
          </p:nvSpPr>
          <p:spPr>
            <a:xfrm flipH="false" flipV="false" rot="0">
              <a:off x="16891" y="16891"/>
              <a:ext cx="3413760" cy="1024128"/>
            </a:xfrm>
            <a:custGeom>
              <a:avLst/>
              <a:gdLst/>
              <a:ahLst/>
              <a:cxnLst/>
              <a:rect r="r" b="b" t="t" l="l"/>
              <a:pathLst>
                <a:path h="1024128" w="3413760">
                  <a:moveTo>
                    <a:pt x="0" y="0"/>
                  </a:moveTo>
                  <a:lnTo>
                    <a:pt x="3413760" y="0"/>
                  </a:lnTo>
                  <a:lnTo>
                    <a:pt x="3413760" y="1024128"/>
                  </a:lnTo>
                  <a:lnTo>
                    <a:pt x="0" y="1024128"/>
                  </a:lnTo>
                  <a:close/>
                </a:path>
              </a:pathLst>
            </a:custGeom>
            <a:solidFill>
              <a:srgbClr val="059669"/>
            </a:solidFill>
          </p:spPr>
        </p:sp>
        <p:sp>
          <p:nvSpPr>
            <p:cNvPr name="Freeform 7" id="7"/>
            <p:cNvSpPr/>
            <p:nvPr/>
          </p:nvSpPr>
          <p:spPr>
            <a:xfrm flipH="false" flipV="false" rot="0">
              <a:off x="0" y="0"/>
              <a:ext cx="3447542" cy="1057912"/>
            </a:xfrm>
            <a:custGeom>
              <a:avLst/>
              <a:gdLst/>
              <a:ahLst/>
              <a:cxnLst/>
              <a:rect r="r" b="b" t="t" l="l"/>
              <a:pathLst>
                <a:path h="1057912" w="3447542">
                  <a:moveTo>
                    <a:pt x="16891" y="0"/>
                  </a:moveTo>
                  <a:lnTo>
                    <a:pt x="3430651" y="0"/>
                  </a:lnTo>
                  <a:cubicBezTo>
                    <a:pt x="3440049" y="0"/>
                    <a:pt x="3447542" y="7620"/>
                    <a:pt x="3447542" y="16891"/>
                  </a:cubicBezTo>
                  <a:lnTo>
                    <a:pt x="3447542" y="1041019"/>
                  </a:lnTo>
                  <a:cubicBezTo>
                    <a:pt x="3447542" y="1050417"/>
                    <a:pt x="3439922" y="1057910"/>
                    <a:pt x="343065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430651" y="1024128"/>
                  </a:lnTo>
                  <a:lnTo>
                    <a:pt x="3430651" y="1041019"/>
                  </a:lnTo>
                  <a:lnTo>
                    <a:pt x="3413760" y="1041019"/>
                  </a:lnTo>
                  <a:lnTo>
                    <a:pt x="3413760" y="16891"/>
                  </a:lnTo>
                  <a:lnTo>
                    <a:pt x="3430651" y="16891"/>
                  </a:lnTo>
                  <a:lnTo>
                    <a:pt x="3430651" y="33909"/>
                  </a:lnTo>
                  <a:lnTo>
                    <a:pt x="16891" y="33909"/>
                  </a:lnTo>
                  <a:close/>
                </a:path>
              </a:pathLst>
            </a:custGeom>
            <a:solidFill>
              <a:srgbClr val="059669"/>
            </a:solidFill>
          </p:spPr>
        </p:sp>
      </p:grpSp>
      <p:grpSp>
        <p:nvGrpSpPr>
          <p:cNvPr name="Group 8" id="8"/>
          <p:cNvGrpSpPr/>
          <p:nvPr/>
        </p:nvGrpSpPr>
        <p:grpSpPr>
          <a:xfrm rot="0">
            <a:off x="15544800" y="182880"/>
            <a:ext cx="2560320" cy="768096"/>
            <a:chOff x="0" y="0"/>
            <a:chExt cx="3413760" cy="1024128"/>
          </a:xfrm>
        </p:grpSpPr>
        <p:sp>
          <p:nvSpPr>
            <p:cNvPr name="Freeform 9" id="9"/>
            <p:cNvSpPr/>
            <p:nvPr/>
          </p:nvSpPr>
          <p:spPr>
            <a:xfrm flipH="false" flipV="false" rot="0">
              <a:off x="0" y="0"/>
              <a:ext cx="3413760" cy="1024128"/>
            </a:xfrm>
            <a:custGeom>
              <a:avLst/>
              <a:gdLst/>
              <a:ahLst/>
              <a:cxnLst/>
              <a:rect r="r" b="b" t="t" l="l"/>
              <a:pathLst>
                <a:path h="1024128" w="3413760">
                  <a:moveTo>
                    <a:pt x="0" y="0"/>
                  </a:moveTo>
                  <a:lnTo>
                    <a:pt x="3413760" y="0"/>
                  </a:lnTo>
                  <a:lnTo>
                    <a:pt x="3413760" y="1024128"/>
                  </a:lnTo>
                  <a:lnTo>
                    <a:pt x="0" y="1024128"/>
                  </a:lnTo>
                  <a:close/>
                </a:path>
              </a:pathLst>
            </a:custGeom>
            <a:blipFill>
              <a:blip r:embed="rId2">
                <a:alphaModFix amt="0"/>
              </a:blip>
              <a:stretch>
                <a:fillRect l="0" t="-14950" r="0" b="-14950"/>
              </a:stretch>
            </a:blipFill>
          </p:spPr>
        </p:sp>
        <p:sp>
          <p:nvSpPr>
            <p:cNvPr name="TextBox 10" id="10"/>
            <p:cNvSpPr txBox="true"/>
            <p:nvPr/>
          </p:nvSpPr>
          <p:spPr>
            <a:xfrm>
              <a:off x="0" y="-38100"/>
              <a:ext cx="3413760" cy="106222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FOAF  2/3</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059669"/>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059669"/>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FOAF — Classes &amp; Propriétés</a:t>
              </a:r>
            </a:p>
          </p:txBody>
        </p:sp>
      </p:grpSp>
      <p:grpSp>
        <p:nvGrpSpPr>
          <p:cNvPr name="Group 17" id="17"/>
          <p:cNvGrpSpPr/>
          <p:nvPr/>
        </p:nvGrpSpPr>
        <p:grpSpPr>
          <a:xfrm rot="0">
            <a:off x="1097280" y="1334767"/>
            <a:ext cx="8046720" cy="511807"/>
            <a:chOff x="0" y="0"/>
            <a:chExt cx="10728960" cy="682409"/>
          </a:xfrm>
        </p:grpSpPr>
        <p:sp>
          <p:nvSpPr>
            <p:cNvPr name="Freeform 18" id="18"/>
            <p:cNvSpPr/>
            <p:nvPr/>
          </p:nvSpPr>
          <p:spPr>
            <a:xfrm flipH="false" flipV="false" rot="0">
              <a:off x="0" y="0"/>
              <a:ext cx="10728960" cy="682413"/>
            </a:xfrm>
            <a:custGeom>
              <a:avLst/>
              <a:gdLst/>
              <a:ahLst/>
              <a:cxnLst/>
              <a:rect r="r" b="b" t="t" l="l"/>
              <a:pathLst>
                <a:path h="682413" w="10728960">
                  <a:moveTo>
                    <a:pt x="0" y="0"/>
                  </a:moveTo>
                  <a:lnTo>
                    <a:pt x="10728960" y="0"/>
                  </a:lnTo>
                  <a:lnTo>
                    <a:pt x="10728960" y="682413"/>
                  </a:lnTo>
                  <a:lnTo>
                    <a:pt x="0" y="682413"/>
                  </a:lnTo>
                  <a:close/>
                </a:path>
              </a:pathLst>
            </a:custGeom>
            <a:blipFill>
              <a:blip r:embed="rId2">
                <a:alphaModFix amt="0"/>
              </a:blip>
              <a:stretch>
                <a:fillRect l="0" t="-256345" r="0" b="-256345"/>
              </a:stretch>
            </a:blipFill>
          </p:spPr>
        </p:sp>
        <p:sp>
          <p:nvSpPr>
            <p:cNvPr name="TextBox 19" id="19"/>
            <p:cNvSpPr txBox="true"/>
            <p:nvPr/>
          </p:nvSpPr>
          <p:spPr>
            <a:xfrm>
              <a:off x="0" y="-38100"/>
              <a:ext cx="10728960" cy="720509"/>
            </a:xfrm>
            <a:prstGeom prst="rect">
              <a:avLst/>
            </a:prstGeom>
          </p:spPr>
          <p:txBody>
            <a:bodyPr anchor="ctr" rtlCol="false" tIns="0" lIns="0" bIns="0" rIns="0"/>
            <a:lstStyle/>
            <a:p>
              <a:pPr algn="l">
                <a:lnSpc>
                  <a:spcPts val="2879"/>
                </a:lnSpc>
              </a:pPr>
              <a:r>
                <a:rPr lang="en-US" sz="2400" i="true">
                  <a:solidFill>
                    <a:srgbClr val="64748B"/>
                  </a:solidFill>
                  <a:latin typeface="Calibri (MS) Italics"/>
                  <a:ea typeface="Calibri (MS) Italics"/>
                  <a:cs typeface="Calibri (MS) Italics"/>
                  <a:sym typeface="Calibri (MS) Italics"/>
                </a:rPr>
                <a:t>Les briques du réseau social sémantique</a:t>
              </a:r>
            </a:p>
          </p:txBody>
        </p:sp>
      </p:grpSp>
      <p:grpSp>
        <p:nvGrpSpPr>
          <p:cNvPr name="Group 20" id="20"/>
          <p:cNvGrpSpPr/>
          <p:nvPr/>
        </p:nvGrpSpPr>
        <p:grpSpPr>
          <a:xfrm rot="0">
            <a:off x="718823" y="2035807"/>
            <a:ext cx="8313420" cy="1432560"/>
            <a:chOff x="0" y="0"/>
            <a:chExt cx="11084560" cy="1910080"/>
          </a:xfrm>
        </p:grpSpPr>
        <p:sp>
          <p:nvSpPr>
            <p:cNvPr name="Freeform 21" id="21"/>
            <p:cNvSpPr/>
            <p:nvPr/>
          </p:nvSpPr>
          <p:spPr>
            <a:xfrm flipH="false" flipV="false" rot="0">
              <a:off x="16891" y="16891"/>
              <a:ext cx="11050778" cy="1876298"/>
            </a:xfrm>
            <a:custGeom>
              <a:avLst/>
              <a:gdLst/>
              <a:ahLst/>
              <a:cxnLst/>
              <a:rect r="r" b="b" t="t" l="l"/>
              <a:pathLst>
                <a:path h="1876298" w="11050778">
                  <a:moveTo>
                    <a:pt x="0" y="0"/>
                  </a:moveTo>
                  <a:lnTo>
                    <a:pt x="11050778" y="0"/>
                  </a:lnTo>
                  <a:lnTo>
                    <a:pt x="11050778" y="1876298"/>
                  </a:lnTo>
                  <a:lnTo>
                    <a:pt x="0" y="1876298"/>
                  </a:lnTo>
                  <a:close/>
                </a:path>
              </a:pathLst>
            </a:custGeom>
            <a:solidFill>
              <a:srgbClr val="ECFDF5"/>
            </a:solidFill>
          </p:spPr>
        </p:sp>
        <p:sp>
          <p:nvSpPr>
            <p:cNvPr name="Freeform 22" id="22"/>
            <p:cNvSpPr/>
            <p:nvPr/>
          </p:nvSpPr>
          <p:spPr>
            <a:xfrm flipH="false" flipV="false" rot="0">
              <a:off x="0" y="0"/>
              <a:ext cx="11084560" cy="1910080"/>
            </a:xfrm>
            <a:custGeom>
              <a:avLst/>
              <a:gdLst/>
              <a:ahLst/>
              <a:cxnLst/>
              <a:rect r="r" b="b" t="t" l="l"/>
              <a:pathLst>
                <a:path h="1910080" w="11084560">
                  <a:moveTo>
                    <a:pt x="16891" y="0"/>
                  </a:moveTo>
                  <a:lnTo>
                    <a:pt x="11067669" y="0"/>
                  </a:lnTo>
                  <a:cubicBezTo>
                    <a:pt x="11077067" y="0"/>
                    <a:pt x="11084560" y="7620"/>
                    <a:pt x="11084560" y="16891"/>
                  </a:cubicBezTo>
                  <a:lnTo>
                    <a:pt x="11084560" y="1893189"/>
                  </a:lnTo>
                  <a:cubicBezTo>
                    <a:pt x="11084560" y="1902587"/>
                    <a:pt x="11076939" y="1910080"/>
                    <a:pt x="11067669" y="1910080"/>
                  </a:cubicBezTo>
                  <a:lnTo>
                    <a:pt x="16891" y="1910080"/>
                  </a:lnTo>
                  <a:cubicBezTo>
                    <a:pt x="7493" y="1910080"/>
                    <a:pt x="0" y="1902460"/>
                    <a:pt x="0" y="1893189"/>
                  </a:cubicBezTo>
                  <a:lnTo>
                    <a:pt x="0" y="16891"/>
                  </a:lnTo>
                  <a:cubicBezTo>
                    <a:pt x="0" y="7620"/>
                    <a:pt x="7620" y="0"/>
                    <a:pt x="16891" y="0"/>
                  </a:cubicBezTo>
                  <a:moveTo>
                    <a:pt x="16891" y="33909"/>
                  </a:moveTo>
                  <a:lnTo>
                    <a:pt x="16891" y="16891"/>
                  </a:lnTo>
                  <a:lnTo>
                    <a:pt x="33909" y="16891"/>
                  </a:lnTo>
                  <a:lnTo>
                    <a:pt x="33909" y="1893189"/>
                  </a:lnTo>
                  <a:lnTo>
                    <a:pt x="16891" y="1893189"/>
                  </a:lnTo>
                  <a:lnTo>
                    <a:pt x="16891" y="1876298"/>
                  </a:lnTo>
                  <a:lnTo>
                    <a:pt x="11067669" y="1876298"/>
                  </a:lnTo>
                  <a:lnTo>
                    <a:pt x="11067669" y="1893189"/>
                  </a:lnTo>
                  <a:lnTo>
                    <a:pt x="11050777" y="1893189"/>
                  </a:lnTo>
                  <a:lnTo>
                    <a:pt x="11050777" y="16891"/>
                  </a:lnTo>
                  <a:lnTo>
                    <a:pt x="11067669" y="16891"/>
                  </a:lnTo>
                  <a:lnTo>
                    <a:pt x="11067669" y="33909"/>
                  </a:lnTo>
                  <a:lnTo>
                    <a:pt x="16891" y="33909"/>
                  </a:lnTo>
                  <a:close/>
                </a:path>
              </a:pathLst>
            </a:custGeom>
            <a:solidFill>
              <a:srgbClr val="059669"/>
            </a:solidFill>
          </p:spPr>
        </p:sp>
      </p:grpSp>
      <p:grpSp>
        <p:nvGrpSpPr>
          <p:cNvPr name="Group 23" id="23"/>
          <p:cNvGrpSpPr/>
          <p:nvPr/>
        </p:nvGrpSpPr>
        <p:grpSpPr>
          <a:xfrm rot="0">
            <a:off x="718823" y="2035807"/>
            <a:ext cx="177803" cy="1502407"/>
            <a:chOff x="0" y="0"/>
            <a:chExt cx="237071" cy="2003209"/>
          </a:xfrm>
        </p:grpSpPr>
        <p:sp>
          <p:nvSpPr>
            <p:cNvPr name="Freeform 24" id="24"/>
            <p:cNvSpPr/>
            <p:nvPr/>
          </p:nvSpPr>
          <p:spPr>
            <a:xfrm flipH="false" flipV="false" rot="0">
              <a:off x="16891" y="16891"/>
              <a:ext cx="203200" cy="1969389"/>
            </a:xfrm>
            <a:custGeom>
              <a:avLst/>
              <a:gdLst/>
              <a:ahLst/>
              <a:cxnLst/>
              <a:rect r="r" b="b" t="t" l="l"/>
              <a:pathLst>
                <a:path h="1969389" w="203200">
                  <a:moveTo>
                    <a:pt x="0" y="0"/>
                  </a:moveTo>
                  <a:lnTo>
                    <a:pt x="203200" y="0"/>
                  </a:lnTo>
                  <a:lnTo>
                    <a:pt x="203200" y="1969389"/>
                  </a:lnTo>
                  <a:lnTo>
                    <a:pt x="0" y="1969389"/>
                  </a:lnTo>
                  <a:close/>
                </a:path>
              </a:pathLst>
            </a:custGeom>
            <a:solidFill>
              <a:srgbClr val="059669"/>
            </a:solidFill>
          </p:spPr>
        </p:sp>
        <p:sp>
          <p:nvSpPr>
            <p:cNvPr name="Freeform 25" id="25"/>
            <p:cNvSpPr/>
            <p:nvPr/>
          </p:nvSpPr>
          <p:spPr>
            <a:xfrm flipH="false" flipV="false" rot="0">
              <a:off x="0" y="0"/>
              <a:ext cx="236982" cy="2003171"/>
            </a:xfrm>
            <a:custGeom>
              <a:avLst/>
              <a:gdLst/>
              <a:ahLst/>
              <a:cxnLst/>
              <a:rect r="r" b="b" t="t" l="l"/>
              <a:pathLst>
                <a:path h="2003171" w="236982">
                  <a:moveTo>
                    <a:pt x="16891" y="0"/>
                  </a:moveTo>
                  <a:lnTo>
                    <a:pt x="220091" y="0"/>
                  </a:lnTo>
                  <a:cubicBezTo>
                    <a:pt x="229489" y="0"/>
                    <a:pt x="236982" y="7620"/>
                    <a:pt x="236982" y="16891"/>
                  </a:cubicBezTo>
                  <a:lnTo>
                    <a:pt x="236982" y="1986280"/>
                  </a:lnTo>
                  <a:cubicBezTo>
                    <a:pt x="236982" y="1995678"/>
                    <a:pt x="229362" y="2003171"/>
                    <a:pt x="220091" y="2003171"/>
                  </a:cubicBezTo>
                  <a:lnTo>
                    <a:pt x="16891" y="2003171"/>
                  </a:lnTo>
                  <a:cubicBezTo>
                    <a:pt x="7493" y="2003171"/>
                    <a:pt x="0" y="1995551"/>
                    <a:pt x="0" y="1986280"/>
                  </a:cubicBezTo>
                  <a:lnTo>
                    <a:pt x="0" y="16891"/>
                  </a:lnTo>
                  <a:cubicBezTo>
                    <a:pt x="0" y="7620"/>
                    <a:pt x="7620" y="0"/>
                    <a:pt x="16891" y="0"/>
                  </a:cubicBezTo>
                  <a:moveTo>
                    <a:pt x="16891" y="33909"/>
                  </a:moveTo>
                  <a:lnTo>
                    <a:pt x="16891" y="16891"/>
                  </a:lnTo>
                  <a:lnTo>
                    <a:pt x="33909" y="16891"/>
                  </a:lnTo>
                  <a:lnTo>
                    <a:pt x="33909" y="1986280"/>
                  </a:lnTo>
                  <a:lnTo>
                    <a:pt x="16891" y="1986280"/>
                  </a:lnTo>
                  <a:lnTo>
                    <a:pt x="16891" y="1969389"/>
                  </a:lnTo>
                  <a:lnTo>
                    <a:pt x="220091" y="1969389"/>
                  </a:lnTo>
                  <a:lnTo>
                    <a:pt x="220091" y="1986280"/>
                  </a:lnTo>
                  <a:lnTo>
                    <a:pt x="203200" y="1986280"/>
                  </a:lnTo>
                  <a:lnTo>
                    <a:pt x="203200" y="16891"/>
                  </a:lnTo>
                  <a:lnTo>
                    <a:pt x="220091" y="16891"/>
                  </a:lnTo>
                  <a:lnTo>
                    <a:pt x="220091" y="33909"/>
                  </a:lnTo>
                  <a:lnTo>
                    <a:pt x="16891" y="33909"/>
                  </a:lnTo>
                  <a:close/>
                </a:path>
              </a:pathLst>
            </a:custGeom>
            <a:solidFill>
              <a:srgbClr val="059669"/>
            </a:solidFill>
          </p:spPr>
        </p:sp>
      </p:grpSp>
      <p:grpSp>
        <p:nvGrpSpPr>
          <p:cNvPr name="Group 26" id="26"/>
          <p:cNvGrpSpPr/>
          <p:nvPr/>
        </p:nvGrpSpPr>
        <p:grpSpPr>
          <a:xfrm rot="0">
            <a:off x="1005840" y="2176777"/>
            <a:ext cx="7735567" cy="487680"/>
            <a:chOff x="0" y="0"/>
            <a:chExt cx="10314089" cy="650240"/>
          </a:xfrm>
        </p:grpSpPr>
        <p:sp>
          <p:nvSpPr>
            <p:cNvPr name="Freeform 27" id="27"/>
            <p:cNvSpPr/>
            <p:nvPr/>
          </p:nvSpPr>
          <p:spPr>
            <a:xfrm flipH="false" flipV="false" rot="0">
              <a:off x="0" y="0"/>
              <a:ext cx="10314094" cy="650240"/>
            </a:xfrm>
            <a:custGeom>
              <a:avLst/>
              <a:gdLst/>
              <a:ahLst/>
              <a:cxnLst/>
              <a:rect r="r" b="b" t="t" l="l"/>
              <a:pathLst>
                <a:path h="650240" w="10314094">
                  <a:moveTo>
                    <a:pt x="0" y="0"/>
                  </a:moveTo>
                  <a:lnTo>
                    <a:pt x="10314094" y="0"/>
                  </a:lnTo>
                  <a:lnTo>
                    <a:pt x="10314094" y="650240"/>
                  </a:lnTo>
                  <a:lnTo>
                    <a:pt x="0" y="650240"/>
                  </a:lnTo>
                  <a:close/>
                </a:path>
              </a:pathLst>
            </a:custGeom>
            <a:blipFill>
              <a:blip r:embed="rId2">
                <a:alphaModFix amt="0"/>
              </a:blip>
              <a:stretch>
                <a:fillRect l="0" t="-259071" r="0" b="-259071"/>
              </a:stretch>
            </a:blipFill>
          </p:spPr>
        </p:sp>
        <p:sp>
          <p:nvSpPr>
            <p:cNvPr name="TextBox 28" id="28"/>
            <p:cNvSpPr txBox="true"/>
            <p:nvPr/>
          </p:nvSpPr>
          <p:spPr>
            <a:xfrm>
              <a:off x="0" y="-47625"/>
              <a:ext cx="10314089" cy="697865"/>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  foaf:Person</a:t>
              </a:r>
            </a:p>
          </p:txBody>
        </p:sp>
      </p:grpSp>
      <p:grpSp>
        <p:nvGrpSpPr>
          <p:cNvPr name="Group 29" id="29"/>
          <p:cNvGrpSpPr/>
          <p:nvPr/>
        </p:nvGrpSpPr>
        <p:grpSpPr>
          <a:xfrm rot="0">
            <a:off x="1005840" y="2644140"/>
            <a:ext cx="7735567" cy="621030"/>
            <a:chOff x="0" y="0"/>
            <a:chExt cx="10314089" cy="828040"/>
          </a:xfrm>
        </p:grpSpPr>
        <p:sp>
          <p:nvSpPr>
            <p:cNvPr name="Freeform 30" id="30"/>
            <p:cNvSpPr/>
            <p:nvPr/>
          </p:nvSpPr>
          <p:spPr>
            <a:xfrm flipH="false" flipV="false" rot="0">
              <a:off x="0" y="0"/>
              <a:ext cx="10314094" cy="828040"/>
            </a:xfrm>
            <a:custGeom>
              <a:avLst/>
              <a:gdLst/>
              <a:ahLst/>
              <a:cxnLst/>
              <a:rect r="r" b="b" t="t" l="l"/>
              <a:pathLst>
                <a:path h="828040" w="10314094">
                  <a:moveTo>
                    <a:pt x="0" y="0"/>
                  </a:moveTo>
                  <a:lnTo>
                    <a:pt x="10314094" y="0"/>
                  </a:lnTo>
                  <a:lnTo>
                    <a:pt x="10314094" y="828040"/>
                  </a:lnTo>
                  <a:lnTo>
                    <a:pt x="0" y="828040"/>
                  </a:lnTo>
                  <a:close/>
                </a:path>
              </a:pathLst>
            </a:custGeom>
            <a:blipFill>
              <a:blip r:embed="rId2">
                <a:alphaModFix amt="0"/>
              </a:blip>
              <a:stretch>
                <a:fillRect l="0" t="-192706" r="0" b="-192706"/>
              </a:stretch>
            </a:blipFill>
          </p:spPr>
        </p:sp>
        <p:sp>
          <p:nvSpPr>
            <p:cNvPr name="TextBox 31" id="31"/>
            <p:cNvSpPr txBox="true"/>
            <p:nvPr/>
          </p:nvSpPr>
          <p:spPr>
            <a:xfrm>
              <a:off x="0" y="-47625"/>
              <a:ext cx="10314089" cy="87566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Classe centrale — une personne physique.</a:t>
              </a:r>
            </a:p>
          </p:txBody>
        </p:sp>
      </p:grpSp>
      <p:grpSp>
        <p:nvGrpSpPr>
          <p:cNvPr name="Group 32" id="32"/>
          <p:cNvGrpSpPr/>
          <p:nvPr/>
        </p:nvGrpSpPr>
        <p:grpSpPr>
          <a:xfrm rot="0">
            <a:off x="718823" y="5902957"/>
            <a:ext cx="8234677" cy="1438913"/>
            <a:chOff x="0" y="0"/>
            <a:chExt cx="10979569" cy="1918551"/>
          </a:xfrm>
        </p:grpSpPr>
        <p:sp>
          <p:nvSpPr>
            <p:cNvPr name="Freeform 33" id="33"/>
            <p:cNvSpPr/>
            <p:nvPr/>
          </p:nvSpPr>
          <p:spPr>
            <a:xfrm flipH="false" flipV="false" rot="0">
              <a:off x="16891" y="16891"/>
              <a:ext cx="10945749" cy="1884680"/>
            </a:xfrm>
            <a:custGeom>
              <a:avLst/>
              <a:gdLst/>
              <a:ahLst/>
              <a:cxnLst/>
              <a:rect r="r" b="b" t="t" l="l"/>
              <a:pathLst>
                <a:path h="1884680" w="10945749">
                  <a:moveTo>
                    <a:pt x="0" y="0"/>
                  </a:moveTo>
                  <a:lnTo>
                    <a:pt x="10945749" y="0"/>
                  </a:lnTo>
                  <a:lnTo>
                    <a:pt x="10945749" y="1884680"/>
                  </a:lnTo>
                  <a:lnTo>
                    <a:pt x="0" y="1884680"/>
                  </a:lnTo>
                  <a:close/>
                </a:path>
              </a:pathLst>
            </a:custGeom>
            <a:solidFill>
              <a:srgbClr val="ECFDF5"/>
            </a:solidFill>
          </p:spPr>
        </p:sp>
        <p:sp>
          <p:nvSpPr>
            <p:cNvPr name="Freeform 34" id="34"/>
            <p:cNvSpPr/>
            <p:nvPr/>
          </p:nvSpPr>
          <p:spPr>
            <a:xfrm flipH="false" flipV="false" rot="0">
              <a:off x="0" y="0"/>
              <a:ext cx="10979531" cy="1918462"/>
            </a:xfrm>
            <a:custGeom>
              <a:avLst/>
              <a:gdLst/>
              <a:ahLst/>
              <a:cxnLst/>
              <a:rect r="r" b="b" t="t" l="l"/>
              <a:pathLst>
                <a:path h="1918462" w="10979531">
                  <a:moveTo>
                    <a:pt x="16891" y="0"/>
                  </a:moveTo>
                  <a:lnTo>
                    <a:pt x="10962640" y="0"/>
                  </a:lnTo>
                  <a:cubicBezTo>
                    <a:pt x="10972038" y="0"/>
                    <a:pt x="10979531" y="7620"/>
                    <a:pt x="10979531" y="16891"/>
                  </a:cubicBezTo>
                  <a:lnTo>
                    <a:pt x="10979531" y="1901571"/>
                  </a:lnTo>
                  <a:cubicBezTo>
                    <a:pt x="10979531" y="1910969"/>
                    <a:pt x="10971911" y="1918462"/>
                    <a:pt x="10962640" y="1918462"/>
                  </a:cubicBezTo>
                  <a:lnTo>
                    <a:pt x="16891" y="1918462"/>
                  </a:lnTo>
                  <a:cubicBezTo>
                    <a:pt x="7493" y="1918462"/>
                    <a:pt x="0" y="1910842"/>
                    <a:pt x="0" y="1901571"/>
                  </a:cubicBezTo>
                  <a:lnTo>
                    <a:pt x="0" y="16891"/>
                  </a:lnTo>
                  <a:cubicBezTo>
                    <a:pt x="0" y="7620"/>
                    <a:pt x="7620" y="0"/>
                    <a:pt x="16891" y="0"/>
                  </a:cubicBezTo>
                  <a:moveTo>
                    <a:pt x="16891" y="33909"/>
                  </a:moveTo>
                  <a:lnTo>
                    <a:pt x="16891" y="16891"/>
                  </a:lnTo>
                  <a:lnTo>
                    <a:pt x="33909" y="16891"/>
                  </a:lnTo>
                  <a:lnTo>
                    <a:pt x="33909" y="1901571"/>
                  </a:lnTo>
                  <a:lnTo>
                    <a:pt x="16891" y="1901571"/>
                  </a:lnTo>
                  <a:lnTo>
                    <a:pt x="16891" y="1884680"/>
                  </a:lnTo>
                  <a:lnTo>
                    <a:pt x="10962640" y="1884680"/>
                  </a:lnTo>
                  <a:lnTo>
                    <a:pt x="10962640" y="1901571"/>
                  </a:lnTo>
                  <a:lnTo>
                    <a:pt x="10945749" y="1901571"/>
                  </a:lnTo>
                  <a:lnTo>
                    <a:pt x="10945749" y="16891"/>
                  </a:lnTo>
                  <a:lnTo>
                    <a:pt x="10962640" y="16891"/>
                  </a:lnTo>
                  <a:lnTo>
                    <a:pt x="10962640" y="33909"/>
                  </a:lnTo>
                  <a:lnTo>
                    <a:pt x="16891" y="33909"/>
                  </a:lnTo>
                  <a:close/>
                </a:path>
              </a:pathLst>
            </a:custGeom>
            <a:solidFill>
              <a:srgbClr val="059669"/>
            </a:solidFill>
          </p:spPr>
        </p:sp>
      </p:grpSp>
      <p:grpSp>
        <p:nvGrpSpPr>
          <p:cNvPr name="Group 35" id="35"/>
          <p:cNvGrpSpPr/>
          <p:nvPr/>
        </p:nvGrpSpPr>
        <p:grpSpPr>
          <a:xfrm rot="0">
            <a:off x="718823" y="5902957"/>
            <a:ext cx="177803" cy="1489710"/>
            <a:chOff x="0" y="0"/>
            <a:chExt cx="237071" cy="1986280"/>
          </a:xfrm>
        </p:grpSpPr>
        <p:sp>
          <p:nvSpPr>
            <p:cNvPr name="Freeform 36" id="36"/>
            <p:cNvSpPr/>
            <p:nvPr/>
          </p:nvSpPr>
          <p:spPr>
            <a:xfrm flipH="false" flipV="false" rot="0">
              <a:off x="16891" y="16891"/>
              <a:ext cx="203200" cy="1952498"/>
            </a:xfrm>
            <a:custGeom>
              <a:avLst/>
              <a:gdLst/>
              <a:ahLst/>
              <a:cxnLst/>
              <a:rect r="r" b="b" t="t" l="l"/>
              <a:pathLst>
                <a:path h="1952498" w="203200">
                  <a:moveTo>
                    <a:pt x="0" y="0"/>
                  </a:moveTo>
                  <a:lnTo>
                    <a:pt x="203200" y="0"/>
                  </a:lnTo>
                  <a:lnTo>
                    <a:pt x="203200" y="1952498"/>
                  </a:lnTo>
                  <a:lnTo>
                    <a:pt x="0" y="1952498"/>
                  </a:lnTo>
                  <a:close/>
                </a:path>
              </a:pathLst>
            </a:custGeom>
            <a:solidFill>
              <a:srgbClr val="059669"/>
            </a:solidFill>
          </p:spPr>
        </p:sp>
        <p:sp>
          <p:nvSpPr>
            <p:cNvPr name="Freeform 37" id="37"/>
            <p:cNvSpPr/>
            <p:nvPr/>
          </p:nvSpPr>
          <p:spPr>
            <a:xfrm flipH="false" flipV="false" rot="0">
              <a:off x="0" y="0"/>
              <a:ext cx="236982" cy="1986280"/>
            </a:xfrm>
            <a:custGeom>
              <a:avLst/>
              <a:gdLst/>
              <a:ahLst/>
              <a:cxnLst/>
              <a:rect r="r" b="b" t="t" l="l"/>
              <a:pathLst>
                <a:path h="1986280" w="236982">
                  <a:moveTo>
                    <a:pt x="16891" y="0"/>
                  </a:moveTo>
                  <a:lnTo>
                    <a:pt x="220091" y="0"/>
                  </a:lnTo>
                  <a:cubicBezTo>
                    <a:pt x="229489" y="0"/>
                    <a:pt x="236982" y="7620"/>
                    <a:pt x="236982" y="16891"/>
                  </a:cubicBezTo>
                  <a:lnTo>
                    <a:pt x="236982" y="1969389"/>
                  </a:lnTo>
                  <a:cubicBezTo>
                    <a:pt x="236982" y="1978787"/>
                    <a:pt x="229362" y="1986280"/>
                    <a:pt x="220091" y="1986280"/>
                  </a:cubicBezTo>
                  <a:lnTo>
                    <a:pt x="16891" y="1986280"/>
                  </a:lnTo>
                  <a:cubicBezTo>
                    <a:pt x="7493" y="1986280"/>
                    <a:pt x="0" y="1978660"/>
                    <a:pt x="0" y="1969389"/>
                  </a:cubicBezTo>
                  <a:lnTo>
                    <a:pt x="0" y="16891"/>
                  </a:lnTo>
                  <a:cubicBezTo>
                    <a:pt x="0" y="7620"/>
                    <a:pt x="7620" y="0"/>
                    <a:pt x="16891" y="0"/>
                  </a:cubicBezTo>
                  <a:moveTo>
                    <a:pt x="16891" y="33909"/>
                  </a:moveTo>
                  <a:lnTo>
                    <a:pt x="16891" y="16891"/>
                  </a:lnTo>
                  <a:lnTo>
                    <a:pt x="33909" y="16891"/>
                  </a:lnTo>
                  <a:lnTo>
                    <a:pt x="33909" y="1969389"/>
                  </a:lnTo>
                  <a:lnTo>
                    <a:pt x="16891" y="1969389"/>
                  </a:lnTo>
                  <a:lnTo>
                    <a:pt x="16891" y="1952498"/>
                  </a:lnTo>
                  <a:lnTo>
                    <a:pt x="220091" y="1952498"/>
                  </a:lnTo>
                  <a:lnTo>
                    <a:pt x="220091" y="1969389"/>
                  </a:lnTo>
                  <a:lnTo>
                    <a:pt x="203200" y="1969389"/>
                  </a:lnTo>
                  <a:lnTo>
                    <a:pt x="203200" y="16891"/>
                  </a:lnTo>
                  <a:lnTo>
                    <a:pt x="220091" y="16891"/>
                  </a:lnTo>
                  <a:lnTo>
                    <a:pt x="220091" y="33909"/>
                  </a:lnTo>
                  <a:lnTo>
                    <a:pt x="16891" y="33909"/>
                  </a:lnTo>
                  <a:close/>
                </a:path>
              </a:pathLst>
            </a:custGeom>
            <a:solidFill>
              <a:srgbClr val="059669"/>
            </a:solidFill>
          </p:spPr>
        </p:sp>
      </p:grpSp>
      <p:grpSp>
        <p:nvGrpSpPr>
          <p:cNvPr name="Group 38" id="38"/>
          <p:cNvGrpSpPr/>
          <p:nvPr/>
        </p:nvGrpSpPr>
        <p:grpSpPr>
          <a:xfrm rot="0">
            <a:off x="1005840" y="6043927"/>
            <a:ext cx="7661910" cy="408937"/>
            <a:chOff x="0" y="0"/>
            <a:chExt cx="10215880" cy="545249"/>
          </a:xfrm>
        </p:grpSpPr>
        <p:sp>
          <p:nvSpPr>
            <p:cNvPr name="Freeform 39" id="39"/>
            <p:cNvSpPr/>
            <p:nvPr/>
          </p:nvSpPr>
          <p:spPr>
            <a:xfrm flipH="false" flipV="false" rot="0">
              <a:off x="0" y="0"/>
              <a:ext cx="10215880" cy="545253"/>
            </a:xfrm>
            <a:custGeom>
              <a:avLst/>
              <a:gdLst/>
              <a:ahLst/>
              <a:cxnLst/>
              <a:rect r="r" b="b" t="t" l="l"/>
              <a:pathLst>
                <a:path h="545253" w="10215880">
                  <a:moveTo>
                    <a:pt x="0" y="0"/>
                  </a:moveTo>
                  <a:lnTo>
                    <a:pt x="10215880" y="0"/>
                  </a:lnTo>
                  <a:lnTo>
                    <a:pt x="10215880" y="545253"/>
                  </a:lnTo>
                  <a:lnTo>
                    <a:pt x="0" y="545253"/>
                  </a:lnTo>
                  <a:close/>
                </a:path>
              </a:pathLst>
            </a:custGeom>
            <a:blipFill>
              <a:blip r:embed="rId2">
                <a:alphaModFix amt="0"/>
              </a:blip>
              <a:stretch>
                <a:fillRect l="0" t="-315072" r="0" b="-315071"/>
              </a:stretch>
            </a:blipFill>
          </p:spPr>
        </p:sp>
        <p:sp>
          <p:nvSpPr>
            <p:cNvPr name="TextBox 40" id="40"/>
            <p:cNvSpPr txBox="true"/>
            <p:nvPr/>
          </p:nvSpPr>
          <p:spPr>
            <a:xfrm>
              <a:off x="0" y="-47625"/>
              <a:ext cx="10215880" cy="592874"/>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  foaf:Organization</a:t>
              </a:r>
            </a:p>
          </p:txBody>
        </p:sp>
      </p:grpSp>
      <p:grpSp>
        <p:nvGrpSpPr>
          <p:cNvPr name="Group 41" id="41"/>
          <p:cNvGrpSpPr/>
          <p:nvPr/>
        </p:nvGrpSpPr>
        <p:grpSpPr>
          <a:xfrm rot="0">
            <a:off x="1005840" y="6388103"/>
            <a:ext cx="7661910" cy="767077"/>
            <a:chOff x="0" y="0"/>
            <a:chExt cx="10215880" cy="1022769"/>
          </a:xfrm>
        </p:grpSpPr>
        <p:sp>
          <p:nvSpPr>
            <p:cNvPr name="Freeform 42" id="42"/>
            <p:cNvSpPr/>
            <p:nvPr/>
          </p:nvSpPr>
          <p:spPr>
            <a:xfrm flipH="false" flipV="false" rot="0">
              <a:off x="0" y="0"/>
              <a:ext cx="10215880" cy="1022773"/>
            </a:xfrm>
            <a:custGeom>
              <a:avLst/>
              <a:gdLst/>
              <a:ahLst/>
              <a:cxnLst/>
              <a:rect r="r" b="b" t="t" l="l"/>
              <a:pathLst>
                <a:path h="1022773" w="10215880">
                  <a:moveTo>
                    <a:pt x="0" y="0"/>
                  </a:moveTo>
                  <a:lnTo>
                    <a:pt x="10215880" y="0"/>
                  </a:lnTo>
                  <a:lnTo>
                    <a:pt x="10215880" y="1022773"/>
                  </a:lnTo>
                  <a:lnTo>
                    <a:pt x="0" y="1022773"/>
                  </a:lnTo>
                  <a:close/>
                </a:path>
              </a:pathLst>
            </a:custGeom>
            <a:blipFill>
              <a:blip r:embed="rId2">
                <a:alphaModFix amt="0"/>
              </a:blip>
              <a:stretch>
                <a:fillRect l="0" t="-144624" r="0" b="-144624"/>
              </a:stretch>
            </a:blipFill>
          </p:spPr>
        </p:sp>
        <p:sp>
          <p:nvSpPr>
            <p:cNvPr name="TextBox 43" id="43"/>
            <p:cNvSpPr txBox="true"/>
            <p:nvPr/>
          </p:nvSpPr>
          <p:spPr>
            <a:xfrm>
              <a:off x="0" y="-47625"/>
              <a:ext cx="10215880" cy="1070394"/>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Une organisation ou institution.</a:t>
              </a:r>
            </a:p>
          </p:txBody>
        </p:sp>
      </p:grpSp>
      <p:grpSp>
        <p:nvGrpSpPr>
          <p:cNvPr name="Group 44" id="44"/>
          <p:cNvGrpSpPr/>
          <p:nvPr/>
        </p:nvGrpSpPr>
        <p:grpSpPr>
          <a:xfrm rot="0">
            <a:off x="718823" y="3892553"/>
            <a:ext cx="8313420" cy="1525267"/>
            <a:chOff x="0" y="0"/>
            <a:chExt cx="11084560" cy="2033689"/>
          </a:xfrm>
        </p:grpSpPr>
        <p:sp>
          <p:nvSpPr>
            <p:cNvPr name="Freeform 45" id="45"/>
            <p:cNvSpPr/>
            <p:nvPr/>
          </p:nvSpPr>
          <p:spPr>
            <a:xfrm flipH="false" flipV="false" rot="0">
              <a:off x="16891" y="16891"/>
              <a:ext cx="11050778" cy="1999869"/>
            </a:xfrm>
            <a:custGeom>
              <a:avLst/>
              <a:gdLst/>
              <a:ahLst/>
              <a:cxnLst/>
              <a:rect r="r" b="b" t="t" l="l"/>
              <a:pathLst>
                <a:path h="1999869" w="11050778">
                  <a:moveTo>
                    <a:pt x="0" y="0"/>
                  </a:moveTo>
                  <a:lnTo>
                    <a:pt x="11050778" y="0"/>
                  </a:lnTo>
                  <a:lnTo>
                    <a:pt x="11050778" y="1999869"/>
                  </a:lnTo>
                  <a:lnTo>
                    <a:pt x="0" y="1999869"/>
                  </a:lnTo>
                  <a:close/>
                </a:path>
              </a:pathLst>
            </a:custGeom>
            <a:solidFill>
              <a:srgbClr val="ECFDF5"/>
            </a:solidFill>
          </p:spPr>
        </p:sp>
        <p:sp>
          <p:nvSpPr>
            <p:cNvPr name="Freeform 46" id="46"/>
            <p:cNvSpPr/>
            <p:nvPr/>
          </p:nvSpPr>
          <p:spPr>
            <a:xfrm flipH="false" flipV="false" rot="0">
              <a:off x="0" y="0"/>
              <a:ext cx="11084560" cy="2033651"/>
            </a:xfrm>
            <a:custGeom>
              <a:avLst/>
              <a:gdLst/>
              <a:ahLst/>
              <a:cxnLst/>
              <a:rect r="r" b="b" t="t" l="l"/>
              <a:pathLst>
                <a:path h="2033651" w="11084560">
                  <a:moveTo>
                    <a:pt x="16891" y="0"/>
                  </a:moveTo>
                  <a:lnTo>
                    <a:pt x="11067669" y="0"/>
                  </a:lnTo>
                  <a:cubicBezTo>
                    <a:pt x="11077067" y="0"/>
                    <a:pt x="11084560" y="7620"/>
                    <a:pt x="11084560" y="16891"/>
                  </a:cubicBezTo>
                  <a:lnTo>
                    <a:pt x="11084560" y="2016760"/>
                  </a:lnTo>
                  <a:cubicBezTo>
                    <a:pt x="11084560" y="2026158"/>
                    <a:pt x="11076939" y="2033651"/>
                    <a:pt x="11067669" y="2033651"/>
                  </a:cubicBezTo>
                  <a:lnTo>
                    <a:pt x="16891" y="2033651"/>
                  </a:lnTo>
                  <a:cubicBezTo>
                    <a:pt x="7493" y="2033651"/>
                    <a:pt x="0" y="2026031"/>
                    <a:pt x="0" y="2016760"/>
                  </a:cubicBezTo>
                  <a:lnTo>
                    <a:pt x="0" y="16891"/>
                  </a:lnTo>
                  <a:cubicBezTo>
                    <a:pt x="0" y="7620"/>
                    <a:pt x="7620" y="0"/>
                    <a:pt x="16891" y="0"/>
                  </a:cubicBezTo>
                  <a:moveTo>
                    <a:pt x="16891" y="33909"/>
                  </a:moveTo>
                  <a:lnTo>
                    <a:pt x="16891" y="16891"/>
                  </a:lnTo>
                  <a:lnTo>
                    <a:pt x="33909" y="16891"/>
                  </a:lnTo>
                  <a:lnTo>
                    <a:pt x="33909" y="2016760"/>
                  </a:lnTo>
                  <a:lnTo>
                    <a:pt x="16891" y="2016760"/>
                  </a:lnTo>
                  <a:lnTo>
                    <a:pt x="16891" y="1999869"/>
                  </a:lnTo>
                  <a:lnTo>
                    <a:pt x="11067669" y="1999869"/>
                  </a:lnTo>
                  <a:lnTo>
                    <a:pt x="11067669" y="2016760"/>
                  </a:lnTo>
                  <a:lnTo>
                    <a:pt x="11050777" y="2016760"/>
                  </a:lnTo>
                  <a:lnTo>
                    <a:pt x="11050777" y="16891"/>
                  </a:lnTo>
                  <a:lnTo>
                    <a:pt x="11067669" y="16891"/>
                  </a:lnTo>
                  <a:lnTo>
                    <a:pt x="11067669" y="33909"/>
                  </a:lnTo>
                  <a:lnTo>
                    <a:pt x="16891" y="33909"/>
                  </a:lnTo>
                  <a:close/>
                </a:path>
              </a:pathLst>
            </a:custGeom>
            <a:solidFill>
              <a:srgbClr val="059669"/>
            </a:solidFill>
          </p:spPr>
        </p:sp>
      </p:grpSp>
      <p:grpSp>
        <p:nvGrpSpPr>
          <p:cNvPr name="Group 47" id="47"/>
          <p:cNvGrpSpPr/>
          <p:nvPr/>
        </p:nvGrpSpPr>
        <p:grpSpPr>
          <a:xfrm rot="0">
            <a:off x="680723" y="3869693"/>
            <a:ext cx="177803" cy="1697993"/>
            <a:chOff x="0" y="0"/>
            <a:chExt cx="237071" cy="2263991"/>
          </a:xfrm>
        </p:grpSpPr>
        <p:sp>
          <p:nvSpPr>
            <p:cNvPr name="Freeform 48" id="48"/>
            <p:cNvSpPr/>
            <p:nvPr/>
          </p:nvSpPr>
          <p:spPr>
            <a:xfrm flipH="false" flipV="false" rot="0">
              <a:off x="16891" y="16891"/>
              <a:ext cx="203200" cy="2230120"/>
            </a:xfrm>
            <a:custGeom>
              <a:avLst/>
              <a:gdLst/>
              <a:ahLst/>
              <a:cxnLst/>
              <a:rect r="r" b="b" t="t" l="l"/>
              <a:pathLst>
                <a:path h="2230120" w="203200">
                  <a:moveTo>
                    <a:pt x="203200" y="0"/>
                  </a:moveTo>
                  <a:lnTo>
                    <a:pt x="0" y="0"/>
                  </a:lnTo>
                  <a:lnTo>
                    <a:pt x="0" y="2230120"/>
                  </a:lnTo>
                  <a:lnTo>
                    <a:pt x="203200" y="2230120"/>
                  </a:lnTo>
                  <a:close/>
                </a:path>
              </a:pathLst>
            </a:custGeom>
            <a:solidFill>
              <a:srgbClr val="059669"/>
            </a:solidFill>
          </p:spPr>
        </p:sp>
        <p:sp>
          <p:nvSpPr>
            <p:cNvPr name="Freeform 49" id="49"/>
            <p:cNvSpPr/>
            <p:nvPr/>
          </p:nvSpPr>
          <p:spPr>
            <a:xfrm flipH="false" flipV="false" rot="0">
              <a:off x="0" y="0"/>
              <a:ext cx="236982" cy="2263902"/>
            </a:xfrm>
            <a:custGeom>
              <a:avLst/>
              <a:gdLst/>
              <a:ahLst/>
              <a:cxnLst/>
              <a:rect r="r" b="b" t="t" l="l"/>
              <a:pathLst>
                <a:path h="2263902" w="236982">
                  <a:moveTo>
                    <a:pt x="220091" y="33909"/>
                  </a:moveTo>
                  <a:lnTo>
                    <a:pt x="16891" y="33909"/>
                  </a:lnTo>
                  <a:lnTo>
                    <a:pt x="16891" y="16891"/>
                  </a:lnTo>
                  <a:lnTo>
                    <a:pt x="33909" y="16891"/>
                  </a:lnTo>
                  <a:lnTo>
                    <a:pt x="33909" y="2247011"/>
                  </a:lnTo>
                  <a:lnTo>
                    <a:pt x="16891" y="2247011"/>
                  </a:lnTo>
                  <a:lnTo>
                    <a:pt x="16891" y="2230120"/>
                  </a:lnTo>
                  <a:lnTo>
                    <a:pt x="220091" y="2230120"/>
                  </a:lnTo>
                  <a:lnTo>
                    <a:pt x="220091" y="2247011"/>
                  </a:lnTo>
                  <a:lnTo>
                    <a:pt x="203200" y="2247011"/>
                  </a:lnTo>
                  <a:lnTo>
                    <a:pt x="203200" y="16891"/>
                  </a:lnTo>
                  <a:lnTo>
                    <a:pt x="220091" y="16891"/>
                  </a:lnTo>
                  <a:lnTo>
                    <a:pt x="220091" y="33909"/>
                  </a:lnTo>
                  <a:moveTo>
                    <a:pt x="220091" y="0"/>
                  </a:moveTo>
                  <a:cubicBezTo>
                    <a:pt x="229489" y="0"/>
                    <a:pt x="236982" y="7620"/>
                    <a:pt x="236982" y="16891"/>
                  </a:cubicBezTo>
                  <a:lnTo>
                    <a:pt x="236982" y="2247011"/>
                  </a:lnTo>
                  <a:cubicBezTo>
                    <a:pt x="236982" y="2256409"/>
                    <a:pt x="229362" y="2263902"/>
                    <a:pt x="220091" y="2263902"/>
                  </a:cubicBezTo>
                  <a:lnTo>
                    <a:pt x="16891" y="2263902"/>
                  </a:lnTo>
                  <a:cubicBezTo>
                    <a:pt x="7493" y="2263902"/>
                    <a:pt x="0" y="2256282"/>
                    <a:pt x="0" y="2247011"/>
                  </a:cubicBezTo>
                  <a:lnTo>
                    <a:pt x="0" y="16891"/>
                  </a:lnTo>
                  <a:cubicBezTo>
                    <a:pt x="0" y="7620"/>
                    <a:pt x="7620" y="0"/>
                    <a:pt x="16891" y="0"/>
                  </a:cubicBezTo>
                  <a:lnTo>
                    <a:pt x="220091" y="0"/>
                  </a:lnTo>
                  <a:close/>
                </a:path>
              </a:pathLst>
            </a:custGeom>
            <a:solidFill>
              <a:srgbClr val="059669"/>
            </a:solidFill>
          </p:spPr>
        </p:sp>
      </p:grpSp>
      <p:grpSp>
        <p:nvGrpSpPr>
          <p:cNvPr name="Group 50" id="50"/>
          <p:cNvGrpSpPr/>
          <p:nvPr/>
        </p:nvGrpSpPr>
        <p:grpSpPr>
          <a:xfrm rot="0">
            <a:off x="1005840" y="4010663"/>
            <a:ext cx="7520940" cy="538477"/>
            <a:chOff x="0" y="0"/>
            <a:chExt cx="10027920" cy="717969"/>
          </a:xfrm>
        </p:grpSpPr>
        <p:sp>
          <p:nvSpPr>
            <p:cNvPr name="Freeform 51" id="51"/>
            <p:cNvSpPr/>
            <p:nvPr/>
          </p:nvSpPr>
          <p:spPr>
            <a:xfrm flipH="false" flipV="false" rot="0">
              <a:off x="0" y="0"/>
              <a:ext cx="10027920" cy="717973"/>
            </a:xfrm>
            <a:custGeom>
              <a:avLst/>
              <a:gdLst/>
              <a:ahLst/>
              <a:cxnLst/>
              <a:rect r="r" b="b" t="t" l="l"/>
              <a:pathLst>
                <a:path h="717973" w="10027920">
                  <a:moveTo>
                    <a:pt x="0" y="0"/>
                  </a:moveTo>
                  <a:lnTo>
                    <a:pt x="10027920" y="0"/>
                  </a:lnTo>
                  <a:lnTo>
                    <a:pt x="10027920" y="717973"/>
                  </a:lnTo>
                  <a:lnTo>
                    <a:pt x="0" y="717973"/>
                  </a:lnTo>
                  <a:close/>
                </a:path>
              </a:pathLst>
            </a:custGeom>
            <a:blipFill>
              <a:blip r:embed="rId2">
                <a:alphaModFix amt="0"/>
              </a:blip>
              <a:stretch>
                <a:fillRect l="0" t="-222147" r="0" b="-222146"/>
              </a:stretch>
            </a:blipFill>
          </p:spPr>
        </p:sp>
        <p:sp>
          <p:nvSpPr>
            <p:cNvPr name="TextBox 52" id="52"/>
            <p:cNvSpPr txBox="true"/>
            <p:nvPr/>
          </p:nvSpPr>
          <p:spPr>
            <a:xfrm>
              <a:off x="0" y="-47625"/>
              <a:ext cx="10027920" cy="765594"/>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  foaf:Project</a:t>
              </a:r>
            </a:p>
          </p:txBody>
        </p:sp>
      </p:grpSp>
      <p:grpSp>
        <p:nvGrpSpPr>
          <p:cNvPr name="Group 53" id="53"/>
          <p:cNvGrpSpPr/>
          <p:nvPr/>
        </p:nvGrpSpPr>
        <p:grpSpPr>
          <a:xfrm rot="0">
            <a:off x="1005840" y="4386577"/>
            <a:ext cx="7058663" cy="967740"/>
            <a:chOff x="0" y="0"/>
            <a:chExt cx="9411551" cy="1290320"/>
          </a:xfrm>
        </p:grpSpPr>
        <p:sp>
          <p:nvSpPr>
            <p:cNvPr name="Freeform 54" id="54"/>
            <p:cNvSpPr/>
            <p:nvPr/>
          </p:nvSpPr>
          <p:spPr>
            <a:xfrm flipH="false" flipV="false" rot="0">
              <a:off x="0" y="0"/>
              <a:ext cx="9411546" cy="1290320"/>
            </a:xfrm>
            <a:custGeom>
              <a:avLst/>
              <a:gdLst/>
              <a:ahLst/>
              <a:cxnLst/>
              <a:rect r="r" b="b" t="t" l="l"/>
              <a:pathLst>
                <a:path h="1290320" w="9411546">
                  <a:moveTo>
                    <a:pt x="0" y="0"/>
                  </a:moveTo>
                  <a:lnTo>
                    <a:pt x="9411546" y="0"/>
                  </a:lnTo>
                  <a:lnTo>
                    <a:pt x="9411546" y="1290320"/>
                  </a:lnTo>
                  <a:lnTo>
                    <a:pt x="0" y="1290320"/>
                  </a:lnTo>
                  <a:close/>
                </a:path>
              </a:pathLst>
            </a:custGeom>
            <a:blipFill>
              <a:blip r:embed="rId2">
                <a:alphaModFix amt="0"/>
              </a:blip>
              <a:stretch>
                <a:fillRect l="0" t="-92123" r="0" b="-92123"/>
              </a:stretch>
            </a:blipFill>
          </p:spPr>
        </p:sp>
        <p:sp>
          <p:nvSpPr>
            <p:cNvPr name="TextBox 55" id="55"/>
            <p:cNvSpPr txBox="true"/>
            <p:nvPr/>
          </p:nvSpPr>
          <p:spPr>
            <a:xfrm>
              <a:off x="0" y="-47625"/>
              <a:ext cx="9411551" cy="133794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Un projet auquel des personnes participent.</a:t>
              </a:r>
            </a:p>
          </p:txBody>
        </p:sp>
      </p:grpSp>
      <p:grpSp>
        <p:nvGrpSpPr>
          <p:cNvPr name="Group 56" id="56"/>
          <p:cNvGrpSpPr/>
          <p:nvPr/>
        </p:nvGrpSpPr>
        <p:grpSpPr>
          <a:xfrm rot="0">
            <a:off x="9588503" y="3860797"/>
            <a:ext cx="8235953" cy="1554480"/>
            <a:chOff x="0" y="0"/>
            <a:chExt cx="10981271" cy="2072640"/>
          </a:xfrm>
        </p:grpSpPr>
        <p:sp>
          <p:nvSpPr>
            <p:cNvPr name="Freeform 57" id="57"/>
            <p:cNvSpPr/>
            <p:nvPr/>
          </p:nvSpPr>
          <p:spPr>
            <a:xfrm flipH="false" flipV="false" rot="0">
              <a:off x="16891" y="16891"/>
              <a:ext cx="10947400" cy="2038858"/>
            </a:xfrm>
            <a:custGeom>
              <a:avLst/>
              <a:gdLst/>
              <a:ahLst/>
              <a:cxnLst/>
              <a:rect r="r" b="b" t="t" l="l"/>
              <a:pathLst>
                <a:path h="2038858" w="10947400">
                  <a:moveTo>
                    <a:pt x="0" y="0"/>
                  </a:moveTo>
                  <a:lnTo>
                    <a:pt x="10947400" y="0"/>
                  </a:lnTo>
                  <a:lnTo>
                    <a:pt x="10947400" y="2038858"/>
                  </a:lnTo>
                  <a:lnTo>
                    <a:pt x="0" y="2038858"/>
                  </a:lnTo>
                  <a:close/>
                </a:path>
              </a:pathLst>
            </a:custGeom>
            <a:solidFill>
              <a:srgbClr val="ECFDF5"/>
            </a:solidFill>
          </p:spPr>
        </p:sp>
        <p:sp>
          <p:nvSpPr>
            <p:cNvPr name="Freeform 58" id="58"/>
            <p:cNvSpPr/>
            <p:nvPr/>
          </p:nvSpPr>
          <p:spPr>
            <a:xfrm flipH="false" flipV="false" rot="0">
              <a:off x="0" y="0"/>
              <a:ext cx="10981182" cy="2072640"/>
            </a:xfrm>
            <a:custGeom>
              <a:avLst/>
              <a:gdLst/>
              <a:ahLst/>
              <a:cxnLst/>
              <a:rect r="r" b="b" t="t" l="l"/>
              <a:pathLst>
                <a:path h="2072640" w="10981182">
                  <a:moveTo>
                    <a:pt x="16891" y="0"/>
                  </a:moveTo>
                  <a:lnTo>
                    <a:pt x="10964291" y="0"/>
                  </a:lnTo>
                  <a:cubicBezTo>
                    <a:pt x="10973689" y="0"/>
                    <a:pt x="10981182" y="7620"/>
                    <a:pt x="10981182" y="16891"/>
                  </a:cubicBezTo>
                  <a:lnTo>
                    <a:pt x="10981182" y="2055749"/>
                  </a:lnTo>
                  <a:cubicBezTo>
                    <a:pt x="10981182" y="2065147"/>
                    <a:pt x="10973562" y="2072640"/>
                    <a:pt x="10964291" y="2072640"/>
                  </a:cubicBezTo>
                  <a:lnTo>
                    <a:pt x="16891" y="2072640"/>
                  </a:lnTo>
                  <a:cubicBezTo>
                    <a:pt x="7493" y="2072640"/>
                    <a:pt x="0" y="2065020"/>
                    <a:pt x="0" y="2055749"/>
                  </a:cubicBezTo>
                  <a:lnTo>
                    <a:pt x="0" y="16891"/>
                  </a:lnTo>
                  <a:cubicBezTo>
                    <a:pt x="0" y="7620"/>
                    <a:pt x="7620" y="0"/>
                    <a:pt x="16891" y="0"/>
                  </a:cubicBezTo>
                  <a:moveTo>
                    <a:pt x="16891" y="33909"/>
                  </a:moveTo>
                  <a:lnTo>
                    <a:pt x="16891" y="16891"/>
                  </a:lnTo>
                  <a:lnTo>
                    <a:pt x="33909" y="16891"/>
                  </a:lnTo>
                  <a:lnTo>
                    <a:pt x="33909" y="2055749"/>
                  </a:lnTo>
                  <a:lnTo>
                    <a:pt x="16891" y="2055749"/>
                  </a:lnTo>
                  <a:lnTo>
                    <a:pt x="16891" y="2038858"/>
                  </a:lnTo>
                  <a:lnTo>
                    <a:pt x="10964291" y="2038858"/>
                  </a:lnTo>
                  <a:lnTo>
                    <a:pt x="10964291" y="2055749"/>
                  </a:lnTo>
                  <a:lnTo>
                    <a:pt x="10947400" y="2055749"/>
                  </a:lnTo>
                  <a:lnTo>
                    <a:pt x="10947400" y="16891"/>
                  </a:lnTo>
                  <a:lnTo>
                    <a:pt x="10964291" y="16891"/>
                  </a:lnTo>
                  <a:lnTo>
                    <a:pt x="10964291" y="33909"/>
                  </a:lnTo>
                  <a:lnTo>
                    <a:pt x="16891" y="33909"/>
                  </a:lnTo>
                  <a:close/>
                </a:path>
              </a:pathLst>
            </a:custGeom>
            <a:solidFill>
              <a:srgbClr val="059669"/>
            </a:solidFill>
          </p:spPr>
        </p:sp>
      </p:grpSp>
      <p:grpSp>
        <p:nvGrpSpPr>
          <p:cNvPr name="Group 59" id="59"/>
          <p:cNvGrpSpPr/>
          <p:nvPr/>
        </p:nvGrpSpPr>
        <p:grpSpPr>
          <a:xfrm rot="0">
            <a:off x="9588503" y="3860797"/>
            <a:ext cx="177803" cy="1554480"/>
            <a:chOff x="0" y="0"/>
            <a:chExt cx="237071" cy="2072640"/>
          </a:xfrm>
        </p:grpSpPr>
        <p:sp>
          <p:nvSpPr>
            <p:cNvPr name="Freeform 60" id="60"/>
            <p:cNvSpPr/>
            <p:nvPr/>
          </p:nvSpPr>
          <p:spPr>
            <a:xfrm flipH="false" flipV="false" rot="0">
              <a:off x="16891" y="16891"/>
              <a:ext cx="203200" cy="2038858"/>
            </a:xfrm>
            <a:custGeom>
              <a:avLst/>
              <a:gdLst/>
              <a:ahLst/>
              <a:cxnLst/>
              <a:rect r="r" b="b" t="t" l="l"/>
              <a:pathLst>
                <a:path h="2038858" w="203200">
                  <a:moveTo>
                    <a:pt x="0" y="0"/>
                  </a:moveTo>
                  <a:lnTo>
                    <a:pt x="203200" y="0"/>
                  </a:lnTo>
                  <a:lnTo>
                    <a:pt x="203200" y="2038858"/>
                  </a:lnTo>
                  <a:lnTo>
                    <a:pt x="0" y="2038858"/>
                  </a:lnTo>
                  <a:close/>
                </a:path>
              </a:pathLst>
            </a:custGeom>
            <a:solidFill>
              <a:srgbClr val="059669"/>
            </a:solidFill>
          </p:spPr>
        </p:sp>
        <p:sp>
          <p:nvSpPr>
            <p:cNvPr name="Freeform 61" id="61"/>
            <p:cNvSpPr/>
            <p:nvPr/>
          </p:nvSpPr>
          <p:spPr>
            <a:xfrm flipH="false" flipV="false" rot="0">
              <a:off x="0" y="0"/>
              <a:ext cx="236982" cy="2072640"/>
            </a:xfrm>
            <a:custGeom>
              <a:avLst/>
              <a:gdLst/>
              <a:ahLst/>
              <a:cxnLst/>
              <a:rect r="r" b="b" t="t" l="l"/>
              <a:pathLst>
                <a:path h="2072640" w="236982">
                  <a:moveTo>
                    <a:pt x="16891" y="0"/>
                  </a:moveTo>
                  <a:lnTo>
                    <a:pt x="220091" y="0"/>
                  </a:lnTo>
                  <a:cubicBezTo>
                    <a:pt x="229489" y="0"/>
                    <a:pt x="236982" y="7620"/>
                    <a:pt x="236982" y="16891"/>
                  </a:cubicBezTo>
                  <a:lnTo>
                    <a:pt x="236982" y="2055749"/>
                  </a:lnTo>
                  <a:cubicBezTo>
                    <a:pt x="236982" y="2065147"/>
                    <a:pt x="229362" y="2072640"/>
                    <a:pt x="220091" y="2072640"/>
                  </a:cubicBezTo>
                  <a:lnTo>
                    <a:pt x="16891" y="2072640"/>
                  </a:lnTo>
                  <a:cubicBezTo>
                    <a:pt x="7493" y="2072640"/>
                    <a:pt x="0" y="2065020"/>
                    <a:pt x="0" y="2055749"/>
                  </a:cubicBezTo>
                  <a:lnTo>
                    <a:pt x="0" y="16891"/>
                  </a:lnTo>
                  <a:cubicBezTo>
                    <a:pt x="0" y="7620"/>
                    <a:pt x="7620" y="0"/>
                    <a:pt x="16891" y="0"/>
                  </a:cubicBezTo>
                  <a:moveTo>
                    <a:pt x="16891" y="33909"/>
                  </a:moveTo>
                  <a:lnTo>
                    <a:pt x="16891" y="16891"/>
                  </a:lnTo>
                  <a:lnTo>
                    <a:pt x="33909" y="16891"/>
                  </a:lnTo>
                  <a:lnTo>
                    <a:pt x="33909" y="2055749"/>
                  </a:lnTo>
                  <a:lnTo>
                    <a:pt x="16891" y="2055749"/>
                  </a:lnTo>
                  <a:lnTo>
                    <a:pt x="16891" y="2038858"/>
                  </a:lnTo>
                  <a:lnTo>
                    <a:pt x="220091" y="2038858"/>
                  </a:lnTo>
                  <a:lnTo>
                    <a:pt x="220091" y="2055749"/>
                  </a:lnTo>
                  <a:lnTo>
                    <a:pt x="203200" y="2055749"/>
                  </a:lnTo>
                  <a:lnTo>
                    <a:pt x="203200" y="16891"/>
                  </a:lnTo>
                  <a:lnTo>
                    <a:pt x="220091" y="16891"/>
                  </a:lnTo>
                  <a:lnTo>
                    <a:pt x="220091" y="33909"/>
                  </a:lnTo>
                  <a:lnTo>
                    <a:pt x="16891" y="33909"/>
                  </a:lnTo>
                  <a:close/>
                </a:path>
              </a:pathLst>
            </a:custGeom>
            <a:solidFill>
              <a:srgbClr val="059669"/>
            </a:solidFill>
          </p:spPr>
        </p:sp>
      </p:grpSp>
      <p:grpSp>
        <p:nvGrpSpPr>
          <p:cNvPr name="Group 62" id="62"/>
          <p:cNvGrpSpPr/>
          <p:nvPr/>
        </p:nvGrpSpPr>
        <p:grpSpPr>
          <a:xfrm rot="0">
            <a:off x="9875520" y="4001767"/>
            <a:ext cx="7407907" cy="426720"/>
            <a:chOff x="0" y="0"/>
            <a:chExt cx="9877209" cy="568960"/>
          </a:xfrm>
        </p:grpSpPr>
        <p:sp>
          <p:nvSpPr>
            <p:cNvPr name="Freeform 63" id="63"/>
            <p:cNvSpPr/>
            <p:nvPr/>
          </p:nvSpPr>
          <p:spPr>
            <a:xfrm flipH="false" flipV="false" rot="0">
              <a:off x="0" y="0"/>
              <a:ext cx="9877213" cy="568960"/>
            </a:xfrm>
            <a:custGeom>
              <a:avLst/>
              <a:gdLst/>
              <a:ahLst/>
              <a:cxnLst/>
              <a:rect r="r" b="b" t="t" l="l"/>
              <a:pathLst>
                <a:path h="568960" w="9877213">
                  <a:moveTo>
                    <a:pt x="0" y="0"/>
                  </a:moveTo>
                  <a:lnTo>
                    <a:pt x="9877213" y="0"/>
                  </a:lnTo>
                  <a:lnTo>
                    <a:pt x="9877213" y="568960"/>
                  </a:lnTo>
                  <a:lnTo>
                    <a:pt x="0" y="568960"/>
                  </a:lnTo>
                  <a:close/>
                </a:path>
              </a:pathLst>
            </a:custGeom>
            <a:blipFill>
              <a:blip r:embed="rId2">
                <a:alphaModFix amt="0"/>
              </a:blip>
              <a:stretch>
                <a:fillRect l="0" t="-288262" r="0" b="-288262"/>
              </a:stretch>
            </a:blipFill>
          </p:spPr>
        </p:sp>
        <p:sp>
          <p:nvSpPr>
            <p:cNvPr name="TextBox 64" id="64"/>
            <p:cNvSpPr txBox="true"/>
            <p:nvPr/>
          </p:nvSpPr>
          <p:spPr>
            <a:xfrm>
              <a:off x="0" y="-47625"/>
              <a:ext cx="9877209" cy="616585"/>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  foaf:knows</a:t>
              </a:r>
            </a:p>
          </p:txBody>
        </p:sp>
      </p:grpSp>
      <p:grpSp>
        <p:nvGrpSpPr>
          <p:cNvPr name="Group 65" id="65"/>
          <p:cNvGrpSpPr/>
          <p:nvPr/>
        </p:nvGrpSpPr>
        <p:grpSpPr>
          <a:xfrm rot="0">
            <a:off x="9875520" y="4386577"/>
            <a:ext cx="7407907" cy="902970"/>
            <a:chOff x="0" y="0"/>
            <a:chExt cx="9877209" cy="1203960"/>
          </a:xfrm>
        </p:grpSpPr>
        <p:sp>
          <p:nvSpPr>
            <p:cNvPr name="Freeform 66" id="66"/>
            <p:cNvSpPr/>
            <p:nvPr/>
          </p:nvSpPr>
          <p:spPr>
            <a:xfrm flipH="false" flipV="false" rot="0">
              <a:off x="0" y="0"/>
              <a:ext cx="9877213" cy="1203960"/>
            </a:xfrm>
            <a:custGeom>
              <a:avLst/>
              <a:gdLst/>
              <a:ahLst/>
              <a:cxnLst/>
              <a:rect r="r" b="b" t="t" l="l"/>
              <a:pathLst>
                <a:path h="1203960" w="9877213">
                  <a:moveTo>
                    <a:pt x="0" y="0"/>
                  </a:moveTo>
                  <a:lnTo>
                    <a:pt x="9877213" y="0"/>
                  </a:lnTo>
                  <a:lnTo>
                    <a:pt x="9877213" y="1203960"/>
                  </a:lnTo>
                  <a:lnTo>
                    <a:pt x="0" y="1203960"/>
                  </a:lnTo>
                  <a:close/>
                </a:path>
              </a:pathLst>
            </a:custGeom>
            <a:blipFill>
              <a:blip r:embed="rId2">
                <a:alphaModFix amt="0"/>
              </a:blip>
              <a:stretch>
                <a:fillRect l="0" t="-109853" r="0" b="-109853"/>
              </a:stretch>
            </a:blipFill>
          </p:spPr>
        </p:sp>
        <p:sp>
          <p:nvSpPr>
            <p:cNvPr name="TextBox 67" id="67"/>
            <p:cNvSpPr txBox="true"/>
            <p:nvPr/>
          </p:nvSpPr>
          <p:spPr>
            <a:xfrm>
              <a:off x="0" y="-47625"/>
              <a:ext cx="9877209" cy="1251585"/>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Propriété liant deux foaf:Person — le cœur du réseau.</a:t>
              </a:r>
            </a:p>
          </p:txBody>
        </p:sp>
      </p:grpSp>
      <p:grpSp>
        <p:nvGrpSpPr>
          <p:cNvPr name="Group 68" id="68"/>
          <p:cNvGrpSpPr/>
          <p:nvPr/>
        </p:nvGrpSpPr>
        <p:grpSpPr>
          <a:xfrm rot="0">
            <a:off x="9588503" y="2035807"/>
            <a:ext cx="8351520" cy="1390650"/>
            <a:chOff x="0" y="0"/>
            <a:chExt cx="11135360" cy="1854200"/>
          </a:xfrm>
        </p:grpSpPr>
        <p:sp>
          <p:nvSpPr>
            <p:cNvPr name="Freeform 69" id="69"/>
            <p:cNvSpPr/>
            <p:nvPr/>
          </p:nvSpPr>
          <p:spPr>
            <a:xfrm flipH="false" flipV="false" rot="0">
              <a:off x="16891" y="16891"/>
              <a:ext cx="11101578" cy="1820418"/>
            </a:xfrm>
            <a:custGeom>
              <a:avLst/>
              <a:gdLst/>
              <a:ahLst/>
              <a:cxnLst/>
              <a:rect r="r" b="b" t="t" l="l"/>
              <a:pathLst>
                <a:path h="1820418" w="11101578">
                  <a:moveTo>
                    <a:pt x="0" y="0"/>
                  </a:moveTo>
                  <a:lnTo>
                    <a:pt x="11101578" y="0"/>
                  </a:lnTo>
                  <a:lnTo>
                    <a:pt x="11101578" y="1820418"/>
                  </a:lnTo>
                  <a:lnTo>
                    <a:pt x="0" y="1820418"/>
                  </a:lnTo>
                  <a:close/>
                </a:path>
              </a:pathLst>
            </a:custGeom>
            <a:solidFill>
              <a:srgbClr val="ECFDF5"/>
            </a:solidFill>
          </p:spPr>
        </p:sp>
        <p:sp>
          <p:nvSpPr>
            <p:cNvPr name="Freeform 70" id="70"/>
            <p:cNvSpPr/>
            <p:nvPr/>
          </p:nvSpPr>
          <p:spPr>
            <a:xfrm flipH="false" flipV="false" rot="0">
              <a:off x="0" y="0"/>
              <a:ext cx="11135360" cy="1854200"/>
            </a:xfrm>
            <a:custGeom>
              <a:avLst/>
              <a:gdLst/>
              <a:ahLst/>
              <a:cxnLst/>
              <a:rect r="r" b="b" t="t" l="l"/>
              <a:pathLst>
                <a:path h="1854200" w="11135360">
                  <a:moveTo>
                    <a:pt x="16891" y="0"/>
                  </a:moveTo>
                  <a:lnTo>
                    <a:pt x="11118469" y="0"/>
                  </a:lnTo>
                  <a:cubicBezTo>
                    <a:pt x="11127867" y="0"/>
                    <a:pt x="11135360" y="7620"/>
                    <a:pt x="11135360" y="16891"/>
                  </a:cubicBezTo>
                  <a:lnTo>
                    <a:pt x="11135360" y="1837309"/>
                  </a:lnTo>
                  <a:cubicBezTo>
                    <a:pt x="11135360" y="1846707"/>
                    <a:pt x="11127739" y="1854200"/>
                    <a:pt x="11118469" y="1854200"/>
                  </a:cubicBezTo>
                  <a:lnTo>
                    <a:pt x="16891" y="1854200"/>
                  </a:lnTo>
                  <a:cubicBezTo>
                    <a:pt x="7620" y="1854200"/>
                    <a:pt x="0" y="1846580"/>
                    <a:pt x="0" y="1837309"/>
                  </a:cubicBezTo>
                  <a:lnTo>
                    <a:pt x="0" y="16891"/>
                  </a:lnTo>
                  <a:cubicBezTo>
                    <a:pt x="0" y="7620"/>
                    <a:pt x="7620" y="0"/>
                    <a:pt x="16891" y="0"/>
                  </a:cubicBezTo>
                  <a:moveTo>
                    <a:pt x="16891" y="33909"/>
                  </a:moveTo>
                  <a:lnTo>
                    <a:pt x="16891" y="16891"/>
                  </a:lnTo>
                  <a:lnTo>
                    <a:pt x="33909" y="16891"/>
                  </a:lnTo>
                  <a:lnTo>
                    <a:pt x="33909" y="1837309"/>
                  </a:lnTo>
                  <a:lnTo>
                    <a:pt x="16891" y="1837309"/>
                  </a:lnTo>
                  <a:lnTo>
                    <a:pt x="16891" y="1820418"/>
                  </a:lnTo>
                  <a:lnTo>
                    <a:pt x="11118469" y="1820418"/>
                  </a:lnTo>
                  <a:lnTo>
                    <a:pt x="11118469" y="1837309"/>
                  </a:lnTo>
                  <a:lnTo>
                    <a:pt x="11101577" y="1837309"/>
                  </a:lnTo>
                  <a:lnTo>
                    <a:pt x="11101577" y="16891"/>
                  </a:lnTo>
                  <a:lnTo>
                    <a:pt x="11118469" y="16891"/>
                  </a:lnTo>
                  <a:lnTo>
                    <a:pt x="11118469" y="33909"/>
                  </a:lnTo>
                  <a:lnTo>
                    <a:pt x="16891" y="33909"/>
                  </a:lnTo>
                  <a:close/>
                </a:path>
              </a:pathLst>
            </a:custGeom>
            <a:solidFill>
              <a:srgbClr val="059669"/>
            </a:solidFill>
          </p:spPr>
        </p:sp>
      </p:grpSp>
      <p:grpSp>
        <p:nvGrpSpPr>
          <p:cNvPr name="Group 71" id="71"/>
          <p:cNvGrpSpPr/>
          <p:nvPr/>
        </p:nvGrpSpPr>
        <p:grpSpPr>
          <a:xfrm rot="0">
            <a:off x="9588503" y="2035807"/>
            <a:ext cx="189233" cy="1390650"/>
            <a:chOff x="0" y="0"/>
            <a:chExt cx="252311" cy="1854200"/>
          </a:xfrm>
        </p:grpSpPr>
        <p:sp>
          <p:nvSpPr>
            <p:cNvPr name="Freeform 72" id="72"/>
            <p:cNvSpPr/>
            <p:nvPr/>
          </p:nvSpPr>
          <p:spPr>
            <a:xfrm flipH="false" flipV="false" rot="0">
              <a:off x="16891" y="16891"/>
              <a:ext cx="218440" cy="1820418"/>
            </a:xfrm>
            <a:custGeom>
              <a:avLst/>
              <a:gdLst/>
              <a:ahLst/>
              <a:cxnLst/>
              <a:rect r="r" b="b" t="t" l="l"/>
              <a:pathLst>
                <a:path h="1820418" w="218440">
                  <a:moveTo>
                    <a:pt x="0" y="0"/>
                  </a:moveTo>
                  <a:lnTo>
                    <a:pt x="218440" y="0"/>
                  </a:lnTo>
                  <a:lnTo>
                    <a:pt x="218440" y="1820418"/>
                  </a:lnTo>
                  <a:lnTo>
                    <a:pt x="0" y="1820418"/>
                  </a:lnTo>
                  <a:close/>
                </a:path>
              </a:pathLst>
            </a:custGeom>
            <a:solidFill>
              <a:srgbClr val="059669"/>
            </a:solidFill>
          </p:spPr>
        </p:sp>
        <p:sp>
          <p:nvSpPr>
            <p:cNvPr name="Freeform 73" id="73"/>
            <p:cNvSpPr/>
            <p:nvPr/>
          </p:nvSpPr>
          <p:spPr>
            <a:xfrm flipH="false" flipV="false" rot="0">
              <a:off x="0" y="0"/>
              <a:ext cx="252222" cy="1854200"/>
            </a:xfrm>
            <a:custGeom>
              <a:avLst/>
              <a:gdLst/>
              <a:ahLst/>
              <a:cxnLst/>
              <a:rect r="r" b="b" t="t" l="l"/>
              <a:pathLst>
                <a:path h="1854200" w="252222">
                  <a:moveTo>
                    <a:pt x="16891" y="0"/>
                  </a:moveTo>
                  <a:lnTo>
                    <a:pt x="235331" y="0"/>
                  </a:lnTo>
                  <a:cubicBezTo>
                    <a:pt x="244729" y="0"/>
                    <a:pt x="252222" y="7620"/>
                    <a:pt x="252222" y="16891"/>
                  </a:cubicBezTo>
                  <a:lnTo>
                    <a:pt x="252222" y="1837309"/>
                  </a:lnTo>
                  <a:cubicBezTo>
                    <a:pt x="252222" y="1846707"/>
                    <a:pt x="244602" y="1854200"/>
                    <a:pt x="235331" y="1854200"/>
                  </a:cubicBezTo>
                  <a:lnTo>
                    <a:pt x="16891" y="1854200"/>
                  </a:lnTo>
                  <a:cubicBezTo>
                    <a:pt x="7620" y="1854200"/>
                    <a:pt x="0" y="1846580"/>
                    <a:pt x="0" y="1837309"/>
                  </a:cubicBezTo>
                  <a:lnTo>
                    <a:pt x="0" y="16891"/>
                  </a:lnTo>
                  <a:cubicBezTo>
                    <a:pt x="0" y="7620"/>
                    <a:pt x="7620" y="0"/>
                    <a:pt x="16891" y="0"/>
                  </a:cubicBezTo>
                  <a:moveTo>
                    <a:pt x="16891" y="33909"/>
                  </a:moveTo>
                  <a:lnTo>
                    <a:pt x="16891" y="16891"/>
                  </a:lnTo>
                  <a:lnTo>
                    <a:pt x="33909" y="16891"/>
                  </a:lnTo>
                  <a:lnTo>
                    <a:pt x="33909" y="1837309"/>
                  </a:lnTo>
                  <a:lnTo>
                    <a:pt x="16891" y="1837309"/>
                  </a:lnTo>
                  <a:lnTo>
                    <a:pt x="16891" y="1820418"/>
                  </a:lnTo>
                  <a:lnTo>
                    <a:pt x="235331" y="1820418"/>
                  </a:lnTo>
                  <a:lnTo>
                    <a:pt x="235331" y="1837309"/>
                  </a:lnTo>
                  <a:lnTo>
                    <a:pt x="218440" y="1837309"/>
                  </a:lnTo>
                  <a:lnTo>
                    <a:pt x="218440" y="16891"/>
                  </a:lnTo>
                  <a:lnTo>
                    <a:pt x="235331" y="16891"/>
                  </a:lnTo>
                  <a:lnTo>
                    <a:pt x="235331" y="33909"/>
                  </a:lnTo>
                  <a:lnTo>
                    <a:pt x="16891" y="33909"/>
                  </a:lnTo>
                  <a:close/>
                </a:path>
              </a:pathLst>
            </a:custGeom>
            <a:solidFill>
              <a:srgbClr val="059669"/>
            </a:solidFill>
          </p:spPr>
        </p:sp>
      </p:grpSp>
      <p:grpSp>
        <p:nvGrpSpPr>
          <p:cNvPr name="Group 74" id="74"/>
          <p:cNvGrpSpPr/>
          <p:nvPr/>
        </p:nvGrpSpPr>
        <p:grpSpPr>
          <a:xfrm rot="0">
            <a:off x="9875520" y="2176777"/>
            <a:ext cx="7640317" cy="381000"/>
            <a:chOff x="0" y="0"/>
            <a:chExt cx="10187089" cy="508000"/>
          </a:xfrm>
        </p:grpSpPr>
        <p:sp>
          <p:nvSpPr>
            <p:cNvPr name="Freeform 75" id="75"/>
            <p:cNvSpPr/>
            <p:nvPr/>
          </p:nvSpPr>
          <p:spPr>
            <a:xfrm flipH="false" flipV="false" rot="0">
              <a:off x="0" y="0"/>
              <a:ext cx="10187094" cy="508000"/>
            </a:xfrm>
            <a:custGeom>
              <a:avLst/>
              <a:gdLst/>
              <a:ahLst/>
              <a:cxnLst/>
              <a:rect r="r" b="b" t="t" l="l"/>
              <a:pathLst>
                <a:path h="508000" w="10187094">
                  <a:moveTo>
                    <a:pt x="0" y="0"/>
                  </a:moveTo>
                  <a:lnTo>
                    <a:pt x="10187094" y="0"/>
                  </a:lnTo>
                  <a:lnTo>
                    <a:pt x="10187094" y="508000"/>
                  </a:lnTo>
                  <a:lnTo>
                    <a:pt x="0" y="508000"/>
                  </a:lnTo>
                  <a:close/>
                </a:path>
              </a:pathLst>
            </a:custGeom>
            <a:blipFill>
              <a:blip r:embed="rId2">
                <a:alphaModFix amt="0"/>
              </a:blip>
              <a:stretch>
                <a:fillRect l="0" t="-340739" r="0" b="-340739"/>
              </a:stretch>
            </a:blipFill>
          </p:spPr>
        </p:sp>
        <p:sp>
          <p:nvSpPr>
            <p:cNvPr name="TextBox 76" id="76"/>
            <p:cNvSpPr txBox="true"/>
            <p:nvPr/>
          </p:nvSpPr>
          <p:spPr>
            <a:xfrm>
              <a:off x="0" y="-47625"/>
              <a:ext cx="10187089" cy="555625"/>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  foaf:name</a:t>
              </a:r>
            </a:p>
          </p:txBody>
        </p:sp>
      </p:grpSp>
      <p:grpSp>
        <p:nvGrpSpPr>
          <p:cNvPr name="Group 77" id="77"/>
          <p:cNvGrpSpPr/>
          <p:nvPr/>
        </p:nvGrpSpPr>
        <p:grpSpPr>
          <a:xfrm rot="0">
            <a:off x="9875520" y="2580637"/>
            <a:ext cx="7640317" cy="806453"/>
            <a:chOff x="0" y="0"/>
            <a:chExt cx="10187089" cy="1075271"/>
          </a:xfrm>
        </p:grpSpPr>
        <p:sp>
          <p:nvSpPr>
            <p:cNvPr name="Freeform 78" id="78"/>
            <p:cNvSpPr/>
            <p:nvPr/>
          </p:nvSpPr>
          <p:spPr>
            <a:xfrm flipH="false" flipV="false" rot="0">
              <a:off x="0" y="0"/>
              <a:ext cx="10187094" cy="1075267"/>
            </a:xfrm>
            <a:custGeom>
              <a:avLst/>
              <a:gdLst/>
              <a:ahLst/>
              <a:cxnLst/>
              <a:rect r="r" b="b" t="t" l="l"/>
              <a:pathLst>
                <a:path h="1075267" w="10187094">
                  <a:moveTo>
                    <a:pt x="0" y="0"/>
                  </a:moveTo>
                  <a:lnTo>
                    <a:pt x="10187094" y="0"/>
                  </a:lnTo>
                  <a:lnTo>
                    <a:pt x="10187094" y="1075267"/>
                  </a:lnTo>
                  <a:lnTo>
                    <a:pt x="0" y="1075267"/>
                  </a:lnTo>
                  <a:close/>
                </a:path>
              </a:pathLst>
            </a:custGeom>
            <a:blipFill>
              <a:blip r:embed="rId2">
                <a:alphaModFix amt="0"/>
              </a:blip>
              <a:stretch>
                <a:fillRect l="0" t="-134601" r="0" b="-134601"/>
              </a:stretch>
            </a:blipFill>
          </p:spPr>
        </p:sp>
        <p:sp>
          <p:nvSpPr>
            <p:cNvPr name="TextBox 79" id="79"/>
            <p:cNvSpPr txBox="true"/>
            <p:nvPr/>
          </p:nvSpPr>
          <p:spPr>
            <a:xfrm>
              <a:off x="0" y="-47625"/>
              <a:ext cx="10187089" cy="1122896"/>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Nom complet de la personne ou de l'entité.</a:t>
              </a:r>
            </a:p>
          </p:txBody>
        </p:sp>
      </p:grpSp>
      <p:grpSp>
        <p:nvGrpSpPr>
          <p:cNvPr name="Group 80" id="80"/>
          <p:cNvGrpSpPr/>
          <p:nvPr/>
        </p:nvGrpSpPr>
        <p:grpSpPr>
          <a:xfrm rot="0">
            <a:off x="9589770" y="5877563"/>
            <a:ext cx="8234677" cy="1393193"/>
            <a:chOff x="0" y="0"/>
            <a:chExt cx="10979569" cy="1857591"/>
          </a:xfrm>
        </p:grpSpPr>
        <p:sp>
          <p:nvSpPr>
            <p:cNvPr name="Freeform 81" id="81"/>
            <p:cNvSpPr/>
            <p:nvPr/>
          </p:nvSpPr>
          <p:spPr>
            <a:xfrm flipH="false" flipV="false" rot="0">
              <a:off x="16891" y="16891"/>
              <a:ext cx="10945749" cy="1823720"/>
            </a:xfrm>
            <a:custGeom>
              <a:avLst/>
              <a:gdLst/>
              <a:ahLst/>
              <a:cxnLst/>
              <a:rect r="r" b="b" t="t" l="l"/>
              <a:pathLst>
                <a:path h="1823720" w="10945749">
                  <a:moveTo>
                    <a:pt x="0" y="0"/>
                  </a:moveTo>
                  <a:lnTo>
                    <a:pt x="10945749" y="0"/>
                  </a:lnTo>
                  <a:lnTo>
                    <a:pt x="10945749" y="1823720"/>
                  </a:lnTo>
                  <a:lnTo>
                    <a:pt x="0" y="1823720"/>
                  </a:lnTo>
                  <a:close/>
                </a:path>
              </a:pathLst>
            </a:custGeom>
            <a:solidFill>
              <a:srgbClr val="ECFDF5"/>
            </a:solidFill>
          </p:spPr>
        </p:sp>
        <p:sp>
          <p:nvSpPr>
            <p:cNvPr name="Freeform 82" id="82"/>
            <p:cNvSpPr/>
            <p:nvPr/>
          </p:nvSpPr>
          <p:spPr>
            <a:xfrm flipH="false" flipV="false" rot="0">
              <a:off x="0" y="0"/>
              <a:ext cx="10979531" cy="1857502"/>
            </a:xfrm>
            <a:custGeom>
              <a:avLst/>
              <a:gdLst/>
              <a:ahLst/>
              <a:cxnLst/>
              <a:rect r="r" b="b" t="t" l="l"/>
              <a:pathLst>
                <a:path h="1857502" w="10979531">
                  <a:moveTo>
                    <a:pt x="16891" y="0"/>
                  </a:moveTo>
                  <a:lnTo>
                    <a:pt x="10962640" y="0"/>
                  </a:lnTo>
                  <a:cubicBezTo>
                    <a:pt x="10972038" y="0"/>
                    <a:pt x="10979531" y="7620"/>
                    <a:pt x="10979531" y="16891"/>
                  </a:cubicBezTo>
                  <a:lnTo>
                    <a:pt x="10979531" y="1840611"/>
                  </a:lnTo>
                  <a:cubicBezTo>
                    <a:pt x="10979531" y="1850009"/>
                    <a:pt x="10971911" y="1857502"/>
                    <a:pt x="10962640" y="1857502"/>
                  </a:cubicBezTo>
                  <a:lnTo>
                    <a:pt x="16891" y="1857502"/>
                  </a:lnTo>
                  <a:cubicBezTo>
                    <a:pt x="7493" y="1857502"/>
                    <a:pt x="0" y="1849882"/>
                    <a:pt x="0" y="1840611"/>
                  </a:cubicBezTo>
                  <a:lnTo>
                    <a:pt x="0" y="16891"/>
                  </a:lnTo>
                  <a:cubicBezTo>
                    <a:pt x="0" y="7620"/>
                    <a:pt x="7620" y="0"/>
                    <a:pt x="16891" y="0"/>
                  </a:cubicBezTo>
                  <a:moveTo>
                    <a:pt x="16891" y="33909"/>
                  </a:moveTo>
                  <a:lnTo>
                    <a:pt x="16891" y="16891"/>
                  </a:lnTo>
                  <a:lnTo>
                    <a:pt x="33909" y="16891"/>
                  </a:lnTo>
                  <a:lnTo>
                    <a:pt x="33909" y="1840611"/>
                  </a:lnTo>
                  <a:lnTo>
                    <a:pt x="16891" y="1840611"/>
                  </a:lnTo>
                  <a:lnTo>
                    <a:pt x="16891" y="1823720"/>
                  </a:lnTo>
                  <a:lnTo>
                    <a:pt x="10962640" y="1823720"/>
                  </a:lnTo>
                  <a:lnTo>
                    <a:pt x="10962640" y="1840611"/>
                  </a:lnTo>
                  <a:lnTo>
                    <a:pt x="10945749" y="1840611"/>
                  </a:lnTo>
                  <a:lnTo>
                    <a:pt x="10945749" y="16891"/>
                  </a:lnTo>
                  <a:lnTo>
                    <a:pt x="10962640" y="16891"/>
                  </a:lnTo>
                  <a:lnTo>
                    <a:pt x="10962640" y="33909"/>
                  </a:lnTo>
                  <a:lnTo>
                    <a:pt x="16891" y="33909"/>
                  </a:lnTo>
                  <a:close/>
                </a:path>
              </a:pathLst>
            </a:custGeom>
            <a:solidFill>
              <a:srgbClr val="059669"/>
            </a:solidFill>
          </p:spPr>
        </p:sp>
      </p:grpSp>
      <p:grpSp>
        <p:nvGrpSpPr>
          <p:cNvPr name="Group 83" id="83"/>
          <p:cNvGrpSpPr/>
          <p:nvPr/>
        </p:nvGrpSpPr>
        <p:grpSpPr>
          <a:xfrm rot="0">
            <a:off x="9589770" y="5877563"/>
            <a:ext cx="177803" cy="1454153"/>
            <a:chOff x="0" y="0"/>
            <a:chExt cx="237071" cy="1938871"/>
          </a:xfrm>
        </p:grpSpPr>
        <p:sp>
          <p:nvSpPr>
            <p:cNvPr name="Freeform 84" id="84"/>
            <p:cNvSpPr/>
            <p:nvPr/>
          </p:nvSpPr>
          <p:spPr>
            <a:xfrm flipH="false" flipV="false" rot="0">
              <a:off x="16891" y="16891"/>
              <a:ext cx="203200" cy="1905000"/>
            </a:xfrm>
            <a:custGeom>
              <a:avLst/>
              <a:gdLst/>
              <a:ahLst/>
              <a:cxnLst/>
              <a:rect r="r" b="b" t="t" l="l"/>
              <a:pathLst>
                <a:path h="1905000" w="203200">
                  <a:moveTo>
                    <a:pt x="0" y="0"/>
                  </a:moveTo>
                  <a:lnTo>
                    <a:pt x="203200" y="0"/>
                  </a:lnTo>
                  <a:lnTo>
                    <a:pt x="203200" y="1905000"/>
                  </a:lnTo>
                  <a:lnTo>
                    <a:pt x="0" y="1905000"/>
                  </a:lnTo>
                  <a:close/>
                </a:path>
              </a:pathLst>
            </a:custGeom>
            <a:solidFill>
              <a:srgbClr val="059669"/>
            </a:solidFill>
          </p:spPr>
        </p:sp>
        <p:sp>
          <p:nvSpPr>
            <p:cNvPr name="Freeform 85" id="85"/>
            <p:cNvSpPr/>
            <p:nvPr/>
          </p:nvSpPr>
          <p:spPr>
            <a:xfrm flipH="false" flipV="false" rot="0">
              <a:off x="0" y="0"/>
              <a:ext cx="236982" cy="1938782"/>
            </a:xfrm>
            <a:custGeom>
              <a:avLst/>
              <a:gdLst/>
              <a:ahLst/>
              <a:cxnLst/>
              <a:rect r="r" b="b" t="t" l="l"/>
              <a:pathLst>
                <a:path h="1938782" w="236982">
                  <a:moveTo>
                    <a:pt x="16891" y="0"/>
                  </a:moveTo>
                  <a:lnTo>
                    <a:pt x="220091" y="0"/>
                  </a:lnTo>
                  <a:cubicBezTo>
                    <a:pt x="229489" y="0"/>
                    <a:pt x="236982" y="7620"/>
                    <a:pt x="236982" y="16891"/>
                  </a:cubicBezTo>
                  <a:lnTo>
                    <a:pt x="236982" y="1921891"/>
                  </a:lnTo>
                  <a:cubicBezTo>
                    <a:pt x="236982" y="1931289"/>
                    <a:pt x="229362" y="1938782"/>
                    <a:pt x="220091" y="1938782"/>
                  </a:cubicBezTo>
                  <a:lnTo>
                    <a:pt x="16891" y="1938782"/>
                  </a:lnTo>
                  <a:cubicBezTo>
                    <a:pt x="7493" y="1938782"/>
                    <a:pt x="0" y="1931162"/>
                    <a:pt x="0" y="1921891"/>
                  </a:cubicBezTo>
                  <a:lnTo>
                    <a:pt x="0" y="16891"/>
                  </a:lnTo>
                  <a:cubicBezTo>
                    <a:pt x="0" y="7620"/>
                    <a:pt x="7620" y="0"/>
                    <a:pt x="16891" y="0"/>
                  </a:cubicBezTo>
                  <a:moveTo>
                    <a:pt x="16891" y="33909"/>
                  </a:moveTo>
                  <a:lnTo>
                    <a:pt x="16891" y="16891"/>
                  </a:lnTo>
                  <a:lnTo>
                    <a:pt x="33909" y="16891"/>
                  </a:lnTo>
                  <a:lnTo>
                    <a:pt x="33909" y="1921891"/>
                  </a:lnTo>
                  <a:lnTo>
                    <a:pt x="16891" y="1921891"/>
                  </a:lnTo>
                  <a:lnTo>
                    <a:pt x="16891" y="1905000"/>
                  </a:lnTo>
                  <a:lnTo>
                    <a:pt x="220091" y="1905000"/>
                  </a:lnTo>
                  <a:lnTo>
                    <a:pt x="220091" y="1921891"/>
                  </a:lnTo>
                  <a:lnTo>
                    <a:pt x="203200" y="1921891"/>
                  </a:lnTo>
                  <a:lnTo>
                    <a:pt x="203200" y="16891"/>
                  </a:lnTo>
                  <a:lnTo>
                    <a:pt x="220091" y="16891"/>
                  </a:lnTo>
                  <a:lnTo>
                    <a:pt x="220091" y="33909"/>
                  </a:lnTo>
                  <a:lnTo>
                    <a:pt x="16891" y="33909"/>
                  </a:lnTo>
                  <a:close/>
                </a:path>
              </a:pathLst>
            </a:custGeom>
            <a:solidFill>
              <a:srgbClr val="059669"/>
            </a:solidFill>
          </p:spPr>
        </p:sp>
      </p:grpSp>
      <p:grpSp>
        <p:nvGrpSpPr>
          <p:cNvPr name="Group 86" id="86"/>
          <p:cNvGrpSpPr/>
          <p:nvPr/>
        </p:nvGrpSpPr>
        <p:grpSpPr>
          <a:xfrm rot="0">
            <a:off x="9876787" y="6018533"/>
            <a:ext cx="7661910" cy="398783"/>
            <a:chOff x="0" y="0"/>
            <a:chExt cx="10215880" cy="531711"/>
          </a:xfrm>
        </p:grpSpPr>
        <p:sp>
          <p:nvSpPr>
            <p:cNvPr name="Freeform 87" id="87"/>
            <p:cNvSpPr/>
            <p:nvPr/>
          </p:nvSpPr>
          <p:spPr>
            <a:xfrm flipH="false" flipV="false" rot="0">
              <a:off x="0" y="0"/>
              <a:ext cx="10215880" cy="531707"/>
            </a:xfrm>
            <a:custGeom>
              <a:avLst/>
              <a:gdLst/>
              <a:ahLst/>
              <a:cxnLst/>
              <a:rect r="r" b="b" t="t" l="l"/>
              <a:pathLst>
                <a:path h="531707" w="10215880">
                  <a:moveTo>
                    <a:pt x="0" y="0"/>
                  </a:moveTo>
                  <a:lnTo>
                    <a:pt x="10215880" y="0"/>
                  </a:lnTo>
                  <a:lnTo>
                    <a:pt x="10215880" y="531707"/>
                  </a:lnTo>
                  <a:lnTo>
                    <a:pt x="0" y="531707"/>
                  </a:lnTo>
                  <a:close/>
                </a:path>
              </a:pathLst>
            </a:custGeom>
            <a:blipFill>
              <a:blip r:embed="rId2">
                <a:alphaModFix amt="0"/>
              </a:blip>
              <a:stretch>
                <a:fillRect l="0" t="-324372" r="0" b="-324373"/>
              </a:stretch>
            </a:blipFill>
          </p:spPr>
        </p:sp>
        <p:sp>
          <p:nvSpPr>
            <p:cNvPr name="TextBox 88" id="88"/>
            <p:cNvSpPr txBox="true"/>
            <p:nvPr/>
          </p:nvSpPr>
          <p:spPr>
            <a:xfrm>
              <a:off x="0" y="-47625"/>
              <a:ext cx="10215880" cy="579336"/>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  foaf:interest</a:t>
              </a:r>
            </a:p>
          </p:txBody>
        </p:sp>
      </p:grpSp>
      <p:grpSp>
        <p:nvGrpSpPr>
          <p:cNvPr name="Group 89" id="89"/>
          <p:cNvGrpSpPr/>
          <p:nvPr/>
        </p:nvGrpSpPr>
        <p:grpSpPr>
          <a:xfrm rot="0">
            <a:off x="9876787" y="6388103"/>
            <a:ext cx="7661910" cy="637537"/>
            <a:chOff x="0" y="0"/>
            <a:chExt cx="10215880" cy="850049"/>
          </a:xfrm>
        </p:grpSpPr>
        <p:sp>
          <p:nvSpPr>
            <p:cNvPr name="Freeform 90" id="90"/>
            <p:cNvSpPr/>
            <p:nvPr/>
          </p:nvSpPr>
          <p:spPr>
            <a:xfrm flipH="false" flipV="false" rot="0">
              <a:off x="0" y="0"/>
              <a:ext cx="10215880" cy="850053"/>
            </a:xfrm>
            <a:custGeom>
              <a:avLst/>
              <a:gdLst/>
              <a:ahLst/>
              <a:cxnLst/>
              <a:rect r="r" b="b" t="t" l="l"/>
              <a:pathLst>
                <a:path h="850053" w="10215880">
                  <a:moveTo>
                    <a:pt x="0" y="0"/>
                  </a:moveTo>
                  <a:lnTo>
                    <a:pt x="10215880" y="0"/>
                  </a:lnTo>
                  <a:lnTo>
                    <a:pt x="10215880" y="850053"/>
                  </a:lnTo>
                  <a:lnTo>
                    <a:pt x="0" y="850053"/>
                  </a:lnTo>
                  <a:close/>
                </a:path>
              </a:pathLst>
            </a:custGeom>
            <a:blipFill>
              <a:blip r:embed="rId2">
                <a:alphaModFix amt="0"/>
              </a:blip>
              <a:stretch>
                <a:fillRect l="0" t="-184170" r="0" b="-184169"/>
              </a:stretch>
            </a:blipFill>
          </p:spPr>
        </p:sp>
        <p:sp>
          <p:nvSpPr>
            <p:cNvPr name="TextBox 91" id="91"/>
            <p:cNvSpPr txBox="true"/>
            <p:nvPr/>
          </p:nvSpPr>
          <p:spPr>
            <a:xfrm>
              <a:off x="0" y="-47625"/>
              <a:ext cx="10215880" cy="897674"/>
            </a:xfrm>
            <a:prstGeom prst="rect">
              <a:avLst/>
            </a:prstGeom>
          </p:spPr>
          <p:txBody>
            <a:bodyPr anchor="ctr" rtlCol="false" tIns="0" lIns="0" bIns="0" rIns="0"/>
            <a:lstStyle/>
            <a:p>
              <a:pPr algn="l">
                <a:lnSpc>
                  <a:spcPts val="2520"/>
                </a:lnSpc>
              </a:pPr>
              <a:r>
                <a:rPr lang="en-US" sz="2100">
                  <a:solidFill>
                    <a:srgbClr val="334155"/>
                  </a:solidFill>
                  <a:latin typeface="Calibri (MS)"/>
                  <a:ea typeface="Calibri (MS)"/>
                  <a:cs typeface="Calibri (MS)"/>
                  <a:sym typeface="Calibri (MS)"/>
                </a:rPr>
                <a:t>Lien vers une ressource représentant un centre d'intérêt.</a:t>
              </a:r>
            </a:p>
          </p:txBody>
        </p:sp>
      </p:grpSp>
      <p:grpSp>
        <p:nvGrpSpPr>
          <p:cNvPr name="Group 92" id="92"/>
          <p:cNvGrpSpPr/>
          <p:nvPr/>
        </p:nvGrpSpPr>
        <p:grpSpPr>
          <a:xfrm rot="0">
            <a:off x="-6353" y="9741151"/>
            <a:ext cx="18300697" cy="552193"/>
            <a:chOff x="0" y="0"/>
            <a:chExt cx="24400929" cy="736257"/>
          </a:xfrm>
        </p:grpSpPr>
        <p:sp>
          <p:nvSpPr>
            <p:cNvPr name="Freeform 93" id="93"/>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94" id="94"/>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95" id="95"/>
          <p:cNvGrpSpPr/>
          <p:nvPr/>
        </p:nvGrpSpPr>
        <p:grpSpPr>
          <a:xfrm rot="0">
            <a:off x="15910560" y="9747504"/>
            <a:ext cx="2011680" cy="539496"/>
            <a:chOff x="0" y="0"/>
            <a:chExt cx="2682240" cy="719328"/>
          </a:xfrm>
        </p:grpSpPr>
        <p:sp>
          <p:nvSpPr>
            <p:cNvPr name="Freeform 96" id="96"/>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97" id="97"/>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12 / 18</a:t>
              </a:r>
            </a:p>
          </p:txBody>
        </p:sp>
      </p:grpSp>
      <p:grpSp>
        <p:nvGrpSpPr>
          <p:cNvPr name="Group 98" id="98"/>
          <p:cNvGrpSpPr/>
          <p:nvPr/>
        </p:nvGrpSpPr>
        <p:grpSpPr>
          <a:xfrm rot="0">
            <a:off x="548640" y="9747504"/>
            <a:ext cx="10972800" cy="539496"/>
            <a:chOff x="0" y="0"/>
            <a:chExt cx="14630400" cy="719328"/>
          </a:xfrm>
        </p:grpSpPr>
        <p:sp>
          <p:nvSpPr>
            <p:cNvPr name="Freeform 99" id="99"/>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100" id="100"/>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FOAF</a:t>
              </a:r>
            </a:p>
          </p:txBody>
        </p:sp>
      </p:grpSp>
      <p:grpSp>
        <p:nvGrpSpPr>
          <p:cNvPr name="Group 101" id="101"/>
          <p:cNvGrpSpPr/>
          <p:nvPr/>
        </p:nvGrpSpPr>
        <p:grpSpPr>
          <a:xfrm rot="0">
            <a:off x="680723" y="7795260"/>
            <a:ext cx="8351520" cy="1390650"/>
            <a:chOff x="0" y="0"/>
            <a:chExt cx="11135360" cy="1854200"/>
          </a:xfrm>
        </p:grpSpPr>
        <p:sp>
          <p:nvSpPr>
            <p:cNvPr name="Freeform 102" id="102"/>
            <p:cNvSpPr/>
            <p:nvPr/>
          </p:nvSpPr>
          <p:spPr>
            <a:xfrm flipH="false" flipV="false" rot="0">
              <a:off x="16891" y="16891"/>
              <a:ext cx="11101578" cy="1820418"/>
            </a:xfrm>
            <a:custGeom>
              <a:avLst/>
              <a:gdLst/>
              <a:ahLst/>
              <a:cxnLst/>
              <a:rect r="r" b="b" t="t" l="l"/>
              <a:pathLst>
                <a:path h="1820418" w="11101578">
                  <a:moveTo>
                    <a:pt x="0" y="0"/>
                  </a:moveTo>
                  <a:lnTo>
                    <a:pt x="11101578" y="0"/>
                  </a:lnTo>
                  <a:lnTo>
                    <a:pt x="11101578" y="1820418"/>
                  </a:lnTo>
                  <a:lnTo>
                    <a:pt x="0" y="1820418"/>
                  </a:lnTo>
                  <a:close/>
                </a:path>
              </a:pathLst>
            </a:custGeom>
            <a:solidFill>
              <a:srgbClr val="ECFDF5"/>
            </a:solidFill>
          </p:spPr>
        </p:sp>
        <p:sp>
          <p:nvSpPr>
            <p:cNvPr name="Freeform 103" id="103"/>
            <p:cNvSpPr/>
            <p:nvPr/>
          </p:nvSpPr>
          <p:spPr>
            <a:xfrm flipH="false" flipV="false" rot="0">
              <a:off x="0" y="0"/>
              <a:ext cx="11135360" cy="1854200"/>
            </a:xfrm>
            <a:custGeom>
              <a:avLst/>
              <a:gdLst/>
              <a:ahLst/>
              <a:cxnLst/>
              <a:rect r="r" b="b" t="t" l="l"/>
              <a:pathLst>
                <a:path h="1854200" w="11135360">
                  <a:moveTo>
                    <a:pt x="16891" y="0"/>
                  </a:moveTo>
                  <a:lnTo>
                    <a:pt x="11118469" y="0"/>
                  </a:lnTo>
                  <a:cubicBezTo>
                    <a:pt x="11127867" y="0"/>
                    <a:pt x="11135360" y="7620"/>
                    <a:pt x="11135360" y="16891"/>
                  </a:cubicBezTo>
                  <a:lnTo>
                    <a:pt x="11135360" y="1837309"/>
                  </a:lnTo>
                  <a:cubicBezTo>
                    <a:pt x="11135360" y="1846707"/>
                    <a:pt x="11127739" y="1854200"/>
                    <a:pt x="11118469" y="1854200"/>
                  </a:cubicBezTo>
                  <a:lnTo>
                    <a:pt x="16891" y="1854200"/>
                  </a:lnTo>
                  <a:cubicBezTo>
                    <a:pt x="7620" y="1854200"/>
                    <a:pt x="0" y="1846580"/>
                    <a:pt x="0" y="1837309"/>
                  </a:cubicBezTo>
                  <a:lnTo>
                    <a:pt x="0" y="16891"/>
                  </a:lnTo>
                  <a:cubicBezTo>
                    <a:pt x="0" y="7620"/>
                    <a:pt x="7620" y="0"/>
                    <a:pt x="16891" y="0"/>
                  </a:cubicBezTo>
                  <a:moveTo>
                    <a:pt x="16891" y="33909"/>
                  </a:moveTo>
                  <a:lnTo>
                    <a:pt x="16891" y="16891"/>
                  </a:lnTo>
                  <a:lnTo>
                    <a:pt x="33909" y="16891"/>
                  </a:lnTo>
                  <a:lnTo>
                    <a:pt x="33909" y="1837309"/>
                  </a:lnTo>
                  <a:lnTo>
                    <a:pt x="16891" y="1837309"/>
                  </a:lnTo>
                  <a:lnTo>
                    <a:pt x="16891" y="1820418"/>
                  </a:lnTo>
                  <a:lnTo>
                    <a:pt x="11118469" y="1820418"/>
                  </a:lnTo>
                  <a:lnTo>
                    <a:pt x="11118469" y="1837309"/>
                  </a:lnTo>
                  <a:lnTo>
                    <a:pt x="11101577" y="1837309"/>
                  </a:lnTo>
                  <a:lnTo>
                    <a:pt x="11101577" y="16891"/>
                  </a:lnTo>
                  <a:lnTo>
                    <a:pt x="11118469" y="16891"/>
                  </a:lnTo>
                  <a:lnTo>
                    <a:pt x="11118469" y="33909"/>
                  </a:lnTo>
                  <a:lnTo>
                    <a:pt x="16891" y="33909"/>
                  </a:lnTo>
                  <a:close/>
                </a:path>
              </a:pathLst>
            </a:custGeom>
            <a:solidFill>
              <a:srgbClr val="059669"/>
            </a:solidFill>
          </p:spPr>
        </p:sp>
      </p:grpSp>
      <p:grpSp>
        <p:nvGrpSpPr>
          <p:cNvPr name="Group 104" id="104"/>
          <p:cNvGrpSpPr/>
          <p:nvPr/>
        </p:nvGrpSpPr>
        <p:grpSpPr>
          <a:xfrm rot="0">
            <a:off x="680723" y="7795260"/>
            <a:ext cx="189233" cy="1390650"/>
            <a:chOff x="0" y="0"/>
            <a:chExt cx="252311" cy="1854200"/>
          </a:xfrm>
        </p:grpSpPr>
        <p:sp>
          <p:nvSpPr>
            <p:cNvPr name="Freeform 105" id="105"/>
            <p:cNvSpPr/>
            <p:nvPr/>
          </p:nvSpPr>
          <p:spPr>
            <a:xfrm flipH="false" flipV="false" rot="0">
              <a:off x="16891" y="16891"/>
              <a:ext cx="218440" cy="1820418"/>
            </a:xfrm>
            <a:custGeom>
              <a:avLst/>
              <a:gdLst/>
              <a:ahLst/>
              <a:cxnLst/>
              <a:rect r="r" b="b" t="t" l="l"/>
              <a:pathLst>
                <a:path h="1820418" w="218440">
                  <a:moveTo>
                    <a:pt x="0" y="0"/>
                  </a:moveTo>
                  <a:lnTo>
                    <a:pt x="218440" y="0"/>
                  </a:lnTo>
                  <a:lnTo>
                    <a:pt x="218440" y="1820418"/>
                  </a:lnTo>
                  <a:lnTo>
                    <a:pt x="0" y="1820418"/>
                  </a:lnTo>
                  <a:close/>
                </a:path>
              </a:pathLst>
            </a:custGeom>
            <a:solidFill>
              <a:srgbClr val="059669"/>
            </a:solidFill>
          </p:spPr>
        </p:sp>
        <p:sp>
          <p:nvSpPr>
            <p:cNvPr name="Freeform 106" id="106"/>
            <p:cNvSpPr/>
            <p:nvPr/>
          </p:nvSpPr>
          <p:spPr>
            <a:xfrm flipH="false" flipV="false" rot="0">
              <a:off x="0" y="0"/>
              <a:ext cx="252222" cy="1854200"/>
            </a:xfrm>
            <a:custGeom>
              <a:avLst/>
              <a:gdLst/>
              <a:ahLst/>
              <a:cxnLst/>
              <a:rect r="r" b="b" t="t" l="l"/>
              <a:pathLst>
                <a:path h="1854200" w="252222">
                  <a:moveTo>
                    <a:pt x="16891" y="0"/>
                  </a:moveTo>
                  <a:lnTo>
                    <a:pt x="235331" y="0"/>
                  </a:lnTo>
                  <a:cubicBezTo>
                    <a:pt x="244729" y="0"/>
                    <a:pt x="252222" y="7620"/>
                    <a:pt x="252222" y="16891"/>
                  </a:cubicBezTo>
                  <a:lnTo>
                    <a:pt x="252222" y="1837309"/>
                  </a:lnTo>
                  <a:cubicBezTo>
                    <a:pt x="252222" y="1846707"/>
                    <a:pt x="244602" y="1854200"/>
                    <a:pt x="235331" y="1854200"/>
                  </a:cubicBezTo>
                  <a:lnTo>
                    <a:pt x="16891" y="1854200"/>
                  </a:lnTo>
                  <a:cubicBezTo>
                    <a:pt x="7620" y="1854200"/>
                    <a:pt x="0" y="1846580"/>
                    <a:pt x="0" y="1837309"/>
                  </a:cubicBezTo>
                  <a:lnTo>
                    <a:pt x="0" y="16891"/>
                  </a:lnTo>
                  <a:cubicBezTo>
                    <a:pt x="0" y="7620"/>
                    <a:pt x="7620" y="0"/>
                    <a:pt x="16891" y="0"/>
                  </a:cubicBezTo>
                  <a:moveTo>
                    <a:pt x="16891" y="33909"/>
                  </a:moveTo>
                  <a:lnTo>
                    <a:pt x="16891" y="16891"/>
                  </a:lnTo>
                  <a:lnTo>
                    <a:pt x="33909" y="16891"/>
                  </a:lnTo>
                  <a:lnTo>
                    <a:pt x="33909" y="1837309"/>
                  </a:lnTo>
                  <a:lnTo>
                    <a:pt x="16891" y="1837309"/>
                  </a:lnTo>
                  <a:lnTo>
                    <a:pt x="16891" y="1820418"/>
                  </a:lnTo>
                  <a:lnTo>
                    <a:pt x="235331" y="1820418"/>
                  </a:lnTo>
                  <a:lnTo>
                    <a:pt x="235331" y="1837309"/>
                  </a:lnTo>
                  <a:lnTo>
                    <a:pt x="218440" y="1837309"/>
                  </a:lnTo>
                  <a:lnTo>
                    <a:pt x="218440" y="16891"/>
                  </a:lnTo>
                  <a:lnTo>
                    <a:pt x="235331" y="16891"/>
                  </a:lnTo>
                  <a:lnTo>
                    <a:pt x="235331" y="33909"/>
                  </a:lnTo>
                  <a:lnTo>
                    <a:pt x="16891" y="33909"/>
                  </a:lnTo>
                  <a:close/>
                </a:path>
              </a:pathLst>
            </a:custGeom>
            <a:solidFill>
              <a:srgbClr val="059669"/>
            </a:solidFill>
          </p:spPr>
        </p:sp>
      </p:grpSp>
      <p:grpSp>
        <p:nvGrpSpPr>
          <p:cNvPr name="Group 107" id="107"/>
          <p:cNvGrpSpPr/>
          <p:nvPr/>
        </p:nvGrpSpPr>
        <p:grpSpPr>
          <a:xfrm rot="0">
            <a:off x="967740" y="7936230"/>
            <a:ext cx="7640317" cy="381000"/>
            <a:chOff x="0" y="0"/>
            <a:chExt cx="10187089" cy="508000"/>
          </a:xfrm>
        </p:grpSpPr>
        <p:sp>
          <p:nvSpPr>
            <p:cNvPr name="Freeform 108" id="108"/>
            <p:cNvSpPr/>
            <p:nvPr/>
          </p:nvSpPr>
          <p:spPr>
            <a:xfrm flipH="false" flipV="false" rot="0">
              <a:off x="0" y="0"/>
              <a:ext cx="10187094" cy="508000"/>
            </a:xfrm>
            <a:custGeom>
              <a:avLst/>
              <a:gdLst/>
              <a:ahLst/>
              <a:cxnLst/>
              <a:rect r="r" b="b" t="t" l="l"/>
              <a:pathLst>
                <a:path h="508000" w="10187094">
                  <a:moveTo>
                    <a:pt x="0" y="0"/>
                  </a:moveTo>
                  <a:lnTo>
                    <a:pt x="10187094" y="0"/>
                  </a:lnTo>
                  <a:lnTo>
                    <a:pt x="10187094" y="508000"/>
                  </a:lnTo>
                  <a:lnTo>
                    <a:pt x="0" y="508000"/>
                  </a:lnTo>
                  <a:close/>
                </a:path>
              </a:pathLst>
            </a:custGeom>
            <a:blipFill>
              <a:blip r:embed="rId2">
                <a:alphaModFix amt="0"/>
              </a:blip>
              <a:stretch>
                <a:fillRect l="0" t="-340739" r="0" b="-340739"/>
              </a:stretch>
            </a:blipFill>
          </p:spPr>
        </p:sp>
        <p:sp>
          <p:nvSpPr>
            <p:cNvPr name="TextBox 109" id="109"/>
            <p:cNvSpPr txBox="true"/>
            <p:nvPr/>
          </p:nvSpPr>
          <p:spPr>
            <a:xfrm>
              <a:off x="0" y="-47625"/>
              <a:ext cx="10187089" cy="555625"/>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  foaf:Group</a:t>
              </a:r>
            </a:p>
          </p:txBody>
        </p:sp>
      </p:grpSp>
      <p:grpSp>
        <p:nvGrpSpPr>
          <p:cNvPr name="Group 110" id="110"/>
          <p:cNvGrpSpPr/>
          <p:nvPr/>
        </p:nvGrpSpPr>
        <p:grpSpPr>
          <a:xfrm rot="0">
            <a:off x="967740" y="8340090"/>
            <a:ext cx="7640317" cy="806453"/>
            <a:chOff x="0" y="0"/>
            <a:chExt cx="10187089" cy="1075271"/>
          </a:xfrm>
        </p:grpSpPr>
        <p:sp>
          <p:nvSpPr>
            <p:cNvPr name="Freeform 111" id="111"/>
            <p:cNvSpPr/>
            <p:nvPr/>
          </p:nvSpPr>
          <p:spPr>
            <a:xfrm flipH="false" flipV="false" rot="0">
              <a:off x="0" y="0"/>
              <a:ext cx="10187094" cy="1075267"/>
            </a:xfrm>
            <a:custGeom>
              <a:avLst/>
              <a:gdLst/>
              <a:ahLst/>
              <a:cxnLst/>
              <a:rect r="r" b="b" t="t" l="l"/>
              <a:pathLst>
                <a:path h="1075267" w="10187094">
                  <a:moveTo>
                    <a:pt x="0" y="0"/>
                  </a:moveTo>
                  <a:lnTo>
                    <a:pt x="10187094" y="0"/>
                  </a:lnTo>
                  <a:lnTo>
                    <a:pt x="10187094" y="1075267"/>
                  </a:lnTo>
                  <a:lnTo>
                    <a:pt x="0" y="1075267"/>
                  </a:lnTo>
                  <a:close/>
                </a:path>
              </a:pathLst>
            </a:custGeom>
            <a:blipFill>
              <a:blip r:embed="rId2">
                <a:alphaModFix amt="0"/>
              </a:blip>
              <a:stretch>
                <a:fillRect l="0" t="-134601" r="0" b="-134601"/>
              </a:stretch>
            </a:blipFill>
          </p:spPr>
        </p:sp>
        <p:sp>
          <p:nvSpPr>
            <p:cNvPr name="TextBox 112" id="112"/>
            <p:cNvSpPr txBox="true"/>
            <p:nvPr/>
          </p:nvSpPr>
          <p:spPr>
            <a:xfrm>
              <a:off x="0" y="-47625"/>
              <a:ext cx="10187089" cy="1122896"/>
            </a:xfrm>
            <a:prstGeom prst="rect">
              <a:avLst/>
            </a:prstGeom>
          </p:spPr>
          <p:txBody>
            <a:bodyPr anchor="ctr" rtlCol="false" tIns="0" lIns="0" bIns="0" rIns="0"/>
            <a:lstStyle/>
            <a:p>
              <a:pPr algn="l">
                <a:lnSpc>
                  <a:spcPts val="2520"/>
                </a:lnSpc>
              </a:pPr>
              <a:r>
                <a:rPr lang="en-US" sz="2100">
                  <a:solidFill>
                    <a:srgbClr val="000000"/>
                  </a:solidFill>
                  <a:latin typeface="Calibri (MS)"/>
                  <a:ea typeface="Calibri (MS)"/>
                  <a:cs typeface="Calibri (MS)"/>
                  <a:sym typeface="Calibri (MS)"/>
                </a:rPr>
                <a:t>Représente un regroupement informel de personnes ou d'agents.</a:t>
              </a:r>
            </a:p>
          </p:txBody>
        </p:sp>
      </p:grpSp>
      <p:grpSp>
        <p:nvGrpSpPr>
          <p:cNvPr name="Group 113" id="113"/>
          <p:cNvGrpSpPr/>
          <p:nvPr/>
        </p:nvGrpSpPr>
        <p:grpSpPr>
          <a:xfrm rot="0">
            <a:off x="9589770" y="7795260"/>
            <a:ext cx="8351520" cy="1390650"/>
            <a:chOff x="0" y="0"/>
            <a:chExt cx="11135360" cy="1854200"/>
          </a:xfrm>
        </p:grpSpPr>
        <p:sp>
          <p:nvSpPr>
            <p:cNvPr name="Freeform 114" id="114"/>
            <p:cNvSpPr/>
            <p:nvPr/>
          </p:nvSpPr>
          <p:spPr>
            <a:xfrm flipH="false" flipV="false" rot="0">
              <a:off x="16891" y="16891"/>
              <a:ext cx="11101578" cy="1820418"/>
            </a:xfrm>
            <a:custGeom>
              <a:avLst/>
              <a:gdLst/>
              <a:ahLst/>
              <a:cxnLst/>
              <a:rect r="r" b="b" t="t" l="l"/>
              <a:pathLst>
                <a:path h="1820418" w="11101578">
                  <a:moveTo>
                    <a:pt x="0" y="0"/>
                  </a:moveTo>
                  <a:lnTo>
                    <a:pt x="11101578" y="0"/>
                  </a:lnTo>
                  <a:lnTo>
                    <a:pt x="11101578" y="1820418"/>
                  </a:lnTo>
                  <a:lnTo>
                    <a:pt x="0" y="1820418"/>
                  </a:lnTo>
                  <a:close/>
                </a:path>
              </a:pathLst>
            </a:custGeom>
            <a:solidFill>
              <a:srgbClr val="ECFDF5"/>
            </a:solidFill>
          </p:spPr>
        </p:sp>
        <p:sp>
          <p:nvSpPr>
            <p:cNvPr name="Freeform 115" id="115"/>
            <p:cNvSpPr/>
            <p:nvPr/>
          </p:nvSpPr>
          <p:spPr>
            <a:xfrm flipH="false" flipV="false" rot="0">
              <a:off x="0" y="0"/>
              <a:ext cx="11135360" cy="1854200"/>
            </a:xfrm>
            <a:custGeom>
              <a:avLst/>
              <a:gdLst/>
              <a:ahLst/>
              <a:cxnLst/>
              <a:rect r="r" b="b" t="t" l="l"/>
              <a:pathLst>
                <a:path h="1854200" w="11135360">
                  <a:moveTo>
                    <a:pt x="16891" y="0"/>
                  </a:moveTo>
                  <a:lnTo>
                    <a:pt x="11118469" y="0"/>
                  </a:lnTo>
                  <a:cubicBezTo>
                    <a:pt x="11127867" y="0"/>
                    <a:pt x="11135360" y="7620"/>
                    <a:pt x="11135360" y="16891"/>
                  </a:cubicBezTo>
                  <a:lnTo>
                    <a:pt x="11135360" y="1837309"/>
                  </a:lnTo>
                  <a:cubicBezTo>
                    <a:pt x="11135360" y="1846707"/>
                    <a:pt x="11127739" y="1854200"/>
                    <a:pt x="11118469" y="1854200"/>
                  </a:cubicBezTo>
                  <a:lnTo>
                    <a:pt x="16891" y="1854200"/>
                  </a:lnTo>
                  <a:cubicBezTo>
                    <a:pt x="7620" y="1854200"/>
                    <a:pt x="0" y="1846580"/>
                    <a:pt x="0" y="1837309"/>
                  </a:cubicBezTo>
                  <a:lnTo>
                    <a:pt x="0" y="16891"/>
                  </a:lnTo>
                  <a:cubicBezTo>
                    <a:pt x="0" y="7620"/>
                    <a:pt x="7620" y="0"/>
                    <a:pt x="16891" y="0"/>
                  </a:cubicBezTo>
                  <a:moveTo>
                    <a:pt x="16891" y="33909"/>
                  </a:moveTo>
                  <a:lnTo>
                    <a:pt x="16891" y="16891"/>
                  </a:lnTo>
                  <a:lnTo>
                    <a:pt x="33909" y="16891"/>
                  </a:lnTo>
                  <a:lnTo>
                    <a:pt x="33909" y="1837309"/>
                  </a:lnTo>
                  <a:lnTo>
                    <a:pt x="16891" y="1837309"/>
                  </a:lnTo>
                  <a:lnTo>
                    <a:pt x="16891" y="1820418"/>
                  </a:lnTo>
                  <a:lnTo>
                    <a:pt x="11118469" y="1820418"/>
                  </a:lnTo>
                  <a:lnTo>
                    <a:pt x="11118469" y="1837309"/>
                  </a:lnTo>
                  <a:lnTo>
                    <a:pt x="11101577" y="1837309"/>
                  </a:lnTo>
                  <a:lnTo>
                    <a:pt x="11101577" y="16891"/>
                  </a:lnTo>
                  <a:lnTo>
                    <a:pt x="11118469" y="16891"/>
                  </a:lnTo>
                  <a:lnTo>
                    <a:pt x="11118469" y="33909"/>
                  </a:lnTo>
                  <a:lnTo>
                    <a:pt x="16891" y="33909"/>
                  </a:lnTo>
                  <a:close/>
                </a:path>
              </a:pathLst>
            </a:custGeom>
            <a:solidFill>
              <a:srgbClr val="059669"/>
            </a:solidFill>
          </p:spPr>
        </p:sp>
      </p:grpSp>
      <p:grpSp>
        <p:nvGrpSpPr>
          <p:cNvPr name="Group 116" id="116"/>
          <p:cNvGrpSpPr/>
          <p:nvPr/>
        </p:nvGrpSpPr>
        <p:grpSpPr>
          <a:xfrm rot="0">
            <a:off x="9589770" y="7795260"/>
            <a:ext cx="189233" cy="1390650"/>
            <a:chOff x="0" y="0"/>
            <a:chExt cx="252311" cy="1854200"/>
          </a:xfrm>
        </p:grpSpPr>
        <p:sp>
          <p:nvSpPr>
            <p:cNvPr name="Freeform 117" id="117"/>
            <p:cNvSpPr/>
            <p:nvPr/>
          </p:nvSpPr>
          <p:spPr>
            <a:xfrm flipH="false" flipV="false" rot="0">
              <a:off x="16891" y="16891"/>
              <a:ext cx="218440" cy="1820418"/>
            </a:xfrm>
            <a:custGeom>
              <a:avLst/>
              <a:gdLst/>
              <a:ahLst/>
              <a:cxnLst/>
              <a:rect r="r" b="b" t="t" l="l"/>
              <a:pathLst>
                <a:path h="1820418" w="218440">
                  <a:moveTo>
                    <a:pt x="0" y="0"/>
                  </a:moveTo>
                  <a:lnTo>
                    <a:pt x="218440" y="0"/>
                  </a:lnTo>
                  <a:lnTo>
                    <a:pt x="218440" y="1820418"/>
                  </a:lnTo>
                  <a:lnTo>
                    <a:pt x="0" y="1820418"/>
                  </a:lnTo>
                  <a:close/>
                </a:path>
              </a:pathLst>
            </a:custGeom>
            <a:solidFill>
              <a:srgbClr val="059669"/>
            </a:solidFill>
          </p:spPr>
        </p:sp>
        <p:sp>
          <p:nvSpPr>
            <p:cNvPr name="Freeform 118" id="118"/>
            <p:cNvSpPr/>
            <p:nvPr/>
          </p:nvSpPr>
          <p:spPr>
            <a:xfrm flipH="false" flipV="false" rot="0">
              <a:off x="0" y="0"/>
              <a:ext cx="252222" cy="1854200"/>
            </a:xfrm>
            <a:custGeom>
              <a:avLst/>
              <a:gdLst/>
              <a:ahLst/>
              <a:cxnLst/>
              <a:rect r="r" b="b" t="t" l="l"/>
              <a:pathLst>
                <a:path h="1854200" w="252222">
                  <a:moveTo>
                    <a:pt x="16891" y="0"/>
                  </a:moveTo>
                  <a:lnTo>
                    <a:pt x="235331" y="0"/>
                  </a:lnTo>
                  <a:cubicBezTo>
                    <a:pt x="244729" y="0"/>
                    <a:pt x="252222" y="7620"/>
                    <a:pt x="252222" y="16891"/>
                  </a:cubicBezTo>
                  <a:lnTo>
                    <a:pt x="252222" y="1837309"/>
                  </a:lnTo>
                  <a:cubicBezTo>
                    <a:pt x="252222" y="1846707"/>
                    <a:pt x="244602" y="1854200"/>
                    <a:pt x="235331" y="1854200"/>
                  </a:cubicBezTo>
                  <a:lnTo>
                    <a:pt x="16891" y="1854200"/>
                  </a:lnTo>
                  <a:cubicBezTo>
                    <a:pt x="7620" y="1854200"/>
                    <a:pt x="0" y="1846580"/>
                    <a:pt x="0" y="1837309"/>
                  </a:cubicBezTo>
                  <a:lnTo>
                    <a:pt x="0" y="16891"/>
                  </a:lnTo>
                  <a:cubicBezTo>
                    <a:pt x="0" y="7620"/>
                    <a:pt x="7620" y="0"/>
                    <a:pt x="16891" y="0"/>
                  </a:cubicBezTo>
                  <a:moveTo>
                    <a:pt x="16891" y="33909"/>
                  </a:moveTo>
                  <a:lnTo>
                    <a:pt x="16891" y="16891"/>
                  </a:lnTo>
                  <a:lnTo>
                    <a:pt x="33909" y="16891"/>
                  </a:lnTo>
                  <a:lnTo>
                    <a:pt x="33909" y="1837309"/>
                  </a:lnTo>
                  <a:lnTo>
                    <a:pt x="16891" y="1837309"/>
                  </a:lnTo>
                  <a:lnTo>
                    <a:pt x="16891" y="1820418"/>
                  </a:lnTo>
                  <a:lnTo>
                    <a:pt x="235331" y="1820418"/>
                  </a:lnTo>
                  <a:lnTo>
                    <a:pt x="235331" y="1837309"/>
                  </a:lnTo>
                  <a:lnTo>
                    <a:pt x="218440" y="1837309"/>
                  </a:lnTo>
                  <a:lnTo>
                    <a:pt x="218440" y="16891"/>
                  </a:lnTo>
                  <a:lnTo>
                    <a:pt x="235331" y="16891"/>
                  </a:lnTo>
                  <a:lnTo>
                    <a:pt x="235331" y="33909"/>
                  </a:lnTo>
                  <a:lnTo>
                    <a:pt x="16891" y="33909"/>
                  </a:lnTo>
                  <a:close/>
                </a:path>
              </a:pathLst>
            </a:custGeom>
            <a:solidFill>
              <a:srgbClr val="059669"/>
            </a:solidFill>
          </p:spPr>
        </p:sp>
      </p:grpSp>
      <p:grpSp>
        <p:nvGrpSpPr>
          <p:cNvPr name="Group 119" id="119"/>
          <p:cNvGrpSpPr/>
          <p:nvPr/>
        </p:nvGrpSpPr>
        <p:grpSpPr>
          <a:xfrm rot="0">
            <a:off x="9876787" y="7936230"/>
            <a:ext cx="7640317" cy="381000"/>
            <a:chOff x="0" y="0"/>
            <a:chExt cx="10187089" cy="508000"/>
          </a:xfrm>
        </p:grpSpPr>
        <p:sp>
          <p:nvSpPr>
            <p:cNvPr name="Freeform 120" id="120"/>
            <p:cNvSpPr/>
            <p:nvPr/>
          </p:nvSpPr>
          <p:spPr>
            <a:xfrm flipH="false" flipV="false" rot="0">
              <a:off x="0" y="0"/>
              <a:ext cx="10187094" cy="508000"/>
            </a:xfrm>
            <a:custGeom>
              <a:avLst/>
              <a:gdLst/>
              <a:ahLst/>
              <a:cxnLst/>
              <a:rect r="r" b="b" t="t" l="l"/>
              <a:pathLst>
                <a:path h="508000" w="10187094">
                  <a:moveTo>
                    <a:pt x="0" y="0"/>
                  </a:moveTo>
                  <a:lnTo>
                    <a:pt x="10187094" y="0"/>
                  </a:lnTo>
                  <a:lnTo>
                    <a:pt x="10187094" y="508000"/>
                  </a:lnTo>
                  <a:lnTo>
                    <a:pt x="0" y="508000"/>
                  </a:lnTo>
                  <a:close/>
                </a:path>
              </a:pathLst>
            </a:custGeom>
            <a:blipFill>
              <a:blip r:embed="rId2">
                <a:alphaModFix amt="0"/>
              </a:blip>
              <a:stretch>
                <a:fillRect l="0" t="-340739" r="0" b="-340739"/>
              </a:stretch>
            </a:blipFill>
          </p:spPr>
        </p:sp>
        <p:sp>
          <p:nvSpPr>
            <p:cNvPr name="TextBox 121" id="121"/>
            <p:cNvSpPr txBox="true"/>
            <p:nvPr/>
          </p:nvSpPr>
          <p:spPr>
            <a:xfrm>
              <a:off x="0" y="-47625"/>
              <a:ext cx="10187089" cy="555625"/>
            </a:xfrm>
            <a:prstGeom prst="rect">
              <a:avLst/>
            </a:prstGeom>
          </p:spPr>
          <p:txBody>
            <a:bodyPr anchor="ctr" rtlCol="false" tIns="0" lIns="0" bIns="0" rIns="0"/>
            <a:lstStyle/>
            <a:p>
              <a:pPr algn="l">
                <a:lnSpc>
                  <a:spcPts val="2640"/>
                </a:lnSpc>
              </a:pPr>
              <a:r>
                <a:rPr lang="en-US" sz="2200" b="true">
                  <a:solidFill>
                    <a:srgbClr val="059669"/>
                  </a:solidFill>
                  <a:latin typeface="Calibri (MS) Bold"/>
                  <a:ea typeface="Calibri (MS) Bold"/>
                  <a:cs typeface="Calibri (MS) Bold"/>
                  <a:sym typeface="Calibri (MS) Bold"/>
                </a:rPr>
                <a:t>🏷️  foaf:age</a:t>
              </a:r>
            </a:p>
          </p:txBody>
        </p:sp>
      </p:grpSp>
      <p:grpSp>
        <p:nvGrpSpPr>
          <p:cNvPr name="Group 122" id="122"/>
          <p:cNvGrpSpPr/>
          <p:nvPr/>
        </p:nvGrpSpPr>
        <p:grpSpPr>
          <a:xfrm rot="0">
            <a:off x="9876787" y="8340090"/>
            <a:ext cx="7640317" cy="806453"/>
            <a:chOff x="0" y="0"/>
            <a:chExt cx="10187089" cy="1075271"/>
          </a:xfrm>
        </p:grpSpPr>
        <p:sp>
          <p:nvSpPr>
            <p:cNvPr name="Freeform 123" id="123"/>
            <p:cNvSpPr/>
            <p:nvPr/>
          </p:nvSpPr>
          <p:spPr>
            <a:xfrm flipH="false" flipV="false" rot="0">
              <a:off x="0" y="0"/>
              <a:ext cx="10187094" cy="1075267"/>
            </a:xfrm>
            <a:custGeom>
              <a:avLst/>
              <a:gdLst/>
              <a:ahLst/>
              <a:cxnLst/>
              <a:rect r="r" b="b" t="t" l="l"/>
              <a:pathLst>
                <a:path h="1075267" w="10187094">
                  <a:moveTo>
                    <a:pt x="0" y="0"/>
                  </a:moveTo>
                  <a:lnTo>
                    <a:pt x="10187094" y="0"/>
                  </a:lnTo>
                  <a:lnTo>
                    <a:pt x="10187094" y="1075267"/>
                  </a:lnTo>
                  <a:lnTo>
                    <a:pt x="0" y="1075267"/>
                  </a:lnTo>
                  <a:close/>
                </a:path>
              </a:pathLst>
            </a:custGeom>
            <a:blipFill>
              <a:blip r:embed="rId2">
                <a:alphaModFix amt="0"/>
              </a:blip>
              <a:stretch>
                <a:fillRect l="0" t="-134601" r="0" b="-134601"/>
              </a:stretch>
            </a:blipFill>
          </p:spPr>
        </p:sp>
        <p:sp>
          <p:nvSpPr>
            <p:cNvPr name="TextBox 124" id="124"/>
            <p:cNvSpPr txBox="true"/>
            <p:nvPr/>
          </p:nvSpPr>
          <p:spPr>
            <a:xfrm>
              <a:off x="0" y="-47625"/>
              <a:ext cx="10187089" cy="1122896"/>
            </a:xfrm>
            <a:prstGeom prst="rect">
              <a:avLst/>
            </a:prstGeom>
          </p:spPr>
          <p:txBody>
            <a:bodyPr anchor="ctr" rtlCol="false" tIns="0" lIns="0" bIns="0" rIns="0"/>
            <a:lstStyle/>
            <a:p>
              <a:pPr algn="l">
                <a:lnSpc>
                  <a:spcPts val="2520"/>
                </a:lnSpc>
              </a:pPr>
              <a:r>
                <a:rPr lang="en-US" sz="2100">
                  <a:solidFill>
                    <a:srgbClr val="000000"/>
                  </a:solidFill>
                  <a:latin typeface="Calibri (MS)"/>
                  <a:ea typeface="Calibri (MS)"/>
                  <a:cs typeface="Calibri (MS)"/>
                  <a:sym typeface="Calibri (MS)"/>
                </a:rPr>
                <a:t>L'âge de la personne</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059669"/>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059669"/>
            </a:solidFill>
          </p:spPr>
        </p:sp>
      </p:grpSp>
      <p:grpSp>
        <p:nvGrpSpPr>
          <p:cNvPr name="Group 5" id="5"/>
          <p:cNvGrpSpPr/>
          <p:nvPr/>
        </p:nvGrpSpPr>
        <p:grpSpPr>
          <a:xfrm rot="0">
            <a:off x="15532103" y="170183"/>
            <a:ext cx="2585723" cy="793499"/>
            <a:chOff x="0" y="0"/>
            <a:chExt cx="3447631" cy="1057999"/>
          </a:xfrm>
        </p:grpSpPr>
        <p:sp>
          <p:nvSpPr>
            <p:cNvPr name="Freeform 6" id="6"/>
            <p:cNvSpPr/>
            <p:nvPr/>
          </p:nvSpPr>
          <p:spPr>
            <a:xfrm flipH="false" flipV="false" rot="0">
              <a:off x="16891" y="16891"/>
              <a:ext cx="3413760" cy="1024128"/>
            </a:xfrm>
            <a:custGeom>
              <a:avLst/>
              <a:gdLst/>
              <a:ahLst/>
              <a:cxnLst/>
              <a:rect r="r" b="b" t="t" l="l"/>
              <a:pathLst>
                <a:path h="1024128" w="3413760">
                  <a:moveTo>
                    <a:pt x="0" y="0"/>
                  </a:moveTo>
                  <a:lnTo>
                    <a:pt x="3413760" y="0"/>
                  </a:lnTo>
                  <a:lnTo>
                    <a:pt x="3413760" y="1024128"/>
                  </a:lnTo>
                  <a:lnTo>
                    <a:pt x="0" y="1024128"/>
                  </a:lnTo>
                  <a:close/>
                </a:path>
              </a:pathLst>
            </a:custGeom>
            <a:solidFill>
              <a:srgbClr val="059669"/>
            </a:solidFill>
          </p:spPr>
        </p:sp>
        <p:sp>
          <p:nvSpPr>
            <p:cNvPr name="Freeform 7" id="7"/>
            <p:cNvSpPr/>
            <p:nvPr/>
          </p:nvSpPr>
          <p:spPr>
            <a:xfrm flipH="false" flipV="false" rot="0">
              <a:off x="0" y="0"/>
              <a:ext cx="3447542" cy="1057912"/>
            </a:xfrm>
            <a:custGeom>
              <a:avLst/>
              <a:gdLst/>
              <a:ahLst/>
              <a:cxnLst/>
              <a:rect r="r" b="b" t="t" l="l"/>
              <a:pathLst>
                <a:path h="1057912" w="3447542">
                  <a:moveTo>
                    <a:pt x="16891" y="0"/>
                  </a:moveTo>
                  <a:lnTo>
                    <a:pt x="3430651" y="0"/>
                  </a:lnTo>
                  <a:cubicBezTo>
                    <a:pt x="3440049" y="0"/>
                    <a:pt x="3447542" y="7620"/>
                    <a:pt x="3447542" y="16891"/>
                  </a:cubicBezTo>
                  <a:lnTo>
                    <a:pt x="3447542" y="1041019"/>
                  </a:lnTo>
                  <a:cubicBezTo>
                    <a:pt x="3447542" y="1050417"/>
                    <a:pt x="3439922" y="1057910"/>
                    <a:pt x="343065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430651" y="1024128"/>
                  </a:lnTo>
                  <a:lnTo>
                    <a:pt x="3430651" y="1041019"/>
                  </a:lnTo>
                  <a:lnTo>
                    <a:pt x="3413760" y="1041019"/>
                  </a:lnTo>
                  <a:lnTo>
                    <a:pt x="3413760" y="16891"/>
                  </a:lnTo>
                  <a:lnTo>
                    <a:pt x="3430651" y="16891"/>
                  </a:lnTo>
                  <a:lnTo>
                    <a:pt x="3430651" y="33909"/>
                  </a:lnTo>
                  <a:lnTo>
                    <a:pt x="16891" y="33909"/>
                  </a:lnTo>
                  <a:close/>
                </a:path>
              </a:pathLst>
            </a:custGeom>
            <a:solidFill>
              <a:srgbClr val="059669"/>
            </a:solidFill>
          </p:spPr>
        </p:sp>
      </p:grpSp>
      <p:grpSp>
        <p:nvGrpSpPr>
          <p:cNvPr name="Group 8" id="8"/>
          <p:cNvGrpSpPr/>
          <p:nvPr/>
        </p:nvGrpSpPr>
        <p:grpSpPr>
          <a:xfrm rot="0">
            <a:off x="15544800" y="182880"/>
            <a:ext cx="2560320" cy="768096"/>
            <a:chOff x="0" y="0"/>
            <a:chExt cx="3413760" cy="1024128"/>
          </a:xfrm>
        </p:grpSpPr>
        <p:sp>
          <p:nvSpPr>
            <p:cNvPr name="Freeform 9" id="9"/>
            <p:cNvSpPr/>
            <p:nvPr/>
          </p:nvSpPr>
          <p:spPr>
            <a:xfrm flipH="false" flipV="false" rot="0">
              <a:off x="0" y="0"/>
              <a:ext cx="3413760" cy="1024128"/>
            </a:xfrm>
            <a:custGeom>
              <a:avLst/>
              <a:gdLst/>
              <a:ahLst/>
              <a:cxnLst/>
              <a:rect r="r" b="b" t="t" l="l"/>
              <a:pathLst>
                <a:path h="1024128" w="3413760">
                  <a:moveTo>
                    <a:pt x="0" y="0"/>
                  </a:moveTo>
                  <a:lnTo>
                    <a:pt x="3413760" y="0"/>
                  </a:lnTo>
                  <a:lnTo>
                    <a:pt x="3413760" y="1024128"/>
                  </a:lnTo>
                  <a:lnTo>
                    <a:pt x="0" y="1024128"/>
                  </a:lnTo>
                  <a:close/>
                </a:path>
              </a:pathLst>
            </a:custGeom>
            <a:blipFill>
              <a:blip r:embed="rId2">
                <a:alphaModFix amt="0"/>
              </a:blip>
              <a:stretch>
                <a:fillRect l="0" t="-14950" r="0" b="-14950"/>
              </a:stretch>
            </a:blipFill>
          </p:spPr>
        </p:sp>
        <p:sp>
          <p:nvSpPr>
            <p:cNvPr name="TextBox 10" id="10"/>
            <p:cNvSpPr txBox="true"/>
            <p:nvPr/>
          </p:nvSpPr>
          <p:spPr>
            <a:xfrm>
              <a:off x="0" y="-38100"/>
              <a:ext cx="3413760" cy="1062228"/>
            </a:xfrm>
            <a:prstGeom prst="rect">
              <a:avLst/>
            </a:prstGeom>
          </p:spPr>
          <p:txBody>
            <a:bodyPr anchor="ctr" rtlCol="false" tIns="0" lIns="0" bIns="0" rIns="0"/>
            <a:lstStyle/>
            <a:p>
              <a:pPr algn="ctr">
                <a:lnSpc>
                  <a:spcPts val="2160"/>
                </a:lnSpc>
              </a:pPr>
              <a:r>
                <a:rPr lang="en-US" sz="1800" b="true">
                  <a:solidFill>
                    <a:srgbClr val="FFFFFF"/>
                  </a:solidFill>
                  <a:latin typeface="Calibri (MS) Bold"/>
                  <a:ea typeface="Calibri (MS) Bold"/>
                  <a:cs typeface="Calibri (MS) Bold"/>
                  <a:sym typeface="Calibri (MS) Bold"/>
                </a:rPr>
                <a:t>FOAF  3/3</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059669"/>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059669"/>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FOAF — Graphe Social en Turtle</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38100"/>
              <a:ext cx="21945600" cy="720852"/>
            </a:xfrm>
            <a:prstGeom prst="rect">
              <a:avLst/>
            </a:prstGeom>
          </p:spPr>
          <p:txBody>
            <a:bodyPr anchor="ctr" rtlCol="false" tIns="0" lIns="0" bIns="0" rIns="0"/>
            <a:lstStyle/>
            <a:p>
              <a:pPr algn="l">
                <a:lnSpc>
                  <a:spcPts val="2879"/>
                </a:lnSpc>
              </a:pPr>
              <a:r>
                <a:rPr lang="en-US" sz="2400" i="true">
                  <a:solidFill>
                    <a:srgbClr val="64748B"/>
                  </a:solidFill>
                  <a:latin typeface="Calibri (MS) Italics"/>
                  <a:ea typeface="Calibri (MS) Italics"/>
                  <a:cs typeface="Calibri (MS) Italics"/>
                  <a:sym typeface="Calibri (MS) Italics"/>
                </a:rPr>
                <a:t>Modélisation des membres du groupe</a:t>
              </a:r>
            </a:p>
          </p:txBody>
        </p:sp>
      </p:grpSp>
      <p:grpSp>
        <p:nvGrpSpPr>
          <p:cNvPr name="Group 20" id="20"/>
          <p:cNvGrpSpPr/>
          <p:nvPr/>
        </p:nvGrpSpPr>
        <p:grpSpPr>
          <a:xfrm rot="0">
            <a:off x="718823" y="1998983"/>
            <a:ext cx="16850363" cy="976379"/>
            <a:chOff x="0" y="0"/>
            <a:chExt cx="22467151" cy="1301839"/>
          </a:xfrm>
        </p:grpSpPr>
        <p:sp>
          <p:nvSpPr>
            <p:cNvPr name="Freeform 21" id="21"/>
            <p:cNvSpPr/>
            <p:nvPr/>
          </p:nvSpPr>
          <p:spPr>
            <a:xfrm flipH="false" flipV="false" rot="0">
              <a:off x="16891" y="16891"/>
              <a:ext cx="22433280" cy="1267968"/>
            </a:xfrm>
            <a:custGeom>
              <a:avLst/>
              <a:gdLst/>
              <a:ahLst/>
              <a:cxnLst/>
              <a:rect r="r" b="b" t="t" l="l"/>
              <a:pathLst>
                <a:path h="1267968" w="22433280">
                  <a:moveTo>
                    <a:pt x="0" y="0"/>
                  </a:moveTo>
                  <a:lnTo>
                    <a:pt x="22433280" y="0"/>
                  </a:lnTo>
                  <a:lnTo>
                    <a:pt x="22433280" y="1267968"/>
                  </a:lnTo>
                  <a:lnTo>
                    <a:pt x="0" y="1267968"/>
                  </a:lnTo>
                  <a:close/>
                </a:path>
              </a:pathLst>
            </a:custGeom>
            <a:solidFill>
              <a:srgbClr val="ECFDF5"/>
            </a:solidFill>
          </p:spPr>
        </p:sp>
        <p:sp>
          <p:nvSpPr>
            <p:cNvPr name="Freeform 22" id="22"/>
            <p:cNvSpPr/>
            <p:nvPr/>
          </p:nvSpPr>
          <p:spPr>
            <a:xfrm flipH="false" flipV="false" rot="0">
              <a:off x="0" y="0"/>
              <a:ext cx="22467063" cy="1301750"/>
            </a:xfrm>
            <a:custGeom>
              <a:avLst/>
              <a:gdLst/>
              <a:ahLst/>
              <a:cxnLst/>
              <a:rect r="r" b="b" t="t" l="l"/>
              <a:pathLst>
                <a:path h="1301750" w="22467063">
                  <a:moveTo>
                    <a:pt x="16891" y="0"/>
                  </a:moveTo>
                  <a:lnTo>
                    <a:pt x="22450171" y="0"/>
                  </a:lnTo>
                  <a:cubicBezTo>
                    <a:pt x="22459569" y="0"/>
                    <a:pt x="22467063" y="7620"/>
                    <a:pt x="22467063" y="16891"/>
                  </a:cubicBezTo>
                  <a:lnTo>
                    <a:pt x="22467063" y="1284859"/>
                  </a:lnTo>
                  <a:cubicBezTo>
                    <a:pt x="22467063" y="1294257"/>
                    <a:pt x="22459443" y="1301750"/>
                    <a:pt x="22450171"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22450171" y="1267968"/>
                  </a:lnTo>
                  <a:lnTo>
                    <a:pt x="22450171" y="1284859"/>
                  </a:lnTo>
                  <a:lnTo>
                    <a:pt x="22433280" y="1284859"/>
                  </a:lnTo>
                  <a:lnTo>
                    <a:pt x="22433280" y="16891"/>
                  </a:lnTo>
                  <a:lnTo>
                    <a:pt x="22450171" y="16891"/>
                  </a:lnTo>
                  <a:lnTo>
                    <a:pt x="22450171" y="33909"/>
                  </a:lnTo>
                  <a:lnTo>
                    <a:pt x="16891" y="33909"/>
                  </a:lnTo>
                  <a:close/>
                </a:path>
              </a:pathLst>
            </a:custGeom>
            <a:solidFill>
              <a:srgbClr val="059669"/>
            </a:solidFill>
          </p:spPr>
        </p:sp>
      </p:grpSp>
      <p:grpSp>
        <p:nvGrpSpPr>
          <p:cNvPr name="Group 23" id="23"/>
          <p:cNvGrpSpPr/>
          <p:nvPr/>
        </p:nvGrpSpPr>
        <p:grpSpPr>
          <a:xfrm rot="0">
            <a:off x="1097280" y="2084832"/>
            <a:ext cx="16093440" cy="768096"/>
            <a:chOff x="0" y="0"/>
            <a:chExt cx="21457920" cy="1024128"/>
          </a:xfrm>
        </p:grpSpPr>
        <p:sp>
          <p:nvSpPr>
            <p:cNvPr name="Freeform 24" id="24"/>
            <p:cNvSpPr/>
            <p:nvPr/>
          </p:nvSpPr>
          <p:spPr>
            <a:xfrm flipH="false" flipV="false" rot="0">
              <a:off x="0" y="0"/>
              <a:ext cx="21457920" cy="1024128"/>
            </a:xfrm>
            <a:custGeom>
              <a:avLst/>
              <a:gdLst/>
              <a:ahLst/>
              <a:cxnLst/>
              <a:rect r="r" b="b" t="t" l="l"/>
              <a:pathLst>
                <a:path h="1024128" w="21457920">
                  <a:moveTo>
                    <a:pt x="0" y="0"/>
                  </a:moveTo>
                  <a:lnTo>
                    <a:pt x="21457920" y="0"/>
                  </a:lnTo>
                  <a:lnTo>
                    <a:pt x="21457920" y="1024128"/>
                  </a:lnTo>
                  <a:lnTo>
                    <a:pt x="0" y="1024128"/>
                  </a:lnTo>
                  <a:close/>
                </a:path>
              </a:pathLst>
            </a:custGeom>
            <a:blipFill>
              <a:blip r:embed="rId2">
                <a:alphaModFix amt="0"/>
              </a:blip>
              <a:stretch>
                <a:fillRect l="0" t="-358257" r="0" b="-358257"/>
              </a:stretch>
            </a:blipFill>
          </p:spPr>
        </p:sp>
        <p:sp>
          <p:nvSpPr>
            <p:cNvPr name="TextBox 25" id="25"/>
            <p:cNvSpPr txBox="true"/>
            <p:nvPr/>
          </p:nvSpPr>
          <p:spPr>
            <a:xfrm>
              <a:off x="0" y="-47625"/>
              <a:ext cx="21457920" cy="1071753"/>
            </a:xfrm>
            <a:prstGeom prst="rect">
              <a:avLst/>
            </a:prstGeom>
          </p:spPr>
          <p:txBody>
            <a:bodyPr anchor="ctr" rtlCol="false" tIns="0" lIns="0" bIns="0" rIns="0"/>
            <a:lstStyle/>
            <a:p>
              <a:pPr algn="l">
                <a:lnSpc>
                  <a:spcPts val="2640"/>
                </a:lnSpc>
              </a:pPr>
              <a:r>
                <a:rPr lang="en-US" sz="2200">
                  <a:solidFill>
                    <a:srgbClr val="1E293B"/>
                  </a:solidFill>
                  <a:latin typeface="Calibri (MS)"/>
                  <a:ea typeface="Calibri (MS)"/>
                  <a:cs typeface="Calibri (MS)"/>
                  <a:sym typeface="Calibri (MS)"/>
                </a:rPr>
                <a:t>🔗  Cas réel : Solid (Tim Berners-Lee) utilise FOAF pour permettre un web social re-décentralisé où chacun contrôle ses propres données.</a:t>
              </a:r>
            </a:p>
          </p:txBody>
        </p:sp>
      </p:grpSp>
      <p:grpSp>
        <p:nvGrpSpPr>
          <p:cNvPr name="Group 26" id="26"/>
          <p:cNvGrpSpPr/>
          <p:nvPr/>
        </p:nvGrpSpPr>
        <p:grpSpPr>
          <a:xfrm rot="0">
            <a:off x="718823" y="3736343"/>
            <a:ext cx="8774430" cy="5600700"/>
            <a:chOff x="0" y="0"/>
            <a:chExt cx="11699240" cy="7467600"/>
          </a:xfrm>
        </p:grpSpPr>
        <p:sp>
          <p:nvSpPr>
            <p:cNvPr name="Freeform 27" id="27"/>
            <p:cNvSpPr/>
            <p:nvPr/>
          </p:nvSpPr>
          <p:spPr>
            <a:xfrm flipH="false" flipV="false" rot="0">
              <a:off x="16891" y="16891"/>
              <a:ext cx="11665458" cy="7433818"/>
            </a:xfrm>
            <a:custGeom>
              <a:avLst/>
              <a:gdLst/>
              <a:ahLst/>
              <a:cxnLst/>
              <a:rect r="r" b="b" t="t" l="l"/>
              <a:pathLst>
                <a:path h="7433818" w="11665458">
                  <a:moveTo>
                    <a:pt x="0" y="0"/>
                  </a:moveTo>
                  <a:lnTo>
                    <a:pt x="11665458" y="0"/>
                  </a:lnTo>
                  <a:lnTo>
                    <a:pt x="11665458" y="7433818"/>
                  </a:lnTo>
                  <a:lnTo>
                    <a:pt x="0" y="7433818"/>
                  </a:lnTo>
                  <a:close/>
                </a:path>
              </a:pathLst>
            </a:custGeom>
            <a:solidFill>
              <a:srgbClr val="1E293B"/>
            </a:solidFill>
          </p:spPr>
        </p:sp>
        <p:sp>
          <p:nvSpPr>
            <p:cNvPr name="Freeform 28" id="28"/>
            <p:cNvSpPr/>
            <p:nvPr/>
          </p:nvSpPr>
          <p:spPr>
            <a:xfrm flipH="false" flipV="false" rot="0">
              <a:off x="0" y="0"/>
              <a:ext cx="11699240" cy="7467600"/>
            </a:xfrm>
            <a:custGeom>
              <a:avLst/>
              <a:gdLst/>
              <a:ahLst/>
              <a:cxnLst/>
              <a:rect r="r" b="b" t="t" l="l"/>
              <a:pathLst>
                <a:path h="7467600" w="11699240">
                  <a:moveTo>
                    <a:pt x="16891" y="0"/>
                  </a:moveTo>
                  <a:lnTo>
                    <a:pt x="11682349" y="0"/>
                  </a:lnTo>
                  <a:cubicBezTo>
                    <a:pt x="11691747" y="0"/>
                    <a:pt x="11699240" y="7620"/>
                    <a:pt x="11699240" y="16891"/>
                  </a:cubicBezTo>
                  <a:lnTo>
                    <a:pt x="11699240" y="7450709"/>
                  </a:lnTo>
                  <a:cubicBezTo>
                    <a:pt x="11699240" y="7460107"/>
                    <a:pt x="11691620" y="7467600"/>
                    <a:pt x="11682349" y="7467600"/>
                  </a:cubicBezTo>
                  <a:lnTo>
                    <a:pt x="16891" y="7467600"/>
                  </a:lnTo>
                  <a:cubicBezTo>
                    <a:pt x="7620" y="7467600"/>
                    <a:pt x="0" y="7459980"/>
                    <a:pt x="0" y="7450709"/>
                  </a:cubicBezTo>
                  <a:lnTo>
                    <a:pt x="0" y="16891"/>
                  </a:lnTo>
                  <a:cubicBezTo>
                    <a:pt x="0" y="7620"/>
                    <a:pt x="7620" y="0"/>
                    <a:pt x="16891" y="0"/>
                  </a:cubicBezTo>
                  <a:moveTo>
                    <a:pt x="16891" y="33909"/>
                  </a:moveTo>
                  <a:lnTo>
                    <a:pt x="16891" y="16891"/>
                  </a:lnTo>
                  <a:lnTo>
                    <a:pt x="33909" y="16891"/>
                  </a:lnTo>
                  <a:lnTo>
                    <a:pt x="33909" y="7450709"/>
                  </a:lnTo>
                  <a:lnTo>
                    <a:pt x="16891" y="7450709"/>
                  </a:lnTo>
                  <a:lnTo>
                    <a:pt x="16891" y="7433818"/>
                  </a:lnTo>
                  <a:lnTo>
                    <a:pt x="11682349" y="7433818"/>
                  </a:lnTo>
                  <a:lnTo>
                    <a:pt x="11682349" y="7450709"/>
                  </a:lnTo>
                  <a:lnTo>
                    <a:pt x="11665458" y="7450709"/>
                  </a:lnTo>
                  <a:lnTo>
                    <a:pt x="11665458" y="16891"/>
                  </a:lnTo>
                  <a:lnTo>
                    <a:pt x="11682349" y="16891"/>
                  </a:lnTo>
                  <a:lnTo>
                    <a:pt x="11682349" y="33909"/>
                  </a:lnTo>
                  <a:lnTo>
                    <a:pt x="16891" y="33909"/>
                  </a:lnTo>
                  <a:close/>
                </a:path>
              </a:pathLst>
            </a:custGeom>
            <a:solidFill>
              <a:srgbClr val="1E293B"/>
            </a:solidFill>
          </p:spPr>
        </p:sp>
      </p:grpSp>
      <p:sp>
        <p:nvSpPr>
          <p:cNvPr name="TextBox 29" id="29"/>
          <p:cNvSpPr txBox="true"/>
          <p:nvPr/>
        </p:nvSpPr>
        <p:spPr>
          <a:xfrm rot="0">
            <a:off x="1151887" y="4059555"/>
            <a:ext cx="7885433" cy="5367652"/>
          </a:xfrm>
          <a:prstGeom prst="rect">
            <a:avLst/>
          </a:prstGeom>
        </p:spPr>
        <p:txBody>
          <a:bodyPr anchor="t" rtlCol="false" tIns="0" lIns="0" bIns="0" rIns="0">
            <a:spAutoFit/>
          </a:bodyPr>
          <a:lstStyle/>
          <a:p>
            <a:pPr algn="l">
              <a:lnSpc>
                <a:spcPts val="2280"/>
              </a:lnSpc>
            </a:pPr>
            <a:r>
              <a:rPr lang="en-US" sz="1900">
                <a:solidFill>
                  <a:srgbClr val="94A3B8"/>
                </a:solidFill>
                <a:latin typeface="Courier New"/>
                <a:ea typeface="Courier New"/>
                <a:cs typeface="Courier New"/>
                <a:sym typeface="Courier New"/>
              </a:rPr>
              <a:t>@prefix foaf: &lt;http://xmlns.com/foaf/0.1/&gt; .</a:t>
            </a:r>
          </a:p>
          <a:p>
            <a:pPr algn="l">
              <a:lnSpc>
                <a:spcPts val="2280"/>
              </a:lnSpc>
            </a:pPr>
            <a:r>
              <a:rPr lang="en-US" sz="1900">
                <a:solidFill>
                  <a:srgbClr val="94A3B8"/>
                </a:solidFill>
                <a:latin typeface="Courier New"/>
                <a:ea typeface="Courier New"/>
                <a:cs typeface="Courier New"/>
                <a:sym typeface="Courier New"/>
              </a:rPr>
              <a:t>@prefix ex:   &lt;http://example.org/&gt; .</a:t>
            </a:r>
          </a:p>
          <a:p>
            <a:pPr algn="l">
              <a:lnSpc>
                <a:spcPts val="2280"/>
              </a:lnSpc>
            </a:pPr>
            <a:r>
              <a:rPr lang="en-US" sz="1900">
                <a:solidFill>
                  <a:srgbClr val="FFFFFF"/>
                </a:solidFill>
                <a:latin typeface="Courier New"/>
                <a:ea typeface="Courier New"/>
                <a:cs typeface="Courier New"/>
                <a:sym typeface="Courier New"/>
              </a:rPr>
              <a:t> </a:t>
            </a:r>
          </a:p>
          <a:p>
            <a:pPr algn="l">
              <a:lnSpc>
                <a:spcPts val="2280"/>
              </a:lnSpc>
            </a:pPr>
            <a:r>
              <a:rPr lang="en-US" sz="1900">
                <a:solidFill>
                  <a:srgbClr val="FCD34D"/>
                </a:solidFill>
                <a:latin typeface="Courier New"/>
                <a:ea typeface="Courier New"/>
                <a:cs typeface="Courier New"/>
                <a:sym typeface="Courier New"/>
              </a:rPr>
              <a:t>ex:Nedjar </a:t>
            </a:r>
            <a:r>
              <a:rPr lang="en-US" sz="1900">
                <a:solidFill>
                  <a:srgbClr val="34D399"/>
                </a:solidFill>
                <a:latin typeface="Courier New"/>
                <a:ea typeface="Courier New"/>
                <a:cs typeface="Courier New"/>
                <a:sym typeface="Courier New"/>
              </a:rPr>
              <a:t>a foaf:Person</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foaf:name </a:t>
            </a:r>
            <a:r>
              <a:rPr lang="en-US" sz="1900">
                <a:solidFill>
                  <a:srgbClr val="FCA5A5"/>
                </a:solidFill>
                <a:latin typeface="Courier New"/>
                <a:ea typeface="Courier New"/>
                <a:cs typeface="Courier New"/>
                <a:sym typeface="Courier New"/>
              </a:rPr>
              <a:t>"Nedjar"</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foaf:knows </a:t>
            </a:r>
            <a:r>
              <a:rPr lang="en-US" sz="1900">
                <a:solidFill>
                  <a:srgbClr val="FCD34D"/>
                </a:solidFill>
                <a:latin typeface="Courier New"/>
                <a:ea typeface="Courier New"/>
                <a:cs typeface="Courier New"/>
                <a:sym typeface="Courier New"/>
              </a:rPr>
              <a:t>ex:Marref</a:t>
            </a:r>
            <a:r>
              <a:rPr lang="en-US" sz="1900">
                <a:solidFill>
                  <a:srgbClr val="94A3B8"/>
                </a:solidFill>
                <a:latin typeface="Courier New"/>
                <a:ea typeface="Courier New"/>
                <a:cs typeface="Courier New"/>
                <a:sym typeface="Courier New"/>
              </a:rPr>
              <a:t>, </a:t>
            </a:r>
            <a:r>
              <a:rPr lang="en-US" sz="1900">
                <a:solidFill>
                  <a:srgbClr val="FCD34D"/>
                </a:solidFill>
                <a:latin typeface="Courier New"/>
                <a:ea typeface="Courier New"/>
                <a:cs typeface="Courier New"/>
                <a:sym typeface="Courier New"/>
              </a:rPr>
              <a:t>ex:Hmaimi</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FFFFFF"/>
                </a:solidFill>
                <a:latin typeface="Courier New"/>
                <a:ea typeface="Courier New"/>
                <a:cs typeface="Courier New"/>
                <a:sym typeface="Courier New"/>
              </a:rPr>
              <a:t> </a:t>
            </a:r>
          </a:p>
          <a:p>
            <a:pPr algn="l">
              <a:lnSpc>
                <a:spcPts val="2280"/>
              </a:lnSpc>
            </a:pPr>
            <a:r>
              <a:rPr lang="en-US" sz="1900">
                <a:solidFill>
                  <a:srgbClr val="FCD34D"/>
                </a:solidFill>
                <a:latin typeface="Courier New"/>
                <a:ea typeface="Courier New"/>
                <a:cs typeface="Courier New"/>
                <a:sym typeface="Courier New"/>
              </a:rPr>
              <a:t>ex:Marref </a:t>
            </a:r>
            <a:r>
              <a:rPr lang="en-US" sz="1900">
                <a:solidFill>
                  <a:srgbClr val="34D399"/>
                </a:solidFill>
                <a:latin typeface="Courier New"/>
                <a:ea typeface="Courier New"/>
                <a:cs typeface="Courier New"/>
                <a:sym typeface="Courier New"/>
              </a:rPr>
              <a:t>a foaf:Person</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foaf:name </a:t>
            </a:r>
            <a:r>
              <a:rPr lang="en-US" sz="1900">
                <a:solidFill>
                  <a:srgbClr val="FCA5A5"/>
                </a:solidFill>
                <a:latin typeface="Courier New"/>
                <a:ea typeface="Courier New"/>
                <a:cs typeface="Courier New"/>
                <a:sym typeface="Courier New"/>
              </a:rPr>
              <a:t>"Marref"</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foaf:mbox_sha1sum </a:t>
            </a:r>
            <a:r>
              <a:rPr lang="en-US" sz="1900">
                <a:solidFill>
                  <a:srgbClr val="FCA5A5"/>
                </a:solidFill>
                <a:latin typeface="Courier New"/>
                <a:ea typeface="Courier New"/>
                <a:cs typeface="Courier New"/>
                <a:sym typeface="Courier New"/>
              </a:rPr>
              <a:t>"a94a8fe5ccb19ba61c4c0873d391e987982fbbd3"</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FFFFFF"/>
                </a:solidFill>
                <a:latin typeface="Courier New"/>
                <a:ea typeface="Courier New"/>
                <a:cs typeface="Courier New"/>
                <a:sym typeface="Courier New"/>
              </a:rPr>
              <a:t> </a:t>
            </a:r>
          </a:p>
          <a:p>
            <a:pPr algn="l">
              <a:lnSpc>
                <a:spcPts val="2280"/>
              </a:lnSpc>
            </a:pPr>
            <a:r>
              <a:rPr lang="en-US" sz="1900">
                <a:solidFill>
                  <a:srgbClr val="FCD34D"/>
                </a:solidFill>
                <a:latin typeface="Courier New"/>
                <a:ea typeface="Courier New"/>
                <a:cs typeface="Courier New"/>
                <a:sym typeface="Courier New"/>
              </a:rPr>
              <a:t>ex:Hmaimi </a:t>
            </a:r>
            <a:r>
              <a:rPr lang="en-US" sz="1900">
                <a:solidFill>
                  <a:srgbClr val="34D399"/>
                </a:solidFill>
                <a:latin typeface="Courier New"/>
                <a:ea typeface="Courier New"/>
                <a:cs typeface="Courier New"/>
                <a:sym typeface="Courier New"/>
              </a:rPr>
              <a:t>a foaf:Person</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foaf:name </a:t>
            </a:r>
            <a:r>
              <a:rPr lang="en-US" sz="1900">
                <a:solidFill>
                  <a:srgbClr val="FCA5A5"/>
                </a:solidFill>
                <a:latin typeface="Courier New"/>
                <a:ea typeface="Courier New"/>
                <a:cs typeface="Courier New"/>
                <a:sym typeface="Courier New"/>
              </a:rPr>
              <a:t>"Hmaimi"</a:t>
            </a:r>
            <a:r>
              <a:rPr lang="en-US" sz="1900">
                <a:solidFill>
                  <a:srgbClr val="94A3B8"/>
                </a:solidFill>
                <a:latin typeface="Courier New"/>
                <a:ea typeface="Courier New"/>
                <a:cs typeface="Courier New"/>
                <a:sym typeface="Courier New"/>
              </a:rPr>
              <a:t> ;</a:t>
            </a:r>
          </a:p>
          <a:p>
            <a:pPr algn="l">
              <a:lnSpc>
                <a:spcPts val="2280"/>
              </a:lnSpc>
            </a:pPr>
            <a:r>
              <a:rPr lang="en-US" sz="1900">
                <a:solidFill>
                  <a:srgbClr val="94A3B8"/>
                </a:solidFill>
                <a:latin typeface="Courier New"/>
                <a:ea typeface="Courier New"/>
                <a:cs typeface="Courier New"/>
                <a:sym typeface="Courier New"/>
              </a:rPr>
              <a:t>    foaf:interest </a:t>
            </a:r>
            <a:r>
              <a:rPr lang="en-US" sz="1900">
                <a:solidFill>
                  <a:srgbClr val="A78BFA"/>
                </a:solidFill>
                <a:latin typeface="Courier New"/>
                <a:ea typeface="Courier New"/>
                <a:cs typeface="Courier New"/>
                <a:sym typeface="Courier New"/>
              </a:rPr>
              <a:t>&lt;http://dbpedia.org/resource/Semantic_Web&gt;</a:t>
            </a:r>
            <a:r>
              <a:rPr lang="en-US" sz="1900">
                <a:solidFill>
                  <a:srgbClr val="94A3B8"/>
                </a:solidFill>
                <a:latin typeface="Courier New"/>
                <a:ea typeface="Courier New"/>
                <a:cs typeface="Courier New"/>
                <a:sym typeface="Courier New"/>
              </a:rPr>
              <a:t> .</a:t>
            </a:r>
          </a:p>
        </p:txBody>
      </p:sp>
      <p:grpSp>
        <p:nvGrpSpPr>
          <p:cNvPr name="Group 30" id="30"/>
          <p:cNvGrpSpPr/>
          <p:nvPr/>
        </p:nvGrpSpPr>
        <p:grpSpPr>
          <a:xfrm rot="0">
            <a:off x="-6353" y="9741151"/>
            <a:ext cx="18300697" cy="552193"/>
            <a:chOff x="0" y="0"/>
            <a:chExt cx="24400929" cy="736257"/>
          </a:xfrm>
        </p:grpSpPr>
        <p:sp>
          <p:nvSpPr>
            <p:cNvPr name="Freeform 31" id="31"/>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32" id="32"/>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33" id="33"/>
          <p:cNvGrpSpPr/>
          <p:nvPr/>
        </p:nvGrpSpPr>
        <p:grpSpPr>
          <a:xfrm rot="0">
            <a:off x="15910560" y="9747504"/>
            <a:ext cx="2011680" cy="539496"/>
            <a:chOff x="0" y="0"/>
            <a:chExt cx="2682240" cy="719328"/>
          </a:xfrm>
        </p:grpSpPr>
        <p:sp>
          <p:nvSpPr>
            <p:cNvPr name="Freeform 34" id="34"/>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35" id="35"/>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13 / 18</a:t>
              </a:r>
            </a:p>
          </p:txBody>
        </p:sp>
      </p:grpSp>
      <p:grpSp>
        <p:nvGrpSpPr>
          <p:cNvPr name="Group 36" id="36"/>
          <p:cNvGrpSpPr/>
          <p:nvPr/>
        </p:nvGrpSpPr>
        <p:grpSpPr>
          <a:xfrm rot="0">
            <a:off x="548640" y="9747504"/>
            <a:ext cx="10972800" cy="539496"/>
            <a:chOff x="0" y="0"/>
            <a:chExt cx="14630400" cy="719328"/>
          </a:xfrm>
        </p:grpSpPr>
        <p:sp>
          <p:nvSpPr>
            <p:cNvPr name="Freeform 37" id="37"/>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38" id="38"/>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FOAF</a:t>
              </a:r>
            </a:p>
          </p:txBody>
        </p:sp>
      </p:grpSp>
      <p:grpSp>
        <p:nvGrpSpPr>
          <p:cNvPr name="Group 39" id="39"/>
          <p:cNvGrpSpPr/>
          <p:nvPr/>
        </p:nvGrpSpPr>
        <p:grpSpPr>
          <a:xfrm rot="0">
            <a:off x="9899647" y="3731257"/>
            <a:ext cx="7813043" cy="5637533"/>
            <a:chOff x="0" y="0"/>
            <a:chExt cx="10417391" cy="7516711"/>
          </a:xfrm>
        </p:grpSpPr>
        <p:sp>
          <p:nvSpPr>
            <p:cNvPr name="Freeform 40" id="40"/>
            <p:cNvSpPr/>
            <p:nvPr/>
          </p:nvSpPr>
          <p:spPr>
            <a:xfrm flipH="false" flipV="false" rot="0">
              <a:off x="0" y="0"/>
              <a:ext cx="10417429" cy="7516749"/>
            </a:xfrm>
            <a:custGeom>
              <a:avLst/>
              <a:gdLst/>
              <a:ahLst/>
              <a:cxnLst/>
              <a:rect r="r" b="b" t="t" l="l"/>
              <a:pathLst>
                <a:path h="7516749" w="10417429">
                  <a:moveTo>
                    <a:pt x="0" y="0"/>
                  </a:moveTo>
                  <a:lnTo>
                    <a:pt x="10417429" y="0"/>
                  </a:lnTo>
                  <a:lnTo>
                    <a:pt x="10417429" y="7516749"/>
                  </a:lnTo>
                  <a:lnTo>
                    <a:pt x="0" y="7516749"/>
                  </a:lnTo>
                  <a:lnTo>
                    <a:pt x="0" y="0"/>
                  </a:lnTo>
                  <a:close/>
                </a:path>
              </a:pathLst>
            </a:custGeom>
            <a:blipFill>
              <a:blip r:embed="rId3"/>
              <a:stretch>
                <a:fillRect l="-34852" t="0" r="-34851" b="0"/>
              </a:stretch>
            </a:blipFill>
          </p:spPr>
        </p:sp>
      </p:grpSp>
      <p:sp>
        <p:nvSpPr>
          <p:cNvPr name="TextBox 41" id="41"/>
          <p:cNvSpPr txBox="true"/>
          <p:nvPr/>
        </p:nvSpPr>
        <p:spPr>
          <a:xfrm rot="0">
            <a:off x="817883" y="2966085"/>
            <a:ext cx="3980183" cy="711832"/>
          </a:xfrm>
          <a:prstGeom prst="rect">
            <a:avLst/>
          </a:prstGeom>
        </p:spPr>
        <p:txBody>
          <a:bodyPr anchor="t" rtlCol="false" tIns="0" lIns="0" bIns="0" rIns="0">
            <a:spAutoFit/>
          </a:bodyPr>
          <a:lstStyle/>
          <a:p>
            <a:pPr algn="l">
              <a:lnSpc>
                <a:spcPts val="4320"/>
              </a:lnSpc>
            </a:pPr>
            <a:r>
              <a:rPr lang="en-US" sz="3600" b="true">
                <a:solidFill>
                  <a:srgbClr val="000000"/>
                </a:solidFill>
                <a:latin typeface="Calibri (MS) Bold"/>
                <a:ea typeface="Calibri (MS) Bold"/>
                <a:cs typeface="Calibri (MS) Bold"/>
                <a:sym typeface="Calibri (MS) Bold"/>
              </a:rPr>
              <a:t>Exemple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D97706"/>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D97706"/>
            </a:solidFill>
          </p:spPr>
        </p:sp>
      </p:grpSp>
      <p:grpSp>
        <p:nvGrpSpPr>
          <p:cNvPr name="Group 5" id="5"/>
          <p:cNvGrpSpPr/>
          <p:nvPr/>
        </p:nvGrpSpPr>
        <p:grpSpPr>
          <a:xfrm rot="0">
            <a:off x="15166343" y="170183"/>
            <a:ext cx="2951483" cy="793499"/>
            <a:chOff x="0" y="0"/>
            <a:chExt cx="3935311" cy="1057999"/>
          </a:xfrm>
        </p:grpSpPr>
        <p:sp>
          <p:nvSpPr>
            <p:cNvPr name="Freeform 6" id="6"/>
            <p:cNvSpPr/>
            <p:nvPr/>
          </p:nvSpPr>
          <p:spPr>
            <a:xfrm flipH="false" flipV="false" rot="0">
              <a:off x="16891" y="16891"/>
              <a:ext cx="3901440" cy="1024128"/>
            </a:xfrm>
            <a:custGeom>
              <a:avLst/>
              <a:gdLst/>
              <a:ahLst/>
              <a:cxnLst/>
              <a:rect r="r" b="b" t="t" l="l"/>
              <a:pathLst>
                <a:path h="1024128" w="3901440">
                  <a:moveTo>
                    <a:pt x="0" y="0"/>
                  </a:moveTo>
                  <a:lnTo>
                    <a:pt x="3901440" y="0"/>
                  </a:lnTo>
                  <a:lnTo>
                    <a:pt x="3901440" y="1024128"/>
                  </a:lnTo>
                  <a:lnTo>
                    <a:pt x="0" y="1024128"/>
                  </a:lnTo>
                  <a:close/>
                </a:path>
              </a:pathLst>
            </a:custGeom>
            <a:solidFill>
              <a:srgbClr val="D97706"/>
            </a:solidFill>
          </p:spPr>
        </p:sp>
        <p:sp>
          <p:nvSpPr>
            <p:cNvPr name="Freeform 7" id="7"/>
            <p:cNvSpPr/>
            <p:nvPr/>
          </p:nvSpPr>
          <p:spPr>
            <a:xfrm flipH="false" flipV="false" rot="0">
              <a:off x="0" y="0"/>
              <a:ext cx="3935222" cy="1057912"/>
            </a:xfrm>
            <a:custGeom>
              <a:avLst/>
              <a:gdLst/>
              <a:ahLst/>
              <a:cxnLst/>
              <a:rect r="r" b="b" t="t" l="l"/>
              <a:pathLst>
                <a:path h="1057912" w="3935222">
                  <a:moveTo>
                    <a:pt x="16891" y="0"/>
                  </a:moveTo>
                  <a:lnTo>
                    <a:pt x="3918331" y="0"/>
                  </a:lnTo>
                  <a:cubicBezTo>
                    <a:pt x="3927729" y="0"/>
                    <a:pt x="3935222" y="7620"/>
                    <a:pt x="3935222" y="16891"/>
                  </a:cubicBezTo>
                  <a:lnTo>
                    <a:pt x="3935222" y="1041019"/>
                  </a:lnTo>
                  <a:cubicBezTo>
                    <a:pt x="3935222" y="1050417"/>
                    <a:pt x="3927602" y="1057910"/>
                    <a:pt x="39183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918331" y="1024128"/>
                  </a:lnTo>
                  <a:lnTo>
                    <a:pt x="3918331" y="1041019"/>
                  </a:lnTo>
                  <a:lnTo>
                    <a:pt x="3901440" y="1041019"/>
                  </a:lnTo>
                  <a:lnTo>
                    <a:pt x="3901440" y="16891"/>
                  </a:lnTo>
                  <a:lnTo>
                    <a:pt x="3918331" y="16891"/>
                  </a:lnTo>
                  <a:lnTo>
                    <a:pt x="3918331" y="33909"/>
                  </a:lnTo>
                  <a:lnTo>
                    <a:pt x="16891" y="33909"/>
                  </a:lnTo>
                  <a:close/>
                </a:path>
              </a:pathLst>
            </a:custGeom>
            <a:solidFill>
              <a:srgbClr val="D97706"/>
            </a:solidFill>
          </p:spPr>
        </p:sp>
      </p:grpSp>
      <p:grpSp>
        <p:nvGrpSpPr>
          <p:cNvPr name="Group 8" id="8"/>
          <p:cNvGrpSpPr/>
          <p:nvPr/>
        </p:nvGrpSpPr>
        <p:grpSpPr>
          <a:xfrm rot="0">
            <a:off x="15179040" y="182880"/>
            <a:ext cx="2926080" cy="768096"/>
            <a:chOff x="0" y="0"/>
            <a:chExt cx="3901440" cy="1024128"/>
          </a:xfrm>
        </p:grpSpPr>
        <p:sp>
          <p:nvSpPr>
            <p:cNvPr name="Freeform 9" id="9"/>
            <p:cNvSpPr/>
            <p:nvPr/>
          </p:nvSpPr>
          <p:spPr>
            <a:xfrm flipH="false" flipV="false" rot="0">
              <a:off x="0" y="0"/>
              <a:ext cx="3901440" cy="1024128"/>
            </a:xfrm>
            <a:custGeom>
              <a:avLst/>
              <a:gdLst/>
              <a:ahLst/>
              <a:cxnLst/>
              <a:rect r="r" b="b" t="t" l="l"/>
              <a:pathLst>
                <a:path h="1024128" w="3901440">
                  <a:moveTo>
                    <a:pt x="0" y="0"/>
                  </a:moveTo>
                  <a:lnTo>
                    <a:pt x="3901440" y="0"/>
                  </a:lnTo>
                  <a:lnTo>
                    <a:pt x="3901440" y="1024128"/>
                  </a:lnTo>
                  <a:lnTo>
                    <a:pt x="0" y="1024128"/>
                  </a:lnTo>
                  <a:close/>
                </a:path>
              </a:pathLst>
            </a:custGeom>
            <a:blipFill>
              <a:blip r:embed="rId2">
                <a:alphaModFix amt="0"/>
              </a:blip>
              <a:stretch>
                <a:fillRect l="0" t="-24228" r="0" b="-24228"/>
              </a:stretch>
            </a:blipFill>
          </p:spPr>
        </p:sp>
        <p:sp>
          <p:nvSpPr>
            <p:cNvPr name="TextBox 10" id="10"/>
            <p:cNvSpPr txBox="true"/>
            <p:nvPr/>
          </p:nvSpPr>
          <p:spPr>
            <a:xfrm>
              <a:off x="0" y="-38100"/>
              <a:ext cx="3901440" cy="106222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Schema.org  1/4</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D97706"/>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D97706"/>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Schema.org</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57150"/>
              <a:ext cx="21945600" cy="739902"/>
            </a:xfrm>
            <a:prstGeom prst="rect">
              <a:avLst/>
            </a:prstGeom>
          </p:spPr>
          <p:txBody>
            <a:bodyPr anchor="ctr" rtlCol="false" tIns="0" lIns="0" bIns="0" rIns="0"/>
            <a:lstStyle/>
            <a:p>
              <a:pPr algn="l">
                <a:lnSpc>
                  <a:spcPts val="3840"/>
                </a:lnSpc>
              </a:pPr>
              <a:r>
                <a:rPr lang="en-US" sz="3200">
                  <a:solidFill>
                    <a:srgbClr val="000000"/>
                  </a:solidFill>
                  <a:latin typeface="Calibri (MS)"/>
                  <a:ea typeface="Calibri (MS)"/>
                  <a:cs typeface="Calibri (MS)"/>
                  <a:sym typeface="Calibri (MS)"/>
                </a:rPr>
                <a:t>Le problème de base : Les robots sont "bêtes"</a:t>
              </a:r>
            </a:p>
          </p:txBody>
        </p:sp>
      </p:grpSp>
      <p:grpSp>
        <p:nvGrpSpPr>
          <p:cNvPr name="Group 20" id="20"/>
          <p:cNvGrpSpPr/>
          <p:nvPr/>
        </p:nvGrpSpPr>
        <p:grpSpPr>
          <a:xfrm rot="0">
            <a:off x="-6353" y="9741151"/>
            <a:ext cx="18300697" cy="552193"/>
            <a:chOff x="0" y="0"/>
            <a:chExt cx="24400929" cy="736257"/>
          </a:xfrm>
        </p:grpSpPr>
        <p:sp>
          <p:nvSpPr>
            <p:cNvPr name="Freeform 21" id="21"/>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22" id="22"/>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23" id="23"/>
          <p:cNvGrpSpPr/>
          <p:nvPr/>
        </p:nvGrpSpPr>
        <p:grpSpPr>
          <a:xfrm rot="0">
            <a:off x="15910560" y="9747504"/>
            <a:ext cx="2011680" cy="539496"/>
            <a:chOff x="0" y="0"/>
            <a:chExt cx="2682240" cy="719328"/>
          </a:xfrm>
        </p:grpSpPr>
        <p:sp>
          <p:nvSpPr>
            <p:cNvPr name="Freeform 24" id="24"/>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25" id="25"/>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14 / 18</a:t>
              </a:r>
            </a:p>
          </p:txBody>
        </p:sp>
      </p:grpSp>
      <p:grpSp>
        <p:nvGrpSpPr>
          <p:cNvPr name="Group 26" id="26"/>
          <p:cNvGrpSpPr/>
          <p:nvPr/>
        </p:nvGrpSpPr>
        <p:grpSpPr>
          <a:xfrm rot="0">
            <a:off x="548640" y="9747504"/>
            <a:ext cx="10972800" cy="539496"/>
            <a:chOff x="0" y="0"/>
            <a:chExt cx="14630400" cy="719328"/>
          </a:xfrm>
        </p:grpSpPr>
        <p:sp>
          <p:nvSpPr>
            <p:cNvPr name="Freeform 27" id="27"/>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28" id="28"/>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Schema.org</a:t>
              </a:r>
            </a:p>
          </p:txBody>
        </p:sp>
      </p:grpSp>
      <p:sp>
        <p:nvSpPr>
          <p:cNvPr name="TextBox 29" id="29"/>
          <p:cNvSpPr txBox="true"/>
          <p:nvPr/>
        </p:nvSpPr>
        <p:spPr>
          <a:xfrm rot="0">
            <a:off x="91440" y="414157"/>
            <a:ext cx="823893" cy="1108891"/>
          </a:xfrm>
          <a:prstGeom prst="rect">
            <a:avLst/>
          </a:prstGeom>
        </p:spPr>
        <p:txBody>
          <a:bodyPr anchor="t" rtlCol="false" tIns="0" lIns="0" bIns="0" rIns="0">
            <a:spAutoFit/>
          </a:bodyPr>
          <a:lstStyle/>
          <a:p>
            <a:pPr algn="ctr">
              <a:lnSpc>
                <a:spcPts val="7920"/>
              </a:lnSpc>
            </a:pPr>
            <a:r>
              <a:rPr lang="en-US" sz="6600" spc="15">
                <a:solidFill>
                  <a:srgbClr val="000000"/>
                </a:solidFill>
                <a:latin typeface="Rosario"/>
                <a:ea typeface="Rosario"/>
                <a:cs typeface="Rosario"/>
                <a:sym typeface="Rosario"/>
              </a:rPr>
              <a:t>6</a:t>
            </a:r>
          </a:p>
        </p:txBody>
      </p:sp>
      <p:grpSp>
        <p:nvGrpSpPr>
          <p:cNvPr name="Group 30" id="30"/>
          <p:cNvGrpSpPr/>
          <p:nvPr/>
        </p:nvGrpSpPr>
        <p:grpSpPr>
          <a:xfrm rot="0">
            <a:off x="4745203" y="2483139"/>
            <a:ext cx="3293774" cy="2660361"/>
            <a:chOff x="0" y="0"/>
            <a:chExt cx="4391698" cy="3547148"/>
          </a:xfrm>
        </p:grpSpPr>
        <p:sp>
          <p:nvSpPr>
            <p:cNvPr name="Freeform 31" id="31"/>
            <p:cNvSpPr/>
            <p:nvPr/>
          </p:nvSpPr>
          <p:spPr>
            <a:xfrm flipH="false" flipV="false" rot="0">
              <a:off x="0" y="0"/>
              <a:ext cx="4391660" cy="3547110"/>
            </a:xfrm>
            <a:custGeom>
              <a:avLst/>
              <a:gdLst/>
              <a:ahLst/>
              <a:cxnLst/>
              <a:rect r="r" b="b" t="t" l="l"/>
              <a:pathLst>
                <a:path h="3547110" w="4391660">
                  <a:moveTo>
                    <a:pt x="0" y="0"/>
                  </a:moveTo>
                  <a:lnTo>
                    <a:pt x="4391660" y="0"/>
                  </a:lnTo>
                  <a:lnTo>
                    <a:pt x="4391660" y="3547110"/>
                  </a:lnTo>
                  <a:lnTo>
                    <a:pt x="0" y="3547110"/>
                  </a:lnTo>
                  <a:lnTo>
                    <a:pt x="0" y="0"/>
                  </a:lnTo>
                  <a:close/>
                </a:path>
              </a:pathLst>
            </a:custGeom>
            <a:blipFill>
              <a:blip r:embed="rId3"/>
              <a:stretch>
                <a:fillRect l="0" t="0" r="0" b="-1"/>
              </a:stretch>
            </a:blipFill>
          </p:spPr>
        </p:sp>
      </p:grpSp>
      <p:sp>
        <p:nvSpPr>
          <p:cNvPr name="TextBox 32" id="32"/>
          <p:cNvSpPr txBox="true"/>
          <p:nvPr/>
        </p:nvSpPr>
        <p:spPr>
          <a:xfrm rot="0">
            <a:off x="886968" y="3034398"/>
            <a:ext cx="3428152" cy="1135256"/>
          </a:xfrm>
          <a:prstGeom prst="rect">
            <a:avLst/>
          </a:prstGeom>
        </p:spPr>
        <p:txBody>
          <a:bodyPr anchor="t" rtlCol="false" tIns="0" lIns="0" bIns="0" rIns="0">
            <a:spAutoFit/>
          </a:bodyPr>
          <a:lstStyle/>
          <a:p>
            <a:pPr algn="l">
              <a:lnSpc>
                <a:spcPts val="3840"/>
              </a:lnSpc>
            </a:pPr>
            <a:r>
              <a:rPr lang="en-US" sz="3200">
                <a:solidFill>
                  <a:srgbClr val="000000"/>
                </a:solidFill>
                <a:latin typeface="Calibri (MS)"/>
                <a:ea typeface="Calibri (MS)"/>
                <a:cs typeface="Calibri (MS)"/>
                <a:sym typeface="Calibri (MS)"/>
              </a:rPr>
              <a:t>&lt;h1&gt;Apple&lt;/h1&gt;</a:t>
            </a:r>
          </a:p>
          <a:p>
            <a:pPr algn="l">
              <a:lnSpc>
                <a:spcPts val="3840"/>
              </a:lnSpc>
            </a:pPr>
            <a:r>
              <a:rPr lang="en-US" sz="3200">
                <a:solidFill>
                  <a:srgbClr val="000000"/>
                </a:solidFill>
                <a:latin typeface="Calibri (MS)"/>
                <a:ea typeface="Calibri (MS)"/>
                <a:cs typeface="Calibri (MS)"/>
                <a:sym typeface="Calibri (MS)"/>
              </a:rPr>
              <a:t>&lt;span&gt;3.50&lt;/span&gt;</a:t>
            </a:r>
          </a:p>
        </p:txBody>
      </p:sp>
      <p:grpSp>
        <p:nvGrpSpPr>
          <p:cNvPr name="Group 33" id="33"/>
          <p:cNvGrpSpPr/>
          <p:nvPr/>
        </p:nvGrpSpPr>
        <p:grpSpPr>
          <a:xfrm rot="0">
            <a:off x="6886785" y="5896318"/>
            <a:ext cx="4514421" cy="2351570"/>
            <a:chOff x="0" y="0"/>
            <a:chExt cx="6019228" cy="3135427"/>
          </a:xfrm>
        </p:grpSpPr>
        <p:sp>
          <p:nvSpPr>
            <p:cNvPr name="Freeform 34" id="34" descr="Une image contenant dessin humoristique, jouet, Dessin d’enfant  Le contenu généré par l’IA peut être incorrect."/>
            <p:cNvSpPr/>
            <p:nvPr/>
          </p:nvSpPr>
          <p:spPr>
            <a:xfrm flipH="false" flipV="false" rot="0">
              <a:off x="0" y="0"/>
              <a:ext cx="6019292" cy="3135376"/>
            </a:xfrm>
            <a:custGeom>
              <a:avLst/>
              <a:gdLst/>
              <a:ahLst/>
              <a:cxnLst/>
              <a:rect r="r" b="b" t="t" l="l"/>
              <a:pathLst>
                <a:path h="3135376" w="6019292">
                  <a:moveTo>
                    <a:pt x="0" y="0"/>
                  </a:moveTo>
                  <a:lnTo>
                    <a:pt x="6019292" y="0"/>
                  </a:lnTo>
                  <a:lnTo>
                    <a:pt x="6019292" y="3135376"/>
                  </a:lnTo>
                  <a:lnTo>
                    <a:pt x="0" y="3135376"/>
                  </a:lnTo>
                  <a:lnTo>
                    <a:pt x="0" y="0"/>
                  </a:lnTo>
                  <a:close/>
                </a:path>
              </a:pathLst>
            </a:custGeom>
            <a:blipFill>
              <a:blip r:embed="rId4"/>
              <a:stretch>
                <a:fillRect l="0" t="0" r="1" b="-1"/>
              </a:stretch>
            </a:blipFill>
          </p:spPr>
        </p:sp>
      </p:grpSp>
      <p:sp>
        <p:nvSpPr>
          <p:cNvPr name="TextBox 35" id="35"/>
          <p:cNvSpPr txBox="true"/>
          <p:nvPr/>
        </p:nvSpPr>
        <p:spPr>
          <a:xfrm rot="0">
            <a:off x="10027072" y="4631045"/>
            <a:ext cx="3457661" cy="642814"/>
          </a:xfrm>
          <a:prstGeom prst="rect">
            <a:avLst/>
          </a:prstGeom>
        </p:spPr>
        <p:txBody>
          <a:bodyPr anchor="t" rtlCol="false" tIns="0" lIns="0" bIns="0" rIns="0">
            <a:spAutoFit/>
          </a:bodyPr>
          <a:lstStyle/>
          <a:p>
            <a:pPr algn="l">
              <a:lnSpc>
                <a:spcPts val="3840"/>
              </a:lnSpc>
            </a:pPr>
            <a:r>
              <a:rPr lang="en-US" sz="3200">
                <a:solidFill>
                  <a:srgbClr val="0070C0"/>
                </a:solidFill>
                <a:latin typeface="Calibri (MS)"/>
                <a:ea typeface="Calibri (MS)"/>
                <a:cs typeface="Calibri (MS)"/>
                <a:sym typeface="Calibri (MS)"/>
              </a:rPr>
              <a:t>&lt;h1&gt;</a:t>
            </a:r>
            <a:r>
              <a:rPr lang="en-US" sz="3200">
                <a:solidFill>
                  <a:srgbClr val="000000"/>
                </a:solidFill>
                <a:latin typeface="Calibri (MS)"/>
                <a:ea typeface="Calibri (MS)"/>
                <a:cs typeface="Calibri (MS)"/>
                <a:sym typeface="Calibri (MS)"/>
              </a:rPr>
              <a:t>Apple</a:t>
            </a:r>
            <a:r>
              <a:rPr lang="en-US" sz="3200">
                <a:solidFill>
                  <a:srgbClr val="0070C0"/>
                </a:solidFill>
                <a:latin typeface="Calibri (MS)"/>
                <a:ea typeface="Calibri (MS)"/>
                <a:cs typeface="Calibri (MS)"/>
                <a:sym typeface="Calibri (MS)"/>
              </a:rPr>
              <a:t>&lt;/h1&gt;</a:t>
            </a:r>
          </a:p>
        </p:txBody>
      </p:sp>
      <p:sp>
        <p:nvSpPr>
          <p:cNvPr name="AutoShape 36" id="36"/>
          <p:cNvSpPr/>
          <p:nvPr/>
        </p:nvSpPr>
        <p:spPr>
          <a:xfrm rot="-7508100">
            <a:off x="11631206" y="4318311"/>
            <a:ext cx="1159621" cy="0"/>
          </a:xfrm>
          <a:prstGeom prst="line">
            <a:avLst/>
          </a:prstGeom>
          <a:ln cap="rnd" w="19050">
            <a:solidFill>
              <a:srgbClr val="FF0000"/>
            </a:solidFill>
            <a:prstDash val="solid"/>
            <a:headEnd type="none" len="sm" w="sm"/>
            <a:tailEnd type="triangle" len="med" w="lg"/>
          </a:ln>
        </p:spPr>
      </p:sp>
      <p:grpSp>
        <p:nvGrpSpPr>
          <p:cNvPr name="Group 37" id="37"/>
          <p:cNvGrpSpPr/>
          <p:nvPr/>
        </p:nvGrpSpPr>
        <p:grpSpPr>
          <a:xfrm rot="0">
            <a:off x="12468225" y="3537080"/>
            <a:ext cx="773640" cy="691525"/>
            <a:chOff x="0" y="0"/>
            <a:chExt cx="1031519" cy="922033"/>
          </a:xfrm>
        </p:grpSpPr>
        <p:sp>
          <p:nvSpPr>
            <p:cNvPr name="Freeform 38" id="38" descr="Une image contenant rouge, Carmin, cœur  Le contenu généré par l’IA peut être incorrect."/>
            <p:cNvSpPr/>
            <p:nvPr/>
          </p:nvSpPr>
          <p:spPr>
            <a:xfrm flipH="false" flipV="false" rot="0">
              <a:off x="0" y="0"/>
              <a:ext cx="1031494" cy="922020"/>
            </a:xfrm>
            <a:custGeom>
              <a:avLst/>
              <a:gdLst/>
              <a:ahLst/>
              <a:cxnLst/>
              <a:rect r="r" b="b" t="t" l="l"/>
              <a:pathLst>
                <a:path h="922020" w="1031494">
                  <a:moveTo>
                    <a:pt x="0" y="0"/>
                  </a:moveTo>
                  <a:lnTo>
                    <a:pt x="1031494" y="0"/>
                  </a:lnTo>
                  <a:lnTo>
                    <a:pt x="1031494" y="922020"/>
                  </a:lnTo>
                  <a:lnTo>
                    <a:pt x="0" y="922020"/>
                  </a:lnTo>
                  <a:lnTo>
                    <a:pt x="0" y="0"/>
                  </a:lnTo>
                  <a:close/>
                </a:path>
              </a:pathLst>
            </a:custGeom>
            <a:blipFill>
              <a:blip r:embed="rId5"/>
              <a:stretch>
                <a:fillRect l="0" t="0" r="-2" b="-1"/>
              </a:stretch>
            </a:blipFill>
          </p:spPr>
        </p:sp>
      </p:grpSp>
      <p:sp>
        <p:nvSpPr>
          <p:cNvPr name="AutoShape 39" id="39"/>
          <p:cNvSpPr/>
          <p:nvPr/>
        </p:nvSpPr>
        <p:spPr>
          <a:xfrm rot="83820">
            <a:off x="13222586" y="3873313"/>
            <a:ext cx="1562567" cy="0"/>
          </a:xfrm>
          <a:prstGeom prst="line">
            <a:avLst/>
          </a:prstGeom>
          <a:ln cap="rnd" w="19050">
            <a:solidFill>
              <a:srgbClr val="4472C4"/>
            </a:solidFill>
            <a:prstDash val="solid"/>
            <a:headEnd type="none" len="sm" w="sm"/>
            <a:tailEnd type="triangle" len="med" w="lg"/>
          </a:ln>
        </p:spPr>
      </p:sp>
      <p:sp>
        <p:nvSpPr>
          <p:cNvPr name="AutoShape 40" id="40"/>
          <p:cNvSpPr/>
          <p:nvPr/>
        </p:nvSpPr>
        <p:spPr>
          <a:xfrm rot="1623180">
            <a:off x="13126860" y="4253132"/>
            <a:ext cx="1754010" cy="0"/>
          </a:xfrm>
          <a:prstGeom prst="line">
            <a:avLst/>
          </a:prstGeom>
          <a:ln cap="rnd" w="19050">
            <a:solidFill>
              <a:srgbClr val="4472C4"/>
            </a:solidFill>
            <a:prstDash val="solid"/>
            <a:headEnd type="none" len="sm" w="sm"/>
            <a:tailEnd type="triangle" len="med" w="lg"/>
          </a:ln>
        </p:spPr>
      </p:sp>
      <p:sp>
        <p:nvSpPr>
          <p:cNvPr name="AutoShape 41" id="41"/>
          <p:cNvSpPr/>
          <p:nvPr/>
        </p:nvSpPr>
        <p:spPr>
          <a:xfrm rot="-1947540">
            <a:off x="13095456" y="3454813"/>
            <a:ext cx="1630566" cy="0"/>
          </a:xfrm>
          <a:prstGeom prst="line">
            <a:avLst/>
          </a:prstGeom>
          <a:ln cap="rnd" w="19050">
            <a:solidFill>
              <a:srgbClr val="4472C4"/>
            </a:solidFill>
            <a:prstDash val="solid"/>
            <a:headEnd type="none" len="sm" w="sm"/>
            <a:tailEnd type="triangle" len="med" w="lg"/>
          </a:ln>
        </p:spPr>
      </p:sp>
      <p:sp>
        <p:nvSpPr>
          <p:cNvPr name="TextBox 42" id="42"/>
          <p:cNvSpPr txBox="true"/>
          <p:nvPr/>
        </p:nvSpPr>
        <p:spPr>
          <a:xfrm rot="0">
            <a:off x="14603311" y="2701681"/>
            <a:ext cx="1341120" cy="642814"/>
          </a:xfrm>
          <a:prstGeom prst="rect">
            <a:avLst/>
          </a:prstGeom>
        </p:spPr>
        <p:txBody>
          <a:bodyPr anchor="t" rtlCol="false" tIns="0" lIns="0" bIns="0" rIns="0">
            <a:spAutoFit/>
          </a:bodyPr>
          <a:lstStyle/>
          <a:p>
            <a:pPr algn="l">
              <a:lnSpc>
                <a:spcPts val="3840"/>
              </a:lnSpc>
            </a:pPr>
            <a:r>
              <a:rPr lang="en-US" sz="3200">
                <a:solidFill>
                  <a:srgbClr val="0070C0"/>
                </a:solidFill>
                <a:latin typeface="Calibri (MS)"/>
                <a:ea typeface="Calibri (MS)"/>
                <a:cs typeface="Calibri (MS)"/>
                <a:sym typeface="Calibri (MS)"/>
              </a:rPr>
              <a:t>fruit</a:t>
            </a:r>
          </a:p>
        </p:txBody>
      </p:sp>
      <p:sp>
        <p:nvSpPr>
          <p:cNvPr name="TextBox 43" id="43"/>
          <p:cNvSpPr txBox="true"/>
          <p:nvPr/>
        </p:nvSpPr>
        <p:spPr>
          <a:xfrm rot="0">
            <a:off x="14857305" y="3496104"/>
            <a:ext cx="3457661" cy="571738"/>
          </a:xfrm>
          <a:prstGeom prst="rect">
            <a:avLst/>
          </a:prstGeom>
        </p:spPr>
        <p:txBody>
          <a:bodyPr anchor="t" rtlCol="false" tIns="0" lIns="0" bIns="0" rIns="0">
            <a:spAutoFit/>
          </a:bodyPr>
          <a:lstStyle/>
          <a:p>
            <a:pPr algn="l">
              <a:lnSpc>
                <a:spcPts val="3359"/>
              </a:lnSpc>
            </a:pPr>
            <a:r>
              <a:rPr lang="en-US" sz="2799">
                <a:solidFill>
                  <a:srgbClr val="0070C0"/>
                </a:solidFill>
                <a:latin typeface="Calibri (MS)"/>
                <a:ea typeface="Calibri (MS)"/>
                <a:cs typeface="Calibri (MS)"/>
                <a:sym typeface="Calibri (MS)"/>
              </a:rPr>
              <a:t>Marque d’ordinateur</a:t>
            </a:r>
          </a:p>
        </p:txBody>
      </p:sp>
      <p:sp>
        <p:nvSpPr>
          <p:cNvPr name="TextBox 44" id="44"/>
          <p:cNvSpPr txBox="true"/>
          <p:nvPr/>
        </p:nvSpPr>
        <p:spPr>
          <a:xfrm rot="0">
            <a:off x="14857305" y="4325931"/>
            <a:ext cx="3457661" cy="571738"/>
          </a:xfrm>
          <a:prstGeom prst="rect">
            <a:avLst/>
          </a:prstGeom>
        </p:spPr>
        <p:txBody>
          <a:bodyPr anchor="t" rtlCol="false" tIns="0" lIns="0" bIns="0" rIns="0">
            <a:spAutoFit/>
          </a:bodyPr>
          <a:lstStyle/>
          <a:p>
            <a:pPr algn="l">
              <a:lnSpc>
                <a:spcPts val="3359"/>
              </a:lnSpc>
            </a:pPr>
            <a:r>
              <a:rPr lang="en-US" sz="2799">
                <a:solidFill>
                  <a:srgbClr val="0070C0"/>
                </a:solidFill>
                <a:latin typeface="Calibri (MS)"/>
                <a:ea typeface="Calibri (MS)"/>
                <a:cs typeface="Calibri (MS)"/>
                <a:sym typeface="Calibri (MS)"/>
              </a:rPr>
              <a:t>Nom Entreprise</a:t>
            </a:r>
          </a:p>
        </p:txBody>
      </p:sp>
      <p:sp>
        <p:nvSpPr>
          <p:cNvPr name="TextBox 45" id="45"/>
          <p:cNvSpPr txBox="true"/>
          <p:nvPr/>
        </p:nvSpPr>
        <p:spPr>
          <a:xfrm rot="0">
            <a:off x="9766659" y="5468560"/>
            <a:ext cx="3978488" cy="642814"/>
          </a:xfrm>
          <a:prstGeom prst="rect">
            <a:avLst/>
          </a:prstGeom>
        </p:spPr>
        <p:txBody>
          <a:bodyPr anchor="t" rtlCol="false" tIns="0" lIns="0" bIns="0" rIns="0">
            <a:spAutoFit/>
          </a:bodyPr>
          <a:lstStyle/>
          <a:p>
            <a:pPr algn="l">
              <a:lnSpc>
                <a:spcPts val="3840"/>
              </a:lnSpc>
            </a:pPr>
            <a:r>
              <a:rPr lang="en-US" sz="3200">
                <a:solidFill>
                  <a:srgbClr val="0070C0"/>
                </a:solidFill>
                <a:latin typeface="Calibri (MS)"/>
                <a:ea typeface="Calibri (MS)"/>
                <a:cs typeface="Calibri (MS)"/>
                <a:sym typeface="Calibri (MS)"/>
              </a:rPr>
              <a:t>&lt;span&gt;</a:t>
            </a:r>
            <a:r>
              <a:rPr lang="en-US" sz="3200">
                <a:solidFill>
                  <a:srgbClr val="000000"/>
                </a:solidFill>
                <a:latin typeface="Calibri (MS)"/>
                <a:ea typeface="Calibri (MS)"/>
                <a:cs typeface="Calibri (MS)"/>
                <a:sym typeface="Calibri (MS)"/>
              </a:rPr>
              <a:t>3.50</a:t>
            </a:r>
            <a:r>
              <a:rPr lang="en-US" sz="3200">
                <a:solidFill>
                  <a:srgbClr val="0070C0"/>
                </a:solidFill>
                <a:latin typeface="Calibri (MS)"/>
                <a:ea typeface="Calibri (MS)"/>
                <a:cs typeface="Calibri (MS)"/>
                <a:sym typeface="Calibri (MS)"/>
              </a:rPr>
              <a:t>&lt;/span&gt;</a:t>
            </a:r>
          </a:p>
        </p:txBody>
      </p:sp>
      <p:sp>
        <p:nvSpPr>
          <p:cNvPr name="AutoShape 46" id="46"/>
          <p:cNvSpPr/>
          <p:nvPr/>
        </p:nvSpPr>
        <p:spPr>
          <a:xfrm rot="7803300">
            <a:off x="11550139" y="6605073"/>
            <a:ext cx="1510655" cy="0"/>
          </a:xfrm>
          <a:prstGeom prst="line">
            <a:avLst/>
          </a:prstGeom>
          <a:ln cap="rnd" w="19050">
            <a:solidFill>
              <a:srgbClr val="FF0000"/>
            </a:solidFill>
            <a:prstDash val="solid"/>
            <a:headEnd type="none" len="sm" w="sm"/>
            <a:tailEnd type="triangle" len="med" w="lg"/>
          </a:ln>
        </p:spPr>
      </p:sp>
      <p:grpSp>
        <p:nvGrpSpPr>
          <p:cNvPr name="Group 47" id="47"/>
          <p:cNvGrpSpPr/>
          <p:nvPr/>
        </p:nvGrpSpPr>
        <p:grpSpPr>
          <a:xfrm rot="0">
            <a:off x="12666135" y="6558239"/>
            <a:ext cx="773640" cy="691525"/>
            <a:chOff x="0" y="0"/>
            <a:chExt cx="1031519" cy="922033"/>
          </a:xfrm>
        </p:grpSpPr>
        <p:sp>
          <p:nvSpPr>
            <p:cNvPr name="Freeform 48" id="48" descr="Une image contenant rouge, Carmin, cœur  Le contenu généré par l’IA peut être incorrect."/>
            <p:cNvSpPr/>
            <p:nvPr/>
          </p:nvSpPr>
          <p:spPr>
            <a:xfrm flipH="false" flipV="false" rot="0">
              <a:off x="0" y="0"/>
              <a:ext cx="1031494" cy="922020"/>
            </a:xfrm>
            <a:custGeom>
              <a:avLst/>
              <a:gdLst/>
              <a:ahLst/>
              <a:cxnLst/>
              <a:rect r="r" b="b" t="t" l="l"/>
              <a:pathLst>
                <a:path h="922020" w="1031494">
                  <a:moveTo>
                    <a:pt x="0" y="0"/>
                  </a:moveTo>
                  <a:lnTo>
                    <a:pt x="1031494" y="0"/>
                  </a:lnTo>
                  <a:lnTo>
                    <a:pt x="1031494" y="922020"/>
                  </a:lnTo>
                  <a:lnTo>
                    <a:pt x="0" y="922020"/>
                  </a:lnTo>
                  <a:lnTo>
                    <a:pt x="0" y="0"/>
                  </a:lnTo>
                  <a:close/>
                </a:path>
              </a:pathLst>
            </a:custGeom>
            <a:blipFill>
              <a:blip r:embed="rId5"/>
              <a:stretch>
                <a:fillRect l="0" t="0" r="-2" b="-1"/>
              </a:stretch>
            </a:blipFill>
          </p:spPr>
        </p:sp>
      </p:grpSp>
      <p:sp>
        <p:nvSpPr>
          <p:cNvPr name="AutoShape 49" id="49"/>
          <p:cNvSpPr/>
          <p:nvPr/>
        </p:nvSpPr>
        <p:spPr>
          <a:xfrm rot="83820">
            <a:off x="13408362" y="6971100"/>
            <a:ext cx="1562567" cy="0"/>
          </a:xfrm>
          <a:prstGeom prst="line">
            <a:avLst/>
          </a:prstGeom>
          <a:ln cap="rnd" w="19050">
            <a:solidFill>
              <a:srgbClr val="4472C4"/>
            </a:solidFill>
            <a:prstDash val="solid"/>
            <a:headEnd type="none" len="sm" w="sm"/>
            <a:tailEnd type="triangle" len="med" w="lg"/>
          </a:ln>
        </p:spPr>
      </p:sp>
      <p:sp>
        <p:nvSpPr>
          <p:cNvPr name="AutoShape 50" id="50"/>
          <p:cNvSpPr/>
          <p:nvPr/>
        </p:nvSpPr>
        <p:spPr>
          <a:xfrm rot="1623180">
            <a:off x="13312645" y="7350919"/>
            <a:ext cx="1754010" cy="0"/>
          </a:xfrm>
          <a:prstGeom prst="line">
            <a:avLst/>
          </a:prstGeom>
          <a:ln cap="rnd" w="19050">
            <a:solidFill>
              <a:srgbClr val="4472C4"/>
            </a:solidFill>
            <a:prstDash val="solid"/>
            <a:headEnd type="none" len="sm" w="sm"/>
            <a:tailEnd type="triangle" len="med" w="lg"/>
          </a:ln>
        </p:spPr>
      </p:sp>
      <p:sp>
        <p:nvSpPr>
          <p:cNvPr name="AutoShape 51" id="51"/>
          <p:cNvSpPr/>
          <p:nvPr/>
        </p:nvSpPr>
        <p:spPr>
          <a:xfrm rot="-1947540">
            <a:off x="13281231" y="6552590"/>
            <a:ext cx="1630566" cy="0"/>
          </a:xfrm>
          <a:prstGeom prst="line">
            <a:avLst/>
          </a:prstGeom>
          <a:ln cap="rnd" w="19050">
            <a:solidFill>
              <a:srgbClr val="4472C4"/>
            </a:solidFill>
            <a:prstDash val="solid"/>
            <a:headEnd type="none" len="sm" w="sm"/>
            <a:tailEnd type="triangle" len="med" w="lg"/>
          </a:ln>
        </p:spPr>
      </p:sp>
      <p:sp>
        <p:nvSpPr>
          <p:cNvPr name="TextBox 52" id="52"/>
          <p:cNvSpPr txBox="true"/>
          <p:nvPr/>
        </p:nvSpPr>
        <p:spPr>
          <a:xfrm rot="0">
            <a:off x="14789087" y="5799468"/>
            <a:ext cx="1341120" cy="642814"/>
          </a:xfrm>
          <a:prstGeom prst="rect">
            <a:avLst/>
          </a:prstGeom>
        </p:spPr>
        <p:txBody>
          <a:bodyPr anchor="t" rtlCol="false" tIns="0" lIns="0" bIns="0" rIns="0">
            <a:spAutoFit/>
          </a:bodyPr>
          <a:lstStyle/>
          <a:p>
            <a:pPr algn="l">
              <a:lnSpc>
                <a:spcPts val="3840"/>
              </a:lnSpc>
            </a:pPr>
            <a:r>
              <a:rPr lang="en-US" sz="3200">
                <a:solidFill>
                  <a:srgbClr val="0070C0"/>
                </a:solidFill>
                <a:latin typeface="Calibri (MS)"/>
                <a:ea typeface="Calibri (MS)"/>
                <a:cs typeface="Calibri (MS)"/>
                <a:sym typeface="Calibri (MS)"/>
              </a:rPr>
              <a:t>Prix</a:t>
            </a:r>
          </a:p>
        </p:txBody>
      </p:sp>
      <p:sp>
        <p:nvSpPr>
          <p:cNvPr name="TextBox 53" id="53"/>
          <p:cNvSpPr txBox="true"/>
          <p:nvPr/>
        </p:nvSpPr>
        <p:spPr>
          <a:xfrm rot="0">
            <a:off x="14856819" y="6593881"/>
            <a:ext cx="3643932" cy="571738"/>
          </a:xfrm>
          <a:prstGeom prst="rect">
            <a:avLst/>
          </a:prstGeom>
        </p:spPr>
        <p:txBody>
          <a:bodyPr anchor="t" rtlCol="false" tIns="0" lIns="0" bIns="0" rIns="0">
            <a:spAutoFit/>
          </a:bodyPr>
          <a:lstStyle/>
          <a:p>
            <a:pPr algn="l">
              <a:lnSpc>
                <a:spcPts val="3359"/>
              </a:lnSpc>
            </a:pPr>
            <a:r>
              <a:rPr lang="en-US" sz="2799">
                <a:solidFill>
                  <a:srgbClr val="0070C0"/>
                </a:solidFill>
                <a:latin typeface="Calibri (MS)"/>
                <a:ea typeface="Calibri (MS)"/>
                <a:cs typeface="Calibri (MS)"/>
                <a:sym typeface="Calibri (MS)"/>
              </a:rPr>
              <a:t>Pointure de Chaussure</a:t>
            </a:r>
          </a:p>
        </p:txBody>
      </p:sp>
      <p:sp>
        <p:nvSpPr>
          <p:cNvPr name="TextBox 54" id="54"/>
          <p:cNvSpPr txBox="true"/>
          <p:nvPr/>
        </p:nvSpPr>
        <p:spPr>
          <a:xfrm rot="0">
            <a:off x="15043080" y="7423718"/>
            <a:ext cx="3457661" cy="571738"/>
          </a:xfrm>
          <a:prstGeom prst="rect">
            <a:avLst/>
          </a:prstGeom>
        </p:spPr>
        <p:txBody>
          <a:bodyPr anchor="t" rtlCol="false" tIns="0" lIns="0" bIns="0" rIns="0">
            <a:spAutoFit/>
          </a:bodyPr>
          <a:lstStyle/>
          <a:p>
            <a:pPr algn="l">
              <a:lnSpc>
                <a:spcPts val="3359"/>
              </a:lnSpc>
            </a:pPr>
            <a:r>
              <a:rPr lang="en-US" sz="2799">
                <a:solidFill>
                  <a:srgbClr val="0070C0"/>
                </a:solidFill>
                <a:latin typeface="Calibri (MS)"/>
                <a:ea typeface="Calibri (MS)"/>
                <a:cs typeface="Calibri (MS)"/>
                <a:sym typeface="Calibri (MS)"/>
              </a:rPr>
              <a:t>Une note /5</a:t>
            </a:r>
          </a:p>
        </p:txBody>
      </p:sp>
      <p:grpSp>
        <p:nvGrpSpPr>
          <p:cNvPr name="Group 55" id="55"/>
          <p:cNvGrpSpPr/>
          <p:nvPr/>
        </p:nvGrpSpPr>
        <p:grpSpPr>
          <a:xfrm rot="0">
            <a:off x="5623131" y="2112836"/>
            <a:ext cx="6408001" cy="6408001"/>
            <a:chOff x="0" y="0"/>
            <a:chExt cx="8544001" cy="8544001"/>
          </a:xfrm>
        </p:grpSpPr>
        <p:sp>
          <p:nvSpPr>
            <p:cNvPr name="Freeform 56" id="56" descr="Une image contenant symbole, Graphique  Le contenu généré par l’IA peut être incorrect."/>
            <p:cNvSpPr/>
            <p:nvPr/>
          </p:nvSpPr>
          <p:spPr>
            <a:xfrm flipH="false" flipV="false" rot="0">
              <a:off x="0" y="0"/>
              <a:ext cx="8544052" cy="8544052"/>
            </a:xfrm>
            <a:custGeom>
              <a:avLst/>
              <a:gdLst/>
              <a:ahLst/>
              <a:cxnLst/>
              <a:rect r="r" b="b" t="t" l="l"/>
              <a:pathLst>
                <a:path h="8544052" w="8544052">
                  <a:moveTo>
                    <a:pt x="0" y="0"/>
                  </a:moveTo>
                  <a:lnTo>
                    <a:pt x="8544052" y="0"/>
                  </a:lnTo>
                  <a:lnTo>
                    <a:pt x="8544052" y="8544052"/>
                  </a:lnTo>
                  <a:lnTo>
                    <a:pt x="0" y="8544052"/>
                  </a:lnTo>
                  <a:lnTo>
                    <a:pt x="0" y="0"/>
                  </a:lnTo>
                  <a:close/>
                </a:path>
              </a:pathLst>
            </a:custGeom>
            <a:blipFill>
              <a:blip r:embed="rId6"/>
              <a:stretch>
                <a:fillRect l="0" t="0" r="0" b="0"/>
              </a:stretch>
            </a:blipFill>
          </p:spPr>
        </p:sp>
      </p:grpSp>
      <p:sp>
        <p:nvSpPr>
          <p:cNvPr name="TextBox 57" id="57"/>
          <p:cNvSpPr txBox="true"/>
          <p:nvPr/>
        </p:nvSpPr>
        <p:spPr>
          <a:xfrm rot="0">
            <a:off x="517360" y="8633889"/>
            <a:ext cx="10211552" cy="713899"/>
          </a:xfrm>
          <a:prstGeom prst="rect">
            <a:avLst/>
          </a:prstGeom>
        </p:spPr>
        <p:txBody>
          <a:bodyPr anchor="t" rtlCol="false" tIns="0" lIns="0" bIns="0" rIns="0">
            <a:spAutoFit/>
          </a:bodyPr>
          <a:lstStyle/>
          <a:p>
            <a:pPr algn="l">
              <a:lnSpc>
                <a:spcPts val="4320"/>
              </a:lnSpc>
            </a:pPr>
            <a:r>
              <a:rPr lang="en-US" sz="3600">
                <a:solidFill>
                  <a:srgbClr val="000000"/>
                </a:solidFill>
                <a:latin typeface="Calibri (MS)"/>
                <a:ea typeface="Calibri (MS)"/>
                <a:cs typeface="Calibri (MS)"/>
                <a:sym typeface="Calibri (MS)"/>
              </a:rPr>
              <a:t>La solution : Schema.org (Le dictionnaire universel)</a:t>
            </a:r>
          </a:p>
        </p:txBody>
      </p:sp>
      <p:grpSp>
        <p:nvGrpSpPr>
          <p:cNvPr name="Group 58" id="58"/>
          <p:cNvGrpSpPr/>
          <p:nvPr/>
        </p:nvGrpSpPr>
        <p:grpSpPr>
          <a:xfrm rot="0">
            <a:off x="10355990" y="8450761"/>
            <a:ext cx="1146820" cy="1146820"/>
            <a:chOff x="0" y="0"/>
            <a:chExt cx="1529093" cy="1529093"/>
          </a:xfrm>
        </p:grpSpPr>
        <p:sp>
          <p:nvSpPr>
            <p:cNvPr name="Freeform 59" id="59" descr="Une image contenant Graphique, graphisme, capture d’écran, logo  Le contenu généré par l’IA peut être incorrect."/>
            <p:cNvSpPr/>
            <p:nvPr/>
          </p:nvSpPr>
          <p:spPr>
            <a:xfrm flipH="false" flipV="false" rot="0">
              <a:off x="0" y="0"/>
              <a:ext cx="1529080" cy="1529080"/>
            </a:xfrm>
            <a:custGeom>
              <a:avLst/>
              <a:gdLst/>
              <a:ahLst/>
              <a:cxnLst/>
              <a:rect r="r" b="b" t="t" l="l"/>
              <a:pathLst>
                <a:path h="1529080" w="1529080">
                  <a:moveTo>
                    <a:pt x="0" y="0"/>
                  </a:moveTo>
                  <a:lnTo>
                    <a:pt x="1529080" y="0"/>
                  </a:lnTo>
                  <a:lnTo>
                    <a:pt x="1529080" y="1529080"/>
                  </a:lnTo>
                  <a:lnTo>
                    <a:pt x="0" y="1529080"/>
                  </a:lnTo>
                  <a:lnTo>
                    <a:pt x="0" y="0"/>
                  </a:lnTo>
                  <a:close/>
                </a:path>
              </a:pathLst>
            </a:custGeom>
            <a:blipFill>
              <a:blip r:embed="rId7"/>
              <a:stretch>
                <a:fillRect l="0" t="0" r="0"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D97706"/>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D97706"/>
            </a:solidFill>
          </p:spPr>
        </p:sp>
      </p:grpSp>
      <p:grpSp>
        <p:nvGrpSpPr>
          <p:cNvPr name="Group 5" id="5"/>
          <p:cNvGrpSpPr/>
          <p:nvPr/>
        </p:nvGrpSpPr>
        <p:grpSpPr>
          <a:xfrm rot="0">
            <a:off x="15166343" y="170183"/>
            <a:ext cx="2951483" cy="793499"/>
            <a:chOff x="0" y="0"/>
            <a:chExt cx="3935311" cy="1057999"/>
          </a:xfrm>
        </p:grpSpPr>
        <p:sp>
          <p:nvSpPr>
            <p:cNvPr name="Freeform 6" id="6"/>
            <p:cNvSpPr/>
            <p:nvPr/>
          </p:nvSpPr>
          <p:spPr>
            <a:xfrm flipH="false" flipV="false" rot="0">
              <a:off x="16891" y="16891"/>
              <a:ext cx="3901440" cy="1024128"/>
            </a:xfrm>
            <a:custGeom>
              <a:avLst/>
              <a:gdLst/>
              <a:ahLst/>
              <a:cxnLst/>
              <a:rect r="r" b="b" t="t" l="l"/>
              <a:pathLst>
                <a:path h="1024128" w="3901440">
                  <a:moveTo>
                    <a:pt x="0" y="0"/>
                  </a:moveTo>
                  <a:lnTo>
                    <a:pt x="3901440" y="0"/>
                  </a:lnTo>
                  <a:lnTo>
                    <a:pt x="3901440" y="1024128"/>
                  </a:lnTo>
                  <a:lnTo>
                    <a:pt x="0" y="1024128"/>
                  </a:lnTo>
                  <a:close/>
                </a:path>
              </a:pathLst>
            </a:custGeom>
            <a:solidFill>
              <a:srgbClr val="D97706"/>
            </a:solidFill>
          </p:spPr>
        </p:sp>
        <p:sp>
          <p:nvSpPr>
            <p:cNvPr name="Freeform 7" id="7"/>
            <p:cNvSpPr/>
            <p:nvPr/>
          </p:nvSpPr>
          <p:spPr>
            <a:xfrm flipH="false" flipV="false" rot="0">
              <a:off x="0" y="0"/>
              <a:ext cx="3935222" cy="1057912"/>
            </a:xfrm>
            <a:custGeom>
              <a:avLst/>
              <a:gdLst/>
              <a:ahLst/>
              <a:cxnLst/>
              <a:rect r="r" b="b" t="t" l="l"/>
              <a:pathLst>
                <a:path h="1057912" w="3935222">
                  <a:moveTo>
                    <a:pt x="16891" y="0"/>
                  </a:moveTo>
                  <a:lnTo>
                    <a:pt x="3918331" y="0"/>
                  </a:lnTo>
                  <a:cubicBezTo>
                    <a:pt x="3927729" y="0"/>
                    <a:pt x="3935222" y="7620"/>
                    <a:pt x="3935222" y="16891"/>
                  </a:cubicBezTo>
                  <a:lnTo>
                    <a:pt x="3935222" y="1041019"/>
                  </a:lnTo>
                  <a:cubicBezTo>
                    <a:pt x="3935222" y="1050417"/>
                    <a:pt x="3927602" y="1057910"/>
                    <a:pt x="39183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918331" y="1024128"/>
                  </a:lnTo>
                  <a:lnTo>
                    <a:pt x="3918331" y="1041019"/>
                  </a:lnTo>
                  <a:lnTo>
                    <a:pt x="3901440" y="1041019"/>
                  </a:lnTo>
                  <a:lnTo>
                    <a:pt x="3901440" y="16891"/>
                  </a:lnTo>
                  <a:lnTo>
                    <a:pt x="3918331" y="16891"/>
                  </a:lnTo>
                  <a:lnTo>
                    <a:pt x="3918331" y="33909"/>
                  </a:lnTo>
                  <a:lnTo>
                    <a:pt x="16891" y="33909"/>
                  </a:lnTo>
                  <a:close/>
                </a:path>
              </a:pathLst>
            </a:custGeom>
            <a:solidFill>
              <a:srgbClr val="D97706"/>
            </a:solidFill>
          </p:spPr>
        </p:sp>
      </p:grpSp>
      <p:grpSp>
        <p:nvGrpSpPr>
          <p:cNvPr name="Group 8" id="8"/>
          <p:cNvGrpSpPr/>
          <p:nvPr/>
        </p:nvGrpSpPr>
        <p:grpSpPr>
          <a:xfrm rot="0">
            <a:off x="15179040" y="182880"/>
            <a:ext cx="2926080" cy="768096"/>
            <a:chOff x="0" y="0"/>
            <a:chExt cx="3901440" cy="1024128"/>
          </a:xfrm>
        </p:grpSpPr>
        <p:sp>
          <p:nvSpPr>
            <p:cNvPr name="Freeform 9" id="9"/>
            <p:cNvSpPr/>
            <p:nvPr/>
          </p:nvSpPr>
          <p:spPr>
            <a:xfrm flipH="false" flipV="false" rot="0">
              <a:off x="0" y="0"/>
              <a:ext cx="3901440" cy="1024128"/>
            </a:xfrm>
            <a:custGeom>
              <a:avLst/>
              <a:gdLst/>
              <a:ahLst/>
              <a:cxnLst/>
              <a:rect r="r" b="b" t="t" l="l"/>
              <a:pathLst>
                <a:path h="1024128" w="3901440">
                  <a:moveTo>
                    <a:pt x="0" y="0"/>
                  </a:moveTo>
                  <a:lnTo>
                    <a:pt x="3901440" y="0"/>
                  </a:lnTo>
                  <a:lnTo>
                    <a:pt x="3901440" y="1024128"/>
                  </a:lnTo>
                  <a:lnTo>
                    <a:pt x="0" y="1024128"/>
                  </a:lnTo>
                  <a:close/>
                </a:path>
              </a:pathLst>
            </a:custGeom>
            <a:blipFill>
              <a:blip r:embed="rId2">
                <a:alphaModFix amt="0"/>
              </a:blip>
              <a:stretch>
                <a:fillRect l="0" t="-24228" r="0" b="-24228"/>
              </a:stretch>
            </a:blipFill>
          </p:spPr>
        </p:sp>
        <p:sp>
          <p:nvSpPr>
            <p:cNvPr name="TextBox 10" id="10"/>
            <p:cNvSpPr txBox="true"/>
            <p:nvPr/>
          </p:nvSpPr>
          <p:spPr>
            <a:xfrm>
              <a:off x="0" y="-38100"/>
              <a:ext cx="3901440" cy="106222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Schema.org  2/4</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D97706"/>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D97706"/>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Schema.org</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57150"/>
              <a:ext cx="21945600" cy="739902"/>
            </a:xfrm>
            <a:prstGeom prst="rect">
              <a:avLst/>
            </a:prstGeom>
          </p:spPr>
          <p:txBody>
            <a:bodyPr anchor="ctr" rtlCol="false" tIns="0" lIns="0" bIns="0" rIns="0"/>
            <a:lstStyle/>
            <a:p>
              <a:pPr algn="l">
                <a:lnSpc>
                  <a:spcPts val="3840"/>
                </a:lnSpc>
              </a:pPr>
              <a:r>
                <a:rPr lang="en-US" sz="3200" i="true">
                  <a:solidFill>
                    <a:srgbClr val="000000"/>
                  </a:solidFill>
                  <a:latin typeface="Calibri (MS) Italics"/>
                  <a:ea typeface="Calibri (MS) Italics"/>
                  <a:cs typeface="Calibri (MS) Italics"/>
                  <a:sym typeface="Calibri (MS) Italics"/>
                </a:rPr>
                <a:t>Définition et Concepts de base</a:t>
              </a:r>
            </a:p>
          </p:txBody>
        </p:sp>
      </p:grpSp>
      <p:grpSp>
        <p:nvGrpSpPr>
          <p:cNvPr name="Group 20" id="20"/>
          <p:cNvGrpSpPr/>
          <p:nvPr/>
        </p:nvGrpSpPr>
        <p:grpSpPr>
          <a:xfrm rot="0">
            <a:off x="718823" y="1998983"/>
            <a:ext cx="16850363" cy="1159259"/>
            <a:chOff x="0" y="0"/>
            <a:chExt cx="22467151" cy="1545679"/>
          </a:xfrm>
        </p:grpSpPr>
        <p:sp>
          <p:nvSpPr>
            <p:cNvPr name="Freeform 21" id="21"/>
            <p:cNvSpPr/>
            <p:nvPr/>
          </p:nvSpPr>
          <p:spPr>
            <a:xfrm flipH="false" flipV="false" rot="0">
              <a:off x="16891" y="16891"/>
              <a:ext cx="22433280" cy="1511808"/>
            </a:xfrm>
            <a:custGeom>
              <a:avLst/>
              <a:gdLst/>
              <a:ahLst/>
              <a:cxnLst/>
              <a:rect r="r" b="b" t="t" l="l"/>
              <a:pathLst>
                <a:path h="1511808" w="22433280">
                  <a:moveTo>
                    <a:pt x="0" y="0"/>
                  </a:moveTo>
                  <a:lnTo>
                    <a:pt x="22433280" y="0"/>
                  </a:lnTo>
                  <a:lnTo>
                    <a:pt x="22433280" y="1511808"/>
                  </a:lnTo>
                  <a:lnTo>
                    <a:pt x="0" y="1511808"/>
                  </a:lnTo>
                  <a:close/>
                </a:path>
              </a:pathLst>
            </a:custGeom>
            <a:solidFill>
              <a:srgbClr val="FFFBEB"/>
            </a:solidFill>
          </p:spPr>
        </p:sp>
        <p:sp>
          <p:nvSpPr>
            <p:cNvPr name="Freeform 22" id="22"/>
            <p:cNvSpPr/>
            <p:nvPr/>
          </p:nvSpPr>
          <p:spPr>
            <a:xfrm flipH="false" flipV="false" rot="0">
              <a:off x="0" y="0"/>
              <a:ext cx="22467063" cy="1545590"/>
            </a:xfrm>
            <a:custGeom>
              <a:avLst/>
              <a:gdLst/>
              <a:ahLst/>
              <a:cxnLst/>
              <a:rect r="r" b="b" t="t" l="l"/>
              <a:pathLst>
                <a:path h="1545590" w="22467063">
                  <a:moveTo>
                    <a:pt x="16891" y="0"/>
                  </a:moveTo>
                  <a:lnTo>
                    <a:pt x="22450171" y="0"/>
                  </a:lnTo>
                  <a:cubicBezTo>
                    <a:pt x="22459569" y="0"/>
                    <a:pt x="22467063" y="7620"/>
                    <a:pt x="22467063" y="16891"/>
                  </a:cubicBezTo>
                  <a:lnTo>
                    <a:pt x="22467063" y="1528699"/>
                  </a:lnTo>
                  <a:cubicBezTo>
                    <a:pt x="22467063" y="1538097"/>
                    <a:pt x="22459443" y="1545590"/>
                    <a:pt x="2245017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450171" y="1511808"/>
                  </a:lnTo>
                  <a:lnTo>
                    <a:pt x="22450171" y="1528699"/>
                  </a:lnTo>
                  <a:lnTo>
                    <a:pt x="22433280" y="1528699"/>
                  </a:lnTo>
                  <a:lnTo>
                    <a:pt x="22433280" y="16891"/>
                  </a:lnTo>
                  <a:lnTo>
                    <a:pt x="22450171" y="16891"/>
                  </a:lnTo>
                  <a:lnTo>
                    <a:pt x="22450171" y="33909"/>
                  </a:lnTo>
                  <a:lnTo>
                    <a:pt x="16891" y="33909"/>
                  </a:lnTo>
                  <a:close/>
                </a:path>
              </a:pathLst>
            </a:custGeom>
            <a:solidFill>
              <a:srgbClr val="D97706"/>
            </a:solidFill>
          </p:spPr>
        </p:sp>
      </p:grpSp>
      <p:grpSp>
        <p:nvGrpSpPr>
          <p:cNvPr name="Group 23" id="23"/>
          <p:cNvGrpSpPr/>
          <p:nvPr/>
        </p:nvGrpSpPr>
        <p:grpSpPr>
          <a:xfrm rot="0">
            <a:off x="1097280" y="2103120"/>
            <a:ext cx="16093440" cy="914400"/>
            <a:chOff x="0" y="0"/>
            <a:chExt cx="21457920" cy="1219200"/>
          </a:xfrm>
        </p:grpSpPr>
        <p:sp>
          <p:nvSpPr>
            <p:cNvPr name="Freeform 24" id="24"/>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2">
                <a:alphaModFix amt="0"/>
              </a:blip>
              <a:stretch>
                <a:fillRect l="0" t="-292936" r="0" b="-292936"/>
              </a:stretch>
            </a:blipFill>
          </p:spPr>
        </p:sp>
        <p:sp>
          <p:nvSpPr>
            <p:cNvPr name="TextBox 25" id="25"/>
            <p:cNvSpPr txBox="true"/>
            <p:nvPr/>
          </p:nvSpPr>
          <p:spPr>
            <a:xfrm>
              <a:off x="0" y="-38100"/>
              <a:ext cx="21457920" cy="1257300"/>
            </a:xfrm>
            <a:prstGeom prst="rect">
              <a:avLst/>
            </a:prstGeom>
          </p:spPr>
          <p:txBody>
            <a:bodyPr anchor="ctr" rtlCol="false" tIns="0" lIns="0" bIns="0" rIns="0"/>
            <a:lstStyle/>
            <a:p>
              <a:pPr algn="l">
                <a:lnSpc>
                  <a:spcPts val="2879"/>
                </a:lnSpc>
              </a:pPr>
              <a:r>
                <a:rPr lang="en-US" sz="2400">
                  <a:solidFill>
                    <a:srgbClr val="000000"/>
                  </a:solidFill>
                  <a:latin typeface="Calibri (MS)"/>
                  <a:ea typeface="Calibri (MS)"/>
                  <a:cs typeface="Calibri (MS)"/>
                  <a:sym typeface="Calibri (MS)"/>
                </a:rPr>
                <a:t>Pour régler ce problème, les géants du web (Google, Bing, Yahoo) se sont réunis en 2011 et ont créé </a:t>
              </a:r>
              <a:r>
                <a:rPr lang="en-US" sz="2400" b="true">
                  <a:solidFill>
                    <a:srgbClr val="000000"/>
                  </a:solidFill>
                  <a:latin typeface="Calibri (MS) Bold"/>
                  <a:ea typeface="Calibri (MS) Bold"/>
                  <a:cs typeface="Calibri (MS) Bold"/>
                  <a:sym typeface="Calibri (MS) Bold"/>
                </a:rPr>
                <a:t>Schema.org</a:t>
              </a:r>
              <a:r>
                <a:rPr lang="en-US" sz="2400">
                  <a:solidFill>
                    <a:srgbClr val="000000"/>
                  </a:solidFill>
                  <a:latin typeface="Calibri (MS)"/>
                  <a:ea typeface="Calibri (MS)"/>
                  <a:cs typeface="Calibri (MS)"/>
                  <a:sym typeface="Calibri (MS)"/>
                </a:rPr>
                <a:t>.</a:t>
              </a:r>
            </a:p>
          </p:txBody>
        </p:sp>
      </p:grpSp>
      <p:grpSp>
        <p:nvGrpSpPr>
          <p:cNvPr name="Group 26" id="26"/>
          <p:cNvGrpSpPr/>
          <p:nvPr/>
        </p:nvGrpSpPr>
        <p:grpSpPr>
          <a:xfrm rot="0">
            <a:off x="718823" y="3425447"/>
            <a:ext cx="16850363" cy="1762763"/>
            <a:chOff x="0" y="0"/>
            <a:chExt cx="22467151" cy="2350351"/>
          </a:xfrm>
        </p:grpSpPr>
        <p:sp>
          <p:nvSpPr>
            <p:cNvPr name="Freeform 27" id="27"/>
            <p:cNvSpPr/>
            <p:nvPr/>
          </p:nvSpPr>
          <p:spPr>
            <a:xfrm flipH="false" flipV="false" rot="0">
              <a:off x="16891" y="16891"/>
              <a:ext cx="22433280" cy="2316480"/>
            </a:xfrm>
            <a:custGeom>
              <a:avLst/>
              <a:gdLst/>
              <a:ahLst/>
              <a:cxnLst/>
              <a:rect r="r" b="b" t="t" l="l"/>
              <a:pathLst>
                <a:path h="2316480" w="22433280">
                  <a:moveTo>
                    <a:pt x="0" y="0"/>
                  </a:moveTo>
                  <a:lnTo>
                    <a:pt x="22433280" y="0"/>
                  </a:lnTo>
                  <a:lnTo>
                    <a:pt x="22433280" y="2316480"/>
                  </a:lnTo>
                  <a:lnTo>
                    <a:pt x="0" y="2316480"/>
                  </a:lnTo>
                  <a:close/>
                </a:path>
              </a:pathLst>
            </a:custGeom>
            <a:solidFill>
              <a:srgbClr val="F1F5F9"/>
            </a:solidFill>
          </p:spPr>
        </p:sp>
        <p:sp>
          <p:nvSpPr>
            <p:cNvPr name="Freeform 28" id="28"/>
            <p:cNvSpPr/>
            <p:nvPr/>
          </p:nvSpPr>
          <p:spPr>
            <a:xfrm flipH="false" flipV="false" rot="0">
              <a:off x="0" y="0"/>
              <a:ext cx="22467063" cy="2350262"/>
            </a:xfrm>
            <a:custGeom>
              <a:avLst/>
              <a:gdLst/>
              <a:ahLst/>
              <a:cxnLst/>
              <a:rect r="r" b="b" t="t" l="l"/>
              <a:pathLst>
                <a:path h="2350262" w="22467063">
                  <a:moveTo>
                    <a:pt x="16891" y="0"/>
                  </a:moveTo>
                  <a:lnTo>
                    <a:pt x="22450171" y="0"/>
                  </a:lnTo>
                  <a:cubicBezTo>
                    <a:pt x="22459569" y="0"/>
                    <a:pt x="22467063" y="7620"/>
                    <a:pt x="22467063" y="16891"/>
                  </a:cubicBezTo>
                  <a:lnTo>
                    <a:pt x="22467063" y="2333371"/>
                  </a:lnTo>
                  <a:cubicBezTo>
                    <a:pt x="22467063" y="2342769"/>
                    <a:pt x="22459443" y="2350262"/>
                    <a:pt x="224501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22450171" y="2316480"/>
                  </a:lnTo>
                  <a:lnTo>
                    <a:pt x="22450171" y="2333371"/>
                  </a:lnTo>
                  <a:lnTo>
                    <a:pt x="22433280" y="2333371"/>
                  </a:lnTo>
                  <a:lnTo>
                    <a:pt x="22433280" y="16891"/>
                  </a:lnTo>
                  <a:lnTo>
                    <a:pt x="22450171" y="16891"/>
                  </a:lnTo>
                  <a:lnTo>
                    <a:pt x="22450171" y="33909"/>
                  </a:lnTo>
                  <a:lnTo>
                    <a:pt x="16891" y="33909"/>
                  </a:lnTo>
                  <a:close/>
                </a:path>
              </a:pathLst>
            </a:custGeom>
            <a:solidFill>
              <a:srgbClr val="D97706"/>
            </a:solidFill>
          </p:spPr>
        </p:sp>
      </p:grpSp>
      <p:grpSp>
        <p:nvGrpSpPr>
          <p:cNvPr name="Group 29" id="29"/>
          <p:cNvGrpSpPr/>
          <p:nvPr/>
        </p:nvGrpSpPr>
        <p:grpSpPr>
          <a:xfrm rot="0">
            <a:off x="718823" y="3425447"/>
            <a:ext cx="135131" cy="1762763"/>
            <a:chOff x="0" y="0"/>
            <a:chExt cx="180175" cy="2350351"/>
          </a:xfrm>
        </p:grpSpPr>
        <p:sp>
          <p:nvSpPr>
            <p:cNvPr name="Freeform 30" id="30"/>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D97706"/>
            </a:solidFill>
          </p:spPr>
        </p:sp>
        <p:sp>
          <p:nvSpPr>
            <p:cNvPr name="Freeform 31" id="31"/>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D97706"/>
            </a:solidFill>
          </p:spPr>
        </p:sp>
      </p:grpSp>
      <p:grpSp>
        <p:nvGrpSpPr>
          <p:cNvPr name="Group 32" id="32"/>
          <p:cNvGrpSpPr/>
          <p:nvPr/>
        </p:nvGrpSpPr>
        <p:grpSpPr>
          <a:xfrm rot="0">
            <a:off x="1152144" y="3886200"/>
            <a:ext cx="16093440" cy="841248"/>
            <a:chOff x="0" y="0"/>
            <a:chExt cx="21457920" cy="1121664"/>
          </a:xfrm>
        </p:grpSpPr>
        <p:sp>
          <p:nvSpPr>
            <p:cNvPr name="Freeform 33" id="33"/>
            <p:cNvSpPr/>
            <p:nvPr/>
          </p:nvSpPr>
          <p:spPr>
            <a:xfrm flipH="false" flipV="false" rot="0">
              <a:off x="0" y="0"/>
              <a:ext cx="21457920" cy="1121664"/>
            </a:xfrm>
            <a:custGeom>
              <a:avLst/>
              <a:gdLst/>
              <a:ahLst/>
              <a:cxnLst/>
              <a:rect r="r" b="b" t="t" l="l"/>
              <a:pathLst>
                <a:path h="1121664" w="21457920">
                  <a:moveTo>
                    <a:pt x="0" y="0"/>
                  </a:moveTo>
                  <a:lnTo>
                    <a:pt x="21457920" y="0"/>
                  </a:lnTo>
                  <a:lnTo>
                    <a:pt x="21457920" y="1121664"/>
                  </a:lnTo>
                  <a:lnTo>
                    <a:pt x="0" y="1121664"/>
                  </a:lnTo>
                  <a:close/>
                </a:path>
              </a:pathLst>
            </a:custGeom>
            <a:blipFill>
              <a:blip r:embed="rId2">
                <a:alphaModFix amt="0"/>
              </a:blip>
              <a:stretch>
                <a:fillRect l="0" t="-322757" r="0" b="-322757"/>
              </a:stretch>
            </a:blipFill>
          </p:spPr>
        </p:sp>
        <p:sp>
          <p:nvSpPr>
            <p:cNvPr name="TextBox 34" id="34"/>
            <p:cNvSpPr txBox="true"/>
            <p:nvPr/>
          </p:nvSpPr>
          <p:spPr>
            <a:xfrm>
              <a:off x="0" y="-47625"/>
              <a:ext cx="21457920" cy="1169289"/>
            </a:xfrm>
            <a:prstGeom prst="rect">
              <a:avLst/>
            </a:prstGeom>
          </p:spPr>
          <p:txBody>
            <a:bodyPr anchor="ctr" rtlCol="false" tIns="0" lIns="0" bIns="0" rIns="0"/>
            <a:lstStyle/>
            <a:p>
              <a:pPr algn="l">
                <a:lnSpc>
                  <a:spcPts val="3359"/>
                </a:lnSpc>
              </a:pPr>
              <a:r>
                <a:rPr lang="en-US" sz="2799" b="true">
                  <a:solidFill>
                    <a:srgbClr val="000000"/>
                  </a:solidFill>
                  <a:latin typeface="Calibri (MS) Bold"/>
                  <a:ea typeface="Calibri (MS) Bold"/>
                  <a:cs typeface="Calibri (MS) Bold"/>
                  <a:sym typeface="Calibri (MS) Bold"/>
                </a:rPr>
                <a:t>C'est une ontologie, un vocabulaire standardisé.</a:t>
              </a:r>
              <a:r>
                <a:rPr lang="en-US" sz="2799">
                  <a:solidFill>
                    <a:srgbClr val="000000"/>
                  </a:solidFill>
                  <a:latin typeface="Calibri (MS)"/>
                  <a:ea typeface="Calibri (MS)"/>
                  <a:cs typeface="Calibri (MS)"/>
                  <a:sym typeface="Calibri (MS)"/>
                </a:rPr>
                <a:t> Concrètement, c'est comme si on avait créé un schéma de base de données gigantesque et universel pour tout Internet. Au lieu de laisser Google deviner ce qu'il y a sur la page, on lui donne la structure exacte des données.</a:t>
              </a:r>
            </a:p>
          </p:txBody>
        </p:sp>
      </p:grpSp>
      <p:grpSp>
        <p:nvGrpSpPr>
          <p:cNvPr name="Group 35" id="35"/>
          <p:cNvGrpSpPr/>
          <p:nvPr/>
        </p:nvGrpSpPr>
        <p:grpSpPr>
          <a:xfrm rot="0">
            <a:off x="-6353" y="9741151"/>
            <a:ext cx="18300697" cy="552193"/>
            <a:chOff x="0" y="0"/>
            <a:chExt cx="24400929" cy="736257"/>
          </a:xfrm>
        </p:grpSpPr>
        <p:sp>
          <p:nvSpPr>
            <p:cNvPr name="Freeform 36" id="36"/>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37" id="37"/>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38" id="38"/>
          <p:cNvGrpSpPr/>
          <p:nvPr/>
        </p:nvGrpSpPr>
        <p:grpSpPr>
          <a:xfrm rot="0">
            <a:off x="15910560" y="9747504"/>
            <a:ext cx="2011680" cy="539496"/>
            <a:chOff x="0" y="0"/>
            <a:chExt cx="2682240" cy="719328"/>
          </a:xfrm>
        </p:grpSpPr>
        <p:sp>
          <p:nvSpPr>
            <p:cNvPr name="Freeform 39" id="39"/>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40" id="40"/>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15 / 18</a:t>
              </a:r>
            </a:p>
          </p:txBody>
        </p:sp>
      </p:grpSp>
      <p:grpSp>
        <p:nvGrpSpPr>
          <p:cNvPr name="Group 41" id="41"/>
          <p:cNvGrpSpPr/>
          <p:nvPr/>
        </p:nvGrpSpPr>
        <p:grpSpPr>
          <a:xfrm rot="0">
            <a:off x="548640" y="9747504"/>
            <a:ext cx="10972800" cy="539496"/>
            <a:chOff x="0" y="0"/>
            <a:chExt cx="14630400" cy="719328"/>
          </a:xfrm>
        </p:grpSpPr>
        <p:sp>
          <p:nvSpPr>
            <p:cNvPr name="Freeform 42" id="42"/>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43" id="43"/>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Schema.org</a:t>
              </a:r>
            </a:p>
          </p:txBody>
        </p:sp>
      </p:grpSp>
      <p:sp>
        <p:nvSpPr>
          <p:cNvPr name="TextBox 44" id="44"/>
          <p:cNvSpPr txBox="true"/>
          <p:nvPr/>
        </p:nvSpPr>
        <p:spPr>
          <a:xfrm rot="0">
            <a:off x="91440" y="414157"/>
            <a:ext cx="823893" cy="1108891"/>
          </a:xfrm>
          <a:prstGeom prst="rect">
            <a:avLst/>
          </a:prstGeom>
        </p:spPr>
        <p:txBody>
          <a:bodyPr anchor="t" rtlCol="false" tIns="0" lIns="0" bIns="0" rIns="0">
            <a:spAutoFit/>
          </a:bodyPr>
          <a:lstStyle/>
          <a:p>
            <a:pPr algn="ctr">
              <a:lnSpc>
                <a:spcPts val="7920"/>
              </a:lnSpc>
            </a:pPr>
            <a:r>
              <a:rPr lang="en-US" sz="6600" spc="15">
                <a:solidFill>
                  <a:srgbClr val="000000"/>
                </a:solidFill>
                <a:latin typeface="Rosario"/>
                <a:ea typeface="Rosario"/>
                <a:cs typeface="Rosario"/>
                <a:sym typeface="Rosario"/>
              </a:rPr>
              <a:t>6</a:t>
            </a:r>
          </a:p>
        </p:txBody>
      </p:sp>
      <p:sp>
        <p:nvSpPr>
          <p:cNvPr name="TextBox 45" id="45"/>
          <p:cNvSpPr txBox="true"/>
          <p:nvPr/>
        </p:nvSpPr>
        <p:spPr>
          <a:xfrm rot="0">
            <a:off x="694944" y="5466207"/>
            <a:ext cx="17135856" cy="1002621"/>
          </a:xfrm>
          <a:prstGeom prst="rect">
            <a:avLst/>
          </a:prstGeom>
        </p:spPr>
        <p:txBody>
          <a:bodyPr anchor="t" rtlCol="false" tIns="0" lIns="0" bIns="0" rIns="0">
            <a:spAutoFit/>
          </a:bodyPr>
          <a:lstStyle/>
          <a:p>
            <a:pPr algn="l">
              <a:lnSpc>
                <a:spcPts val="3359"/>
              </a:lnSpc>
            </a:pPr>
            <a:r>
              <a:rPr lang="en-US" sz="2799">
                <a:solidFill>
                  <a:srgbClr val="000000"/>
                </a:solidFill>
                <a:latin typeface="Calibri (MS)"/>
                <a:ea typeface="Calibri (MS)"/>
                <a:cs typeface="Calibri (MS)"/>
                <a:sym typeface="Calibri (MS)"/>
              </a:rPr>
              <a:t>On utilise Schema.org pour "étiqueter" les éléments de la page avec un vocabulaire que les machines comprennent à 100%. On dit explicitement au robot :</a:t>
            </a:r>
          </a:p>
        </p:txBody>
      </p:sp>
      <p:sp>
        <p:nvSpPr>
          <p:cNvPr name="TextBox 46" id="46"/>
          <p:cNvSpPr txBox="true"/>
          <p:nvPr/>
        </p:nvSpPr>
        <p:spPr>
          <a:xfrm rot="0">
            <a:off x="2046484" y="6658308"/>
            <a:ext cx="9088117" cy="571738"/>
          </a:xfrm>
          <a:prstGeom prst="rect">
            <a:avLst/>
          </a:prstGeom>
        </p:spPr>
        <p:txBody>
          <a:bodyPr anchor="t" rtlCol="false" tIns="0" lIns="0" bIns="0" rIns="0">
            <a:spAutoFit/>
          </a:bodyPr>
          <a:lstStyle/>
          <a:p>
            <a:pPr algn="l" marL="675640" indent="-337820" lvl="1">
              <a:lnSpc>
                <a:spcPts val="3359"/>
              </a:lnSpc>
              <a:buFont typeface="Arial"/>
              <a:buChar char="•"/>
            </a:pPr>
            <a:r>
              <a:rPr lang="en-US" sz="2799">
                <a:solidFill>
                  <a:srgbClr val="000000"/>
                </a:solidFill>
                <a:latin typeface="Calibri (MS)"/>
                <a:ea typeface="Calibri (MS)"/>
                <a:cs typeface="Calibri (MS)"/>
                <a:sym typeface="Calibri (MS)"/>
              </a:rPr>
              <a:t>"Ceci est une entité de type: Product "</a:t>
            </a:r>
          </a:p>
        </p:txBody>
      </p:sp>
      <p:sp>
        <p:nvSpPr>
          <p:cNvPr name="TextBox 47" id="47"/>
          <p:cNvSpPr txBox="true"/>
          <p:nvPr/>
        </p:nvSpPr>
        <p:spPr>
          <a:xfrm rot="0">
            <a:off x="2046484" y="7320448"/>
            <a:ext cx="9088117" cy="571738"/>
          </a:xfrm>
          <a:prstGeom prst="rect">
            <a:avLst/>
          </a:prstGeom>
        </p:spPr>
        <p:txBody>
          <a:bodyPr anchor="t" rtlCol="false" tIns="0" lIns="0" bIns="0" rIns="0">
            <a:spAutoFit/>
          </a:bodyPr>
          <a:lstStyle/>
          <a:p>
            <a:pPr algn="l" marL="675640" indent="-337820" lvl="1">
              <a:lnSpc>
                <a:spcPts val="3359"/>
              </a:lnSpc>
              <a:buFont typeface="Arial"/>
              <a:buChar char="•"/>
            </a:pPr>
            <a:r>
              <a:rPr lang="en-US" sz="2799">
                <a:solidFill>
                  <a:srgbClr val="000000"/>
                </a:solidFill>
                <a:latin typeface="Calibri (MS)"/>
                <a:ea typeface="Calibri (MS)"/>
                <a:cs typeface="Calibri (MS)"/>
                <a:sym typeface="Calibri (MS)"/>
              </a:rPr>
              <a:t>  " Son nom est : Apple"</a:t>
            </a:r>
          </a:p>
        </p:txBody>
      </p:sp>
      <p:sp>
        <p:nvSpPr>
          <p:cNvPr name="TextBox 48" id="48"/>
          <p:cNvSpPr txBox="true"/>
          <p:nvPr/>
        </p:nvSpPr>
        <p:spPr>
          <a:xfrm rot="0">
            <a:off x="2046484" y="7982579"/>
            <a:ext cx="9088117" cy="571738"/>
          </a:xfrm>
          <a:prstGeom prst="rect">
            <a:avLst/>
          </a:prstGeom>
        </p:spPr>
        <p:txBody>
          <a:bodyPr anchor="t" rtlCol="false" tIns="0" lIns="0" bIns="0" rIns="0">
            <a:spAutoFit/>
          </a:bodyPr>
          <a:lstStyle/>
          <a:p>
            <a:pPr algn="l" marL="675640" indent="-337820" lvl="1">
              <a:lnSpc>
                <a:spcPts val="3359"/>
              </a:lnSpc>
              <a:buFont typeface="Arial"/>
              <a:buChar char="•"/>
            </a:pPr>
            <a:r>
              <a:rPr lang="en-US" sz="2799">
                <a:solidFill>
                  <a:srgbClr val="000000"/>
                </a:solidFill>
                <a:latin typeface="Calibri (MS)"/>
                <a:ea typeface="Calibri (MS)"/>
                <a:cs typeface="Calibri (MS)"/>
                <a:sym typeface="Calibri (MS)"/>
              </a:rPr>
              <a:t>  " Son attribut price  est : 3,50"</a:t>
            </a:r>
          </a:p>
        </p:txBody>
      </p:sp>
      <p:sp>
        <p:nvSpPr>
          <p:cNvPr name="TextBox 49" id="49"/>
          <p:cNvSpPr txBox="true"/>
          <p:nvPr/>
        </p:nvSpPr>
        <p:spPr>
          <a:xfrm rot="0">
            <a:off x="2046484" y="8644719"/>
            <a:ext cx="9088117" cy="571738"/>
          </a:xfrm>
          <a:prstGeom prst="rect">
            <a:avLst/>
          </a:prstGeom>
        </p:spPr>
        <p:txBody>
          <a:bodyPr anchor="t" rtlCol="false" tIns="0" lIns="0" bIns="0" rIns="0">
            <a:spAutoFit/>
          </a:bodyPr>
          <a:lstStyle/>
          <a:p>
            <a:pPr algn="l" marL="675640" indent="-337820" lvl="1">
              <a:lnSpc>
                <a:spcPts val="3359"/>
              </a:lnSpc>
              <a:buFont typeface="Arial"/>
              <a:buChar char="•"/>
            </a:pPr>
            <a:r>
              <a:rPr lang="en-US" sz="2799">
                <a:solidFill>
                  <a:srgbClr val="000000"/>
                </a:solidFill>
                <a:latin typeface="Calibri (MS)"/>
                <a:ea typeface="Calibri (MS)"/>
                <a:cs typeface="Calibri (MS)"/>
                <a:sym typeface="Calibri (MS)"/>
              </a:rPr>
              <a:t>  " Son attribut currency est :  EUR "</a:t>
            </a:r>
          </a:p>
        </p:txBody>
      </p:sp>
      <p:grpSp>
        <p:nvGrpSpPr>
          <p:cNvPr name="Group 50" id="50"/>
          <p:cNvGrpSpPr/>
          <p:nvPr/>
        </p:nvGrpSpPr>
        <p:grpSpPr>
          <a:xfrm rot="0">
            <a:off x="11226041" y="6648231"/>
            <a:ext cx="3293774" cy="2660361"/>
            <a:chOff x="0" y="0"/>
            <a:chExt cx="4391698" cy="3547148"/>
          </a:xfrm>
        </p:grpSpPr>
        <p:sp>
          <p:nvSpPr>
            <p:cNvPr name="Freeform 51" id="51"/>
            <p:cNvSpPr/>
            <p:nvPr/>
          </p:nvSpPr>
          <p:spPr>
            <a:xfrm flipH="false" flipV="false" rot="0">
              <a:off x="0" y="0"/>
              <a:ext cx="4391660" cy="3547110"/>
            </a:xfrm>
            <a:custGeom>
              <a:avLst/>
              <a:gdLst/>
              <a:ahLst/>
              <a:cxnLst/>
              <a:rect r="r" b="b" t="t" l="l"/>
              <a:pathLst>
                <a:path h="3547110" w="4391660">
                  <a:moveTo>
                    <a:pt x="0" y="0"/>
                  </a:moveTo>
                  <a:lnTo>
                    <a:pt x="4391660" y="0"/>
                  </a:lnTo>
                  <a:lnTo>
                    <a:pt x="4391660" y="3547110"/>
                  </a:lnTo>
                  <a:lnTo>
                    <a:pt x="0" y="3547110"/>
                  </a:lnTo>
                  <a:lnTo>
                    <a:pt x="0" y="0"/>
                  </a:lnTo>
                  <a:close/>
                </a:path>
              </a:pathLst>
            </a:custGeom>
            <a:blipFill>
              <a:blip r:embed="rId3"/>
              <a:stretch>
                <a:fillRect l="0" t="0" r="0" b="-1"/>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D97706"/>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D97706"/>
            </a:solidFill>
          </p:spPr>
        </p:sp>
      </p:grpSp>
      <p:grpSp>
        <p:nvGrpSpPr>
          <p:cNvPr name="Group 5" id="5"/>
          <p:cNvGrpSpPr/>
          <p:nvPr/>
        </p:nvGrpSpPr>
        <p:grpSpPr>
          <a:xfrm rot="0">
            <a:off x="15166343" y="170183"/>
            <a:ext cx="2951483" cy="793499"/>
            <a:chOff x="0" y="0"/>
            <a:chExt cx="3935311" cy="1057999"/>
          </a:xfrm>
        </p:grpSpPr>
        <p:sp>
          <p:nvSpPr>
            <p:cNvPr name="Freeform 6" id="6"/>
            <p:cNvSpPr/>
            <p:nvPr/>
          </p:nvSpPr>
          <p:spPr>
            <a:xfrm flipH="false" flipV="false" rot="0">
              <a:off x="16891" y="16891"/>
              <a:ext cx="3901440" cy="1024128"/>
            </a:xfrm>
            <a:custGeom>
              <a:avLst/>
              <a:gdLst/>
              <a:ahLst/>
              <a:cxnLst/>
              <a:rect r="r" b="b" t="t" l="l"/>
              <a:pathLst>
                <a:path h="1024128" w="3901440">
                  <a:moveTo>
                    <a:pt x="0" y="0"/>
                  </a:moveTo>
                  <a:lnTo>
                    <a:pt x="3901440" y="0"/>
                  </a:lnTo>
                  <a:lnTo>
                    <a:pt x="3901440" y="1024128"/>
                  </a:lnTo>
                  <a:lnTo>
                    <a:pt x="0" y="1024128"/>
                  </a:lnTo>
                  <a:close/>
                </a:path>
              </a:pathLst>
            </a:custGeom>
            <a:solidFill>
              <a:srgbClr val="D97706"/>
            </a:solidFill>
          </p:spPr>
        </p:sp>
        <p:sp>
          <p:nvSpPr>
            <p:cNvPr name="Freeform 7" id="7"/>
            <p:cNvSpPr/>
            <p:nvPr/>
          </p:nvSpPr>
          <p:spPr>
            <a:xfrm flipH="false" flipV="false" rot="0">
              <a:off x="0" y="0"/>
              <a:ext cx="3935222" cy="1057912"/>
            </a:xfrm>
            <a:custGeom>
              <a:avLst/>
              <a:gdLst/>
              <a:ahLst/>
              <a:cxnLst/>
              <a:rect r="r" b="b" t="t" l="l"/>
              <a:pathLst>
                <a:path h="1057912" w="3935222">
                  <a:moveTo>
                    <a:pt x="16891" y="0"/>
                  </a:moveTo>
                  <a:lnTo>
                    <a:pt x="3918331" y="0"/>
                  </a:lnTo>
                  <a:cubicBezTo>
                    <a:pt x="3927729" y="0"/>
                    <a:pt x="3935222" y="7620"/>
                    <a:pt x="3935222" y="16891"/>
                  </a:cubicBezTo>
                  <a:lnTo>
                    <a:pt x="3935222" y="1041019"/>
                  </a:lnTo>
                  <a:cubicBezTo>
                    <a:pt x="3935222" y="1050417"/>
                    <a:pt x="3927602" y="1057910"/>
                    <a:pt x="39183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918331" y="1024128"/>
                  </a:lnTo>
                  <a:lnTo>
                    <a:pt x="3918331" y="1041019"/>
                  </a:lnTo>
                  <a:lnTo>
                    <a:pt x="3901440" y="1041019"/>
                  </a:lnTo>
                  <a:lnTo>
                    <a:pt x="3901440" y="16891"/>
                  </a:lnTo>
                  <a:lnTo>
                    <a:pt x="3918331" y="16891"/>
                  </a:lnTo>
                  <a:lnTo>
                    <a:pt x="3918331" y="33909"/>
                  </a:lnTo>
                  <a:lnTo>
                    <a:pt x="16891" y="33909"/>
                  </a:lnTo>
                  <a:close/>
                </a:path>
              </a:pathLst>
            </a:custGeom>
            <a:solidFill>
              <a:srgbClr val="D97706"/>
            </a:solidFill>
          </p:spPr>
        </p:sp>
      </p:grpSp>
      <p:grpSp>
        <p:nvGrpSpPr>
          <p:cNvPr name="Group 8" id="8"/>
          <p:cNvGrpSpPr/>
          <p:nvPr/>
        </p:nvGrpSpPr>
        <p:grpSpPr>
          <a:xfrm rot="0">
            <a:off x="15179040" y="182880"/>
            <a:ext cx="2926080" cy="768096"/>
            <a:chOff x="0" y="0"/>
            <a:chExt cx="3901440" cy="1024128"/>
          </a:xfrm>
        </p:grpSpPr>
        <p:sp>
          <p:nvSpPr>
            <p:cNvPr name="Freeform 9" id="9"/>
            <p:cNvSpPr/>
            <p:nvPr/>
          </p:nvSpPr>
          <p:spPr>
            <a:xfrm flipH="false" flipV="false" rot="0">
              <a:off x="0" y="0"/>
              <a:ext cx="3901440" cy="1024128"/>
            </a:xfrm>
            <a:custGeom>
              <a:avLst/>
              <a:gdLst/>
              <a:ahLst/>
              <a:cxnLst/>
              <a:rect r="r" b="b" t="t" l="l"/>
              <a:pathLst>
                <a:path h="1024128" w="3901440">
                  <a:moveTo>
                    <a:pt x="0" y="0"/>
                  </a:moveTo>
                  <a:lnTo>
                    <a:pt x="3901440" y="0"/>
                  </a:lnTo>
                  <a:lnTo>
                    <a:pt x="3901440" y="1024128"/>
                  </a:lnTo>
                  <a:lnTo>
                    <a:pt x="0" y="1024128"/>
                  </a:lnTo>
                  <a:close/>
                </a:path>
              </a:pathLst>
            </a:custGeom>
            <a:blipFill>
              <a:blip r:embed="rId2">
                <a:alphaModFix amt="0"/>
              </a:blip>
              <a:stretch>
                <a:fillRect l="0" t="-24228" r="0" b="-24228"/>
              </a:stretch>
            </a:blipFill>
          </p:spPr>
        </p:sp>
        <p:sp>
          <p:nvSpPr>
            <p:cNvPr name="TextBox 10" id="10"/>
            <p:cNvSpPr txBox="true"/>
            <p:nvPr/>
          </p:nvSpPr>
          <p:spPr>
            <a:xfrm>
              <a:off x="0" y="-38100"/>
              <a:ext cx="3901440" cy="106222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Schema.org  3/4</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D97706"/>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D97706"/>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Schema.org</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57150"/>
              <a:ext cx="21945600" cy="739902"/>
            </a:xfrm>
            <a:prstGeom prst="rect">
              <a:avLst/>
            </a:prstGeom>
          </p:spPr>
          <p:txBody>
            <a:bodyPr anchor="ctr" rtlCol="false" tIns="0" lIns="0" bIns="0" rIns="0"/>
            <a:lstStyle/>
            <a:p>
              <a:pPr algn="l">
                <a:lnSpc>
                  <a:spcPts val="3840"/>
                </a:lnSpc>
              </a:pPr>
              <a:r>
                <a:rPr lang="en-US" sz="3200" i="true">
                  <a:solidFill>
                    <a:srgbClr val="000000"/>
                  </a:solidFill>
                  <a:latin typeface="Calibri (MS) Italics"/>
                  <a:ea typeface="Calibri (MS) Italics"/>
                  <a:cs typeface="Calibri (MS) Italics"/>
                  <a:sym typeface="Calibri (MS) Italics"/>
                </a:rPr>
                <a:t>Comment on l’implémente ?</a:t>
              </a:r>
            </a:p>
          </p:txBody>
        </p:sp>
      </p:grpSp>
      <p:grpSp>
        <p:nvGrpSpPr>
          <p:cNvPr name="Group 20" id="20"/>
          <p:cNvGrpSpPr/>
          <p:nvPr/>
        </p:nvGrpSpPr>
        <p:grpSpPr>
          <a:xfrm rot="0">
            <a:off x="718823" y="1998983"/>
            <a:ext cx="16850363" cy="1159259"/>
            <a:chOff x="0" y="0"/>
            <a:chExt cx="22467151" cy="1545679"/>
          </a:xfrm>
        </p:grpSpPr>
        <p:sp>
          <p:nvSpPr>
            <p:cNvPr name="Freeform 21" id="21"/>
            <p:cNvSpPr/>
            <p:nvPr/>
          </p:nvSpPr>
          <p:spPr>
            <a:xfrm flipH="false" flipV="false" rot="0">
              <a:off x="16891" y="16891"/>
              <a:ext cx="22433280" cy="1511808"/>
            </a:xfrm>
            <a:custGeom>
              <a:avLst/>
              <a:gdLst/>
              <a:ahLst/>
              <a:cxnLst/>
              <a:rect r="r" b="b" t="t" l="l"/>
              <a:pathLst>
                <a:path h="1511808" w="22433280">
                  <a:moveTo>
                    <a:pt x="0" y="0"/>
                  </a:moveTo>
                  <a:lnTo>
                    <a:pt x="22433280" y="0"/>
                  </a:lnTo>
                  <a:lnTo>
                    <a:pt x="22433280" y="1511808"/>
                  </a:lnTo>
                  <a:lnTo>
                    <a:pt x="0" y="1511808"/>
                  </a:lnTo>
                  <a:close/>
                </a:path>
              </a:pathLst>
            </a:custGeom>
            <a:solidFill>
              <a:srgbClr val="FFFBEB"/>
            </a:solidFill>
          </p:spPr>
        </p:sp>
        <p:sp>
          <p:nvSpPr>
            <p:cNvPr name="Freeform 22" id="22"/>
            <p:cNvSpPr/>
            <p:nvPr/>
          </p:nvSpPr>
          <p:spPr>
            <a:xfrm flipH="false" flipV="false" rot="0">
              <a:off x="0" y="0"/>
              <a:ext cx="22467063" cy="1545590"/>
            </a:xfrm>
            <a:custGeom>
              <a:avLst/>
              <a:gdLst/>
              <a:ahLst/>
              <a:cxnLst/>
              <a:rect r="r" b="b" t="t" l="l"/>
              <a:pathLst>
                <a:path h="1545590" w="22467063">
                  <a:moveTo>
                    <a:pt x="16891" y="0"/>
                  </a:moveTo>
                  <a:lnTo>
                    <a:pt x="22450171" y="0"/>
                  </a:lnTo>
                  <a:cubicBezTo>
                    <a:pt x="22459569" y="0"/>
                    <a:pt x="22467063" y="7620"/>
                    <a:pt x="22467063" y="16891"/>
                  </a:cubicBezTo>
                  <a:lnTo>
                    <a:pt x="22467063" y="1528699"/>
                  </a:lnTo>
                  <a:cubicBezTo>
                    <a:pt x="22467063" y="1538097"/>
                    <a:pt x="22459443" y="1545590"/>
                    <a:pt x="22450171" y="1545590"/>
                  </a:cubicBezTo>
                  <a:lnTo>
                    <a:pt x="16891" y="1545590"/>
                  </a:lnTo>
                  <a:cubicBezTo>
                    <a:pt x="7493" y="1545590"/>
                    <a:pt x="0" y="1537970"/>
                    <a:pt x="0" y="1528699"/>
                  </a:cubicBezTo>
                  <a:lnTo>
                    <a:pt x="0" y="16891"/>
                  </a:lnTo>
                  <a:cubicBezTo>
                    <a:pt x="0" y="7620"/>
                    <a:pt x="7620" y="0"/>
                    <a:pt x="16891" y="0"/>
                  </a:cubicBezTo>
                  <a:moveTo>
                    <a:pt x="16891" y="33909"/>
                  </a:moveTo>
                  <a:lnTo>
                    <a:pt x="16891" y="16891"/>
                  </a:lnTo>
                  <a:lnTo>
                    <a:pt x="33909" y="16891"/>
                  </a:lnTo>
                  <a:lnTo>
                    <a:pt x="33909" y="1528699"/>
                  </a:lnTo>
                  <a:lnTo>
                    <a:pt x="16891" y="1528699"/>
                  </a:lnTo>
                  <a:lnTo>
                    <a:pt x="16891" y="1511808"/>
                  </a:lnTo>
                  <a:lnTo>
                    <a:pt x="22450171" y="1511808"/>
                  </a:lnTo>
                  <a:lnTo>
                    <a:pt x="22450171" y="1528699"/>
                  </a:lnTo>
                  <a:lnTo>
                    <a:pt x="22433280" y="1528699"/>
                  </a:lnTo>
                  <a:lnTo>
                    <a:pt x="22433280" y="16891"/>
                  </a:lnTo>
                  <a:lnTo>
                    <a:pt x="22450171" y="16891"/>
                  </a:lnTo>
                  <a:lnTo>
                    <a:pt x="22450171" y="33909"/>
                  </a:lnTo>
                  <a:lnTo>
                    <a:pt x="16891" y="33909"/>
                  </a:lnTo>
                  <a:close/>
                </a:path>
              </a:pathLst>
            </a:custGeom>
            <a:solidFill>
              <a:srgbClr val="D97706"/>
            </a:solidFill>
          </p:spPr>
        </p:sp>
      </p:grpSp>
      <p:grpSp>
        <p:nvGrpSpPr>
          <p:cNvPr name="Group 23" id="23"/>
          <p:cNvGrpSpPr/>
          <p:nvPr/>
        </p:nvGrpSpPr>
        <p:grpSpPr>
          <a:xfrm rot="0">
            <a:off x="1097280" y="2103120"/>
            <a:ext cx="16093440" cy="914400"/>
            <a:chOff x="0" y="0"/>
            <a:chExt cx="21457920" cy="1219200"/>
          </a:xfrm>
        </p:grpSpPr>
        <p:sp>
          <p:nvSpPr>
            <p:cNvPr name="Freeform 24" id="24"/>
            <p:cNvSpPr/>
            <p:nvPr/>
          </p:nvSpPr>
          <p:spPr>
            <a:xfrm flipH="false" flipV="false" rot="0">
              <a:off x="0" y="0"/>
              <a:ext cx="21457920" cy="1219200"/>
            </a:xfrm>
            <a:custGeom>
              <a:avLst/>
              <a:gdLst/>
              <a:ahLst/>
              <a:cxnLst/>
              <a:rect r="r" b="b" t="t" l="l"/>
              <a:pathLst>
                <a:path h="1219200" w="21457920">
                  <a:moveTo>
                    <a:pt x="0" y="0"/>
                  </a:moveTo>
                  <a:lnTo>
                    <a:pt x="21457920" y="0"/>
                  </a:lnTo>
                  <a:lnTo>
                    <a:pt x="21457920" y="1219200"/>
                  </a:lnTo>
                  <a:lnTo>
                    <a:pt x="0" y="1219200"/>
                  </a:lnTo>
                  <a:close/>
                </a:path>
              </a:pathLst>
            </a:custGeom>
            <a:blipFill>
              <a:blip r:embed="rId2">
                <a:alphaModFix amt="0"/>
              </a:blip>
              <a:stretch>
                <a:fillRect l="0" t="-292936" r="0" b="-292936"/>
              </a:stretch>
            </a:blipFill>
          </p:spPr>
        </p:sp>
        <p:sp>
          <p:nvSpPr>
            <p:cNvPr name="TextBox 25" id="25"/>
            <p:cNvSpPr txBox="true"/>
            <p:nvPr/>
          </p:nvSpPr>
          <p:spPr>
            <a:xfrm>
              <a:off x="0" y="-38100"/>
              <a:ext cx="21457920" cy="1257300"/>
            </a:xfrm>
            <a:prstGeom prst="rect">
              <a:avLst/>
            </a:prstGeom>
          </p:spPr>
          <p:txBody>
            <a:bodyPr anchor="ctr" rtlCol="false" tIns="0" lIns="0" bIns="0" rIns="0"/>
            <a:lstStyle/>
            <a:p>
              <a:pPr algn="l">
                <a:lnSpc>
                  <a:spcPts val="2879"/>
                </a:lnSpc>
              </a:pPr>
              <a:r>
                <a:rPr lang="en-US" sz="2400">
                  <a:solidFill>
                    <a:srgbClr val="000000"/>
                  </a:solidFill>
                  <a:latin typeface="Calibri (MS)"/>
                  <a:ea typeface="Calibri (MS)"/>
                  <a:cs typeface="Calibri (MS)"/>
                  <a:sym typeface="Calibri (MS)"/>
                </a:rPr>
                <a:t>Il fut un temps où l'on mélangeait ces étiquettes directement dans le code HTML (c'était les "</a:t>
              </a:r>
              <a:r>
                <a:rPr lang="en-US" sz="2400" b="true">
                  <a:solidFill>
                    <a:srgbClr val="000000"/>
                  </a:solidFill>
                  <a:latin typeface="Calibri (MS) Bold"/>
                  <a:ea typeface="Calibri (MS) Bold"/>
                  <a:cs typeface="Calibri (MS) Bold"/>
                  <a:sym typeface="Calibri (MS) Bold"/>
                </a:rPr>
                <a:t>Microdata</a:t>
              </a:r>
              <a:r>
                <a:rPr lang="en-US" sz="2400">
                  <a:solidFill>
                    <a:srgbClr val="000000"/>
                  </a:solidFill>
                  <a:latin typeface="Calibri (MS)"/>
                  <a:ea typeface="Calibri (MS)"/>
                  <a:cs typeface="Calibri (MS)"/>
                  <a:sym typeface="Calibri (MS)"/>
                </a:rPr>
                <a:t>", très lourd à maintenir).</a:t>
              </a:r>
            </a:p>
          </p:txBody>
        </p:sp>
      </p:grpSp>
      <p:grpSp>
        <p:nvGrpSpPr>
          <p:cNvPr name="Group 26" id="26"/>
          <p:cNvGrpSpPr/>
          <p:nvPr/>
        </p:nvGrpSpPr>
        <p:grpSpPr>
          <a:xfrm rot="0">
            <a:off x="718823" y="3425447"/>
            <a:ext cx="16850363" cy="1762763"/>
            <a:chOff x="0" y="0"/>
            <a:chExt cx="22467151" cy="2350351"/>
          </a:xfrm>
        </p:grpSpPr>
        <p:sp>
          <p:nvSpPr>
            <p:cNvPr name="Freeform 27" id="27"/>
            <p:cNvSpPr/>
            <p:nvPr/>
          </p:nvSpPr>
          <p:spPr>
            <a:xfrm flipH="false" flipV="false" rot="0">
              <a:off x="16891" y="16891"/>
              <a:ext cx="22433280" cy="2316480"/>
            </a:xfrm>
            <a:custGeom>
              <a:avLst/>
              <a:gdLst/>
              <a:ahLst/>
              <a:cxnLst/>
              <a:rect r="r" b="b" t="t" l="l"/>
              <a:pathLst>
                <a:path h="2316480" w="22433280">
                  <a:moveTo>
                    <a:pt x="0" y="0"/>
                  </a:moveTo>
                  <a:lnTo>
                    <a:pt x="22433280" y="0"/>
                  </a:lnTo>
                  <a:lnTo>
                    <a:pt x="22433280" y="2316480"/>
                  </a:lnTo>
                  <a:lnTo>
                    <a:pt x="0" y="2316480"/>
                  </a:lnTo>
                  <a:close/>
                </a:path>
              </a:pathLst>
            </a:custGeom>
            <a:solidFill>
              <a:srgbClr val="F1F5F9"/>
            </a:solidFill>
          </p:spPr>
        </p:sp>
        <p:sp>
          <p:nvSpPr>
            <p:cNvPr name="Freeform 28" id="28"/>
            <p:cNvSpPr/>
            <p:nvPr/>
          </p:nvSpPr>
          <p:spPr>
            <a:xfrm flipH="false" flipV="false" rot="0">
              <a:off x="0" y="0"/>
              <a:ext cx="22467063" cy="2350262"/>
            </a:xfrm>
            <a:custGeom>
              <a:avLst/>
              <a:gdLst/>
              <a:ahLst/>
              <a:cxnLst/>
              <a:rect r="r" b="b" t="t" l="l"/>
              <a:pathLst>
                <a:path h="2350262" w="22467063">
                  <a:moveTo>
                    <a:pt x="16891" y="0"/>
                  </a:moveTo>
                  <a:lnTo>
                    <a:pt x="22450171" y="0"/>
                  </a:lnTo>
                  <a:cubicBezTo>
                    <a:pt x="22459569" y="0"/>
                    <a:pt x="22467063" y="7620"/>
                    <a:pt x="22467063" y="16891"/>
                  </a:cubicBezTo>
                  <a:lnTo>
                    <a:pt x="22467063" y="2333371"/>
                  </a:lnTo>
                  <a:cubicBezTo>
                    <a:pt x="22467063" y="2342769"/>
                    <a:pt x="22459443" y="2350262"/>
                    <a:pt x="22450171"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22450171" y="2316480"/>
                  </a:lnTo>
                  <a:lnTo>
                    <a:pt x="22450171" y="2333371"/>
                  </a:lnTo>
                  <a:lnTo>
                    <a:pt x="22433280" y="2333371"/>
                  </a:lnTo>
                  <a:lnTo>
                    <a:pt x="22433280" y="16891"/>
                  </a:lnTo>
                  <a:lnTo>
                    <a:pt x="22450171" y="16891"/>
                  </a:lnTo>
                  <a:lnTo>
                    <a:pt x="22450171" y="33909"/>
                  </a:lnTo>
                  <a:lnTo>
                    <a:pt x="16891" y="33909"/>
                  </a:lnTo>
                  <a:close/>
                </a:path>
              </a:pathLst>
            </a:custGeom>
            <a:solidFill>
              <a:srgbClr val="D97706"/>
            </a:solidFill>
          </p:spPr>
        </p:sp>
      </p:grpSp>
      <p:grpSp>
        <p:nvGrpSpPr>
          <p:cNvPr name="Group 29" id="29"/>
          <p:cNvGrpSpPr/>
          <p:nvPr/>
        </p:nvGrpSpPr>
        <p:grpSpPr>
          <a:xfrm rot="0">
            <a:off x="718823" y="3425447"/>
            <a:ext cx="135131" cy="1762763"/>
            <a:chOff x="0" y="0"/>
            <a:chExt cx="180175" cy="2350351"/>
          </a:xfrm>
        </p:grpSpPr>
        <p:sp>
          <p:nvSpPr>
            <p:cNvPr name="Freeform 30" id="30"/>
            <p:cNvSpPr/>
            <p:nvPr/>
          </p:nvSpPr>
          <p:spPr>
            <a:xfrm flipH="false" flipV="false" rot="0">
              <a:off x="16891" y="16891"/>
              <a:ext cx="146304" cy="2316480"/>
            </a:xfrm>
            <a:custGeom>
              <a:avLst/>
              <a:gdLst/>
              <a:ahLst/>
              <a:cxnLst/>
              <a:rect r="r" b="b" t="t" l="l"/>
              <a:pathLst>
                <a:path h="2316480" w="146304">
                  <a:moveTo>
                    <a:pt x="0" y="0"/>
                  </a:moveTo>
                  <a:lnTo>
                    <a:pt x="146304" y="0"/>
                  </a:lnTo>
                  <a:lnTo>
                    <a:pt x="146304" y="2316480"/>
                  </a:lnTo>
                  <a:lnTo>
                    <a:pt x="0" y="2316480"/>
                  </a:lnTo>
                  <a:close/>
                </a:path>
              </a:pathLst>
            </a:custGeom>
            <a:solidFill>
              <a:srgbClr val="D97706"/>
            </a:solidFill>
          </p:spPr>
        </p:sp>
        <p:sp>
          <p:nvSpPr>
            <p:cNvPr name="Freeform 31" id="31"/>
            <p:cNvSpPr/>
            <p:nvPr/>
          </p:nvSpPr>
          <p:spPr>
            <a:xfrm flipH="false" flipV="false" rot="0">
              <a:off x="0" y="0"/>
              <a:ext cx="180086" cy="2350262"/>
            </a:xfrm>
            <a:custGeom>
              <a:avLst/>
              <a:gdLst/>
              <a:ahLst/>
              <a:cxnLst/>
              <a:rect r="r" b="b" t="t" l="l"/>
              <a:pathLst>
                <a:path h="2350262" w="180086">
                  <a:moveTo>
                    <a:pt x="16891" y="0"/>
                  </a:moveTo>
                  <a:lnTo>
                    <a:pt x="163195" y="0"/>
                  </a:lnTo>
                  <a:cubicBezTo>
                    <a:pt x="172593" y="0"/>
                    <a:pt x="180086" y="7620"/>
                    <a:pt x="180086" y="16891"/>
                  </a:cubicBezTo>
                  <a:lnTo>
                    <a:pt x="180086" y="2333371"/>
                  </a:lnTo>
                  <a:cubicBezTo>
                    <a:pt x="180086" y="2342769"/>
                    <a:pt x="172466" y="2350262"/>
                    <a:pt x="163195" y="2350262"/>
                  </a:cubicBezTo>
                  <a:lnTo>
                    <a:pt x="16891" y="2350262"/>
                  </a:lnTo>
                  <a:cubicBezTo>
                    <a:pt x="7493" y="2350262"/>
                    <a:pt x="0" y="2342642"/>
                    <a:pt x="0" y="2333371"/>
                  </a:cubicBezTo>
                  <a:lnTo>
                    <a:pt x="0" y="16891"/>
                  </a:lnTo>
                  <a:cubicBezTo>
                    <a:pt x="0" y="7620"/>
                    <a:pt x="7620" y="0"/>
                    <a:pt x="16891" y="0"/>
                  </a:cubicBezTo>
                  <a:moveTo>
                    <a:pt x="16891" y="33909"/>
                  </a:moveTo>
                  <a:lnTo>
                    <a:pt x="16891" y="16891"/>
                  </a:lnTo>
                  <a:lnTo>
                    <a:pt x="33909" y="16891"/>
                  </a:lnTo>
                  <a:lnTo>
                    <a:pt x="33909" y="2333371"/>
                  </a:lnTo>
                  <a:lnTo>
                    <a:pt x="16891" y="2333371"/>
                  </a:lnTo>
                  <a:lnTo>
                    <a:pt x="16891" y="2316480"/>
                  </a:lnTo>
                  <a:lnTo>
                    <a:pt x="163195" y="2316480"/>
                  </a:lnTo>
                  <a:lnTo>
                    <a:pt x="163195" y="2333371"/>
                  </a:lnTo>
                  <a:lnTo>
                    <a:pt x="146304" y="2333371"/>
                  </a:lnTo>
                  <a:lnTo>
                    <a:pt x="146304" y="16891"/>
                  </a:lnTo>
                  <a:lnTo>
                    <a:pt x="163195" y="16891"/>
                  </a:lnTo>
                  <a:lnTo>
                    <a:pt x="163195" y="33909"/>
                  </a:lnTo>
                  <a:lnTo>
                    <a:pt x="16891" y="33909"/>
                  </a:lnTo>
                  <a:close/>
                </a:path>
              </a:pathLst>
            </a:custGeom>
            <a:solidFill>
              <a:srgbClr val="D97706"/>
            </a:solidFill>
          </p:spPr>
        </p:sp>
      </p:grpSp>
      <p:grpSp>
        <p:nvGrpSpPr>
          <p:cNvPr name="Group 32" id="32"/>
          <p:cNvGrpSpPr/>
          <p:nvPr/>
        </p:nvGrpSpPr>
        <p:grpSpPr>
          <a:xfrm rot="0">
            <a:off x="1152144" y="3886200"/>
            <a:ext cx="16093440" cy="841248"/>
            <a:chOff x="0" y="0"/>
            <a:chExt cx="21457920" cy="1121664"/>
          </a:xfrm>
        </p:grpSpPr>
        <p:sp>
          <p:nvSpPr>
            <p:cNvPr name="Freeform 33" id="33"/>
            <p:cNvSpPr/>
            <p:nvPr/>
          </p:nvSpPr>
          <p:spPr>
            <a:xfrm flipH="false" flipV="false" rot="0">
              <a:off x="0" y="0"/>
              <a:ext cx="21457920" cy="1121664"/>
            </a:xfrm>
            <a:custGeom>
              <a:avLst/>
              <a:gdLst/>
              <a:ahLst/>
              <a:cxnLst/>
              <a:rect r="r" b="b" t="t" l="l"/>
              <a:pathLst>
                <a:path h="1121664" w="21457920">
                  <a:moveTo>
                    <a:pt x="0" y="0"/>
                  </a:moveTo>
                  <a:lnTo>
                    <a:pt x="21457920" y="0"/>
                  </a:lnTo>
                  <a:lnTo>
                    <a:pt x="21457920" y="1121664"/>
                  </a:lnTo>
                  <a:lnTo>
                    <a:pt x="0" y="1121664"/>
                  </a:lnTo>
                  <a:close/>
                </a:path>
              </a:pathLst>
            </a:custGeom>
            <a:blipFill>
              <a:blip r:embed="rId2">
                <a:alphaModFix amt="0"/>
              </a:blip>
              <a:stretch>
                <a:fillRect l="0" t="-322757" r="0" b="-322757"/>
              </a:stretch>
            </a:blipFill>
          </p:spPr>
        </p:sp>
        <p:sp>
          <p:nvSpPr>
            <p:cNvPr name="TextBox 34" id="34"/>
            <p:cNvSpPr txBox="true"/>
            <p:nvPr/>
          </p:nvSpPr>
          <p:spPr>
            <a:xfrm>
              <a:off x="0" y="-47625"/>
              <a:ext cx="21457920" cy="1169289"/>
            </a:xfrm>
            <a:prstGeom prst="rect">
              <a:avLst/>
            </a:prstGeom>
          </p:spPr>
          <p:txBody>
            <a:bodyPr anchor="ctr" rtlCol="false" tIns="0" lIns="0" bIns="0" rIns="0"/>
            <a:lstStyle/>
            <a:p>
              <a:pPr algn="l">
                <a:lnSpc>
                  <a:spcPts val="3359"/>
                </a:lnSpc>
              </a:pPr>
              <a:r>
                <a:rPr lang="en-US" sz="2799">
                  <a:solidFill>
                    <a:srgbClr val="000000"/>
                  </a:solidFill>
                  <a:latin typeface="Calibri (MS)"/>
                  <a:ea typeface="Calibri (MS)"/>
                  <a:cs typeface="Calibri (MS)"/>
                  <a:sym typeface="Calibri (MS)"/>
                </a:rPr>
                <a:t>Aujourd'hui, on utilise le </a:t>
              </a:r>
              <a:r>
                <a:rPr lang="en-US" sz="2799" b="true">
                  <a:solidFill>
                    <a:srgbClr val="000000"/>
                  </a:solidFill>
                  <a:latin typeface="Calibri (MS) Bold"/>
                  <a:ea typeface="Calibri (MS) Bold"/>
                  <a:cs typeface="Calibri (MS) Bold"/>
                  <a:sym typeface="Calibri (MS) Bold"/>
                </a:rPr>
                <a:t>JSON-LD</a:t>
              </a:r>
              <a:r>
                <a:rPr lang="en-US" sz="2799">
                  <a:solidFill>
                    <a:srgbClr val="000000"/>
                  </a:solidFill>
                  <a:latin typeface="Calibri (MS)"/>
                  <a:ea typeface="Calibri (MS)"/>
                  <a:cs typeface="Calibri (MS)"/>
                  <a:sym typeface="Calibri (MS)"/>
                </a:rPr>
                <a:t>: on crée simplement un objet JSON contenant toutes nos données structurées, et on l'injecte dans le code source de la page (dans une balise </a:t>
              </a:r>
              <a:r>
                <a:rPr lang="en-US" sz="2799">
                  <a:solidFill>
                    <a:srgbClr val="FF0000"/>
                  </a:solidFill>
                  <a:latin typeface="Calibri (MS)"/>
                  <a:ea typeface="Calibri (MS)"/>
                  <a:cs typeface="Calibri (MS)"/>
                  <a:sym typeface="Calibri (MS)"/>
                </a:rPr>
                <a:t>&lt;script&gt; </a:t>
              </a:r>
              <a:r>
                <a:rPr lang="en-US" sz="2799">
                  <a:solidFill>
                    <a:srgbClr val="000000"/>
                  </a:solidFill>
                  <a:latin typeface="Calibri (MS)"/>
                  <a:ea typeface="Calibri (MS)"/>
                  <a:cs typeface="Calibri (MS)"/>
                  <a:sym typeface="Calibri (MS)"/>
                </a:rPr>
                <a:t>)</a:t>
              </a:r>
            </a:p>
          </p:txBody>
        </p:sp>
      </p:grpSp>
      <p:grpSp>
        <p:nvGrpSpPr>
          <p:cNvPr name="Group 35" id="35"/>
          <p:cNvGrpSpPr/>
          <p:nvPr/>
        </p:nvGrpSpPr>
        <p:grpSpPr>
          <a:xfrm rot="0">
            <a:off x="-6353" y="9741151"/>
            <a:ext cx="18300697" cy="552193"/>
            <a:chOff x="0" y="0"/>
            <a:chExt cx="24400929" cy="736257"/>
          </a:xfrm>
        </p:grpSpPr>
        <p:sp>
          <p:nvSpPr>
            <p:cNvPr name="Freeform 36" id="36"/>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37" id="37"/>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38" id="38"/>
          <p:cNvGrpSpPr/>
          <p:nvPr/>
        </p:nvGrpSpPr>
        <p:grpSpPr>
          <a:xfrm rot="0">
            <a:off x="15910560" y="9747504"/>
            <a:ext cx="2011680" cy="539496"/>
            <a:chOff x="0" y="0"/>
            <a:chExt cx="2682240" cy="719328"/>
          </a:xfrm>
        </p:grpSpPr>
        <p:sp>
          <p:nvSpPr>
            <p:cNvPr name="Freeform 39" id="39"/>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40" id="40"/>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16 / 18</a:t>
              </a:r>
            </a:p>
          </p:txBody>
        </p:sp>
      </p:grpSp>
      <p:grpSp>
        <p:nvGrpSpPr>
          <p:cNvPr name="Group 41" id="41"/>
          <p:cNvGrpSpPr/>
          <p:nvPr/>
        </p:nvGrpSpPr>
        <p:grpSpPr>
          <a:xfrm rot="0">
            <a:off x="548640" y="9747504"/>
            <a:ext cx="10972800" cy="539496"/>
            <a:chOff x="0" y="0"/>
            <a:chExt cx="14630400" cy="719328"/>
          </a:xfrm>
        </p:grpSpPr>
        <p:sp>
          <p:nvSpPr>
            <p:cNvPr name="Freeform 42" id="42"/>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43" id="43"/>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Schema.org</a:t>
              </a:r>
            </a:p>
          </p:txBody>
        </p:sp>
      </p:grpSp>
      <p:sp>
        <p:nvSpPr>
          <p:cNvPr name="TextBox 44" id="44"/>
          <p:cNvSpPr txBox="true"/>
          <p:nvPr/>
        </p:nvSpPr>
        <p:spPr>
          <a:xfrm rot="0">
            <a:off x="91440" y="414157"/>
            <a:ext cx="823893" cy="1108891"/>
          </a:xfrm>
          <a:prstGeom prst="rect">
            <a:avLst/>
          </a:prstGeom>
        </p:spPr>
        <p:txBody>
          <a:bodyPr anchor="t" rtlCol="false" tIns="0" lIns="0" bIns="0" rIns="0">
            <a:spAutoFit/>
          </a:bodyPr>
          <a:lstStyle/>
          <a:p>
            <a:pPr algn="ctr">
              <a:lnSpc>
                <a:spcPts val="7920"/>
              </a:lnSpc>
            </a:pPr>
            <a:r>
              <a:rPr lang="en-US" sz="6600" spc="15">
                <a:solidFill>
                  <a:srgbClr val="000000"/>
                </a:solidFill>
                <a:latin typeface="Rosario"/>
                <a:ea typeface="Rosario"/>
                <a:cs typeface="Rosario"/>
                <a:sym typeface="Rosario"/>
              </a:rPr>
              <a:t>6</a:t>
            </a:r>
          </a:p>
        </p:txBody>
      </p:sp>
      <p:grpSp>
        <p:nvGrpSpPr>
          <p:cNvPr name="Group 45" id="45"/>
          <p:cNvGrpSpPr/>
          <p:nvPr/>
        </p:nvGrpSpPr>
        <p:grpSpPr>
          <a:xfrm rot="0">
            <a:off x="2682411" y="6639201"/>
            <a:ext cx="2888190" cy="2888190"/>
            <a:chOff x="0" y="0"/>
            <a:chExt cx="3850919" cy="3850919"/>
          </a:xfrm>
        </p:grpSpPr>
        <p:sp>
          <p:nvSpPr>
            <p:cNvPr name="Freeform 46" id="46" descr="Une image contenant dessin humoristique, illustration, art  Le contenu généré par l’IA peut être incorrect."/>
            <p:cNvSpPr/>
            <p:nvPr/>
          </p:nvSpPr>
          <p:spPr>
            <a:xfrm flipH="false" flipV="false" rot="0">
              <a:off x="0" y="0"/>
              <a:ext cx="3850894" cy="3850894"/>
            </a:xfrm>
            <a:custGeom>
              <a:avLst/>
              <a:gdLst/>
              <a:ahLst/>
              <a:cxnLst/>
              <a:rect r="r" b="b" t="t" l="l"/>
              <a:pathLst>
                <a:path h="3850894" w="3850894">
                  <a:moveTo>
                    <a:pt x="0" y="0"/>
                  </a:moveTo>
                  <a:lnTo>
                    <a:pt x="3850894" y="0"/>
                  </a:lnTo>
                  <a:lnTo>
                    <a:pt x="3850894" y="3850894"/>
                  </a:lnTo>
                  <a:lnTo>
                    <a:pt x="0" y="3850894"/>
                  </a:lnTo>
                  <a:lnTo>
                    <a:pt x="0" y="0"/>
                  </a:lnTo>
                  <a:close/>
                </a:path>
              </a:pathLst>
            </a:custGeom>
            <a:blipFill>
              <a:blip r:embed="rId3"/>
              <a:stretch>
                <a:fillRect l="0" t="0" r="0" b="0"/>
              </a:stretch>
            </a:blipFill>
          </p:spPr>
        </p:sp>
      </p:grpSp>
      <p:grpSp>
        <p:nvGrpSpPr>
          <p:cNvPr name="Group 47" id="47"/>
          <p:cNvGrpSpPr/>
          <p:nvPr/>
        </p:nvGrpSpPr>
        <p:grpSpPr>
          <a:xfrm rot="0">
            <a:off x="4126506" y="5623560"/>
            <a:ext cx="1254804" cy="1254804"/>
            <a:chOff x="0" y="0"/>
            <a:chExt cx="1673073" cy="1673073"/>
          </a:xfrm>
        </p:grpSpPr>
        <p:sp>
          <p:nvSpPr>
            <p:cNvPr name="Freeform 48" id="48" descr="Une image contenant Graphique, cercle, Caractère coloré, art  Le contenu généré par l’IA peut être incorrect."/>
            <p:cNvSpPr/>
            <p:nvPr/>
          </p:nvSpPr>
          <p:spPr>
            <a:xfrm flipH="false" flipV="false" rot="0">
              <a:off x="0" y="0"/>
              <a:ext cx="1673098" cy="1673098"/>
            </a:xfrm>
            <a:custGeom>
              <a:avLst/>
              <a:gdLst/>
              <a:ahLst/>
              <a:cxnLst/>
              <a:rect r="r" b="b" t="t" l="l"/>
              <a:pathLst>
                <a:path h="1673098" w="1673098">
                  <a:moveTo>
                    <a:pt x="0" y="0"/>
                  </a:moveTo>
                  <a:lnTo>
                    <a:pt x="1673098" y="0"/>
                  </a:lnTo>
                  <a:lnTo>
                    <a:pt x="1673098" y="1673098"/>
                  </a:lnTo>
                  <a:lnTo>
                    <a:pt x="0" y="1673098"/>
                  </a:lnTo>
                  <a:lnTo>
                    <a:pt x="0" y="0"/>
                  </a:lnTo>
                  <a:close/>
                </a:path>
              </a:pathLst>
            </a:custGeom>
            <a:blipFill>
              <a:blip r:embed="rId4"/>
              <a:stretch>
                <a:fillRect l="0" t="0" r="1" b="1"/>
              </a:stretch>
            </a:blipFill>
          </p:spPr>
        </p:sp>
      </p:grpSp>
      <p:grpSp>
        <p:nvGrpSpPr>
          <p:cNvPr name="Group 49" id="49"/>
          <p:cNvGrpSpPr/>
          <p:nvPr/>
        </p:nvGrpSpPr>
        <p:grpSpPr>
          <a:xfrm rot="0">
            <a:off x="2208743" y="6250962"/>
            <a:ext cx="1254804" cy="1254804"/>
            <a:chOff x="0" y="0"/>
            <a:chExt cx="1673073" cy="1673073"/>
          </a:xfrm>
        </p:grpSpPr>
        <p:sp>
          <p:nvSpPr>
            <p:cNvPr name="Freeform 50" id="50" descr="Une image contenant orange, rouge, Graphique, conception  Le contenu généré par l’IA peut être incorrect."/>
            <p:cNvSpPr/>
            <p:nvPr/>
          </p:nvSpPr>
          <p:spPr>
            <a:xfrm flipH="false" flipV="false" rot="0">
              <a:off x="0" y="0"/>
              <a:ext cx="1673098" cy="1673098"/>
            </a:xfrm>
            <a:custGeom>
              <a:avLst/>
              <a:gdLst/>
              <a:ahLst/>
              <a:cxnLst/>
              <a:rect r="r" b="b" t="t" l="l"/>
              <a:pathLst>
                <a:path h="1673098" w="1673098">
                  <a:moveTo>
                    <a:pt x="0" y="0"/>
                  </a:moveTo>
                  <a:lnTo>
                    <a:pt x="1673098" y="0"/>
                  </a:lnTo>
                  <a:lnTo>
                    <a:pt x="1673098" y="1673098"/>
                  </a:lnTo>
                  <a:lnTo>
                    <a:pt x="0" y="1673098"/>
                  </a:lnTo>
                  <a:lnTo>
                    <a:pt x="0" y="0"/>
                  </a:lnTo>
                  <a:close/>
                </a:path>
              </a:pathLst>
            </a:custGeom>
            <a:blipFill>
              <a:blip r:embed="rId5"/>
              <a:stretch>
                <a:fillRect l="0" t="0" r="1" b="1"/>
              </a:stretch>
            </a:blipFill>
          </p:spPr>
        </p:sp>
      </p:grpSp>
      <p:grpSp>
        <p:nvGrpSpPr>
          <p:cNvPr name="Group 51" id="51"/>
          <p:cNvGrpSpPr/>
          <p:nvPr/>
        </p:nvGrpSpPr>
        <p:grpSpPr>
          <a:xfrm rot="0">
            <a:off x="9521638" y="5753729"/>
            <a:ext cx="1254804" cy="1254804"/>
            <a:chOff x="0" y="0"/>
            <a:chExt cx="1673073" cy="1673073"/>
          </a:xfrm>
        </p:grpSpPr>
        <p:sp>
          <p:nvSpPr>
            <p:cNvPr name="Freeform 52" id="52" descr="Une image contenant texte, capture d’écran, Police, nombre  Le contenu généré par l’IA peut être incorrect."/>
            <p:cNvSpPr/>
            <p:nvPr/>
          </p:nvSpPr>
          <p:spPr>
            <a:xfrm flipH="false" flipV="false" rot="0">
              <a:off x="0" y="0"/>
              <a:ext cx="1673098" cy="1673098"/>
            </a:xfrm>
            <a:custGeom>
              <a:avLst/>
              <a:gdLst/>
              <a:ahLst/>
              <a:cxnLst/>
              <a:rect r="r" b="b" t="t" l="l"/>
              <a:pathLst>
                <a:path h="1673098" w="1673098">
                  <a:moveTo>
                    <a:pt x="0" y="0"/>
                  </a:moveTo>
                  <a:lnTo>
                    <a:pt x="1673098" y="0"/>
                  </a:lnTo>
                  <a:lnTo>
                    <a:pt x="1673098" y="1673098"/>
                  </a:lnTo>
                  <a:lnTo>
                    <a:pt x="0" y="1673098"/>
                  </a:lnTo>
                  <a:lnTo>
                    <a:pt x="0" y="0"/>
                  </a:lnTo>
                  <a:close/>
                </a:path>
              </a:pathLst>
            </a:custGeom>
            <a:blipFill>
              <a:blip r:embed="rId6"/>
              <a:stretch>
                <a:fillRect l="0" t="0" r="1" b="1"/>
              </a:stretch>
            </a:blipFill>
          </p:spPr>
        </p:sp>
      </p:grpSp>
      <p:grpSp>
        <p:nvGrpSpPr>
          <p:cNvPr name="Group 53" id="53"/>
          <p:cNvGrpSpPr/>
          <p:nvPr/>
        </p:nvGrpSpPr>
        <p:grpSpPr>
          <a:xfrm rot="0">
            <a:off x="8050778" y="6829254"/>
            <a:ext cx="2256053" cy="2256053"/>
            <a:chOff x="0" y="0"/>
            <a:chExt cx="3008071" cy="3008071"/>
          </a:xfrm>
        </p:grpSpPr>
        <p:sp>
          <p:nvSpPr>
            <p:cNvPr name="Freeform 54" id="54" descr="Une image contenant insecte, scarabée, noir, dessin humoristique  Le contenu généré par l’IA peut être incorrect."/>
            <p:cNvSpPr/>
            <p:nvPr/>
          </p:nvSpPr>
          <p:spPr>
            <a:xfrm flipH="false" flipV="false" rot="0">
              <a:off x="0" y="0"/>
              <a:ext cx="3008122" cy="3008122"/>
            </a:xfrm>
            <a:custGeom>
              <a:avLst/>
              <a:gdLst/>
              <a:ahLst/>
              <a:cxnLst/>
              <a:rect r="r" b="b" t="t" l="l"/>
              <a:pathLst>
                <a:path h="3008122" w="3008122">
                  <a:moveTo>
                    <a:pt x="0" y="0"/>
                  </a:moveTo>
                  <a:lnTo>
                    <a:pt x="3008122" y="0"/>
                  </a:lnTo>
                  <a:lnTo>
                    <a:pt x="3008122" y="3008122"/>
                  </a:lnTo>
                  <a:lnTo>
                    <a:pt x="0" y="3008122"/>
                  </a:lnTo>
                  <a:lnTo>
                    <a:pt x="0" y="0"/>
                  </a:lnTo>
                  <a:close/>
                </a:path>
              </a:pathLst>
            </a:custGeom>
            <a:blipFill>
              <a:blip r:embed="rId7"/>
              <a:stretch>
                <a:fillRect l="0" t="0" r="1" b="1"/>
              </a:stretch>
            </a:blipFill>
          </p:spPr>
        </p:sp>
      </p:grpSp>
      <p:sp>
        <p:nvSpPr>
          <p:cNvPr name="AutoShape 55" id="55"/>
          <p:cNvSpPr/>
          <p:nvPr/>
        </p:nvSpPr>
        <p:spPr>
          <a:xfrm rot="3068820">
            <a:off x="10509799" y="6869916"/>
            <a:ext cx="1328671" cy="0"/>
          </a:xfrm>
          <a:prstGeom prst="line">
            <a:avLst/>
          </a:prstGeom>
          <a:ln cap="rnd" w="19050">
            <a:solidFill>
              <a:srgbClr val="4472C4"/>
            </a:solidFill>
            <a:prstDash val="solid"/>
            <a:headEnd type="none" len="sm" w="sm"/>
            <a:tailEnd type="triangle" len="med" w="lg"/>
          </a:ln>
        </p:spPr>
      </p:sp>
      <p:sp>
        <p:nvSpPr>
          <p:cNvPr name="TextBox 56" id="56"/>
          <p:cNvSpPr txBox="true"/>
          <p:nvPr/>
        </p:nvSpPr>
        <p:spPr>
          <a:xfrm rot="0">
            <a:off x="10698480" y="7402706"/>
            <a:ext cx="5852160" cy="1864395"/>
          </a:xfrm>
          <a:prstGeom prst="rect">
            <a:avLst/>
          </a:prstGeom>
        </p:spPr>
        <p:txBody>
          <a:bodyPr anchor="t" rtlCol="false" tIns="0" lIns="0" bIns="0" rIns="0">
            <a:spAutoFit/>
          </a:bodyPr>
          <a:lstStyle/>
          <a:p>
            <a:pPr algn="l">
              <a:lnSpc>
                <a:spcPts val="3359"/>
              </a:lnSpc>
            </a:pPr>
            <a:r>
              <a:rPr lang="en-US" sz="2799">
                <a:solidFill>
                  <a:srgbClr val="000000"/>
                </a:solidFill>
                <a:latin typeface="Calibri (MS)"/>
                <a:ea typeface="Calibri (MS)"/>
                <a:cs typeface="Calibri (MS)"/>
                <a:sym typeface="Calibri (MS)"/>
              </a:rPr>
              <a:t>ingère instantanément une donnée propre, structurée et catégorisée, prête à être traitée par ses algorithmes sans aucune ambiguïté.</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208283"/>
            <a:chOff x="0" y="0"/>
            <a:chExt cx="24417871" cy="277711"/>
          </a:xfrm>
        </p:grpSpPr>
        <p:sp>
          <p:nvSpPr>
            <p:cNvPr name="Freeform 3" id="3"/>
            <p:cNvSpPr/>
            <p:nvPr/>
          </p:nvSpPr>
          <p:spPr>
            <a:xfrm flipH="false" flipV="false" rot="0">
              <a:off x="16891" y="16891"/>
              <a:ext cx="24383999" cy="243840"/>
            </a:xfrm>
            <a:custGeom>
              <a:avLst/>
              <a:gdLst/>
              <a:ahLst/>
              <a:cxnLst/>
              <a:rect r="r" b="b" t="t" l="l"/>
              <a:pathLst>
                <a:path h="243840" w="24383999">
                  <a:moveTo>
                    <a:pt x="0" y="0"/>
                  </a:moveTo>
                  <a:lnTo>
                    <a:pt x="24383999" y="0"/>
                  </a:lnTo>
                  <a:lnTo>
                    <a:pt x="24383999" y="243840"/>
                  </a:lnTo>
                  <a:lnTo>
                    <a:pt x="0" y="243840"/>
                  </a:lnTo>
                  <a:close/>
                </a:path>
              </a:pathLst>
            </a:custGeom>
            <a:solidFill>
              <a:srgbClr val="D97706"/>
            </a:solidFill>
          </p:spPr>
        </p:sp>
        <p:sp>
          <p:nvSpPr>
            <p:cNvPr name="Freeform 4" id="4"/>
            <p:cNvSpPr/>
            <p:nvPr/>
          </p:nvSpPr>
          <p:spPr>
            <a:xfrm flipH="false" flipV="false" rot="0">
              <a:off x="0" y="0"/>
              <a:ext cx="24417782" cy="277624"/>
            </a:xfrm>
            <a:custGeom>
              <a:avLst/>
              <a:gdLst/>
              <a:ahLst/>
              <a:cxnLst/>
              <a:rect r="r" b="b" t="t" l="l"/>
              <a:pathLst>
                <a:path h="277624" w="24417782">
                  <a:moveTo>
                    <a:pt x="16891" y="0"/>
                  </a:moveTo>
                  <a:lnTo>
                    <a:pt x="24400890" y="0"/>
                  </a:lnTo>
                  <a:cubicBezTo>
                    <a:pt x="24410290" y="0"/>
                    <a:pt x="24417782" y="7620"/>
                    <a:pt x="24417782" y="16891"/>
                  </a:cubicBezTo>
                  <a:lnTo>
                    <a:pt x="24417782" y="260731"/>
                  </a:lnTo>
                  <a:cubicBezTo>
                    <a:pt x="24417782" y="270129"/>
                    <a:pt x="24410163" y="277622"/>
                    <a:pt x="24400890"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4400890" y="243840"/>
                  </a:lnTo>
                  <a:lnTo>
                    <a:pt x="24400890" y="260731"/>
                  </a:lnTo>
                  <a:lnTo>
                    <a:pt x="24384000" y="260731"/>
                  </a:lnTo>
                  <a:lnTo>
                    <a:pt x="24384000" y="16891"/>
                  </a:lnTo>
                  <a:lnTo>
                    <a:pt x="24400890" y="16891"/>
                  </a:lnTo>
                  <a:lnTo>
                    <a:pt x="24400890" y="33909"/>
                  </a:lnTo>
                  <a:lnTo>
                    <a:pt x="16891" y="33909"/>
                  </a:lnTo>
                  <a:close/>
                </a:path>
              </a:pathLst>
            </a:custGeom>
            <a:solidFill>
              <a:srgbClr val="D97706"/>
            </a:solidFill>
          </p:spPr>
        </p:sp>
      </p:grpSp>
      <p:grpSp>
        <p:nvGrpSpPr>
          <p:cNvPr name="Group 5" id="5"/>
          <p:cNvGrpSpPr/>
          <p:nvPr/>
        </p:nvGrpSpPr>
        <p:grpSpPr>
          <a:xfrm rot="0">
            <a:off x="15166343" y="170183"/>
            <a:ext cx="2951483" cy="793499"/>
            <a:chOff x="0" y="0"/>
            <a:chExt cx="3935311" cy="1057999"/>
          </a:xfrm>
        </p:grpSpPr>
        <p:sp>
          <p:nvSpPr>
            <p:cNvPr name="Freeform 6" id="6"/>
            <p:cNvSpPr/>
            <p:nvPr/>
          </p:nvSpPr>
          <p:spPr>
            <a:xfrm flipH="false" flipV="false" rot="0">
              <a:off x="16891" y="16891"/>
              <a:ext cx="3901440" cy="1024128"/>
            </a:xfrm>
            <a:custGeom>
              <a:avLst/>
              <a:gdLst/>
              <a:ahLst/>
              <a:cxnLst/>
              <a:rect r="r" b="b" t="t" l="l"/>
              <a:pathLst>
                <a:path h="1024128" w="3901440">
                  <a:moveTo>
                    <a:pt x="0" y="0"/>
                  </a:moveTo>
                  <a:lnTo>
                    <a:pt x="3901440" y="0"/>
                  </a:lnTo>
                  <a:lnTo>
                    <a:pt x="3901440" y="1024128"/>
                  </a:lnTo>
                  <a:lnTo>
                    <a:pt x="0" y="1024128"/>
                  </a:lnTo>
                  <a:close/>
                </a:path>
              </a:pathLst>
            </a:custGeom>
            <a:solidFill>
              <a:srgbClr val="D97706"/>
            </a:solidFill>
          </p:spPr>
        </p:sp>
        <p:sp>
          <p:nvSpPr>
            <p:cNvPr name="Freeform 7" id="7"/>
            <p:cNvSpPr/>
            <p:nvPr/>
          </p:nvSpPr>
          <p:spPr>
            <a:xfrm flipH="false" flipV="false" rot="0">
              <a:off x="0" y="0"/>
              <a:ext cx="3935222" cy="1057912"/>
            </a:xfrm>
            <a:custGeom>
              <a:avLst/>
              <a:gdLst/>
              <a:ahLst/>
              <a:cxnLst/>
              <a:rect r="r" b="b" t="t" l="l"/>
              <a:pathLst>
                <a:path h="1057912" w="3935222">
                  <a:moveTo>
                    <a:pt x="16891" y="0"/>
                  </a:moveTo>
                  <a:lnTo>
                    <a:pt x="3918331" y="0"/>
                  </a:lnTo>
                  <a:cubicBezTo>
                    <a:pt x="3927729" y="0"/>
                    <a:pt x="3935222" y="7620"/>
                    <a:pt x="3935222" y="16891"/>
                  </a:cubicBezTo>
                  <a:lnTo>
                    <a:pt x="3935222" y="1041019"/>
                  </a:lnTo>
                  <a:cubicBezTo>
                    <a:pt x="3935222" y="1050417"/>
                    <a:pt x="3927602" y="1057910"/>
                    <a:pt x="3918331" y="1057910"/>
                  </a:cubicBezTo>
                  <a:lnTo>
                    <a:pt x="16891" y="1057910"/>
                  </a:lnTo>
                  <a:cubicBezTo>
                    <a:pt x="7620" y="1058037"/>
                    <a:pt x="0" y="1050417"/>
                    <a:pt x="0" y="1041019"/>
                  </a:cubicBezTo>
                  <a:lnTo>
                    <a:pt x="0" y="16891"/>
                  </a:lnTo>
                  <a:cubicBezTo>
                    <a:pt x="0" y="7620"/>
                    <a:pt x="7620" y="0"/>
                    <a:pt x="16891" y="0"/>
                  </a:cubicBezTo>
                  <a:moveTo>
                    <a:pt x="16891" y="33909"/>
                  </a:moveTo>
                  <a:lnTo>
                    <a:pt x="16891" y="16891"/>
                  </a:lnTo>
                  <a:lnTo>
                    <a:pt x="33909" y="16891"/>
                  </a:lnTo>
                  <a:lnTo>
                    <a:pt x="33909" y="1041019"/>
                  </a:lnTo>
                  <a:lnTo>
                    <a:pt x="16891" y="1041019"/>
                  </a:lnTo>
                  <a:lnTo>
                    <a:pt x="16891" y="1024128"/>
                  </a:lnTo>
                  <a:lnTo>
                    <a:pt x="3918331" y="1024128"/>
                  </a:lnTo>
                  <a:lnTo>
                    <a:pt x="3918331" y="1041019"/>
                  </a:lnTo>
                  <a:lnTo>
                    <a:pt x="3901440" y="1041019"/>
                  </a:lnTo>
                  <a:lnTo>
                    <a:pt x="3901440" y="16891"/>
                  </a:lnTo>
                  <a:lnTo>
                    <a:pt x="3918331" y="16891"/>
                  </a:lnTo>
                  <a:lnTo>
                    <a:pt x="3918331" y="33909"/>
                  </a:lnTo>
                  <a:lnTo>
                    <a:pt x="16891" y="33909"/>
                  </a:lnTo>
                  <a:close/>
                </a:path>
              </a:pathLst>
            </a:custGeom>
            <a:solidFill>
              <a:srgbClr val="D97706"/>
            </a:solidFill>
          </p:spPr>
        </p:sp>
      </p:grpSp>
      <p:grpSp>
        <p:nvGrpSpPr>
          <p:cNvPr name="Group 8" id="8"/>
          <p:cNvGrpSpPr/>
          <p:nvPr/>
        </p:nvGrpSpPr>
        <p:grpSpPr>
          <a:xfrm rot="0">
            <a:off x="15179040" y="182880"/>
            <a:ext cx="2926080" cy="768096"/>
            <a:chOff x="0" y="0"/>
            <a:chExt cx="3901440" cy="1024128"/>
          </a:xfrm>
        </p:grpSpPr>
        <p:sp>
          <p:nvSpPr>
            <p:cNvPr name="Freeform 9" id="9"/>
            <p:cNvSpPr/>
            <p:nvPr/>
          </p:nvSpPr>
          <p:spPr>
            <a:xfrm flipH="false" flipV="false" rot="0">
              <a:off x="0" y="0"/>
              <a:ext cx="3901440" cy="1024128"/>
            </a:xfrm>
            <a:custGeom>
              <a:avLst/>
              <a:gdLst/>
              <a:ahLst/>
              <a:cxnLst/>
              <a:rect r="r" b="b" t="t" l="l"/>
              <a:pathLst>
                <a:path h="1024128" w="3901440">
                  <a:moveTo>
                    <a:pt x="0" y="0"/>
                  </a:moveTo>
                  <a:lnTo>
                    <a:pt x="3901440" y="0"/>
                  </a:lnTo>
                  <a:lnTo>
                    <a:pt x="3901440" y="1024128"/>
                  </a:lnTo>
                  <a:lnTo>
                    <a:pt x="0" y="1024128"/>
                  </a:lnTo>
                  <a:close/>
                </a:path>
              </a:pathLst>
            </a:custGeom>
            <a:blipFill>
              <a:blip r:embed="rId2">
                <a:alphaModFix amt="0"/>
              </a:blip>
              <a:stretch>
                <a:fillRect l="0" t="-24228" r="0" b="-24228"/>
              </a:stretch>
            </a:blipFill>
          </p:spPr>
        </p:sp>
        <p:sp>
          <p:nvSpPr>
            <p:cNvPr name="TextBox 10" id="10"/>
            <p:cNvSpPr txBox="true"/>
            <p:nvPr/>
          </p:nvSpPr>
          <p:spPr>
            <a:xfrm>
              <a:off x="0" y="-38100"/>
              <a:ext cx="3901440" cy="1062228"/>
            </a:xfrm>
            <a:prstGeom prst="rect">
              <a:avLst/>
            </a:prstGeom>
          </p:spPr>
          <p:txBody>
            <a:bodyPr anchor="ctr" rtlCol="false" tIns="0" lIns="0" bIns="0" rIns="0"/>
            <a:lstStyle/>
            <a:p>
              <a:pPr algn="ctr">
                <a:lnSpc>
                  <a:spcPts val="2039"/>
                </a:lnSpc>
              </a:pPr>
              <a:r>
                <a:rPr lang="en-US" sz="1700" b="true">
                  <a:solidFill>
                    <a:srgbClr val="FFFFFF"/>
                  </a:solidFill>
                  <a:latin typeface="Calibri (MS) Bold"/>
                  <a:ea typeface="Calibri (MS) Bold"/>
                  <a:cs typeface="Calibri (MS) Bold"/>
                  <a:sym typeface="Calibri (MS) Bold"/>
                </a:rPr>
                <a:t>Schema.org  4/4</a:t>
              </a:r>
            </a:p>
          </p:txBody>
        </p:sp>
      </p:grpSp>
      <p:grpSp>
        <p:nvGrpSpPr>
          <p:cNvPr name="Group 11" id="11"/>
          <p:cNvGrpSpPr/>
          <p:nvPr/>
        </p:nvGrpSpPr>
        <p:grpSpPr>
          <a:xfrm rot="0">
            <a:off x="718823" y="389639"/>
            <a:ext cx="153419" cy="1305563"/>
            <a:chOff x="0" y="0"/>
            <a:chExt cx="204559" cy="1740751"/>
          </a:xfrm>
        </p:grpSpPr>
        <p:sp>
          <p:nvSpPr>
            <p:cNvPr name="Freeform 12" id="12"/>
            <p:cNvSpPr/>
            <p:nvPr/>
          </p:nvSpPr>
          <p:spPr>
            <a:xfrm flipH="false" flipV="false" rot="0">
              <a:off x="16891" y="16891"/>
              <a:ext cx="170688" cy="1706880"/>
            </a:xfrm>
            <a:custGeom>
              <a:avLst/>
              <a:gdLst/>
              <a:ahLst/>
              <a:cxnLst/>
              <a:rect r="r" b="b" t="t" l="l"/>
              <a:pathLst>
                <a:path h="1706880" w="170688">
                  <a:moveTo>
                    <a:pt x="0" y="0"/>
                  </a:moveTo>
                  <a:lnTo>
                    <a:pt x="170688" y="0"/>
                  </a:lnTo>
                  <a:lnTo>
                    <a:pt x="170688" y="1706880"/>
                  </a:lnTo>
                  <a:lnTo>
                    <a:pt x="0" y="1706880"/>
                  </a:lnTo>
                  <a:close/>
                </a:path>
              </a:pathLst>
            </a:custGeom>
            <a:solidFill>
              <a:srgbClr val="D97706"/>
            </a:solidFill>
          </p:spPr>
        </p:sp>
        <p:sp>
          <p:nvSpPr>
            <p:cNvPr name="Freeform 13" id="13"/>
            <p:cNvSpPr/>
            <p:nvPr/>
          </p:nvSpPr>
          <p:spPr>
            <a:xfrm flipH="false" flipV="false" rot="0">
              <a:off x="0" y="0"/>
              <a:ext cx="204470" cy="1740662"/>
            </a:xfrm>
            <a:custGeom>
              <a:avLst/>
              <a:gdLst/>
              <a:ahLst/>
              <a:cxnLst/>
              <a:rect r="r" b="b" t="t" l="l"/>
              <a:pathLst>
                <a:path h="1740662" w="204470">
                  <a:moveTo>
                    <a:pt x="16891" y="0"/>
                  </a:moveTo>
                  <a:lnTo>
                    <a:pt x="187579" y="0"/>
                  </a:lnTo>
                  <a:cubicBezTo>
                    <a:pt x="196977" y="0"/>
                    <a:pt x="204470" y="7620"/>
                    <a:pt x="204470" y="16891"/>
                  </a:cubicBezTo>
                  <a:lnTo>
                    <a:pt x="204470" y="1723771"/>
                  </a:lnTo>
                  <a:cubicBezTo>
                    <a:pt x="204470" y="1733169"/>
                    <a:pt x="196850" y="1740662"/>
                    <a:pt x="187579" y="1740662"/>
                  </a:cubicBezTo>
                  <a:lnTo>
                    <a:pt x="16891" y="1740662"/>
                  </a:lnTo>
                  <a:cubicBezTo>
                    <a:pt x="7493" y="1740662"/>
                    <a:pt x="0" y="1733042"/>
                    <a:pt x="0" y="1723771"/>
                  </a:cubicBezTo>
                  <a:lnTo>
                    <a:pt x="0" y="16891"/>
                  </a:lnTo>
                  <a:cubicBezTo>
                    <a:pt x="0" y="7620"/>
                    <a:pt x="7620" y="0"/>
                    <a:pt x="16891" y="0"/>
                  </a:cubicBezTo>
                  <a:moveTo>
                    <a:pt x="16891" y="33909"/>
                  </a:moveTo>
                  <a:lnTo>
                    <a:pt x="16891" y="16891"/>
                  </a:lnTo>
                  <a:lnTo>
                    <a:pt x="33909" y="16891"/>
                  </a:lnTo>
                  <a:lnTo>
                    <a:pt x="33909" y="1723771"/>
                  </a:lnTo>
                  <a:lnTo>
                    <a:pt x="16891" y="1723771"/>
                  </a:lnTo>
                  <a:lnTo>
                    <a:pt x="16891" y="1706880"/>
                  </a:lnTo>
                  <a:lnTo>
                    <a:pt x="187579" y="1706880"/>
                  </a:lnTo>
                  <a:lnTo>
                    <a:pt x="187579" y="1723771"/>
                  </a:lnTo>
                  <a:lnTo>
                    <a:pt x="170688" y="1723771"/>
                  </a:lnTo>
                  <a:lnTo>
                    <a:pt x="170688" y="16891"/>
                  </a:lnTo>
                  <a:lnTo>
                    <a:pt x="187579" y="16891"/>
                  </a:lnTo>
                  <a:lnTo>
                    <a:pt x="187579" y="33909"/>
                  </a:lnTo>
                  <a:lnTo>
                    <a:pt x="16891" y="33909"/>
                  </a:lnTo>
                  <a:close/>
                </a:path>
              </a:pathLst>
            </a:custGeom>
            <a:solidFill>
              <a:srgbClr val="D97706"/>
            </a:solidFill>
          </p:spPr>
        </p:sp>
      </p:grpSp>
      <p:grpSp>
        <p:nvGrpSpPr>
          <p:cNvPr name="Group 14" id="14"/>
          <p:cNvGrpSpPr/>
          <p:nvPr/>
        </p:nvGrpSpPr>
        <p:grpSpPr>
          <a:xfrm rot="0">
            <a:off x="1097280" y="329184"/>
            <a:ext cx="16459200" cy="1005840"/>
            <a:chOff x="0" y="0"/>
            <a:chExt cx="21945600" cy="1341120"/>
          </a:xfrm>
        </p:grpSpPr>
        <p:sp>
          <p:nvSpPr>
            <p:cNvPr name="Freeform 15" id="15"/>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16" id="16"/>
            <p:cNvSpPr txBox="true"/>
            <p:nvPr/>
          </p:nvSpPr>
          <p:spPr>
            <a:xfrm>
              <a:off x="0" y="-104775"/>
              <a:ext cx="21945600" cy="1445895"/>
            </a:xfrm>
            <a:prstGeom prst="rect">
              <a:avLst/>
            </a:prstGeom>
          </p:spPr>
          <p:txBody>
            <a:bodyPr anchor="ctr" rtlCol="false" tIns="0" lIns="0" bIns="0" rIns="0"/>
            <a:lstStyle/>
            <a:p>
              <a:pPr algn="l">
                <a:lnSpc>
                  <a:spcPts val="6240"/>
                </a:lnSpc>
              </a:pPr>
              <a:r>
                <a:rPr lang="en-US" sz="5200" b="true">
                  <a:solidFill>
                    <a:srgbClr val="1A3557"/>
                  </a:solidFill>
                  <a:latin typeface="Calibri (MS) Bold"/>
                  <a:ea typeface="Calibri (MS) Bold"/>
                  <a:cs typeface="Calibri (MS) Bold"/>
                  <a:sym typeface="Calibri (MS) Bold"/>
                </a:rPr>
                <a:t>Schema.org</a:t>
              </a:r>
            </a:p>
          </p:txBody>
        </p:sp>
      </p:grpSp>
      <p:grpSp>
        <p:nvGrpSpPr>
          <p:cNvPr name="Group 17" id="17"/>
          <p:cNvGrpSpPr/>
          <p:nvPr/>
        </p:nvGrpSpPr>
        <p:grpSpPr>
          <a:xfrm rot="0">
            <a:off x="1097280" y="1335024"/>
            <a:ext cx="16459200" cy="512064"/>
            <a:chOff x="0" y="0"/>
            <a:chExt cx="21945600" cy="682752"/>
          </a:xfrm>
        </p:grpSpPr>
        <p:sp>
          <p:nvSpPr>
            <p:cNvPr name="Freeform 18" id="18"/>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2">
                <a:alphaModFix amt="0"/>
              </a:blip>
              <a:stretch>
                <a:fillRect l="0" t="-576304" r="0" b="-576304"/>
              </a:stretch>
            </a:blipFill>
          </p:spPr>
        </p:sp>
        <p:sp>
          <p:nvSpPr>
            <p:cNvPr name="TextBox 19" id="19"/>
            <p:cNvSpPr txBox="true"/>
            <p:nvPr/>
          </p:nvSpPr>
          <p:spPr>
            <a:xfrm>
              <a:off x="0" y="-57150"/>
              <a:ext cx="21945600" cy="739902"/>
            </a:xfrm>
            <a:prstGeom prst="rect">
              <a:avLst/>
            </a:prstGeom>
          </p:spPr>
          <p:txBody>
            <a:bodyPr anchor="ctr" rtlCol="false" tIns="0" lIns="0" bIns="0" rIns="0"/>
            <a:lstStyle/>
            <a:p>
              <a:pPr algn="l">
                <a:lnSpc>
                  <a:spcPts val="3840"/>
                </a:lnSpc>
              </a:pPr>
              <a:r>
                <a:rPr lang="en-US" sz="3200" i="true">
                  <a:solidFill>
                    <a:srgbClr val="000000"/>
                  </a:solidFill>
                  <a:latin typeface="Calibri (MS) Italics"/>
                  <a:ea typeface="Calibri (MS) Italics"/>
                  <a:cs typeface="Calibri (MS) Italics"/>
                  <a:sym typeface="Calibri (MS) Italics"/>
                </a:rPr>
                <a:t>Pourquoi l’adopter ( le grand “pourquoi” )?</a:t>
              </a:r>
            </a:p>
          </p:txBody>
        </p:sp>
      </p:grpSp>
      <p:grpSp>
        <p:nvGrpSpPr>
          <p:cNvPr name="Group 20" id="20"/>
          <p:cNvGrpSpPr/>
          <p:nvPr/>
        </p:nvGrpSpPr>
        <p:grpSpPr>
          <a:xfrm rot="0">
            <a:off x="-6353" y="9741151"/>
            <a:ext cx="18300697" cy="552193"/>
            <a:chOff x="0" y="0"/>
            <a:chExt cx="24400929" cy="736257"/>
          </a:xfrm>
        </p:grpSpPr>
        <p:sp>
          <p:nvSpPr>
            <p:cNvPr name="Freeform 21" id="21"/>
            <p:cNvSpPr/>
            <p:nvPr/>
          </p:nvSpPr>
          <p:spPr>
            <a:xfrm flipH="false" flipV="false" rot="0">
              <a:off x="8509" y="8509"/>
              <a:ext cx="24384001" cy="719328"/>
            </a:xfrm>
            <a:custGeom>
              <a:avLst/>
              <a:gdLst/>
              <a:ahLst/>
              <a:cxnLst/>
              <a:rect r="r" b="b" t="t" l="l"/>
              <a:pathLst>
                <a:path h="719328" w="24384001">
                  <a:moveTo>
                    <a:pt x="0" y="0"/>
                  </a:moveTo>
                  <a:lnTo>
                    <a:pt x="24384001" y="0"/>
                  </a:lnTo>
                  <a:lnTo>
                    <a:pt x="24384001" y="719328"/>
                  </a:lnTo>
                  <a:lnTo>
                    <a:pt x="0" y="719328"/>
                  </a:lnTo>
                  <a:close/>
                </a:path>
              </a:pathLst>
            </a:custGeom>
            <a:solidFill>
              <a:srgbClr val="F1F5F9"/>
            </a:solidFill>
          </p:spPr>
        </p:sp>
        <p:sp>
          <p:nvSpPr>
            <p:cNvPr name="Freeform 22" id="22"/>
            <p:cNvSpPr/>
            <p:nvPr/>
          </p:nvSpPr>
          <p:spPr>
            <a:xfrm flipH="false" flipV="false" rot="0">
              <a:off x="0" y="0"/>
              <a:ext cx="24401018" cy="736346"/>
            </a:xfrm>
            <a:custGeom>
              <a:avLst/>
              <a:gdLst/>
              <a:ahLst/>
              <a:cxnLst/>
              <a:rect r="r" b="b" t="t" l="l"/>
              <a:pathLst>
                <a:path h="736346" w="24401018">
                  <a:moveTo>
                    <a:pt x="8509" y="0"/>
                  </a:moveTo>
                  <a:lnTo>
                    <a:pt x="24392510" y="0"/>
                  </a:lnTo>
                  <a:cubicBezTo>
                    <a:pt x="24397208" y="0"/>
                    <a:pt x="24401018" y="3810"/>
                    <a:pt x="24401018" y="8509"/>
                  </a:cubicBezTo>
                  <a:lnTo>
                    <a:pt x="24401018" y="727837"/>
                  </a:lnTo>
                  <a:cubicBezTo>
                    <a:pt x="24401018" y="732536"/>
                    <a:pt x="24397208" y="736346"/>
                    <a:pt x="24392510" y="736346"/>
                  </a:cubicBezTo>
                  <a:lnTo>
                    <a:pt x="8509" y="736346"/>
                  </a:lnTo>
                  <a:cubicBezTo>
                    <a:pt x="3810" y="736346"/>
                    <a:pt x="0" y="732536"/>
                    <a:pt x="0" y="727837"/>
                  </a:cubicBezTo>
                  <a:lnTo>
                    <a:pt x="0" y="8509"/>
                  </a:lnTo>
                  <a:cubicBezTo>
                    <a:pt x="0" y="3810"/>
                    <a:pt x="3810" y="0"/>
                    <a:pt x="8509" y="0"/>
                  </a:cubicBezTo>
                  <a:moveTo>
                    <a:pt x="8509" y="16891"/>
                  </a:moveTo>
                  <a:lnTo>
                    <a:pt x="8509" y="8509"/>
                  </a:lnTo>
                  <a:lnTo>
                    <a:pt x="17018" y="8509"/>
                  </a:lnTo>
                  <a:lnTo>
                    <a:pt x="17018" y="727837"/>
                  </a:lnTo>
                  <a:lnTo>
                    <a:pt x="8509" y="727837"/>
                  </a:lnTo>
                  <a:lnTo>
                    <a:pt x="8509" y="719328"/>
                  </a:lnTo>
                  <a:lnTo>
                    <a:pt x="24392510" y="719328"/>
                  </a:lnTo>
                  <a:lnTo>
                    <a:pt x="24392510" y="727837"/>
                  </a:lnTo>
                  <a:lnTo>
                    <a:pt x="24384000" y="727837"/>
                  </a:lnTo>
                  <a:lnTo>
                    <a:pt x="24384000" y="8509"/>
                  </a:lnTo>
                  <a:lnTo>
                    <a:pt x="24392510" y="8509"/>
                  </a:lnTo>
                  <a:lnTo>
                    <a:pt x="24392510" y="17018"/>
                  </a:lnTo>
                  <a:lnTo>
                    <a:pt x="8509" y="17018"/>
                  </a:lnTo>
                  <a:close/>
                </a:path>
              </a:pathLst>
            </a:custGeom>
            <a:solidFill>
              <a:srgbClr val="E2E8F0"/>
            </a:solidFill>
          </p:spPr>
        </p:sp>
      </p:grpSp>
      <p:grpSp>
        <p:nvGrpSpPr>
          <p:cNvPr name="Group 23" id="23"/>
          <p:cNvGrpSpPr/>
          <p:nvPr/>
        </p:nvGrpSpPr>
        <p:grpSpPr>
          <a:xfrm rot="0">
            <a:off x="15910560" y="9747504"/>
            <a:ext cx="2011680" cy="539496"/>
            <a:chOff x="0" y="0"/>
            <a:chExt cx="2682240" cy="719328"/>
          </a:xfrm>
        </p:grpSpPr>
        <p:sp>
          <p:nvSpPr>
            <p:cNvPr name="Freeform 24" id="24"/>
            <p:cNvSpPr/>
            <p:nvPr/>
          </p:nvSpPr>
          <p:spPr>
            <a:xfrm flipH="false" flipV="false" rot="0">
              <a:off x="0" y="0"/>
              <a:ext cx="2682240" cy="719328"/>
            </a:xfrm>
            <a:custGeom>
              <a:avLst/>
              <a:gdLst/>
              <a:ahLst/>
              <a:cxnLst/>
              <a:rect r="r" b="b" t="t" l="l"/>
              <a:pathLst>
                <a:path h="719328" w="2682240">
                  <a:moveTo>
                    <a:pt x="0" y="0"/>
                  </a:moveTo>
                  <a:lnTo>
                    <a:pt x="2682240" y="0"/>
                  </a:lnTo>
                  <a:lnTo>
                    <a:pt x="2682240" y="719328"/>
                  </a:lnTo>
                  <a:lnTo>
                    <a:pt x="0" y="719328"/>
                  </a:lnTo>
                  <a:close/>
                </a:path>
              </a:pathLst>
            </a:custGeom>
            <a:blipFill>
              <a:blip r:embed="rId2">
                <a:alphaModFix amt="0"/>
              </a:blip>
              <a:stretch>
                <a:fillRect l="0" t="-22656" r="0" b="-22656"/>
              </a:stretch>
            </a:blipFill>
          </p:spPr>
        </p:sp>
        <p:sp>
          <p:nvSpPr>
            <p:cNvPr name="TextBox 25" id="25"/>
            <p:cNvSpPr txBox="true"/>
            <p:nvPr/>
          </p:nvSpPr>
          <p:spPr>
            <a:xfrm>
              <a:off x="0" y="-38100"/>
              <a:ext cx="2682240" cy="757428"/>
            </a:xfrm>
            <a:prstGeom prst="rect">
              <a:avLst/>
            </a:prstGeom>
          </p:spPr>
          <p:txBody>
            <a:bodyPr anchor="ctr" rtlCol="false" tIns="0" lIns="0" bIns="0" rIns="0"/>
            <a:lstStyle/>
            <a:p>
              <a:pPr algn="r">
                <a:lnSpc>
                  <a:spcPts val="2160"/>
                </a:lnSpc>
              </a:pPr>
              <a:r>
                <a:rPr lang="en-US" sz="1800">
                  <a:solidFill>
                    <a:srgbClr val="64748B"/>
                  </a:solidFill>
                  <a:latin typeface="Calibri (MS)"/>
                  <a:ea typeface="Calibri (MS)"/>
                  <a:cs typeface="Calibri (MS)"/>
                  <a:sym typeface="Calibri (MS)"/>
                </a:rPr>
                <a:t>17 / 18</a:t>
              </a:r>
            </a:p>
          </p:txBody>
        </p:sp>
      </p:grpSp>
      <p:grpSp>
        <p:nvGrpSpPr>
          <p:cNvPr name="Group 26" id="26"/>
          <p:cNvGrpSpPr/>
          <p:nvPr/>
        </p:nvGrpSpPr>
        <p:grpSpPr>
          <a:xfrm rot="0">
            <a:off x="548640" y="9747504"/>
            <a:ext cx="10972800" cy="539496"/>
            <a:chOff x="0" y="0"/>
            <a:chExt cx="14630400" cy="719328"/>
          </a:xfrm>
        </p:grpSpPr>
        <p:sp>
          <p:nvSpPr>
            <p:cNvPr name="Freeform 27" id="27"/>
            <p:cNvSpPr/>
            <p:nvPr/>
          </p:nvSpPr>
          <p:spPr>
            <a:xfrm flipH="false" flipV="false" rot="0">
              <a:off x="0" y="0"/>
              <a:ext cx="14630400" cy="719328"/>
            </a:xfrm>
            <a:custGeom>
              <a:avLst/>
              <a:gdLst/>
              <a:ahLst/>
              <a:cxnLst/>
              <a:rect r="r" b="b" t="t" l="l"/>
              <a:pathLst>
                <a:path h="719328" w="14630400">
                  <a:moveTo>
                    <a:pt x="0" y="0"/>
                  </a:moveTo>
                  <a:lnTo>
                    <a:pt x="14630400" y="0"/>
                  </a:lnTo>
                  <a:lnTo>
                    <a:pt x="14630400" y="719328"/>
                  </a:lnTo>
                  <a:lnTo>
                    <a:pt x="0" y="719328"/>
                  </a:lnTo>
                  <a:close/>
                </a:path>
              </a:pathLst>
            </a:custGeom>
            <a:blipFill>
              <a:blip r:embed="rId2">
                <a:alphaModFix amt="0"/>
              </a:blip>
              <a:stretch>
                <a:fillRect l="0" t="-346305" r="0" b="-346305"/>
              </a:stretch>
            </a:blipFill>
          </p:spPr>
        </p:sp>
        <p:sp>
          <p:nvSpPr>
            <p:cNvPr name="TextBox 28" id="28"/>
            <p:cNvSpPr txBox="true"/>
            <p:nvPr/>
          </p:nvSpPr>
          <p:spPr>
            <a:xfrm>
              <a:off x="0" y="-38100"/>
              <a:ext cx="14630400" cy="757428"/>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Schema.org</a:t>
              </a:r>
            </a:p>
          </p:txBody>
        </p:sp>
      </p:grpSp>
      <p:sp>
        <p:nvSpPr>
          <p:cNvPr name="TextBox 29" id="29"/>
          <p:cNvSpPr txBox="true"/>
          <p:nvPr/>
        </p:nvSpPr>
        <p:spPr>
          <a:xfrm rot="0">
            <a:off x="91440" y="414157"/>
            <a:ext cx="823893" cy="1108891"/>
          </a:xfrm>
          <a:prstGeom prst="rect">
            <a:avLst/>
          </a:prstGeom>
        </p:spPr>
        <p:txBody>
          <a:bodyPr anchor="t" rtlCol="false" tIns="0" lIns="0" bIns="0" rIns="0">
            <a:spAutoFit/>
          </a:bodyPr>
          <a:lstStyle/>
          <a:p>
            <a:pPr algn="ctr">
              <a:lnSpc>
                <a:spcPts val="7920"/>
              </a:lnSpc>
            </a:pPr>
            <a:r>
              <a:rPr lang="en-US" sz="6600" spc="15">
                <a:solidFill>
                  <a:srgbClr val="000000"/>
                </a:solidFill>
                <a:latin typeface="Rosario"/>
                <a:ea typeface="Rosario"/>
                <a:cs typeface="Rosario"/>
                <a:sym typeface="Rosario"/>
              </a:rPr>
              <a:t>6</a:t>
            </a:r>
          </a:p>
        </p:txBody>
      </p:sp>
      <p:sp>
        <p:nvSpPr>
          <p:cNvPr name="Freeform 30" id="30"/>
          <p:cNvSpPr/>
          <p:nvPr/>
        </p:nvSpPr>
        <p:spPr>
          <a:xfrm flipH="false" flipV="false" rot="0">
            <a:off x="1258567" y="2735675"/>
            <a:ext cx="510245" cy="511235"/>
          </a:xfrm>
          <a:custGeom>
            <a:avLst/>
            <a:gdLst/>
            <a:ahLst/>
            <a:cxnLst/>
            <a:rect r="r" b="b" t="t" l="l"/>
            <a:pathLst>
              <a:path h="511235" w="510245">
                <a:moveTo>
                  <a:pt x="0" y="0"/>
                </a:moveTo>
                <a:lnTo>
                  <a:pt x="510245" y="0"/>
                </a:lnTo>
                <a:lnTo>
                  <a:pt x="510245" y="511236"/>
                </a:lnTo>
                <a:lnTo>
                  <a:pt x="0" y="5112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1" id="31"/>
          <p:cNvGrpSpPr/>
          <p:nvPr/>
        </p:nvGrpSpPr>
        <p:grpSpPr>
          <a:xfrm rot="0">
            <a:off x="1361123" y="2554767"/>
            <a:ext cx="765810" cy="765810"/>
            <a:chOff x="0" y="0"/>
            <a:chExt cx="1021080" cy="1021080"/>
          </a:xfrm>
        </p:grpSpPr>
        <p:sp>
          <p:nvSpPr>
            <p:cNvPr name="Freeform 32" id="32"/>
            <p:cNvSpPr/>
            <p:nvPr/>
          </p:nvSpPr>
          <p:spPr>
            <a:xfrm flipH="false" flipV="false" rot="0">
              <a:off x="0" y="0"/>
              <a:ext cx="1021080" cy="1021080"/>
            </a:xfrm>
            <a:custGeom>
              <a:avLst/>
              <a:gdLst/>
              <a:ahLst/>
              <a:cxnLst/>
              <a:rect r="r" b="b" t="t" l="l"/>
              <a:pathLst>
                <a:path h="1021080" w="1021080">
                  <a:moveTo>
                    <a:pt x="0" y="0"/>
                  </a:moveTo>
                  <a:lnTo>
                    <a:pt x="1021080" y="0"/>
                  </a:lnTo>
                  <a:lnTo>
                    <a:pt x="1021080" y="1021080"/>
                  </a:lnTo>
                  <a:lnTo>
                    <a:pt x="0" y="1021080"/>
                  </a:lnTo>
                  <a:lnTo>
                    <a:pt x="0" y="0"/>
                  </a:lnTo>
                  <a:close/>
                </a:path>
              </a:pathLst>
            </a:custGeom>
            <a:blipFill>
              <a:blip r:embed="rId5"/>
              <a:stretch>
                <a:fillRect l="0" t="0" r="0" b="0"/>
              </a:stretch>
            </a:blipFill>
          </p:spPr>
        </p:sp>
      </p:grpSp>
      <p:sp>
        <p:nvSpPr>
          <p:cNvPr name="TextBox 33" id="33"/>
          <p:cNvSpPr txBox="true"/>
          <p:nvPr/>
        </p:nvSpPr>
        <p:spPr>
          <a:xfrm rot="0">
            <a:off x="2310765" y="2552862"/>
            <a:ext cx="15061882" cy="1864395"/>
          </a:xfrm>
          <a:prstGeom prst="rect">
            <a:avLst/>
          </a:prstGeom>
        </p:spPr>
        <p:txBody>
          <a:bodyPr anchor="t" rtlCol="false" tIns="0" lIns="0" bIns="0" rIns="0">
            <a:spAutoFit/>
          </a:bodyPr>
          <a:lstStyle/>
          <a:p>
            <a:pPr algn="l">
              <a:lnSpc>
                <a:spcPts val="3359"/>
              </a:lnSpc>
            </a:pPr>
            <a:r>
              <a:rPr lang="en-US" sz="2799" b="true">
                <a:solidFill>
                  <a:srgbClr val="000000"/>
                </a:solidFill>
                <a:latin typeface="Calibri (MS) Bold"/>
                <a:ea typeface="Calibri (MS) Bold"/>
                <a:cs typeface="Calibri (MS) Bold"/>
                <a:sym typeface="Calibri (MS) Bold"/>
              </a:rPr>
              <a:t>La visibilité (Les Rich Snippets) :</a:t>
            </a:r>
            <a:r>
              <a:rPr lang="en-US" sz="2799">
                <a:solidFill>
                  <a:srgbClr val="000000"/>
                </a:solidFill>
                <a:latin typeface="Calibri (MS)"/>
                <a:ea typeface="Calibri (MS)"/>
                <a:cs typeface="Calibri (MS)"/>
                <a:sym typeface="Calibri (MS)"/>
              </a:rPr>
              <a:t> C'est le but ultime en SEO (référencement). Quand Google comprend parfaitement la donnée grâce à Schema.org, il récompense le site en affichant des "Résultats Enrichis" dans ses pages de recherche. Au lieu d'avoir un texte gris ennuyeux, ton lien affiche directement les étoiles d'avis clients, le prix, la photo de la recette de cuisine, ou les dates d'un événement.</a:t>
            </a:r>
          </a:p>
        </p:txBody>
      </p:sp>
      <p:sp>
        <p:nvSpPr>
          <p:cNvPr name="Freeform 34" id="34"/>
          <p:cNvSpPr/>
          <p:nvPr/>
        </p:nvSpPr>
        <p:spPr>
          <a:xfrm flipH="false" flipV="false" rot="0">
            <a:off x="1354769" y="5479571"/>
            <a:ext cx="510245" cy="511235"/>
          </a:xfrm>
          <a:custGeom>
            <a:avLst/>
            <a:gdLst/>
            <a:ahLst/>
            <a:cxnLst/>
            <a:rect r="r" b="b" t="t" l="l"/>
            <a:pathLst>
              <a:path h="511235" w="510245">
                <a:moveTo>
                  <a:pt x="0" y="0"/>
                </a:moveTo>
                <a:lnTo>
                  <a:pt x="510245" y="0"/>
                </a:lnTo>
                <a:lnTo>
                  <a:pt x="510245" y="511235"/>
                </a:lnTo>
                <a:lnTo>
                  <a:pt x="0" y="5112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5" id="35"/>
          <p:cNvGrpSpPr/>
          <p:nvPr/>
        </p:nvGrpSpPr>
        <p:grpSpPr>
          <a:xfrm rot="0">
            <a:off x="1457325" y="5298662"/>
            <a:ext cx="765810" cy="765810"/>
            <a:chOff x="0" y="0"/>
            <a:chExt cx="1021080" cy="1021080"/>
          </a:xfrm>
        </p:grpSpPr>
        <p:sp>
          <p:nvSpPr>
            <p:cNvPr name="Freeform 36" id="36"/>
            <p:cNvSpPr/>
            <p:nvPr/>
          </p:nvSpPr>
          <p:spPr>
            <a:xfrm flipH="false" flipV="false" rot="0">
              <a:off x="0" y="0"/>
              <a:ext cx="1021080" cy="1021080"/>
            </a:xfrm>
            <a:custGeom>
              <a:avLst/>
              <a:gdLst/>
              <a:ahLst/>
              <a:cxnLst/>
              <a:rect r="r" b="b" t="t" l="l"/>
              <a:pathLst>
                <a:path h="1021080" w="1021080">
                  <a:moveTo>
                    <a:pt x="0" y="0"/>
                  </a:moveTo>
                  <a:lnTo>
                    <a:pt x="1021080" y="0"/>
                  </a:lnTo>
                  <a:lnTo>
                    <a:pt x="1021080" y="1021080"/>
                  </a:lnTo>
                  <a:lnTo>
                    <a:pt x="0" y="1021080"/>
                  </a:lnTo>
                  <a:lnTo>
                    <a:pt x="0" y="0"/>
                  </a:lnTo>
                  <a:close/>
                </a:path>
              </a:pathLst>
            </a:custGeom>
            <a:blipFill>
              <a:blip r:embed="rId5"/>
              <a:stretch>
                <a:fillRect l="0" t="0" r="0" b="0"/>
              </a:stretch>
            </a:blipFill>
          </p:spPr>
        </p:sp>
      </p:grpSp>
      <p:sp>
        <p:nvSpPr>
          <p:cNvPr name="TextBox 37" id="37"/>
          <p:cNvSpPr txBox="true"/>
          <p:nvPr/>
        </p:nvSpPr>
        <p:spPr>
          <a:xfrm rot="0">
            <a:off x="2310765" y="5139233"/>
            <a:ext cx="15610523" cy="1002621"/>
          </a:xfrm>
          <a:prstGeom prst="rect">
            <a:avLst/>
          </a:prstGeom>
        </p:spPr>
        <p:txBody>
          <a:bodyPr anchor="t" rtlCol="false" tIns="0" lIns="0" bIns="0" rIns="0">
            <a:spAutoFit/>
          </a:bodyPr>
          <a:lstStyle/>
          <a:p>
            <a:pPr algn="l">
              <a:lnSpc>
                <a:spcPts val="3359"/>
              </a:lnSpc>
            </a:pPr>
            <a:r>
              <a:rPr lang="en-US" sz="2799" b="true">
                <a:solidFill>
                  <a:srgbClr val="000000"/>
                </a:solidFill>
                <a:latin typeface="Calibri (MS) Bold"/>
                <a:ea typeface="Calibri (MS) Bold"/>
                <a:cs typeface="Calibri (MS) Bold"/>
                <a:sym typeface="Calibri (MS) Bold"/>
              </a:rPr>
              <a:t>Le Taux de Clic (CTR) :</a:t>
            </a:r>
            <a:r>
              <a:rPr lang="en-US" sz="2799">
                <a:solidFill>
                  <a:srgbClr val="000000"/>
                </a:solidFill>
                <a:latin typeface="Calibri (MS)"/>
                <a:ea typeface="Calibri (MS)"/>
                <a:cs typeface="Calibri (MS)"/>
                <a:sym typeface="Calibri (MS)"/>
              </a:rPr>
              <a:t> Un résultat enrichi attire l'œil de l'utilisateur. Le trafic vers le site augmente considérablement.</a:t>
            </a:r>
          </a:p>
        </p:txBody>
      </p:sp>
      <p:sp>
        <p:nvSpPr>
          <p:cNvPr name="Freeform 38" id="38"/>
          <p:cNvSpPr/>
          <p:nvPr/>
        </p:nvSpPr>
        <p:spPr>
          <a:xfrm flipH="false" flipV="false" rot="0">
            <a:off x="1354769" y="7193470"/>
            <a:ext cx="510245" cy="595789"/>
          </a:xfrm>
          <a:custGeom>
            <a:avLst/>
            <a:gdLst/>
            <a:ahLst/>
            <a:cxnLst/>
            <a:rect r="r" b="b" t="t" l="l"/>
            <a:pathLst>
              <a:path h="595789" w="510245">
                <a:moveTo>
                  <a:pt x="0" y="0"/>
                </a:moveTo>
                <a:lnTo>
                  <a:pt x="510245" y="0"/>
                </a:lnTo>
                <a:lnTo>
                  <a:pt x="510245" y="595789"/>
                </a:lnTo>
                <a:lnTo>
                  <a:pt x="0" y="5957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9" id="39"/>
          <p:cNvGrpSpPr/>
          <p:nvPr/>
        </p:nvGrpSpPr>
        <p:grpSpPr>
          <a:xfrm rot="0">
            <a:off x="1457325" y="7012562"/>
            <a:ext cx="765810" cy="895693"/>
            <a:chOff x="0" y="0"/>
            <a:chExt cx="1021080" cy="1194257"/>
          </a:xfrm>
        </p:grpSpPr>
        <p:sp>
          <p:nvSpPr>
            <p:cNvPr name="Freeform 40" id="40"/>
            <p:cNvSpPr/>
            <p:nvPr/>
          </p:nvSpPr>
          <p:spPr>
            <a:xfrm flipH="false" flipV="false" rot="0">
              <a:off x="0" y="0"/>
              <a:ext cx="1021080" cy="1194308"/>
            </a:xfrm>
            <a:custGeom>
              <a:avLst/>
              <a:gdLst/>
              <a:ahLst/>
              <a:cxnLst/>
              <a:rect r="r" b="b" t="t" l="l"/>
              <a:pathLst>
                <a:path h="1194308" w="1021080">
                  <a:moveTo>
                    <a:pt x="0" y="0"/>
                  </a:moveTo>
                  <a:lnTo>
                    <a:pt x="1021080" y="0"/>
                  </a:lnTo>
                  <a:lnTo>
                    <a:pt x="1021080" y="1194308"/>
                  </a:lnTo>
                  <a:lnTo>
                    <a:pt x="0" y="1194308"/>
                  </a:lnTo>
                  <a:lnTo>
                    <a:pt x="0" y="0"/>
                  </a:lnTo>
                  <a:close/>
                </a:path>
              </a:pathLst>
            </a:custGeom>
            <a:blipFill>
              <a:blip r:embed="rId5"/>
              <a:stretch>
                <a:fillRect l="-8480" t="0" r="-8480" b="4"/>
              </a:stretch>
            </a:blipFill>
          </p:spPr>
        </p:sp>
      </p:grpSp>
      <p:sp>
        <p:nvSpPr>
          <p:cNvPr name="TextBox 41" id="41"/>
          <p:cNvSpPr txBox="true"/>
          <p:nvPr/>
        </p:nvSpPr>
        <p:spPr>
          <a:xfrm rot="0">
            <a:off x="2314575" y="7129701"/>
            <a:ext cx="15423832" cy="1864395"/>
          </a:xfrm>
          <a:prstGeom prst="rect">
            <a:avLst/>
          </a:prstGeom>
        </p:spPr>
        <p:txBody>
          <a:bodyPr anchor="t" rtlCol="false" tIns="0" lIns="0" bIns="0" rIns="0">
            <a:spAutoFit/>
          </a:bodyPr>
          <a:lstStyle/>
          <a:p>
            <a:pPr algn="l">
              <a:lnSpc>
                <a:spcPts val="3359"/>
              </a:lnSpc>
            </a:pPr>
            <a:r>
              <a:rPr lang="en-US" sz="2799" b="true">
                <a:solidFill>
                  <a:srgbClr val="000000"/>
                </a:solidFill>
                <a:latin typeface="Calibri (MS) Bold"/>
                <a:ea typeface="Calibri (MS) Bold"/>
                <a:cs typeface="Calibri (MS) Bold"/>
                <a:sym typeface="Calibri (MS) Bold"/>
              </a:rPr>
              <a:t>L'ère de l'IA : </a:t>
            </a:r>
            <a:r>
              <a:rPr lang="en-US" sz="2799">
                <a:solidFill>
                  <a:srgbClr val="000000"/>
                </a:solidFill>
                <a:latin typeface="Calibri (MS)"/>
                <a:ea typeface="Calibri (MS)"/>
                <a:cs typeface="Calibri (MS)"/>
                <a:sym typeface="Calibri (MS)"/>
              </a:rPr>
              <a:t>Les assistants vocaux et les IA se nourrissent de ces données structurées. Si tu demandes à ton téléphone </a:t>
            </a:r>
            <a:r>
              <a:rPr lang="en-US" sz="2799" i="true">
                <a:solidFill>
                  <a:srgbClr val="000000"/>
                </a:solidFill>
                <a:latin typeface="Calibri (MS) Italics"/>
                <a:ea typeface="Calibri (MS) Italics"/>
                <a:cs typeface="Calibri (MS) Italics"/>
                <a:sym typeface="Calibri (MS) Italics"/>
              </a:rPr>
              <a:t>'Trouve-moi une offre d'emploi pour un Data Engineer'</a:t>
            </a:r>
            <a:r>
              <a:rPr lang="en-US" sz="2799">
                <a:solidFill>
                  <a:srgbClr val="000000"/>
                </a:solidFill>
                <a:latin typeface="Calibri (MS)"/>
                <a:ea typeface="Calibri (MS)"/>
                <a:cs typeface="Calibri (MS)"/>
                <a:sym typeface="Calibri (MS)"/>
              </a:rPr>
              <a:t> ou </a:t>
            </a:r>
            <a:r>
              <a:rPr lang="en-US" sz="2799" i="true">
                <a:solidFill>
                  <a:srgbClr val="000000"/>
                </a:solidFill>
                <a:latin typeface="Calibri (MS) Italics"/>
                <a:ea typeface="Calibri (MS) Italics"/>
                <a:cs typeface="Calibri (MS) Italics"/>
                <a:sym typeface="Calibri (MS) Italics"/>
              </a:rPr>
              <a:t>'Quel est le salaire moyen d'un développeur React ?'</a:t>
            </a:r>
            <a:r>
              <a:rPr lang="en-US" sz="2799">
                <a:solidFill>
                  <a:srgbClr val="000000"/>
                </a:solidFill>
                <a:latin typeface="Calibri (MS)"/>
                <a:ea typeface="Calibri (MS)"/>
                <a:cs typeface="Calibri (MS)"/>
                <a:sym typeface="Calibri (MS)"/>
              </a:rPr>
              <a:t>, l'assistant ne lit pas le texte des pages web. Il va scanner le JSON-LD des sites comme LinkedIn, repérer l'entité  </a:t>
            </a:r>
            <a:r>
              <a:rPr lang="en-US" sz="2799">
                <a:solidFill>
                  <a:srgbClr val="FF0000"/>
                </a:solidFill>
                <a:latin typeface="Calibri (MS)"/>
                <a:ea typeface="Calibri (MS)"/>
                <a:cs typeface="Calibri (MS)"/>
                <a:sym typeface="Calibri (MS)"/>
              </a:rPr>
              <a:t>job posting </a:t>
            </a:r>
            <a:r>
              <a:rPr lang="en-US" sz="2799">
                <a:solidFill>
                  <a:srgbClr val="000000"/>
                </a:solidFill>
                <a:latin typeface="Calibri (MS)"/>
                <a:ea typeface="Calibri (MS)"/>
                <a:cs typeface="Calibri (MS)"/>
                <a:sym typeface="Calibri (MS)"/>
              </a:rPr>
              <a:t>, et en extraire instantanément le poste, le lieu ou le salaire.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697" y="-12697"/>
            <a:ext cx="18313403" cy="3865883"/>
            <a:chOff x="0" y="0"/>
            <a:chExt cx="24417871" cy="5154511"/>
          </a:xfrm>
        </p:grpSpPr>
        <p:sp>
          <p:nvSpPr>
            <p:cNvPr name="Freeform 3" id="3"/>
            <p:cNvSpPr/>
            <p:nvPr/>
          </p:nvSpPr>
          <p:spPr>
            <a:xfrm flipH="false" flipV="false" rot="0">
              <a:off x="16891" y="16891"/>
              <a:ext cx="24383999" cy="5120640"/>
            </a:xfrm>
            <a:custGeom>
              <a:avLst/>
              <a:gdLst/>
              <a:ahLst/>
              <a:cxnLst/>
              <a:rect r="r" b="b" t="t" l="l"/>
              <a:pathLst>
                <a:path h="5120640" w="24383999">
                  <a:moveTo>
                    <a:pt x="0" y="0"/>
                  </a:moveTo>
                  <a:lnTo>
                    <a:pt x="24383999" y="0"/>
                  </a:lnTo>
                  <a:lnTo>
                    <a:pt x="24383999" y="5120640"/>
                  </a:lnTo>
                  <a:lnTo>
                    <a:pt x="0" y="5120640"/>
                  </a:lnTo>
                  <a:close/>
                </a:path>
              </a:pathLst>
            </a:custGeom>
            <a:solidFill>
              <a:srgbClr val="1A3557"/>
            </a:solidFill>
          </p:spPr>
        </p:sp>
        <p:sp>
          <p:nvSpPr>
            <p:cNvPr name="Freeform 4" id="4"/>
            <p:cNvSpPr/>
            <p:nvPr/>
          </p:nvSpPr>
          <p:spPr>
            <a:xfrm flipH="false" flipV="false" rot="0">
              <a:off x="0" y="0"/>
              <a:ext cx="24417782" cy="5154422"/>
            </a:xfrm>
            <a:custGeom>
              <a:avLst/>
              <a:gdLst/>
              <a:ahLst/>
              <a:cxnLst/>
              <a:rect r="r" b="b" t="t" l="l"/>
              <a:pathLst>
                <a:path h="5154422" w="24417782">
                  <a:moveTo>
                    <a:pt x="16891" y="0"/>
                  </a:moveTo>
                  <a:lnTo>
                    <a:pt x="24400890" y="0"/>
                  </a:lnTo>
                  <a:cubicBezTo>
                    <a:pt x="24410290" y="0"/>
                    <a:pt x="24417782" y="7620"/>
                    <a:pt x="24417782" y="16891"/>
                  </a:cubicBezTo>
                  <a:lnTo>
                    <a:pt x="24417782" y="5137531"/>
                  </a:lnTo>
                  <a:cubicBezTo>
                    <a:pt x="24417782" y="5146929"/>
                    <a:pt x="24410163" y="5154422"/>
                    <a:pt x="24400890" y="5154422"/>
                  </a:cubicBezTo>
                  <a:lnTo>
                    <a:pt x="16891" y="5154422"/>
                  </a:lnTo>
                  <a:cubicBezTo>
                    <a:pt x="7493" y="5154422"/>
                    <a:pt x="0" y="5146802"/>
                    <a:pt x="0" y="5137531"/>
                  </a:cubicBezTo>
                  <a:lnTo>
                    <a:pt x="0" y="16891"/>
                  </a:lnTo>
                  <a:cubicBezTo>
                    <a:pt x="0" y="7620"/>
                    <a:pt x="7620" y="0"/>
                    <a:pt x="16891" y="0"/>
                  </a:cubicBezTo>
                  <a:moveTo>
                    <a:pt x="16891" y="33909"/>
                  </a:moveTo>
                  <a:lnTo>
                    <a:pt x="16891" y="16891"/>
                  </a:lnTo>
                  <a:lnTo>
                    <a:pt x="33909" y="16891"/>
                  </a:lnTo>
                  <a:lnTo>
                    <a:pt x="33909" y="5137531"/>
                  </a:lnTo>
                  <a:lnTo>
                    <a:pt x="16891" y="5137531"/>
                  </a:lnTo>
                  <a:lnTo>
                    <a:pt x="16891" y="5120640"/>
                  </a:lnTo>
                  <a:lnTo>
                    <a:pt x="24400890" y="5120640"/>
                  </a:lnTo>
                  <a:lnTo>
                    <a:pt x="24400890" y="5137531"/>
                  </a:lnTo>
                  <a:lnTo>
                    <a:pt x="24384000" y="5137531"/>
                  </a:lnTo>
                  <a:lnTo>
                    <a:pt x="24384000" y="16891"/>
                  </a:lnTo>
                  <a:lnTo>
                    <a:pt x="24400890" y="16891"/>
                  </a:lnTo>
                  <a:lnTo>
                    <a:pt x="24400890" y="33909"/>
                  </a:lnTo>
                  <a:lnTo>
                    <a:pt x="16891" y="33909"/>
                  </a:lnTo>
                  <a:close/>
                </a:path>
              </a:pathLst>
            </a:custGeom>
            <a:solidFill>
              <a:srgbClr val="1A3557"/>
            </a:solidFill>
          </p:spPr>
        </p:sp>
      </p:grpSp>
      <p:grpSp>
        <p:nvGrpSpPr>
          <p:cNvPr name="Group 5" id="5"/>
          <p:cNvGrpSpPr/>
          <p:nvPr/>
        </p:nvGrpSpPr>
        <p:grpSpPr>
          <a:xfrm rot="0">
            <a:off x="-12697" y="3827783"/>
            <a:ext cx="18313403" cy="153419"/>
            <a:chOff x="0" y="0"/>
            <a:chExt cx="24417871" cy="204559"/>
          </a:xfrm>
        </p:grpSpPr>
        <p:sp>
          <p:nvSpPr>
            <p:cNvPr name="Freeform 6" id="6"/>
            <p:cNvSpPr/>
            <p:nvPr/>
          </p:nvSpPr>
          <p:spPr>
            <a:xfrm flipH="false" flipV="false" rot="0">
              <a:off x="16891" y="16891"/>
              <a:ext cx="24383999" cy="170688"/>
            </a:xfrm>
            <a:custGeom>
              <a:avLst/>
              <a:gdLst/>
              <a:ahLst/>
              <a:cxnLst/>
              <a:rect r="r" b="b" t="t" l="l"/>
              <a:pathLst>
                <a:path h="170688" w="24383999">
                  <a:moveTo>
                    <a:pt x="0" y="0"/>
                  </a:moveTo>
                  <a:lnTo>
                    <a:pt x="24383999" y="0"/>
                  </a:lnTo>
                  <a:lnTo>
                    <a:pt x="24383999" y="170688"/>
                  </a:lnTo>
                  <a:lnTo>
                    <a:pt x="0" y="170688"/>
                  </a:lnTo>
                  <a:close/>
                </a:path>
              </a:pathLst>
            </a:custGeom>
            <a:solidFill>
              <a:srgbClr val="0891B2"/>
            </a:solidFill>
          </p:spPr>
        </p:sp>
        <p:sp>
          <p:nvSpPr>
            <p:cNvPr name="Freeform 7" id="7"/>
            <p:cNvSpPr/>
            <p:nvPr/>
          </p:nvSpPr>
          <p:spPr>
            <a:xfrm flipH="false" flipV="false" rot="0">
              <a:off x="0" y="0"/>
              <a:ext cx="24417782" cy="204472"/>
            </a:xfrm>
            <a:custGeom>
              <a:avLst/>
              <a:gdLst/>
              <a:ahLst/>
              <a:cxnLst/>
              <a:rect r="r" b="b" t="t" l="l"/>
              <a:pathLst>
                <a:path h="204472" w="24417782">
                  <a:moveTo>
                    <a:pt x="16891" y="0"/>
                  </a:moveTo>
                  <a:lnTo>
                    <a:pt x="24400890" y="0"/>
                  </a:lnTo>
                  <a:cubicBezTo>
                    <a:pt x="24410290" y="0"/>
                    <a:pt x="24417782" y="7620"/>
                    <a:pt x="24417782" y="16891"/>
                  </a:cubicBezTo>
                  <a:lnTo>
                    <a:pt x="24417782" y="187579"/>
                  </a:lnTo>
                  <a:cubicBezTo>
                    <a:pt x="24417782" y="196977"/>
                    <a:pt x="24410163" y="204470"/>
                    <a:pt x="24400890" y="204470"/>
                  </a:cubicBezTo>
                  <a:lnTo>
                    <a:pt x="16891" y="204470"/>
                  </a:lnTo>
                  <a:cubicBezTo>
                    <a:pt x="7620" y="204597"/>
                    <a:pt x="0" y="196977"/>
                    <a:pt x="0" y="187579"/>
                  </a:cubicBezTo>
                  <a:lnTo>
                    <a:pt x="0" y="16891"/>
                  </a:lnTo>
                  <a:cubicBezTo>
                    <a:pt x="0" y="7620"/>
                    <a:pt x="7620" y="0"/>
                    <a:pt x="16891" y="0"/>
                  </a:cubicBezTo>
                  <a:moveTo>
                    <a:pt x="16891" y="33909"/>
                  </a:moveTo>
                  <a:lnTo>
                    <a:pt x="16891" y="16891"/>
                  </a:lnTo>
                  <a:lnTo>
                    <a:pt x="33909" y="16891"/>
                  </a:lnTo>
                  <a:lnTo>
                    <a:pt x="33909" y="187579"/>
                  </a:lnTo>
                  <a:lnTo>
                    <a:pt x="16891" y="187579"/>
                  </a:lnTo>
                  <a:lnTo>
                    <a:pt x="16891" y="170688"/>
                  </a:lnTo>
                  <a:lnTo>
                    <a:pt x="24400890" y="170688"/>
                  </a:lnTo>
                  <a:lnTo>
                    <a:pt x="24400890" y="187579"/>
                  </a:lnTo>
                  <a:lnTo>
                    <a:pt x="24384000" y="187579"/>
                  </a:lnTo>
                  <a:lnTo>
                    <a:pt x="24384000" y="16891"/>
                  </a:lnTo>
                  <a:lnTo>
                    <a:pt x="24400890" y="16891"/>
                  </a:lnTo>
                  <a:lnTo>
                    <a:pt x="24400890" y="33909"/>
                  </a:lnTo>
                  <a:lnTo>
                    <a:pt x="16891" y="33909"/>
                  </a:lnTo>
                  <a:close/>
                </a:path>
              </a:pathLst>
            </a:custGeom>
            <a:solidFill>
              <a:srgbClr val="0891B2"/>
            </a:solidFill>
          </p:spPr>
        </p:sp>
      </p:grpSp>
      <p:grpSp>
        <p:nvGrpSpPr>
          <p:cNvPr name="Group 8" id="8"/>
          <p:cNvGrpSpPr/>
          <p:nvPr/>
        </p:nvGrpSpPr>
        <p:grpSpPr>
          <a:xfrm rot="0">
            <a:off x="914400" y="457200"/>
            <a:ext cx="16459200" cy="1316736"/>
            <a:chOff x="0" y="0"/>
            <a:chExt cx="21945600" cy="1755648"/>
          </a:xfrm>
        </p:grpSpPr>
        <p:sp>
          <p:nvSpPr>
            <p:cNvPr name="Freeform 9" id="9"/>
            <p:cNvSpPr/>
            <p:nvPr/>
          </p:nvSpPr>
          <p:spPr>
            <a:xfrm flipH="false" flipV="false" rot="0">
              <a:off x="0" y="0"/>
              <a:ext cx="21945600" cy="1755648"/>
            </a:xfrm>
            <a:custGeom>
              <a:avLst/>
              <a:gdLst/>
              <a:ahLst/>
              <a:cxnLst/>
              <a:rect r="r" b="b" t="t" l="l"/>
              <a:pathLst>
                <a:path h="1755648" w="21945600">
                  <a:moveTo>
                    <a:pt x="0" y="0"/>
                  </a:moveTo>
                  <a:lnTo>
                    <a:pt x="21945600" y="0"/>
                  </a:lnTo>
                  <a:lnTo>
                    <a:pt x="21945600" y="1755648"/>
                  </a:lnTo>
                  <a:lnTo>
                    <a:pt x="0" y="1755648"/>
                  </a:lnTo>
                  <a:close/>
                </a:path>
              </a:pathLst>
            </a:custGeom>
            <a:blipFill>
              <a:blip r:embed="rId2">
                <a:alphaModFix amt="0"/>
              </a:blip>
              <a:stretch>
                <a:fillRect l="0" t="-193562" r="0" b="-193562"/>
              </a:stretch>
            </a:blipFill>
          </p:spPr>
        </p:sp>
        <p:sp>
          <p:nvSpPr>
            <p:cNvPr name="TextBox 10" id="10"/>
            <p:cNvSpPr txBox="true"/>
            <p:nvPr/>
          </p:nvSpPr>
          <p:spPr>
            <a:xfrm>
              <a:off x="0" y="-123825"/>
              <a:ext cx="21945600" cy="1879473"/>
            </a:xfrm>
            <a:prstGeom prst="rect">
              <a:avLst/>
            </a:prstGeom>
          </p:spPr>
          <p:txBody>
            <a:bodyPr anchor="ctr" rtlCol="false" tIns="0" lIns="0" bIns="0" rIns="0"/>
            <a:lstStyle/>
            <a:p>
              <a:pPr algn="ctr">
                <a:lnSpc>
                  <a:spcPts val="7200"/>
                </a:lnSpc>
              </a:pPr>
              <a:r>
                <a:rPr lang="en-US" sz="6000" b="true">
                  <a:solidFill>
                    <a:srgbClr val="FFFFFF"/>
                  </a:solidFill>
                  <a:latin typeface="Calibri (MS) Bold"/>
                  <a:ea typeface="Calibri (MS) Bold"/>
                  <a:cs typeface="Calibri (MS) Bold"/>
                  <a:sym typeface="Calibri (MS) Bold"/>
                </a:rPr>
                <a:t>Conclusion &amp; Directions Futures</a:t>
              </a:r>
            </a:p>
          </p:txBody>
        </p:sp>
      </p:grpSp>
      <p:grpSp>
        <p:nvGrpSpPr>
          <p:cNvPr name="Group 11" id="11"/>
          <p:cNvGrpSpPr/>
          <p:nvPr/>
        </p:nvGrpSpPr>
        <p:grpSpPr>
          <a:xfrm rot="0">
            <a:off x="535943" y="5364223"/>
            <a:ext cx="4012187" cy="720347"/>
            <a:chOff x="0" y="0"/>
            <a:chExt cx="5349583" cy="960463"/>
          </a:xfrm>
        </p:grpSpPr>
        <p:sp>
          <p:nvSpPr>
            <p:cNvPr name="Freeform 12" id="12"/>
            <p:cNvSpPr/>
            <p:nvPr/>
          </p:nvSpPr>
          <p:spPr>
            <a:xfrm flipH="false" flipV="false" rot="0">
              <a:off x="16891" y="16891"/>
              <a:ext cx="5315712" cy="926592"/>
            </a:xfrm>
            <a:custGeom>
              <a:avLst/>
              <a:gdLst/>
              <a:ahLst/>
              <a:cxnLst/>
              <a:rect r="r" b="b" t="t" l="l"/>
              <a:pathLst>
                <a:path h="926592" w="5315712">
                  <a:moveTo>
                    <a:pt x="0" y="0"/>
                  </a:moveTo>
                  <a:lnTo>
                    <a:pt x="5315712" y="0"/>
                  </a:lnTo>
                  <a:lnTo>
                    <a:pt x="5315712" y="926592"/>
                  </a:lnTo>
                  <a:lnTo>
                    <a:pt x="0" y="926592"/>
                  </a:lnTo>
                  <a:close/>
                </a:path>
              </a:pathLst>
            </a:custGeom>
            <a:solidFill>
              <a:srgbClr val="0891B2"/>
            </a:solidFill>
          </p:spPr>
        </p:sp>
        <p:sp>
          <p:nvSpPr>
            <p:cNvPr name="Freeform 13" id="13"/>
            <p:cNvSpPr/>
            <p:nvPr/>
          </p:nvSpPr>
          <p:spPr>
            <a:xfrm flipH="false" flipV="false" rot="0">
              <a:off x="0" y="0"/>
              <a:ext cx="5349494" cy="960376"/>
            </a:xfrm>
            <a:custGeom>
              <a:avLst/>
              <a:gdLst/>
              <a:ahLst/>
              <a:cxnLst/>
              <a:rect r="r" b="b" t="t" l="l"/>
              <a:pathLst>
                <a:path h="960376" w="5349494">
                  <a:moveTo>
                    <a:pt x="16891" y="0"/>
                  </a:moveTo>
                  <a:lnTo>
                    <a:pt x="5332603" y="0"/>
                  </a:lnTo>
                  <a:cubicBezTo>
                    <a:pt x="5342001" y="0"/>
                    <a:pt x="5349494" y="7620"/>
                    <a:pt x="5349494" y="16891"/>
                  </a:cubicBezTo>
                  <a:lnTo>
                    <a:pt x="5349494" y="943483"/>
                  </a:lnTo>
                  <a:cubicBezTo>
                    <a:pt x="5349494" y="952881"/>
                    <a:pt x="5341874" y="960374"/>
                    <a:pt x="533260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5332603" y="926592"/>
                  </a:lnTo>
                  <a:lnTo>
                    <a:pt x="5332603" y="943483"/>
                  </a:lnTo>
                  <a:lnTo>
                    <a:pt x="5315712" y="943483"/>
                  </a:lnTo>
                  <a:lnTo>
                    <a:pt x="5315712" y="16891"/>
                  </a:lnTo>
                  <a:lnTo>
                    <a:pt x="5332603" y="16891"/>
                  </a:lnTo>
                  <a:lnTo>
                    <a:pt x="5332603" y="33909"/>
                  </a:lnTo>
                  <a:lnTo>
                    <a:pt x="16891" y="33909"/>
                  </a:lnTo>
                  <a:close/>
                </a:path>
              </a:pathLst>
            </a:custGeom>
            <a:solidFill>
              <a:srgbClr val="0891B2"/>
            </a:solidFill>
          </p:spPr>
        </p:sp>
      </p:grpSp>
      <p:grpSp>
        <p:nvGrpSpPr>
          <p:cNvPr name="Group 14" id="14"/>
          <p:cNvGrpSpPr/>
          <p:nvPr/>
        </p:nvGrpSpPr>
        <p:grpSpPr>
          <a:xfrm rot="0">
            <a:off x="548640" y="5376929"/>
            <a:ext cx="3986784" cy="694944"/>
            <a:chOff x="0" y="0"/>
            <a:chExt cx="5315712" cy="926592"/>
          </a:xfrm>
        </p:grpSpPr>
        <p:sp>
          <p:nvSpPr>
            <p:cNvPr name="Freeform 15" id="15"/>
            <p:cNvSpPr/>
            <p:nvPr/>
          </p:nvSpPr>
          <p:spPr>
            <a:xfrm flipH="false" flipV="false" rot="0">
              <a:off x="0" y="0"/>
              <a:ext cx="5315712" cy="926592"/>
            </a:xfrm>
            <a:custGeom>
              <a:avLst/>
              <a:gdLst/>
              <a:ahLst/>
              <a:cxnLst/>
              <a:rect r="r" b="b" t="t" l="l"/>
              <a:pathLst>
                <a:path h="926592" w="5315712">
                  <a:moveTo>
                    <a:pt x="0" y="0"/>
                  </a:moveTo>
                  <a:lnTo>
                    <a:pt x="5315712" y="0"/>
                  </a:lnTo>
                  <a:lnTo>
                    <a:pt x="5315712" y="926592"/>
                  </a:lnTo>
                  <a:lnTo>
                    <a:pt x="0" y="926592"/>
                  </a:lnTo>
                  <a:close/>
                </a:path>
              </a:pathLst>
            </a:custGeom>
            <a:blipFill>
              <a:blip r:embed="rId2">
                <a:alphaModFix amt="0"/>
              </a:blip>
              <a:stretch>
                <a:fillRect l="0" t="-61782" r="0" b="-61782"/>
              </a:stretch>
            </a:blipFill>
          </p:spPr>
        </p:sp>
        <p:sp>
          <p:nvSpPr>
            <p:cNvPr name="TextBox 16" id="16"/>
            <p:cNvSpPr txBox="true"/>
            <p:nvPr/>
          </p:nvSpPr>
          <p:spPr>
            <a:xfrm>
              <a:off x="0" y="-38100"/>
              <a:ext cx="5315712" cy="9646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DCAT</a:t>
              </a:r>
            </a:p>
          </p:txBody>
        </p:sp>
      </p:grpSp>
      <p:grpSp>
        <p:nvGrpSpPr>
          <p:cNvPr name="Group 17" id="17"/>
          <p:cNvGrpSpPr/>
          <p:nvPr/>
        </p:nvGrpSpPr>
        <p:grpSpPr>
          <a:xfrm rot="0">
            <a:off x="535943" y="6022591"/>
            <a:ext cx="4012187" cy="2494283"/>
            <a:chOff x="0" y="0"/>
            <a:chExt cx="5349583" cy="3325711"/>
          </a:xfrm>
        </p:grpSpPr>
        <p:sp>
          <p:nvSpPr>
            <p:cNvPr name="Freeform 18" id="18"/>
            <p:cNvSpPr/>
            <p:nvPr/>
          </p:nvSpPr>
          <p:spPr>
            <a:xfrm flipH="false" flipV="false" rot="0">
              <a:off x="16891" y="16891"/>
              <a:ext cx="5315712" cy="3291840"/>
            </a:xfrm>
            <a:custGeom>
              <a:avLst/>
              <a:gdLst/>
              <a:ahLst/>
              <a:cxnLst/>
              <a:rect r="r" b="b" t="t" l="l"/>
              <a:pathLst>
                <a:path h="3291840" w="5315712">
                  <a:moveTo>
                    <a:pt x="0" y="0"/>
                  </a:moveTo>
                  <a:lnTo>
                    <a:pt x="5315712" y="0"/>
                  </a:lnTo>
                  <a:lnTo>
                    <a:pt x="5315712" y="3291840"/>
                  </a:lnTo>
                  <a:lnTo>
                    <a:pt x="0" y="3291840"/>
                  </a:lnTo>
                  <a:close/>
                </a:path>
              </a:pathLst>
            </a:custGeom>
            <a:solidFill>
              <a:srgbClr val="F1F5F9"/>
            </a:solidFill>
          </p:spPr>
        </p:sp>
        <p:sp>
          <p:nvSpPr>
            <p:cNvPr name="Freeform 19" id="19"/>
            <p:cNvSpPr/>
            <p:nvPr/>
          </p:nvSpPr>
          <p:spPr>
            <a:xfrm flipH="false" flipV="false" rot="0">
              <a:off x="0" y="0"/>
              <a:ext cx="5349494" cy="3325622"/>
            </a:xfrm>
            <a:custGeom>
              <a:avLst/>
              <a:gdLst/>
              <a:ahLst/>
              <a:cxnLst/>
              <a:rect r="r" b="b" t="t" l="l"/>
              <a:pathLst>
                <a:path h="3325622" w="5349494">
                  <a:moveTo>
                    <a:pt x="16891" y="0"/>
                  </a:moveTo>
                  <a:lnTo>
                    <a:pt x="5332603" y="0"/>
                  </a:lnTo>
                  <a:cubicBezTo>
                    <a:pt x="5342001" y="0"/>
                    <a:pt x="5349494" y="7620"/>
                    <a:pt x="5349494" y="16891"/>
                  </a:cubicBezTo>
                  <a:lnTo>
                    <a:pt x="5349494" y="3308731"/>
                  </a:lnTo>
                  <a:cubicBezTo>
                    <a:pt x="5349494" y="3318129"/>
                    <a:pt x="5341874" y="3325622"/>
                    <a:pt x="5332603"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5332603" y="3291840"/>
                  </a:lnTo>
                  <a:lnTo>
                    <a:pt x="5332603" y="3308731"/>
                  </a:lnTo>
                  <a:lnTo>
                    <a:pt x="5315712" y="3308731"/>
                  </a:lnTo>
                  <a:lnTo>
                    <a:pt x="5315712" y="16891"/>
                  </a:lnTo>
                  <a:lnTo>
                    <a:pt x="5332603" y="16891"/>
                  </a:lnTo>
                  <a:lnTo>
                    <a:pt x="5332603" y="33909"/>
                  </a:lnTo>
                  <a:lnTo>
                    <a:pt x="16891" y="33909"/>
                  </a:lnTo>
                  <a:close/>
                </a:path>
              </a:pathLst>
            </a:custGeom>
            <a:solidFill>
              <a:srgbClr val="0891B2"/>
            </a:solidFill>
          </p:spPr>
        </p:sp>
      </p:grpSp>
      <p:grpSp>
        <p:nvGrpSpPr>
          <p:cNvPr name="Group 20" id="20"/>
          <p:cNvGrpSpPr/>
          <p:nvPr/>
        </p:nvGrpSpPr>
        <p:grpSpPr>
          <a:xfrm rot="0">
            <a:off x="1755648" y="6126737"/>
            <a:ext cx="1572768" cy="950976"/>
            <a:chOff x="0" y="0"/>
            <a:chExt cx="2097024" cy="1267968"/>
          </a:xfrm>
        </p:grpSpPr>
        <p:sp>
          <p:nvSpPr>
            <p:cNvPr name="Freeform 21" id="21"/>
            <p:cNvSpPr/>
            <p:nvPr/>
          </p:nvSpPr>
          <p:spPr>
            <a:xfrm flipH="false" flipV="false" rot="0">
              <a:off x="0" y="0"/>
              <a:ext cx="2097024" cy="1267968"/>
            </a:xfrm>
            <a:custGeom>
              <a:avLst/>
              <a:gdLst/>
              <a:ahLst/>
              <a:cxnLst/>
              <a:rect r="r" b="b" t="t" l="l"/>
              <a:pathLst>
                <a:path h="1267968" w="2097024">
                  <a:moveTo>
                    <a:pt x="0" y="0"/>
                  </a:moveTo>
                  <a:lnTo>
                    <a:pt x="2097024" y="0"/>
                  </a:lnTo>
                  <a:lnTo>
                    <a:pt x="2097024" y="1267968"/>
                  </a:lnTo>
                  <a:lnTo>
                    <a:pt x="0" y="1267968"/>
                  </a:lnTo>
                  <a:close/>
                </a:path>
              </a:pathLst>
            </a:custGeom>
            <a:blipFill>
              <a:blip r:embed="rId2">
                <a:alphaModFix amt="0"/>
              </a:blip>
              <a:stretch>
                <a:fillRect l="-27578" t="0" r="-27578" b="0"/>
              </a:stretch>
            </a:blipFill>
          </p:spPr>
        </p:sp>
        <p:sp>
          <p:nvSpPr>
            <p:cNvPr name="TextBox 22" id="22"/>
            <p:cNvSpPr txBox="true"/>
            <p:nvPr/>
          </p:nvSpPr>
          <p:spPr>
            <a:xfrm>
              <a:off x="0" y="-85725"/>
              <a:ext cx="2097024" cy="1353693"/>
            </a:xfrm>
            <a:prstGeom prst="rect">
              <a:avLst/>
            </a:prstGeom>
          </p:spPr>
          <p:txBody>
            <a:bodyPr anchor="ctr" rtlCol="false" tIns="0" lIns="0" bIns="0" rIns="0"/>
            <a:lstStyle/>
            <a:p>
              <a:pPr algn="ctr">
                <a:lnSpc>
                  <a:spcPts val="5759"/>
                </a:lnSpc>
              </a:pPr>
              <a:r>
                <a:rPr lang="en-US" sz="4800">
                  <a:solidFill>
                    <a:srgbClr val="000000"/>
                  </a:solidFill>
                  <a:latin typeface="Calibri (MS)"/>
                  <a:ea typeface="Calibri (MS)"/>
                  <a:cs typeface="Calibri (MS)"/>
                  <a:sym typeface="Calibri (MS)"/>
                </a:rPr>
                <a:t>🗂️</a:t>
              </a:r>
            </a:p>
          </p:txBody>
        </p:sp>
      </p:grpSp>
      <p:grpSp>
        <p:nvGrpSpPr>
          <p:cNvPr name="Group 23" id="23"/>
          <p:cNvGrpSpPr/>
          <p:nvPr/>
        </p:nvGrpSpPr>
        <p:grpSpPr>
          <a:xfrm rot="0">
            <a:off x="731520" y="7077713"/>
            <a:ext cx="3621024" cy="1316736"/>
            <a:chOff x="0" y="0"/>
            <a:chExt cx="4828032" cy="1755648"/>
          </a:xfrm>
        </p:grpSpPr>
        <p:sp>
          <p:nvSpPr>
            <p:cNvPr name="Freeform 24" id="24"/>
            <p:cNvSpPr/>
            <p:nvPr/>
          </p:nvSpPr>
          <p:spPr>
            <a:xfrm flipH="false" flipV="false" rot="0">
              <a:off x="0" y="0"/>
              <a:ext cx="4828032" cy="1755648"/>
            </a:xfrm>
            <a:custGeom>
              <a:avLst/>
              <a:gdLst/>
              <a:ahLst/>
              <a:cxnLst/>
              <a:rect r="r" b="b" t="t" l="l"/>
              <a:pathLst>
                <a:path h="1755648" w="4828032">
                  <a:moveTo>
                    <a:pt x="0" y="0"/>
                  </a:moveTo>
                  <a:lnTo>
                    <a:pt x="4828032" y="0"/>
                  </a:lnTo>
                  <a:lnTo>
                    <a:pt x="4828032" y="1755648"/>
                  </a:lnTo>
                  <a:lnTo>
                    <a:pt x="0" y="1755648"/>
                  </a:lnTo>
                  <a:close/>
                </a:path>
              </a:pathLst>
            </a:custGeom>
            <a:blipFill>
              <a:blip r:embed="rId2">
                <a:alphaModFix amt="0"/>
              </a:blip>
              <a:stretch>
                <a:fillRect l="0" t="-3583" r="0" b="-3583"/>
              </a:stretch>
            </a:blipFill>
          </p:spPr>
        </p:sp>
        <p:sp>
          <p:nvSpPr>
            <p:cNvPr name="TextBox 25" id="25"/>
            <p:cNvSpPr txBox="true"/>
            <p:nvPr/>
          </p:nvSpPr>
          <p:spPr>
            <a:xfrm>
              <a:off x="0" y="-38100"/>
              <a:ext cx="4828032" cy="1793748"/>
            </a:xfrm>
            <a:prstGeom prst="rect">
              <a:avLst/>
            </a:prstGeom>
          </p:spPr>
          <p:txBody>
            <a:bodyPr anchor="ctr" rtlCol="false" tIns="0" lIns="0" bIns="0" rIns="0"/>
            <a:lstStyle/>
            <a:p>
              <a:pPr algn="ctr">
                <a:lnSpc>
                  <a:spcPts val="2280"/>
                </a:lnSpc>
              </a:pPr>
              <a:r>
                <a:rPr lang="en-US" sz="1900">
                  <a:solidFill>
                    <a:srgbClr val="334155"/>
                  </a:solidFill>
                  <a:latin typeface="Calibri (MS)"/>
                  <a:ea typeface="Calibri (MS)"/>
                  <a:cs typeface="Calibri (MS)"/>
                  <a:sym typeface="Calibri (MS)"/>
                </a:rPr>
                <a:t>Découvrir des jeux de données</a:t>
              </a:r>
            </a:p>
          </p:txBody>
        </p:sp>
      </p:grpSp>
      <p:grpSp>
        <p:nvGrpSpPr>
          <p:cNvPr name="Group 26" id="26"/>
          <p:cNvGrpSpPr/>
          <p:nvPr/>
        </p:nvGrpSpPr>
        <p:grpSpPr>
          <a:xfrm rot="0">
            <a:off x="4888487" y="5364223"/>
            <a:ext cx="4012187" cy="720347"/>
            <a:chOff x="0" y="0"/>
            <a:chExt cx="5349583" cy="960463"/>
          </a:xfrm>
        </p:grpSpPr>
        <p:sp>
          <p:nvSpPr>
            <p:cNvPr name="Freeform 27" id="27"/>
            <p:cNvSpPr/>
            <p:nvPr/>
          </p:nvSpPr>
          <p:spPr>
            <a:xfrm flipH="false" flipV="false" rot="0">
              <a:off x="16891" y="16891"/>
              <a:ext cx="5315712" cy="926592"/>
            </a:xfrm>
            <a:custGeom>
              <a:avLst/>
              <a:gdLst/>
              <a:ahLst/>
              <a:cxnLst/>
              <a:rect r="r" b="b" t="t" l="l"/>
              <a:pathLst>
                <a:path h="926592" w="5315712">
                  <a:moveTo>
                    <a:pt x="0" y="0"/>
                  </a:moveTo>
                  <a:lnTo>
                    <a:pt x="5315712" y="0"/>
                  </a:lnTo>
                  <a:lnTo>
                    <a:pt x="5315712" y="926592"/>
                  </a:lnTo>
                  <a:lnTo>
                    <a:pt x="0" y="926592"/>
                  </a:lnTo>
                  <a:close/>
                </a:path>
              </a:pathLst>
            </a:custGeom>
            <a:solidFill>
              <a:srgbClr val="7C3AED"/>
            </a:solidFill>
          </p:spPr>
        </p:sp>
        <p:sp>
          <p:nvSpPr>
            <p:cNvPr name="Freeform 28" id="28"/>
            <p:cNvSpPr/>
            <p:nvPr/>
          </p:nvSpPr>
          <p:spPr>
            <a:xfrm flipH="false" flipV="false" rot="0">
              <a:off x="0" y="0"/>
              <a:ext cx="5349494" cy="960376"/>
            </a:xfrm>
            <a:custGeom>
              <a:avLst/>
              <a:gdLst/>
              <a:ahLst/>
              <a:cxnLst/>
              <a:rect r="r" b="b" t="t" l="l"/>
              <a:pathLst>
                <a:path h="960376" w="5349494">
                  <a:moveTo>
                    <a:pt x="16891" y="0"/>
                  </a:moveTo>
                  <a:lnTo>
                    <a:pt x="5332603" y="0"/>
                  </a:lnTo>
                  <a:cubicBezTo>
                    <a:pt x="5342001" y="0"/>
                    <a:pt x="5349494" y="7620"/>
                    <a:pt x="5349494" y="16891"/>
                  </a:cubicBezTo>
                  <a:lnTo>
                    <a:pt x="5349494" y="943483"/>
                  </a:lnTo>
                  <a:cubicBezTo>
                    <a:pt x="5349494" y="952881"/>
                    <a:pt x="5341874" y="960374"/>
                    <a:pt x="533260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5332603" y="926592"/>
                  </a:lnTo>
                  <a:lnTo>
                    <a:pt x="5332603" y="943483"/>
                  </a:lnTo>
                  <a:lnTo>
                    <a:pt x="5315712" y="943483"/>
                  </a:lnTo>
                  <a:lnTo>
                    <a:pt x="5315712" y="16891"/>
                  </a:lnTo>
                  <a:lnTo>
                    <a:pt x="5332603" y="16891"/>
                  </a:lnTo>
                  <a:lnTo>
                    <a:pt x="5332603" y="33909"/>
                  </a:lnTo>
                  <a:lnTo>
                    <a:pt x="16891" y="33909"/>
                  </a:lnTo>
                  <a:close/>
                </a:path>
              </a:pathLst>
            </a:custGeom>
            <a:solidFill>
              <a:srgbClr val="7C3AED"/>
            </a:solidFill>
          </p:spPr>
        </p:sp>
      </p:grpSp>
      <p:grpSp>
        <p:nvGrpSpPr>
          <p:cNvPr name="Group 29" id="29"/>
          <p:cNvGrpSpPr/>
          <p:nvPr/>
        </p:nvGrpSpPr>
        <p:grpSpPr>
          <a:xfrm rot="0">
            <a:off x="4901184" y="5376929"/>
            <a:ext cx="3986784" cy="694944"/>
            <a:chOff x="0" y="0"/>
            <a:chExt cx="5315712" cy="926592"/>
          </a:xfrm>
        </p:grpSpPr>
        <p:sp>
          <p:nvSpPr>
            <p:cNvPr name="Freeform 30" id="30"/>
            <p:cNvSpPr/>
            <p:nvPr/>
          </p:nvSpPr>
          <p:spPr>
            <a:xfrm flipH="false" flipV="false" rot="0">
              <a:off x="0" y="0"/>
              <a:ext cx="5315712" cy="926592"/>
            </a:xfrm>
            <a:custGeom>
              <a:avLst/>
              <a:gdLst/>
              <a:ahLst/>
              <a:cxnLst/>
              <a:rect r="r" b="b" t="t" l="l"/>
              <a:pathLst>
                <a:path h="926592" w="5315712">
                  <a:moveTo>
                    <a:pt x="0" y="0"/>
                  </a:moveTo>
                  <a:lnTo>
                    <a:pt x="5315712" y="0"/>
                  </a:lnTo>
                  <a:lnTo>
                    <a:pt x="5315712" y="926592"/>
                  </a:lnTo>
                  <a:lnTo>
                    <a:pt x="0" y="926592"/>
                  </a:lnTo>
                  <a:close/>
                </a:path>
              </a:pathLst>
            </a:custGeom>
            <a:blipFill>
              <a:blip r:embed="rId2">
                <a:alphaModFix amt="0"/>
              </a:blip>
              <a:stretch>
                <a:fillRect l="0" t="-61782" r="0" b="-61782"/>
              </a:stretch>
            </a:blipFill>
          </p:spPr>
        </p:sp>
        <p:sp>
          <p:nvSpPr>
            <p:cNvPr name="TextBox 31" id="31"/>
            <p:cNvSpPr txBox="true"/>
            <p:nvPr/>
          </p:nvSpPr>
          <p:spPr>
            <a:xfrm>
              <a:off x="0" y="-38100"/>
              <a:ext cx="5315712" cy="9646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VoID</a:t>
              </a:r>
            </a:p>
          </p:txBody>
        </p:sp>
      </p:grpSp>
      <p:grpSp>
        <p:nvGrpSpPr>
          <p:cNvPr name="Group 32" id="32"/>
          <p:cNvGrpSpPr/>
          <p:nvPr/>
        </p:nvGrpSpPr>
        <p:grpSpPr>
          <a:xfrm rot="0">
            <a:off x="4888487" y="6022591"/>
            <a:ext cx="4012187" cy="2494283"/>
            <a:chOff x="0" y="0"/>
            <a:chExt cx="5349583" cy="3325711"/>
          </a:xfrm>
        </p:grpSpPr>
        <p:sp>
          <p:nvSpPr>
            <p:cNvPr name="Freeform 33" id="33"/>
            <p:cNvSpPr/>
            <p:nvPr/>
          </p:nvSpPr>
          <p:spPr>
            <a:xfrm flipH="false" flipV="false" rot="0">
              <a:off x="16891" y="16891"/>
              <a:ext cx="5315712" cy="3291840"/>
            </a:xfrm>
            <a:custGeom>
              <a:avLst/>
              <a:gdLst/>
              <a:ahLst/>
              <a:cxnLst/>
              <a:rect r="r" b="b" t="t" l="l"/>
              <a:pathLst>
                <a:path h="3291840" w="5315712">
                  <a:moveTo>
                    <a:pt x="0" y="0"/>
                  </a:moveTo>
                  <a:lnTo>
                    <a:pt x="5315712" y="0"/>
                  </a:lnTo>
                  <a:lnTo>
                    <a:pt x="5315712" y="3291840"/>
                  </a:lnTo>
                  <a:lnTo>
                    <a:pt x="0" y="3291840"/>
                  </a:lnTo>
                  <a:close/>
                </a:path>
              </a:pathLst>
            </a:custGeom>
            <a:solidFill>
              <a:srgbClr val="F1F5F9"/>
            </a:solidFill>
          </p:spPr>
        </p:sp>
        <p:sp>
          <p:nvSpPr>
            <p:cNvPr name="Freeform 34" id="34"/>
            <p:cNvSpPr/>
            <p:nvPr/>
          </p:nvSpPr>
          <p:spPr>
            <a:xfrm flipH="false" flipV="false" rot="0">
              <a:off x="0" y="0"/>
              <a:ext cx="5349494" cy="3325622"/>
            </a:xfrm>
            <a:custGeom>
              <a:avLst/>
              <a:gdLst/>
              <a:ahLst/>
              <a:cxnLst/>
              <a:rect r="r" b="b" t="t" l="l"/>
              <a:pathLst>
                <a:path h="3325622" w="5349494">
                  <a:moveTo>
                    <a:pt x="16891" y="0"/>
                  </a:moveTo>
                  <a:lnTo>
                    <a:pt x="5332603" y="0"/>
                  </a:lnTo>
                  <a:cubicBezTo>
                    <a:pt x="5342001" y="0"/>
                    <a:pt x="5349494" y="7620"/>
                    <a:pt x="5349494" y="16891"/>
                  </a:cubicBezTo>
                  <a:lnTo>
                    <a:pt x="5349494" y="3308731"/>
                  </a:lnTo>
                  <a:cubicBezTo>
                    <a:pt x="5349494" y="3318129"/>
                    <a:pt x="5341874" y="3325622"/>
                    <a:pt x="5332603"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5332603" y="3291840"/>
                  </a:lnTo>
                  <a:lnTo>
                    <a:pt x="5332603" y="3308731"/>
                  </a:lnTo>
                  <a:lnTo>
                    <a:pt x="5315712" y="3308731"/>
                  </a:lnTo>
                  <a:lnTo>
                    <a:pt x="5315712" y="16891"/>
                  </a:lnTo>
                  <a:lnTo>
                    <a:pt x="5332603" y="16891"/>
                  </a:lnTo>
                  <a:lnTo>
                    <a:pt x="5332603" y="33909"/>
                  </a:lnTo>
                  <a:lnTo>
                    <a:pt x="16891" y="33909"/>
                  </a:lnTo>
                  <a:close/>
                </a:path>
              </a:pathLst>
            </a:custGeom>
            <a:solidFill>
              <a:srgbClr val="7C3AED"/>
            </a:solidFill>
          </p:spPr>
        </p:sp>
      </p:grpSp>
      <p:grpSp>
        <p:nvGrpSpPr>
          <p:cNvPr name="Group 35" id="35"/>
          <p:cNvGrpSpPr/>
          <p:nvPr/>
        </p:nvGrpSpPr>
        <p:grpSpPr>
          <a:xfrm rot="0">
            <a:off x="6108192" y="6126737"/>
            <a:ext cx="1572768" cy="950976"/>
            <a:chOff x="0" y="0"/>
            <a:chExt cx="2097024" cy="1267968"/>
          </a:xfrm>
        </p:grpSpPr>
        <p:sp>
          <p:nvSpPr>
            <p:cNvPr name="Freeform 36" id="36"/>
            <p:cNvSpPr/>
            <p:nvPr/>
          </p:nvSpPr>
          <p:spPr>
            <a:xfrm flipH="false" flipV="false" rot="0">
              <a:off x="0" y="0"/>
              <a:ext cx="2097024" cy="1267968"/>
            </a:xfrm>
            <a:custGeom>
              <a:avLst/>
              <a:gdLst/>
              <a:ahLst/>
              <a:cxnLst/>
              <a:rect r="r" b="b" t="t" l="l"/>
              <a:pathLst>
                <a:path h="1267968" w="2097024">
                  <a:moveTo>
                    <a:pt x="0" y="0"/>
                  </a:moveTo>
                  <a:lnTo>
                    <a:pt x="2097024" y="0"/>
                  </a:lnTo>
                  <a:lnTo>
                    <a:pt x="2097024" y="1267968"/>
                  </a:lnTo>
                  <a:lnTo>
                    <a:pt x="0" y="1267968"/>
                  </a:lnTo>
                  <a:close/>
                </a:path>
              </a:pathLst>
            </a:custGeom>
            <a:blipFill>
              <a:blip r:embed="rId2">
                <a:alphaModFix amt="0"/>
              </a:blip>
              <a:stretch>
                <a:fillRect l="-27578" t="0" r="-27578" b="0"/>
              </a:stretch>
            </a:blipFill>
          </p:spPr>
        </p:sp>
        <p:sp>
          <p:nvSpPr>
            <p:cNvPr name="TextBox 37" id="37"/>
            <p:cNvSpPr txBox="true"/>
            <p:nvPr/>
          </p:nvSpPr>
          <p:spPr>
            <a:xfrm>
              <a:off x="0" y="-85725"/>
              <a:ext cx="2097024" cy="1353693"/>
            </a:xfrm>
            <a:prstGeom prst="rect">
              <a:avLst/>
            </a:prstGeom>
          </p:spPr>
          <p:txBody>
            <a:bodyPr anchor="ctr" rtlCol="false" tIns="0" lIns="0" bIns="0" rIns="0"/>
            <a:lstStyle/>
            <a:p>
              <a:pPr algn="ctr">
                <a:lnSpc>
                  <a:spcPts val="5759"/>
                </a:lnSpc>
              </a:pPr>
              <a:r>
                <a:rPr lang="en-US" sz="4800">
                  <a:solidFill>
                    <a:srgbClr val="000000"/>
                  </a:solidFill>
                  <a:latin typeface="Calibri (MS)"/>
                  <a:ea typeface="Calibri (MS)"/>
                  <a:cs typeface="Calibri (MS)"/>
                  <a:sym typeface="Calibri (MS)"/>
                </a:rPr>
                <a:t>🔗</a:t>
              </a:r>
            </a:p>
          </p:txBody>
        </p:sp>
      </p:grpSp>
      <p:grpSp>
        <p:nvGrpSpPr>
          <p:cNvPr name="Group 38" id="38"/>
          <p:cNvGrpSpPr/>
          <p:nvPr/>
        </p:nvGrpSpPr>
        <p:grpSpPr>
          <a:xfrm rot="0">
            <a:off x="5084064" y="7077713"/>
            <a:ext cx="3621024" cy="1316736"/>
            <a:chOff x="0" y="0"/>
            <a:chExt cx="4828032" cy="1755648"/>
          </a:xfrm>
        </p:grpSpPr>
        <p:sp>
          <p:nvSpPr>
            <p:cNvPr name="Freeform 39" id="39"/>
            <p:cNvSpPr/>
            <p:nvPr/>
          </p:nvSpPr>
          <p:spPr>
            <a:xfrm flipH="false" flipV="false" rot="0">
              <a:off x="0" y="0"/>
              <a:ext cx="4828032" cy="1755648"/>
            </a:xfrm>
            <a:custGeom>
              <a:avLst/>
              <a:gdLst/>
              <a:ahLst/>
              <a:cxnLst/>
              <a:rect r="r" b="b" t="t" l="l"/>
              <a:pathLst>
                <a:path h="1755648" w="4828032">
                  <a:moveTo>
                    <a:pt x="0" y="0"/>
                  </a:moveTo>
                  <a:lnTo>
                    <a:pt x="4828032" y="0"/>
                  </a:lnTo>
                  <a:lnTo>
                    <a:pt x="4828032" y="1755648"/>
                  </a:lnTo>
                  <a:lnTo>
                    <a:pt x="0" y="1755648"/>
                  </a:lnTo>
                  <a:close/>
                </a:path>
              </a:pathLst>
            </a:custGeom>
            <a:blipFill>
              <a:blip r:embed="rId2">
                <a:alphaModFix amt="0"/>
              </a:blip>
              <a:stretch>
                <a:fillRect l="0" t="-3583" r="0" b="-3583"/>
              </a:stretch>
            </a:blipFill>
          </p:spPr>
        </p:sp>
        <p:sp>
          <p:nvSpPr>
            <p:cNvPr name="TextBox 40" id="40"/>
            <p:cNvSpPr txBox="true"/>
            <p:nvPr/>
          </p:nvSpPr>
          <p:spPr>
            <a:xfrm>
              <a:off x="0" y="-38100"/>
              <a:ext cx="4828032" cy="1793748"/>
            </a:xfrm>
            <a:prstGeom prst="rect">
              <a:avLst/>
            </a:prstGeom>
          </p:spPr>
          <p:txBody>
            <a:bodyPr anchor="ctr" rtlCol="false" tIns="0" lIns="0" bIns="0" rIns="0"/>
            <a:lstStyle/>
            <a:p>
              <a:pPr algn="ctr">
                <a:lnSpc>
                  <a:spcPts val="2280"/>
                </a:lnSpc>
              </a:pPr>
              <a:r>
                <a:rPr lang="en-US" sz="1900">
                  <a:solidFill>
                    <a:srgbClr val="334155"/>
                  </a:solidFill>
                  <a:latin typeface="Calibri (MS)"/>
                  <a:ea typeface="Calibri (MS)"/>
                  <a:cs typeface="Calibri (MS)"/>
                  <a:sym typeface="Calibri (MS)"/>
                </a:rPr>
                <a:t>Interroger des données RDF efficacement</a:t>
              </a:r>
            </a:p>
          </p:txBody>
        </p:sp>
      </p:grpSp>
      <p:grpSp>
        <p:nvGrpSpPr>
          <p:cNvPr name="Group 41" id="41"/>
          <p:cNvGrpSpPr/>
          <p:nvPr/>
        </p:nvGrpSpPr>
        <p:grpSpPr>
          <a:xfrm rot="0">
            <a:off x="9241031" y="5364223"/>
            <a:ext cx="4012187" cy="720347"/>
            <a:chOff x="0" y="0"/>
            <a:chExt cx="5349583" cy="960463"/>
          </a:xfrm>
        </p:grpSpPr>
        <p:sp>
          <p:nvSpPr>
            <p:cNvPr name="Freeform 42" id="42"/>
            <p:cNvSpPr/>
            <p:nvPr/>
          </p:nvSpPr>
          <p:spPr>
            <a:xfrm flipH="false" flipV="false" rot="0">
              <a:off x="16891" y="16891"/>
              <a:ext cx="5315712" cy="926592"/>
            </a:xfrm>
            <a:custGeom>
              <a:avLst/>
              <a:gdLst/>
              <a:ahLst/>
              <a:cxnLst/>
              <a:rect r="r" b="b" t="t" l="l"/>
              <a:pathLst>
                <a:path h="926592" w="5315712">
                  <a:moveTo>
                    <a:pt x="0" y="0"/>
                  </a:moveTo>
                  <a:lnTo>
                    <a:pt x="5315712" y="0"/>
                  </a:lnTo>
                  <a:lnTo>
                    <a:pt x="5315712" y="926592"/>
                  </a:lnTo>
                  <a:lnTo>
                    <a:pt x="0" y="926592"/>
                  </a:lnTo>
                  <a:close/>
                </a:path>
              </a:pathLst>
            </a:custGeom>
            <a:solidFill>
              <a:srgbClr val="059669"/>
            </a:solidFill>
          </p:spPr>
        </p:sp>
        <p:sp>
          <p:nvSpPr>
            <p:cNvPr name="Freeform 43" id="43"/>
            <p:cNvSpPr/>
            <p:nvPr/>
          </p:nvSpPr>
          <p:spPr>
            <a:xfrm flipH="false" flipV="false" rot="0">
              <a:off x="0" y="0"/>
              <a:ext cx="5349494" cy="960376"/>
            </a:xfrm>
            <a:custGeom>
              <a:avLst/>
              <a:gdLst/>
              <a:ahLst/>
              <a:cxnLst/>
              <a:rect r="r" b="b" t="t" l="l"/>
              <a:pathLst>
                <a:path h="960376" w="5349494">
                  <a:moveTo>
                    <a:pt x="16891" y="0"/>
                  </a:moveTo>
                  <a:lnTo>
                    <a:pt x="5332603" y="0"/>
                  </a:lnTo>
                  <a:cubicBezTo>
                    <a:pt x="5342001" y="0"/>
                    <a:pt x="5349494" y="7620"/>
                    <a:pt x="5349494" y="16891"/>
                  </a:cubicBezTo>
                  <a:lnTo>
                    <a:pt x="5349494" y="943483"/>
                  </a:lnTo>
                  <a:cubicBezTo>
                    <a:pt x="5349494" y="952881"/>
                    <a:pt x="5341874" y="960374"/>
                    <a:pt x="533260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5332603" y="926592"/>
                  </a:lnTo>
                  <a:lnTo>
                    <a:pt x="5332603" y="943483"/>
                  </a:lnTo>
                  <a:lnTo>
                    <a:pt x="5315712" y="943483"/>
                  </a:lnTo>
                  <a:lnTo>
                    <a:pt x="5315712" y="16891"/>
                  </a:lnTo>
                  <a:lnTo>
                    <a:pt x="5332603" y="16891"/>
                  </a:lnTo>
                  <a:lnTo>
                    <a:pt x="5332603" y="33909"/>
                  </a:lnTo>
                  <a:lnTo>
                    <a:pt x="16891" y="33909"/>
                  </a:lnTo>
                  <a:close/>
                </a:path>
              </a:pathLst>
            </a:custGeom>
            <a:solidFill>
              <a:srgbClr val="059669"/>
            </a:solidFill>
          </p:spPr>
        </p:sp>
      </p:grpSp>
      <p:grpSp>
        <p:nvGrpSpPr>
          <p:cNvPr name="Group 44" id="44"/>
          <p:cNvGrpSpPr/>
          <p:nvPr/>
        </p:nvGrpSpPr>
        <p:grpSpPr>
          <a:xfrm rot="0">
            <a:off x="9253728" y="5376929"/>
            <a:ext cx="3986784" cy="694944"/>
            <a:chOff x="0" y="0"/>
            <a:chExt cx="5315712" cy="926592"/>
          </a:xfrm>
        </p:grpSpPr>
        <p:sp>
          <p:nvSpPr>
            <p:cNvPr name="Freeform 45" id="45"/>
            <p:cNvSpPr/>
            <p:nvPr/>
          </p:nvSpPr>
          <p:spPr>
            <a:xfrm flipH="false" flipV="false" rot="0">
              <a:off x="0" y="0"/>
              <a:ext cx="5315712" cy="926592"/>
            </a:xfrm>
            <a:custGeom>
              <a:avLst/>
              <a:gdLst/>
              <a:ahLst/>
              <a:cxnLst/>
              <a:rect r="r" b="b" t="t" l="l"/>
              <a:pathLst>
                <a:path h="926592" w="5315712">
                  <a:moveTo>
                    <a:pt x="0" y="0"/>
                  </a:moveTo>
                  <a:lnTo>
                    <a:pt x="5315712" y="0"/>
                  </a:lnTo>
                  <a:lnTo>
                    <a:pt x="5315712" y="926592"/>
                  </a:lnTo>
                  <a:lnTo>
                    <a:pt x="0" y="926592"/>
                  </a:lnTo>
                  <a:close/>
                </a:path>
              </a:pathLst>
            </a:custGeom>
            <a:blipFill>
              <a:blip r:embed="rId2">
                <a:alphaModFix amt="0"/>
              </a:blip>
              <a:stretch>
                <a:fillRect l="0" t="-61782" r="0" b="-61782"/>
              </a:stretch>
            </a:blipFill>
          </p:spPr>
        </p:sp>
        <p:sp>
          <p:nvSpPr>
            <p:cNvPr name="TextBox 46" id="46"/>
            <p:cNvSpPr txBox="true"/>
            <p:nvPr/>
          </p:nvSpPr>
          <p:spPr>
            <a:xfrm>
              <a:off x="0" y="-38100"/>
              <a:ext cx="5315712" cy="9646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FOAF</a:t>
              </a:r>
            </a:p>
          </p:txBody>
        </p:sp>
      </p:grpSp>
      <p:grpSp>
        <p:nvGrpSpPr>
          <p:cNvPr name="Group 47" id="47"/>
          <p:cNvGrpSpPr/>
          <p:nvPr/>
        </p:nvGrpSpPr>
        <p:grpSpPr>
          <a:xfrm rot="0">
            <a:off x="9241031" y="6022591"/>
            <a:ext cx="4012187" cy="2494283"/>
            <a:chOff x="0" y="0"/>
            <a:chExt cx="5349583" cy="3325711"/>
          </a:xfrm>
        </p:grpSpPr>
        <p:sp>
          <p:nvSpPr>
            <p:cNvPr name="Freeform 48" id="48"/>
            <p:cNvSpPr/>
            <p:nvPr/>
          </p:nvSpPr>
          <p:spPr>
            <a:xfrm flipH="false" flipV="false" rot="0">
              <a:off x="16891" y="16891"/>
              <a:ext cx="5315712" cy="3291840"/>
            </a:xfrm>
            <a:custGeom>
              <a:avLst/>
              <a:gdLst/>
              <a:ahLst/>
              <a:cxnLst/>
              <a:rect r="r" b="b" t="t" l="l"/>
              <a:pathLst>
                <a:path h="3291840" w="5315712">
                  <a:moveTo>
                    <a:pt x="0" y="0"/>
                  </a:moveTo>
                  <a:lnTo>
                    <a:pt x="5315712" y="0"/>
                  </a:lnTo>
                  <a:lnTo>
                    <a:pt x="5315712" y="3291840"/>
                  </a:lnTo>
                  <a:lnTo>
                    <a:pt x="0" y="3291840"/>
                  </a:lnTo>
                  <a:close/>
                </a:path>
              </a:pathLst>
            </a:custGeom>
            <a:solidFill>
              <a:srgbClr val="F1F5F9"/>
            </a:solidFill>
          </p:spPr>
        </p:sp>
        <p:sp>
          <p:nvSpPr>
            <p:cNvPr name="Freeform 49" id="49"/>
            <p:cNvSpPr/>
            <p:nvPr/>
          </p:nvSpPr>
          <p:spPr>
            <a:xfrm flipH="false" flipV="false" rot="0">
              <a:off x="0" y="0"/>
              <a:ext cx="5349494" cy="3325622"/>
            </a:xfrm>
            <a:custGeom>
              <a:avLst/>
              <a:gdLst/>
              <a:ahLst/>
              <a:cxnLst/>
              <a:rect r="r" b="b" t="t" l="l"/>
              <a:pathLst>
                <a:path h="3325622" w="5349494">
                  <a:moveTo>
                    <a:pt x="16891" y="0"/>
                  </a:moveTo>
                  <a:lnTo>
                    <a:pt x="5332603" y="0"/>
                  </a:lnTo>
                  <a:cubicBezTo>
                    <a:pt x="5342001" y="0"/>
                    <a:pt x="5349494" y="7620"/>
                    <a:pt x="5349494" y="16891"/>
                  </a:cubicBezTo>
                  <a:lnTo>
                    <a:pt x="5349494" y="3308731"/>
                  </a:lnTo>
                  <a:cubicBezTo>
                    <a:pt x="5349494" y="3318129"/>
                    <a:pt x="5341874" y="3325622"/>
                    <a:pt x="5332603"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5332603" y="3291840"/>
                  </a:lnTo>
                  <a:lnTo>
                    <a:pt x="5332603" y="3308731"/>
                  </a:lnTo>
                  <a:lnTo>
                    <a:pt x="5315712" y="3308731"/>
                  </a:lnTo>
                  <a:lnTo>
                    <a:pt x="5315712" y="16891"/>
                  </a:lnTo>
                  <a:lnTo>
                    <a:pt x="5332603" y="16891"/>
                  </a:lnTo>
                  <a:lnTo>
                    <a:pt x="5332603" y="33909"/>
                  </a:lnTo>
                  <a:lnTo>
                    <a:pt x="16891" y="33909"/>
                  </a:lnTo>
                  <a:close/>
                </a:path>
              </a:pathLst>
            </a:custGeom>
            <a:solidFill>
              <a:srgbClr val="059669"/>
            </a:solidFill>
          </p:spPr>
        </p:sp>
      </p:grpSp>
      <p:grpSp>
        <p:nvGrpSpPr>
          <p:cNvPr name="Group 50" id="50"/>
          <p:cNvGrpSpPr/>
          <p:nvPr/>
        </p:nvGrpSpPr>
        <p:grpSpPr>
          <a:xfrm rot="0">
            <a:off x="10460736" y="6126737"/>
            <a:ext cx="1572768" cy="950976"/>
            <a:chOff x="0" y="0"/>
            <a:chExt cx="2097024" cy="1267968"/>
          </a:xfrm>
        </p:grpSpPr>
        <p:sp>
          <p:nvSpPr>
            <p:cNvPr name="Freeform 51" id="51"/>
            <p:cNvSpPr/>
            <p:nvPr/>
          </p:nvSpPr>
          <p:spPr>
            <a:xfrm flipH="false" flipV="false" rot="0">
              <a:off x="0" y="0"/>
              <a:ext cx="2097024" cy="1267968"/>
            </a:xfrm>
            <a:custGeom>
              <a:avLst/>
              <a:gdLst/>
              <a:ahLst/>
              <a:cxnLst/>
              <a:rect r="r" b="b" t="t" l="l"/>
              <a:pathLst>
                <a:path h="1267968" w="2097024">
                  <a:moveTo>
                    <a:pt x="0" y="0"/>
                  </a:moveTo>
                  <a:lnTo>
                    <a:pt x="2097024" y="0"/>
                  </a:lnTo>
                  <a:lnTo>
                    <a:pt x="2097024" y="1267968"/>
                  </a:lnTo>
                  <a:lnTo>
                    <a:pt x="0" y="1267968"/>
                  </a:lnTo>
                  <a:close/>
                </a:path>
              </a:pathLst>
            </a:custGeom>
            <a:blipFill>
              <a:blip r:embed="rId2">
                <a:alphaModFix amt="0"/>
              </a:blip>
              <a:stretch>
                <a:fillRect l="-27578" t="0" r="-27578" b="0"/>
              </a:stretch>
            </a:blipFill>
          </p:spPr>
        </p:sp>
        <p:sp>
          <p:nvSpPr>
            <p:cNvPr name="TextBox 52" id="52"/>
            <p:cNvSpPr txBox="true"/>
            <p:nvPr/>
          </p:nvSpPr>
          <p:spPr>
            <a:xfrm>
              <a:off x="0" y="-85725"/>
              <a:ext cx="2097024" cy="1353693"/>
            </a:xfrm>
            <a:prstGeom prst="rect">
              <a:avLst/>
            </a:prstGeom>
          </p:spPr>
          <p:txBody>
            <a:bodyPr anchor="ctr" rtlCol="false" tIns="0" lIns="0" bIns="0" rIns="0"/>
            <a:lstStyle/>
            <a:p>
              <a:pPr algn="ctr">
                <a:lnSpc>
                  <a:spcPts val="5759"/>
                </a:lnSpc>
              </a:pPr>
              <a:r>
                <a:rPr lang="en-US" sz="4800">
                  <a:solidFill>
                    <a:srgbClr val="000000"/>
                  </a:solidFill>
                  <a:latin typeface="Calibri (MS)"/>
                  <a:ea typeface="Calibri (MS)"/>
                  <a:cs typeface="Calibri (MS)"/>
                  <a:sym typeface="Calibri (MS)"/>
                </a:rPr>
                <a:t>👥</a:t>
              </a:r>
            </a:p>
          </p:txBody>
        </p:sp>
      </p:grpSp>
      <p:grpSp>
        <p:nvGrpSpPr>
          <p:cNvPr name="Group 53" id="53"/>
          <p:cNvGrpSpPr/>
          <p:nvPr/>
        </p:nvGrpSpPr>
        <p:grpSpPr>
          <a:xfrm rot="0">
            <a:off x="9436608" y="7077713"/>
            <a:ext cx="3621024" cy="1316736"/>
            <a:chOff x="0" y="0"/>
            <a:chExt cx="4828032" cy="1755648"/>
          </a:xfrm>
        </p:grpSpPr>
        <p:sp>
          <p:nvSpPr>
            <p:cNvPr name="Freeform 54" id="54"/>
            <p:cNvSpPr/>
            <p:nvPr/>
          </p:nvSpPr>
          <p:spPr>
            <a:xfrm flipH="false" flipV="false" rot="0">
              <a:off x="0" y="0"/>
              <a:ext cx="4828032" cy="1755648"/>
            </a:xfrm>
            <a:custGeom>
              <a:avLst/>
              <a:gdLst/>
              <a:ahLst/>
              <a:cxnLst/>
              <a:rect r="r" b="b" t="t" l="l"/>
              <a:pathLst>
                <a:path h="1755648" w="4828032">
                  <a:moveTo>
                    <a:pt x="0" y="0"/>
                  </a:moveTo>
                  <a:lnTo>
                    <a:pt x="4828032" y="0"/>
                  </a:lnTo>
                  <a:lnTo>
                    <a:pt x="4828032" y="1755648"/>
                  </a:lnTo>
                  <a:lnTo>
                    <a:pt x="0" y="1755648"/>
                  </a:lnTo>
                  <a:close/>
                </a:path>
              </a:pathLst>
            </a:custGeom>
            <a:blipFill>
              <a:blip r:embed="rId2">
                <a:alphaModFix amt="0"/>
              </a:blip>
              <a:stretch>
                <a:fillRect l="0" t="-3583" r="0" b="-3583"/>
              </a:stretch>
            </a:blipFill>
          </p:spPr>
        </p:sp>
        <p:sp>
          <p:nvSpPr>
            <p:cNvPr name="TextBox 55" id="55"/>
            <p:cNvSpPr txBox="true"/>
            <p:nvPr/>
          </p:nvSpPr>
          <p:spPr>
            <a:xfrm>
              <a:off x="0" y="-38100"/>
              <a:ext cx="4828032" cy="1793748"/>
            </a:xfrm>
            <a:prstGeom prst="rect">
              <a:avLst/>
            </a:prstGeom>
          </p:spPr>
          <p:txBody>
            <a:bodyPr anchor="ctr" rtlCol="false" tIns="0" lIns="0" bIns="0" rIns="0"/>
            <a:lstStyle/>
            <a:p>
              <a:pPr algn="ctr">
                <a:lnSpc>
                  <a:spcPts val="2280"/>
                </a:lnSpc>
              </a:pPr>
              <a:r>
                <a:rPr lang="en-US" sz="1900">
                  <a:solidFill>
                    <a:srgbClr val="334155"/>
                  </a:solidFill>
                  <a:latin typeface="Calibri (MS)"/>
                  <a:ea typeface="Calibri (MS)"/>
                  <a:cs typeface="Calibri (MS)"/>
                  <a:sym typeface="Calibri (MS)"/>
                </a:rPr>
                <a:t>Connecter les identités</a:t>
              </a:r>
            </a:p>
          </p:txBody>
        </p:sp>
      </p:grpSp>
      <p:grpSp>
        <p:nvGrpSpPr>
          <p:cNvPr name="Group 56" id="56"/>
          <p:cNvGrpSpPr/>
          <p:nvPr/>
        </p:nvGrpSpPr>
        <p:grpSpPr>
          <a:xfrm rot="0">
            <a:off x="13593575" y="5364223"/>
            <a:ext cx="4012187" cy="720347"/>
            <a:chOff x="0" y="0"/>
            <a:chExt cx="5349583" cy="960463"/>
          </a:xfrm>
        </p:grpSpPr>
        <p:sp>
          <p:nvSpPr>
            <p:cNvPr name="Freeform 57" id="57"/>
            <p:cNvSpPr/>
            <p:nvPr/>
          </p:nvSpPr>
          <p:spPr>
            <a:xfrm flipH="false" flipV="false" rot="0">
              <a:off x="16891" y="16891"/>
              <a:ext cx="5315712" cy="926592"/>
            </a:xfrm>
            <a:custGeom>
              <a:avLst/>
              <a:gdLst/>
              <a:ahLst/>
              <a:cxnLst/>
              <a:rect r="r" b="b" t="t" l="l"/>
              <a:pathLst>
                <a:path h="926592" w="5315712">
                  <a:moveTo>
                    <a:pt x="0" y="0"/>
                  </a:moveTo>
                  <a:lnTo>
                    <a:pt x="5315712" y="0"/>
                  </a:lnTo>
                  <a:lnTo>
                    <a:pt x="5315712" y="926592"/>
                  </a:lnTo>
                  <a:lnTo>
                    <a:pt x="0" y="926592"/>
                  </a:lnTo>
                  <a:close/>
                </a:path>
              </a:pathLst>
            </a:custGeom>
            <a:solidFill>
              <a:srgbClr val="D97706"/>
            </a:solidFill>
          </p:spPr>
        </p:sp>
        <p:sp>
          <p:nvSpPr>
            <p:cNvPr name="Freeform 58" id="58"/>
            <p:cNvSpPr/>
            <p:nvPr/>
          </p:nvSpPr>
          <p:spPr>
            <a:xfrm flipH="false" flipV="false" rot="0">
              <a:off x="0" y="0"/>
              <a:ext cx="5349494" cy="960376"/>
            </a:xfrm>
            <a:custGeom>
              <a:avLst/>
              <a:gdLst/>
              <a:ahLst/>
              <a:cxnLst/>
              <a:rect r="r" b="b" t="t" l="l"/>
              <a:pathLst>
                <a:path h="960376" w="5349494">
                  <a:moveTo>
                    <a:pt x="16891" y="0"/>
                  </a:moveTo>
                  <a:lnTo>
                    <a:pt x="5332603" y="0"/>
                  </a:lnTo>
                  <a:cubicBezTo>
                    <a:pt x="5342001" y="0"/>
                    <a:pt x="5349494" y="7620"/>
                    <a:pt x="5349494" y="16891"/>
                  </a:cubicBezTo>
                  <a:lnTo>
                    <a:pt x="5349494" y="943483"/>
                  </a:lnTo>
                  <a:cubicBezTo>
                    <a:pt x="5349494" y="952881"/>
                    <a:pt x="5341874" y="960374"/>
                    <a:pt x="533260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5332603" y="926592"/>
                  </a:lnTo>
                  <a:lnTo>
                    <a:pt x="5332603" y="943483"/>
                  </a:lnTo>
                  <a:lnTo>
                    <a:pt x="5315712" y="943483"/>
                  </a:lnTo>
                  <a:lnTo>
                    <a:pt x="5315712" y="16891"/>
                  </a:lnTo>
                  <a:lnTo>
                    <a:pt x="5332603" y="16891"/>
                  </a:lnTo>
                  <a:lnTo>
                    <a:pt x="5332603" y="33909"/>
                  </a:lnTo>
                  <a:lnTo>
                    <a:pt x="16891" y="33909"/>
                  </a:lnTo>
                  <a:close/>
                </a:path>
              </a:pathLst>
            </a:custGeom>
            <a:solidFill>
              <a:srgbClr val="D97706"/>
            </a:solidFill>
          </p:spPr>
        </p:sp>
      </p:grpSp>
      <p:grpSp>
        <p:nvGrpSpPr>
          <p:cNvPr name="Group 59" id="59"/>
          <p:cNvGrpSpPr/>
          <p:nvPr/>
        </p:nvGrpSpPr>
        <p:grpSpPr>
          <a:xfrm rot="0">
            <a:off x="13606272" y="5376929"/>
            <a:ext cx="3986784" cy="694944"/>
            <a:chOff x="0" y="0"/>
            <a:chExt cx="5315712" cy="926592"/>
          </a:xfrm>
        </p:grpSpPr>
        <p:sp>
          <p:nvSpPr>
            <p:cNvPr name="Freeform 60" id="60"/>
            <p:cNvSpPr/>
            <p:nvPr/>
          </p:nvSpPr>
          <p:spPr>
            <a:xfrm flipH="false" flipV="false" rot="0">
              <a:off x="0" y="0"/>
              <a:ext cx="5315712" cy="926592"/>
            </a:xfrm>
            <a:custGeom>
              <a:avLst/>
              <a:gdLst/>
              <a:ahLst/>
              <a:cxnLst/>
              <a:rect r="r" b="b" t="t" l="l"/>
              <a:pathLst>
                <a:path h="926592" w="5315712">
                  <a:moveTo>
                    <a:pt x="0" y="0"/>
                  </a:moveTo>
                  <a:lnTo>
                    <a:pt x="5315712" y="0"/>
                  </a:lnTo>
                  <a:lnTo>
                    <a:pt x="5315712" y="926592"/>
                  </a:lnTo>
                  <a:lnTo>
                    <a:pt x="0" y="926592"/>
                  </a:lnTo>
                  <a:close/>
                </a:path>
              </a:pathLst>
            </a:custGeom>
            <a:blipFill>
              <a:blip r:embed="rId2">
                <a:alphaModFix amt="0"/>
              </a:blip>
              <a:stretch>
                <a:fillRect l="0" t="-61782" r="0" b="-61782"/>
              </a:stretch>
            </a:blipFill>
          </p:spPr>
        </p:sp>
        <p:sp>
          <p:nvSpPr>
            <p:cNvPr name="TextBox 61" id="61"/>
            <p:cNvSpPr txBox="true"/>
            <p:nvPr/>
          </p:nvSpPr>
          <p:spPr>
            <a:xfrm>
              <a:off x="0" y="-38100"/>
              <a:ext cx="5315712" cy="964692"/>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Schema</a:t>
              </a:r>
            </a:p>
          </p:txBody>
        </p:sp>
      </p:grpSp>
      <p:grpSp>
        <p:nvGrpSpPr>
          <p:cNvPr name="Group 62" id="62"/>
          <p:cNvGrpSpPr/>
          <p:nvPr/>
        </p:nvGrpSpPr>
        <p:grpSpPr>
          <a:xfrm rot="0">
            <a:off x="13593575" y="6022591"/>
            <a:ext cx="4012187" cy="2494283"/>
            <a:chOff x="0" y="0"/>
            <a:chExt cx="5349583" cy="3325711"/>
          </a:xfrm>
        </p:grpSpPr>
        <p:sp>
          <p:nvSpPr>
            <p:cNvPr name="Freeform 63" id="63"/>
            <p:cNvSpPr/>
            <p:nvPr/>
          </p:nvSpPr>
          <p:spPr>
            <a:xfrm flipH="false" flipV="false" rot="0">
              <a:off x="16891" y="16891"/>
              <a:ext cx="5315712" cy="3291840"/>
            </a:xfrm>
            <a:custGeom>
              <a:avLst/>
              <a:gdLst/>
              <a:ahLst/>
              <a:cxnLst/>
              <a:rect r="r" b="b" t="t" l="l"/>
              <a:pathLst>
                <a:path h="3291840" w="5315712">
                  <a:moveTo>
                    <a:pt x="0" y="0"/>
                  </a:moveTo>
                  <a:lnTo>
                    <a:pt x="5315712" y="0"/>
                  </a:lnTo>
                  <a:lnTo>
                    <a:pt x="5315712" y="3291840"/>
                  </a:lnTo>
                  <a:lnTo>
                    <a:pt x="0" y="3291840"/>
                  </a:lnTo>
                  <a:close/>
                </a:path>
              </a:pathLst>
            </a:custGeom>
            <a:solidFill>
              <a:srgbClr val="F1F5F9"/>
            </a:solidFill>
          </p:spPr>
        </p:sp>
        <p:sp>
          <p:nvSpPr>
            <p:cNvPr name="Freeform 64" id="64"/>
            <p:cNvSpPr/>
            <p:nvPr/>
          </p:nvSpPr>
          <p:spPr>
            <a:xfrm flipH="false" flipV="false" rot="0">
              <a:off x="0" y="0"/>
              <a:ext cx="5349494" cy="3325622"/>
            </a:xfrm>
            <a:custGeom>
              <a:avLst/>
              <a:gdLst/>
              <a:ahLst/>
              <a:cxnLst/>
              <a:rect r="r" b="b" t="t" l="l"/>
              <a:pathLst>
                <a:path h="3325622" w="5349494">
                  <a:moveTo>
                    <a:pt x="16891" y="0"/>
                  </a:moveTo>
                  <a:lnTo>
                    <a:pt x="5332603" y="0"/>
                  </a:lnTo>
                  <a:cubicBezTo>
                    <a:pt x="5342001" y="0"/>
                    <a:pt x="5349494" y="7620"/>
                    <a:pt x="5349494" y="16891"/>
                  </a:cubicBezTo>
                  <a:lnTo>
                    <a:pt x="5349494" y="3308731"/>
                  </a:lnTo>
                  <a:cubicBezTo>
                    <a:pt x="5349494" y="3318129"/>
                    <a:pt x="5341874" y="3325622"/>
                    <a:pt x="5332603" y="3325622"/>
                  </a:cubicBezTo>
                  <a:lnTo>
                    <a:pt x="16891" y="3325622"/>
                  </a:lnTo>
                  <a:cubicBezTo>
                    <a:pt x="7493" y="3325622"/>
                    <a:pt x="0" y="3318002"/>
                    <a:pt x="0" y="3308731"/>
                  </a:cubicBezTo>
                  <a:lnTo>
                    <a:pt x="0" y="16891"/>
                  </a:lnTo>
                  <a:cubicBezTo>
                    <a:pt x="0" y="7620"/>
                    <a:pt x="7620" y="0"/>
                    <a:pt x="16891" y="0"/>
                  </a:cubicBezTo>
                  <a:moveTo>
                    <a:pt x="16891" y="33909"/>
                  </a:moveTo>
                  <a:lnTo>
                    <a:pt x="16891" y="16891"/>
                  </a:lnTo>
                  <a:lnTo>
                    <a:pt x="33909" y="16891"/>
                  </a:lnTo>
                  <a:lnTo>
                    <a:pt x="33909" y="3308731"/>
                  </a:lnTo>
                  <a:lnTo>
                    <a:pt x="16891" y="3308731"/>
                  </a:lnTo>
                  <a:lnTo>
                    <a:pt x="16891" y="3291840"/>
                  </a:lnTo>
                  <a:lnTo>
                    <a:pt x="5332603" y="3291840"/>
                  </a:lnTo>
                  <a:lnTo>
                    <a:pt x="5332603" y="3308731"/>
                  </a:lnTo>
                  <a:lnTo>
                    <a:pt x="5315712" y="3308731"/>
                  </a:lnTo>
                  <a:lnTo>
                    <a:pt x="5315712" y="16891"/>
                  </a:lnTo>
                  <a:lnTo>
                    <a:pt x="5332603" y="16891"/>
                  </a:lnTo>
                  <a:lnTo>
                    <a:pt x="5332603" y="33909"/>
                  </a:lnTo>
                  <a:lnTo>
                    <a:pt x="16891" y="33909"/>
                  </a:lnTo>
                  <a:close/>
                </a:path>
              </a:pathLst>
            </a:custGeom>
            <a:solidFill>
              <a:srgbClr val="D97706"/>
            </a:solidFill>
          </p:spPr>
        </p:sp>
      </p:grpSp>
      <p:grpSp>
        <p:nvGrpSpPr>
          <p:cNvPr name="Group 65" id="65"/>
          <p:cNvGrpSpPr/>
          <p:nvPr/>
        </p:nvGrpSpPr>
        <p:grpSpPr>
          <a:xfrm rot="0">
            <a:off x="14813280" y="6126737"/>
            <a:ext cx="1572768" cy="950976"/>
            <a:chOff x="0" y="0"/>
            <a:chExt cx="2097024" cy="1267968"/>
          </a:xfrm>
        </p:grpSpPr>
        <p:sp>
          <p:nvSpPr>
            <p:cNvPr name="Freeform 66" id="66"/>
            <p:cNvSpPr/>
            <p:nvPr/>
          </p:nvSpPr>
          <p:spPr>
            <a:xfrm flipH="false" flipV="false" rot="0">
              <a:off x="0" y="0"/>
              <a:ext cx="2097024" cy="1267968"/>
            </a:xfrm>
            <a:custGeom>
              <a:avLst/>
              <a:gdLst/>
              <a:ahLst/>
              <a:cxnLst/>
              <a:rect r="r" b="b" t="t" l="l"/>
              <a:pathLst>
                <a:path h="1267968" w="2097024">
                  <a:moveTo>
                    <a:pt x="0" y="0"/>
                  </a:moveTo>
                  <a:lnTo>
                    <a:pt x="2097024" y="0"/>
                  </a:lnTo>
                  <a:lnTo>
                    <a:pt x="2097024" y="1267968"/>
                  </a:lnTo>
                  <a:lnTo>
                    <a:pt x="0" y="1267968"/>
                  </a:lnTo>
                  <a:close/>
                </a:path>
              </a:pathLst>
            </a:custGeom>
            <a:blipFill>
              <a:blip r:embed="rId2">
                <a:alphaModFix amt="0"/>
              </a:blip>
              <a:stretch>
                <a:fillRect l="-27578" t="0" r="-27578" b="0"/>
              </a:stretch>
            </a:blipFill>
          </p:spPr>
        </p:sp>
        <p:sp>
          <p:nvSpPr>
            <p:cNvPr name="TextBox 67" id="67"/>
            <p:cNvSpPr txBox="true"/>
            <p:nvPr/>
          </p:nvSpPr>
          <p:spPr>
            <a:xfrm>
              <a:off x="0" y="-85725"/>
              <a:ext cx="2097024" cy="1353693"/>
            </a:xfrm>
            <a:prstGeom prst="rect">
              <a:avLst/>
            </a:prstGeom>
          </p:spPr>
          <p:txBody>
            <a:bodyPr anchor="ctr" rtlCol="false" tIns="0" lIns="0" bIns="0" rIns="0"/>
            <a:lstStyle/>
            <a:p>
              <a:pPr algn="ctr">
                <a:lnSpc>
                  <a:spcPts val="5759"/>
                </a:lnSpc>
              </a:pPr>
              <a:r>
                <a:rPr lang="en-US" sz="4800">
                  <a:solidFill>
                    <a:srgbClr val="000000"/>
                  </a:solidFill>
                  <a:latin typeface="Calibri (MS)"/>
                  <a:ea typeface="Calibri (MS)"/>
                  <a:cs typeface="Calibri (MS)"/>
                  <a:sym typeface="Calibri (MS)"/>
                </a:rPr>
                <a:t>🌐</a:t>
              </a:r>
            </a:p>
          </p:txBody>
        </p:sp>
      </p:grpSp>
      <p:grpSp>
        <p:nvGrpSpPr>
          <p:cNvPr name="Group 68" id="68"/>
          <p:cNvGrpSpPr/>
          <p:nvPr/>
        </p:nvGrpSpPr>
        <p:grpSpPr>
          <a:xfrm rot="0">
            <a:off x="13789152" y="7077713"/>
            <a:ext cx="3621024" cy="1316736"/>
            <a:chOff x="0" y="0"/>
            <a:chExt cx="4828032" cy="1755648"/>
          </a:xfrm>
        </p:grpSpPr>
        <p:sp>
          <p:nvSpPr>
            <p:cNvPr name="Freeform 69" id="69"/>
            <p:cNvSpPr/>
            <p:nvPr/>
          </p:nvSpPr>
          <p:spPr>
            <a:xfrm flipH="false" flipV="false" rot="0">
              <a:off x="0" y="0"/>
              <a:ext cx="4828032" cy="1755648"/>
            </a:xfrm>
            <a:custGeom>
              <a:avLst/>
              <a:gdLst/>
              <a:ahLst/>
              <a:cxnLst/>
              <a:rect r="r" b="b" t="t" l="l"/>
              <a:pathLst>
                <a:path h="1755648" w="4828032">
                  <a:moveTo>
                    <a:pt x="0" y="0"/>
                  </a:moveTo>
                  <a:lnTo>
                    <a:pt x="4828032" y="0"/>
                  </a:lnTo>
                  <a:lnTo>
                    <a:pt x="4828032" y="1755648"/>
                  </a:lnTo>
                  <a:lnTo>
                    <a:pt x="0" y="1755648"/>
                  </a:lnTo>
                  <a:close/>
                </a:path>
              </a:pathLst>
            </a:custGeom>
            <a:blipFill>
              <a:blip r:embed="rId2">
                <a:alphaModFix amt="0"/>
              </a:blip>
              <a:stretch>
                <a:fillRect l="0" t="-3583" r="0" b="-3583"/>
              </a:stretch>
            </a:blipFill>
          </p:spPr>
        </p:sp>
        <p:sp>
          <p:nvSpPr>
            <p:cNvPr name="TextBox 70" id="70"/>
            <p:cNvSpPr txBox="true"/>
            <p:nvPr/>
          </p:nvSpPr>
          <p:spPr>
            <a:xfrm>
              <a:off x="0" y="-38100"/>
              <a:ext cx="4828032" cy="1793748"/>
            </a:xfrm>
            <a:prstGeom prst="rect">
              <a:avLst/>
            </a:prstGeom>
          </p:spPr>
          <p:txBody>
            <a:bodyPr anchor="ctr" rtlCol="false" tIns="0" lIns="0" bIns="0" rIns="0"/>
            <a:lstStyle/>
            <a:p>
              <a:pPr algn="ctr">
                <a:lnSpc>
                  <a:spcPts val="2280"/>
                </a:lnSpc>
              </a:pPr>
              <a:r>
                <a:rPr lang="en-US" sz="1900">
                  <a:solidFill>
                    <a:srgbClr val="334155"/>
                  </a:solidFill>
                  <a:latin typeface="Calibri (MS)"/>
                  <a:ea typeface="Calibri (MS)"/>
                  <a:cs typeface="Calibri (MS)"/>
                  <a:sym typeface="Calibri (MS)"/>
                </a:rPr>
                <a:t>Compréhension du web commercial par l'IA</a:t>
              </a:r>
            </a:p>
          </p:txBody>
        </p:sp>
      </p:gr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DCAT  — Rappel rapide</a:t>
            </a:r>
          </a:p>
        </p:txBody>
      </p:sp>
      <p:sp>
        <p:nvSpPr>
          <p:cNvPr id="3" name="Content Placeholder 2"/>
          <p:cNvSpPr>
            <a:spLocks noGrp="1"/>
          </p:cNvSpPr>
          <p:nvPr>
            <p:ph idx="1"/>
          </p:nvPr>
        </p:nvSpPr>
        <p:spPr/>
        <p:txBody>
          <a:bodyPr/>
          <a:lstStyle/>
          <a:p>
            <a:r>
              <a:t>📌 Standard W3C pour catalogues de données</a:t>
            </a:r>
          </a:p>
          <a:p/>
          <a:p>
            <a:r>
              <a:t>🧩 Concepts :</a:t>
            </a:r>
          </a:p>
          <a:p>
            <a:r>
              <a:t>dcat:Catalog</a:t>
            </a:r>
          </a:p>
          <a:p>
            <a:r>
              <a:t>dcat:Dataset</a:t>
            </a:r>
          </a:p>
          <a:p>
            <a:r>
              <a:t>dcat:Distribution</a:t>
            </a:r>
          </a:p>
          <a:p/>
          <a:p>
            <a:r>
              <a:t>🔗 Chaîne :</a:t>
            </a:r>
          </a:p>
          <a:p>
            <a:r>
              <a:t>Catalog → Dataset → Distribution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DCAT — Relations clés</a:t>
            </a:r>
          </a:p>
        </p:txBody>
      </p:sp>
      <p:sp>
        <p:nvSpPr>
          <p:cNvPr id="3" name="Content Placeholder 2"/>
          <p:cNvSpPr>
            <a:spLocks noGrp="1"/>
          </p:cNvSpPr>
          <p:nvPr>
            <p:ph idx="1"/>
          </p:nvPr>
        </p:nvSpPr>
        <p:spPr/>
        <p:txBody>
          <a:bodyPr/>
          <a:lstStyle/>
          <a:p>
            <a:r>
              <a:t>🔗 Relations :</a:t>
            </a:r>
          </a:p>
          <a:p>
            <a:r>
              <a:t>dcat:dataset</a:t>
            </a:r>
          </a:p>
          <a:p>
            <a:r>
              <a:t>dcat:distribution</a:t>
            </a:r>
          </a:p>
          <a:p>
            <a:r>
              <a:t>dcat:downloadURL</a:t>
            </a:r>
          </a:p>
          <a:p>
            <a:r>
              <a:t>dcat:accessURL</a:t>
            </a:r>
          </a:p>
          <a:p/>
          <a:p>
            <a:r>
              <a:t>🏷️ Métadonnées (Dublin Core) :</a:t>
            </a:r>
          </a:p>
          <a:p>
            <a:r>
              <a:t>dct:title, dct:description</a:t>
            </a:r>
          </a:p>
          <a:p>
            <a:r>
              <a:t>dct:publisher, dct:modified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DCAT — Exemple enrichi + interprétation</a:t>
            </a:r>
          </a:p>
        </p:txBody>
      </p:sp>
      <p:sp>
        <p:nvSpPr>
          <p:cNvPr id="3" name="Content Placeholder 2"/>
          <p:cNvSpPr>
            <a:spLocks noGrp="1"/>
          </p:cNvSpPr>
          <p:nvPr>
            <p:ph idx="1"/>
          </p:nvPr>
        </p:nvSpPr>
        <p:spPr/>
        <p:txBody>
          <a:bodyPr/>
          <a:lstStyle/>
          <a:p>
            <a:r>
              <a:t>@prefix dcat: &lt;http://www.w3.org/ns/dcat#&gt;</a:t>
            </a:r>
          </a:p>
          <a:p>
            <a:r>
              <a:t>@prefix dct: &lt;http://purl.org/dc/terms/&gt;</a:t>
            </a:r>
          </a:p>
          <a:p/>
          <a:p>
            <a:r>
              <a:t>&lt;catalog&gt; a dcat:Catalog ;</a:t>
            </a:r>
          </a:p>
          <a:p>
            <a:r>
              <a:t> dct:title "Catalogue Open Data" ;</a:t>
            </a:r>
          </a:p>
          <a:p>
            <a:r>
              <a:t> dct:publisher "Ville Exemple" ;</a:t>
            </a:r>
          </a:p>
          <a:p>
            <a:r>
              <a:t> dcat:dataset &lt;dataset&gt; .</a:t>
            </a:r>
          </a:p>
          <a:p/>
          <a:p>
            <a:r>
              <a:t>&lt;dataset&gt; a dcat:Dataset ;</a:t>
            </a:r>
          </a:p>
          <a:p>
            <a:r>
              <a:t> dct:title "Horaires des bus" ;</a:t>
            </a:r>
          </a:p>
          <a:p>
            <a:r>
              <a:t> dct:description "Horaires du transport public" ;</a:t>
            </a:r>
          </a:p>
          <a:p>
            <a:r>
              <a:t> dct:modified "2026-04-01" ;</a:t>
            </a:r>
          </a:p>
          <a:p>
            <a:r>
              <a:t> dcat:distribution &lt;dist&gt; .</a:t>
            </a:r>
          </a:p>
          <a:p/>
          <a:p>
            <a:r>
              <a:t>&lt;dist&gt; a dcat:Distribution ;</a:t>
            </a:r>
          </a:p>
          <a:p>
            <a:r>
              <a:t> dct:format "text/csv" ;</a:t>
            </a:r>
          </a:p>
          <a:p>
            <a:r>
              <a:t> dcat:downloadURL &lt;bus.csv&gt; .</a:t>
            </a:r>
          </a:p>
          <a:p/>
          <a:p>
            <a:r>
              <a:t>🔍 Lecture : Catalog → Dataset → CSV</a:t>
            </a:r>
          </a:p>
          <a:p>
            <a:r>
              <a:t>🤖 Découverte automatique par machines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DAHHHnEiXsU</dc:identifier>
  <dcterms:modified xsi:type="dcterms:W3CDTF">2011-08-01T06:04:30Z</dcterms:modified>
  <cp:revision>1</cp:revision>
  <dc:title>project web semantic</dc:title>
</cp:coreProperties>
</file>